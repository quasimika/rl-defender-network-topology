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charts/chart1.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charts/chart2.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Lst>
  <p:notesMasterIdLst>
    <p:notesMasterId r:id="rId3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notesMaster" Target="notesMasters/notesMaster1.xml"/><Relationship Id="rId34" Type="http://schemas.openxmlformats.org/officeDocument/2006/relationships/presProps" Target="presProps.xml"/><Relationship Id="rId35" Type="http://schemas.openxmlformats.org/officeDocument/2006/relationships/viewProps" Target="viewProps.xml"/><Relationship Id="rId36" Type="http://schemas.openxmlformats.org/officeDocument/2006/relationships/theme" Target="theme/theme1.xml"/><Relationship Id="rId37"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Ø Konvergenzepisode</c:v>
                </c:pt>
              </c:strCache>
            </c:strRef>
          </c:tx>
          <c:spPr>
            <a:solidFill>
              <a:srgbClr val="D99A2B"/>
            </a:solidFill>
            <a:effectLst/>
          </c:spPr>
          <c:invertIfNegative val="0"/>
          <c:dLbls>
            <c:numFmt formatCode="#,##0" sourceLinked="0"/>
            <c:txPr>
              <a:bodyPr/>
              <a:lstStyle/>
              <a:p>
                <a:pPr>
                  <a:defRPr b="1" i="0" strike="noStrike" sz="1400" u="none">
                    <a:solidFill>
                      <a:srgbClr val="23282F"/>
                    </a:solidFill>
                    <a:latin typeface="Arial"/>
                  </a:defRPr>
                </a:pPr>
              </a:p>
            </c:txPr>
            <c:showLegendKey val="0"/>
            <c:showVal val="1"/>
            <c:showCatName val="0"/>
            <c:showSerName val="0"/>
            <c:showPercent val="0"/>
            <c:showBubbleSize val="0"/>
            <c:showLeaderLines val="0"/>
          </c:dLbls>
          <c:cat>
            <c:multiLvlStrRef>
              <c:f>Sheet1!$A$2:$A$5</c:f>
              <c:multiLvlStrCache>
                <c:ptCount val="4"/>
                <c:lvl>
                  <c:pt idx="0">
                    <c:v>Flat</c:v>
                  </c:pt>
                  <c:pt idx="1">
                    <c:v>Hub &amp; Spoke</c:v>
                  </c:pt>
                  <c:pt idx="2">
                    <c:v>DMZ</c:v>
                  </c:pt>
                  <c:pt idx="3">
                    <c:v>Micro-Seg.</c:v>
                  </c:pt>
                </c:lvl>
              </c:multiLvlStrCache>
            </c:multiLvlStrRef>
          </c:cat>
          <c:val>
            <c:numRef>
              <c:f>Sheet1!$B$2:$B$5</c:f>
              <c:numCache>
                <c:formatCode>General</c:formatCode>
                <c:ptCount val="4"/>
                <c:pt idx="0">
                  <c:v>34.5</c:v>
                </c:pt>
                <c:pt idx="1">
                  <c:v>33.9</c:v>
                </c:pt>
                <c:pt idx="2">
                  <c:v>35</c:v>
                </c:pt>
                <c:pt idx="3">
                  <c:v>33.7</c:v>
                </c:pt>
              </c:numCache>
            </c:numRef>
          </c:val>
        </c:ser>
        <c:dLbls>
          <c:numFmt formatCode="#,##0" sourceLinked="0"/>
          <c:txPr>
            <a:bodyPr/>
            <a:lstStyle/>
            <a:p>
              <a:pPr>
                <a:defRPr b="1" i="0" strike="noStrike" sz="1400" u="none">
                  <a:solidFill>
                    <a:srgbClr val="23282F"/>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300" b="0" i="0" u="none" strike="noStrike">
                <a:solidFill>
                  <a:srgbClr val="23282F"/>
                </a:solidFill>
                <a:latin typeface="Arial"/>
              </a:defRPr>
            </a:pPr>
            <a:endParaRPr lang="en-US"/>
          </a:p>
        </c:txPr>
        <c:crossAx val="2094734552"/>
        <c:crosses val="autoZero"/>
        <c:auto val="1"/>
        <c:lblAlgn val="ctr"/>
        <c:noMultiLvlLbl val="1"/>
      </c:catAx>
      <c:valAx>
        <c:axId val="2094734552"/>
        <c:scaling>
          <c:orientation val="minMax"/>
          <c:max val="45"/>
          <c:min val="0"/>
        </c:scaling>
        <c:delete val="0"/>
        <c:axPos val="l"/>
        <c:majorGridlines>
          <c:spPr>
            <a:ln w="12700" cap="flat">
              <a:solidFill>
                <a:srgbClr val="DDE1E6"/>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6E7681"/>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Chain</c:v>
                </c:pt>
              </c:strCache>
            </c:strRef>
          </c:tx>
          <c:spPr>
            <a:solidFill>
              <a:srgbClr val="B9C0C8"/>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Sheet1!$A$2:$A$5</c:f>
              <c:multiLvlStrCache>
                <c:ptCount val="4"/>
                <c:lvl>
                  <c:pt idx="0">
                    <c:v>Flat</c:v>
                  </c:pt>
                  <c:pt idx="1">
                    <c:v>Hub &amp; Spoke</c:v>
                  </c:pt>
                  <c:pt idx="2">
                    <c:v>DMZ</c:v>
                  </c:pt>
                  <c:pt idx="3">
                    <c:v>Micro-Seg.</c:v>
                  </c:pt>
                </c:lvl>
              </c:multiLvlStrCache>
            </c:multiLvlStrRef>
          </c:cat>
          <c:val>
            <c:numRef>
              <c:f>Sheet1!$B$2:$B$5</c:f>
              <c:numCache>
                <c:formatCode>General</c:formatCode>
                <c:ptCount val="4"/>
                <c:pt idx="0">
                  <c:v>72</c:v>
                </c:pt>
                <c:pt idx="1">
                  <c:v>11.5</c:v>
                </c:pt>
                <c:pt idx="2">
                  <c:v>9.4</c:v>
                </c:pt>
                <c:pt idx="3">
                  <c:v>5.2</c:v>
                </c:pt>
              </c:numCache>
            </c:numRef>
          </c:val>
        </c:ser>
        <c:ser>
          <c:idx val="1"/>
          <c:order val="1"/>
          <c:tx>
            <c:strRef>
              <c:f>Sheet1!$C$1</c:f>
              <c:strCache>
                <c:ptCount val="1"/>
                <c:pt idx="0">
                  <c:v>Flat</c:v>
                </c:pt>
              </c:strCache>
            </c:strRef>
          </c:tx>
          <c:spPr>
            <a:solidFill>
              <a:srgbClr val="8FA3B3"/>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Sheet1!$A$2:$A$5</c:f>
              <c:multiLvlStrCache>
                <c:ptCount val="4"/>
                <c:lvl>
                  <c:pt idx="0">
                    <c:v>Flat</c:v>
                  </c:pt>
                  <c:pt idx="1">
                    <c:v>Hub &amp; Spoke</c:v>
                  </c:pt>
                  <c:pt idx="2">
                    <c:v>DMZ</c:v>
                  </c:pt>
                  <c:pt idx="3">
                    <c:v>Micro-Seg.</c:v>
                  </c:pt>
                </c:lvl>
              </c:multiLvlStrCache>
            </c:multiLvlStrRef>
          </c:cat>
          <c:val>
            <c:numRef>
              <c:f>Sheet1!$C$2:$C$5</c:f>
              <c:numCache>
                <c:formatCode>General</c:formatCode>
                <c:ptCount val="4"/>
                <c:pt idx="0">
                  <c:v>99.9</c:v>
                </c:pt>
                <c:pt idx="1">
                  <c:v>9.2</c:v>
                </c:pt>
                <c:pt idx="2">
                  <c:v>5.3</c:v>
                </c:pt>
                <c:pt idx="3">
                  <c:v>6.2</c:v>
                </c:pt>
              </c:numCache>
            </c:numRef>
          </c:val>
        </c:ser>
        <c:ser>
          <c:idx val="2"/>
          <c:order val="2"/>
          <c:tx>
            <c:strRef>
              <c:f>Sheet1!$D$1</c:f>
              <c:strCache>
                <c:ptCount val="1"/>
                <c:pt idx="0">
                  <c:v>Hub &amp; Spoke</c:v>
                </c:pt>
              </c:strCache>
            </c:strRef>
          </c:tx>
          <c:spPr>
            <a:solidFill>
              <a:srgbClr val="C2A05A"/>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Sheet1!$A$2:$A$5</c:f>
              <c:multiLvlStrCache>
                <c:ptCount val="4"/>
                <c:lvl>
                  <c:pt idx="0">
                    <c:v>Flat</c:v>
                  </c:pt>
                  <c:pt idx="1">
                    <c:v>Hub &amp; Spoke</c:v>
                  </c:pt>
                  <c:pt idx="2">
                    <c:v>DMZ</c:v>
                  </c:pt>
                  <c:pt idx="3">
                    <c:v>Micro-Seg.</c:v>
                  </c:pt>
                </c:lvl>
              </c:multiLvlStrCache>
            </c:multiLvlStrRef>
          </c:cat>
          <c:val>
            <c:numRef>
              <c:f>Sheet1!$D$2:$D$5</c:f>
              <c:numCache>
                <c:formatCode>General</c:formatCode>
                <c:ptCount val="4"/>
                <c:pt idx="0">
                  <c:v>67.1</c:v>
                </c:pt>
                <c:pt idx="1">
                  <c:v>61</c:v>
                </c:pt>
                <c:pt idx="2">
                  <c:v>10.4</c:v>
                </c:pt>
                <c:pt idx="3">
                  <c:v>1</c:v>
                </c:pt>
              </c:numCache>
            </c:numRef>
          </c:val>
        </c:ser>
        <c:ser>
          <c:idx val="3"/>
          <c:order val="3"/>
          <c:tx>
            <c:strRef>
              <c:f>Sheet1!$E$1</c:f>
              <c:strCache>
                <c:ptCount val="1"/>
                <c:pt idx="0">
                  <c:v>DMZ</c:v>
                </c:pt>
              </c:strCache>
            </c:strRef>
          </c:tx>
          <c:spPr>
            <a:solidFill>
              <a:srgbClr val="7BA88F"/>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Sheet1!$A$2:$A$5</c:f>
              <c:multiLvlStrCache>
                <c:ptCount val="4"/>
                <c:lvl>
                  <c:pt idx="0">
                    <c:v>Flat</c:v>
                  </c:pt>
                  <c:pt idx="1">
                    <c:v>Hub &amp; Spoke</c:v>
                  </c:pt>
                  <c:pt idx="2">
                    <c:v>DMZ</c:v>
                  </c:pt>
                  <c:pt idx="3">
                    <c:v>Micro-Seg.</c:v>
                  </c:pt>
                </c:lvl>
              </c:multiLvlStrCache>
            </c:multiLvlStrRef>
          </c:cat>
          <c:val>
            <c:numRef>
              <c:f>Sheet1!$E$2:$E$5</c:f>
              <c:numCache>
                <c:formatCode>General</c:formatCode>
                <c:ptCount val="4"/>
                <c:pt idx="0">
                  <c:v>45.8</c:v>
                </c:pt>
                <c:pt idx="1">
                  <c:v>6.2</c:v>
                </c:pt>
                <c:pt idx="2">
                  <c:v>67</c:v>
                </c:pt>
                <c:pt idx="3">
                  <c:v>0</c:v>
                </c:pt>
              </c:numCache>
            </c:numRef>
          </c:val>
        </c:ser>
        <c:ser>
          <c:idx val="4"/>
          <c:order val="4"/>
          <c:tx>
            <c:strRef>
              <c:f>Sheet1!$F$1</c:f>
              <c:strCache>
                <c:ptCount val="1"/>
                <c:pt idx="0">
                  <c:v>Micro-Seg.</c:v>
                </c:pt>
              </c:strCache>
            </c:strRef>
          </c:tx>
          <c:spPr>
            <a:solidFill>
              <a:srgbClr val="9C8AA5"/>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Sheet1!$A$2:$A$5</c:f>
              <c:multiLvlStrCache>
                <c:ptCount val="4"/>
                <c:lvl>
                  <c:pt idx="0">
                    <c:v>Flat</c:v>
                  </c:pt>
                  <c:pt idx="1">
                    <c:v>Hub &amp; Spoke</c:v>
                  </c:pt>
                  <c:pt idx="2">
                    <c:v>DMZ</c:v>
                  </c:pt>
                  <c:pt idx="3">
                    <c:v>Micro-Seg.</c:v>
                  </c:pt>
                </c:lvl>
              </c:multiLvlStrCache>
            </c:multiLvlStrRef>
          </c:cat>
          <c:val>
            <c:numRef>
              <c:f>Sheet1!$F$2:$F$5</c:f>
              <c:numCache>
                <c:formatCode>General</c:formatCode>
                <c:ptCount val="4"/>
                <c:pt idx="0">
                  <c:v>74</c:v>
                </c:pt>
                <c:pt idx="1">
                  <c:v>20.6</c:v>
                </c:pt>
                <c:pt idx="2">
                  <c:v>5.4</c:v>
                </c:pt>
                <c:pt idx="3">
                  <c:v>56.6</c:v>
                </c:pt>
              </c:numCache>
            </c:numRef>
          </c:val>
        </c:ser>
        <c:ser>
          <c:idx val="5"/>
          <c:order val="5"/>
          <c:tx>
            <c:strRef>
              <c:f>Sheet1!$G$1</c:f>
              <c:strCache>
                <c:ptCount val="1"/>
                <c:pt idx="0">
                  <c:v>Super</c:v>
                </c:pt>
              </c:strCache>
            </c:strRef>
          </c:tx>
          <c:spPr>
            <a:solidFill>
              <a:srgbClr val="B3382C"/>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Sheet1!$A$2:$A$5</c:f>
              <c:multiLvlStrCache>
                <c:ptCount val="4"/>
                <c:lvl>
                  <c:pt idx="0">
                    <c:v>Flat</c:v>
                  </c:pt>
                  <c:pt idx="1">
                    <c:v>Hub &amp; Spoke</c:v>
                  </c:pt>
                  <c:pt idx="2">
                    <c:v>DMZ</c:v>
                  </c:pt>
                  <c:pt idx="3">
                    <c:v>Micro-Seg.</c:v>
                  </c:pt>
                </c:lvl>
              </c:multiLvlStrCache>
            </c:multiLvlStrRef>
          </c:cat>
          <c:val>
            <c:numRef>
              <c:f>Sheet1!$G$2:$G$5</c:f>
              <c:numCache>
                <c:formatCode>General</c:formatCode>
                <c:ptCount val="4"/>
                <c:pt idx="0">
                  <c:v>91</c:v>
                </c:pt>
                <c:pt idx="1">
                  <c:v>11.5</c:v>
                </c:pt>
                <c:pt idx="2">
                  <c:v>4.5</c:v>
                </c:pt>
                <c:pt idx="3">
                  <c:v>55.6</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23282F"/>
                </a:solidFill>
                <a:latin typeface="Arial"/>
              </a:defRPr>
            </a:pPr>
            <a:endParaRPr lang="en-US"/>
          </a:p>
        </c:txPr>
        <c:crossAx val="2094734552"/>
        <c:crosses val="autoZero"/>
        <c:auto val="1"/>
        <c:lblAlgn val="ctr"/>
        <c:noMultiLvlLbl val="1"/>
      </c:catAx>
      <c:valAx>
        <c:axId val="2094734552"/>
        <c:scaling>
          <c:orientation val="minMax"/>
          <c:max val="100"/>
          <c:min val="0"/>
        </c:scaling>
        <c:delete val="0"/>
        <c:axPos val="l"/>
        <c:majorGridlines>
          <c:spPr>
            <a:ln w="12700" cap="flat">
              <a:solidFill>
                <a:srgbClr val="DDE1E6"/>
              </a:solidFill>
              <a:prstDash val="solid"/>
              <a:round/>
            </a:ln>
          </c:spPr>
        </c:majorGridlines>
        <c:title>
          <c:tx>
            <c:rich>
              <a:bodyPr/>
              <a:lstStyle/>
              <a:p>
                <a:pPr>
                  <a:defRPr sz="1100" b="0" i="0" u="none" strike="noStrike">
                    <a:solidFill>
                      <a:srgbClr val="6E7681"/>
                    </a:solidFill>
                    <a:latin typeface="Arial"/>
                  </a:defRPr>
                </a:pPr>
                <a:r>
                  <a:rPr sz="1100" b="0" i="0" u="none" strike="noStrike">
                    <a:solidFill>
                      <a:srgbClr val="6E7681"/>
                    </a:solidFill>
                    <a:latin typeface="Arial"/>
                  </a:rPr>
                  <a:t>Crown Jewel erreicht (%)</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E7681"/>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100">
              <a:solidFill>
                <a:srgbClr val="23282F"/>
              </a:solidFill>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Vollstaendige Matrix, 120 Laeufe, 24 Matchups, 5 Seeds je Matchup, Seeds 0-2 PC / 3-4 Laptop. Kein Auto-Stop: Konvergenz wird nachtraeglich auf der vollen Kurve bestimmt (Kapitel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Details und die drei geerbten MARLon-Fehler: thesis/MARLon_vs_Vorher_Modell.md und Kapitel 3.1 der Arbeit.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Wichtig fuers Meeting: Das ist kein Fehler dieses Laufs, sondern eine bereits in Kapitel 3.6 hergeleitete Eigenschaft, hier am neuen Reward bestaetigt.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Ersetzt die alte Auto-Stop-Balkenfolie: Counts waren hier uninformativ (120/120), die mittlere Episode ist die informativere Groesse.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Umgekehrtes Muster zum Referenzlauf: Dort war die Konvergenz die Kernfolie, hier ist es das Reward-Niveau der Diagonalen. Details zu Flat: Kapitel 3, Abwehrbonus-Abschnitt, und thesis/Umbau_alt_vs_neu.pptx.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Spanne aller Medianwerte: -715 (flat/flat) bis -20 (micro/micro). Vorsicht bei Topologie-uebergreifenden Vergleichen, siehe Kapitel 3.9 Auswertungsgroessen.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Zahlen aus prep_curves.py, Datei defender_table.json des neuen Laufs.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Gegenstueck zur Verteidigerfolie, attacker_table.json des neuen Laufs.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Ergaenzt das Reward-Niveau um die Frage, ob der Angreifer ueberhaupt vorankommt, unabhaengig von der Reward-Skala.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Ergaenzt die CJ-Folie um das Ausmass der Uebernahme.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Je Angreifer ein Feld, Mittel ueber 5 Seeds, geglaettet. Kein Auto-Stop in diesem Lauf: alle Seeds tragen ueber die volle Laenge bei, keine Ausstiegs-Markierungen zu erwarten.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Je Angreifer ein Feld, Mittel ueber 5 Seeds, geglaettet. Kein Auto-Stop in diesem Lauf: alle Seeds tragen ueber die volle Laenge bei, keine Ausstiegs-Markierungen zu erwarten.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Je Angreifer ein Feld, Mittel ueber 5 Seeds, geglaettet. Kein Auto-Stop in diesem Lauf: alle Seeds tragen ueber die volle Laenge bei, keine Ausstiegs-Markierungen zu erwarten.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Je Angreifer ein Feld, Mittel ueber 5 Seeds, geglaettet. Kein Auto-Stop in diesem Lauf: alle Seeds tragen ueber die volle Laenge bei, keine Ausstiegs-Markierungen zu erwarten.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Zustandsreward-Anteil aus der Kantenbilanz-Formel (Kapitel 3, Folie 2), getrennt vom Gesamtreward betrachtet. Alle vier Kurven starten stark negativ und naehern sich Null oder leicht positiven Werten an; DMZ und Micro-Segmentation liegen am Ende nahe 0, Flat bleibt mit rund -14 klar am negativsten, dieselbe Topologie, die auch beim Gesamtreward und in der Evaluation am schlechtesten abschneidet (Folie 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Anteil der 5 Seeds je Episode, die den Crown Jewel erreicht haben, geglaettet (Fenster 15, da binaere Groesse ueber nur 5 Seeds). Selbst-Matchup mit Stern markiert. Ergaenzt die Evaluations-Crown-Jewel-Matrix (Folie 24) um den Trainingsverlauf: in Micro-Segmentation faellt die Quote gegen den eigenen Angreifer bis auf 0, in Flat bleibt sie durchgehend nahe 100 -- konsistent mit den eingefrorenen Endwerten dort.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Anteil der 5 Seeds je Episode, die den Crown Jewel erreicht haben, geglaettet (Fenster 15, da binaere Groesse ueber nur 5 Seeds). Selbst-Matchup mit Stern markiert. Ergaenzt die Evaluations-Crown-Jewel-Matrix (Folie 24) um den Trainingsverlauf: in Micro-Segmentation faellt die Quote gegen den eigenen Angreifer bis auf 0, in Flat bleibt sie durchgehend nahe 100 -- konsistent mit den eingefrorenen Endwerten dort.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Anteil der 5 Seeds je Episode, die den Crown Jewel erreicht haben, geglaettet (Fenster 15, da binaere Groesse ueber nur 5 Seeds). Selbst-Matchup mit Stern markiert. Ergaenzt die Evaluations-Crown-Jewel-Matrix (Folie 24) um den Trainingsverlauf: in Micro-Segmentation faellt die Quote gegen den eigenen Angreifer bis auf 0, in Flat bleibt sie durchgehend nahe 100 -- konsistent mit den eingefrorenen Endwerten dort.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Anteil der 5 Seeds je Episode, die den Crown Jewel erreicht haben, geglaettet (Fenster 15, da binaere Groesse ueber nur 5 Seeds). Selbst-Matchup mit Stern markiert. Ergaenzt die Evaluations-Crown-Jewel-Matrix (Folie 24) um den Trainingsverlauf: in Micro-Segmentation faellt die Quote gegen den eigenen Angreifer bis auf 0, in Flat bleibt sie durchgehend nahe 100 -- konsistent mit den eingefrorenen Endwerten dort.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Zahlen aus combined_episodes.csv, Mittel ueber alle 120 Laeufe des neuen 3-Aktionen-Raums. Vergleich zum alten 5-Aktionen-Raum nur qualitativ, da Kategorien nicht 1:1 uebereinstimmen.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Gestapelte Anteile je Episode. def_stop_svc/def_start_svc existieren im neuen Aktionsraum nicht mehr und liegen konstant bei 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Gestapelte Anteile je Episode. def_stop_svc/def_start_svc existieren im neuen Aktionsraum nicht mehr und liegen konstant bei 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Gestapelte Anteile je Episode. def_stop_svc/def_start_svc existieren im neuen Aktionsraum nicht mehr und liegen konstant bei 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Gestapelte Anteile je Episode. def_stop_svc/def_start_svc existieren im neuen Aktionsraum nicht mehr und liegen konstant bei 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Anders als im Referenzlauf treten SLA-Brueche jetzt in allen 24 Matchups auf, seit gesperrte Ports auf die Verfuegbarkeit zaehlen (Kapitel 3.6). Am staerksten betroffen: die drei Selbst-Matchups flat/flat, hub_and_spoke/hub_and_spoke, dmz/dmz.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Uebergangsfolie. Alle 360 Zellen sind jetzt vollstaendig: 216 auf dem Desktop (Seeds 0-2), 144 auf dem Laptop (Seeds 3-4), zusammengefuehrt in evaluation_episodes.csv.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Kernfolie fuer die Frage nach dem Nutzen. Deutlich anderes Bild als beim Referenzlauf: Dort lagen trainiert und zufaellig dicht beieinander, hier trennt sich das Training klar vom Zufallsagenten.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Bestaetigt die Flat-Schwaeche aus dem Trainingsteil unabhaengig von der Reward-Skala: Auch mit eingefrorener Politik haelt der Angreifer dort 7 von 10 Knoten.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Dritte unabhaengige Bestaetigung der Flat-Schwaeche und der Micro-Segmentation-Staerke, nach Reward-Niveau und gehaltenen Knoten.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Erklaert den riesigen Reward-Unterschied zwischen zufaellig und trainiert: Der Zufallsagent blockt praktisch permanent und reisst die SLA fast immer, das trainierte Modell hat gelernt, Sperren gezielt statt wahllos einzusetzen.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1F26"/>
        </a:solidFill>
      </p:bgPr>
    </p:bg>
    <p:spTree>
      <p:nvGrpSpPr>
        <p:cNvPr id="1" name=""/>
        <p:cNvGrpSpPr/>
        <p:nvPr/>
      </p:nvGrpSpPr>
      <p:grpSpPr>
        <a:xfrm>
          <a:off x="0" y="0"/>
          <a:ext cx="0" cy="0"/>
          <a:chOff x="0" y="0"/>
          <a:chExt cx="0" cy="0"/>
        </a:xfrm>
      </p:grpSpPr>
      <p:sp>
        <p:nvSpPr>
          <p:cNvPr id="2" name="Text 0"/>
          <p:cNvSpPr/>
          <p:nvPr/>
        </p:nvSpPr>
        <p:spPr>
          <a:xfrm>
            <a:off x="640080" y="2057400"/>
            <a:ext cx="8778240" cy="868680"/>
          </a:xfrm>
          <a:prstGeom prst="rect">
            <a:avLst/>
          </a:prstGeom>
          <a:noFill/>
          <a:ln/>
        </p:spPr>
        <p:txBody>
          <a:bodyPr wrap="square" lIns="0" tIns="0" rIns="0" bIns="0" rtlCol="0" anchor="ctr"/>
          <a:lstStyle/>
          <a:p>
            <a:pPr indent="0" marL="0">
              <a:buNone/>
            </a:pPr>
            <a:r>
              <a:rPr lang="en-US" sz="4600" b="1" dirty="0">
                <a:solidFill>
                  <a:srgbClr val="FFFFFF"/>
                </a:solidFill>
                <a:latin typeface="Cambria" pitchFamily="34" charset="0"/>
                <a:ea typeface="Cambria" pitchFamily="34" charset="-122"/>
                <a:cs typeface="Cambria" pitchFamily="34" charset="-120"/>
              </a:rPr>
              <a:t>Verteidiger-Matrix</a:t>
            </a:r>
            <a:endParaRPr lang="en-US" sz="4600" dirty="0"/>
          </a:p>
        </p:txBody>
      </p:sp>
      <p:sp>
        <p:nvSpPr>
          <p:cNvPr id="3" name="Text 1"/>
          <p:cNvSpPr/>
          <p:nvPr/>
        </p:nvSpPr>
        <p:spPr>
          <a:xfrm>
            <a:off x="640080" y="2926080"/>
            <a:ext cx="8778240" cy="457200"/>
          </a:xfrm>
          <a:prstGeom prst="rect">
            <a:avLst/>
          </a:prstGeom>
          <a:noFill/>
          <a:ln/>
        </p:spPr>
        <p:txBody>
          <a:bodyPr wrap="square" lIns="0" tIns="0" rIns="0" bIns="0" rtlCol="0" anchor="ctr"/>
          <a:lstStyle/>
          <a:p>
            <a:pPr indent="0" marL="0">
              <a:buNone/>
            </a:pPr>
            <a:r>
              <a:rPr lang="en-US" sz="2000" dirty="0">
                <a:solidFill>
                  <a:srgbClr val="C6CDD6"/>
                </a:solidFill>
                <a:latin typeface="Calibri" pitchFamily="34" charset="0"/>
                <a:ea typeface="Calibri" pitchFamily="34" charset="-122"/>
                <a:cs typeface="Calibri" pitchFamily="34" charset="-120"/>
              </a:rPr>
              <a:t>Einfluss der Netzwerktopologie auf die Lerneffizienz</a:t>
            </a:r>
            <a:endParaRPr lang="en-US" sz="2000" dirty="0"/>
          </a:p>
        </p:txBody>
      </p:sp>
      <p:sp>
        <p:nvSpPr>
          <p:cNvPr id="4" name="Text 2"/>
          <p:cNvSpPr/>
          <p:nvPr/>
        </p:nvSpPr>
        <p:spPr>
          <a:xfrm>
            <a:off x="640080" y="3703320"/>
            <a:ext cx="8778240" cy="36576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120 Trainingsläufe</a:t>
            </a:r>
            <a:pPr indent="0" marL="0">
              <a:buNone/>
            </a:pPr>
            <a:r>
              <a:rPr lang="en-US" sz="1500" dirty="0">
                <a:solidFill>
                  <a:srgbClr val="6E7681"/>
                </a:solidFill>
                <a:latin typeface="Calibri" pitchFamily="34" charset="0"/>
                <a:ea typeface="Calibri" pitchFamily="34" charset="-122"/>
                <a:cs typeface="Calibri" pitchFamily="34" charset="-120"/>
              </a:rPr>
              <a:t>   ·   </a:t>
            </a:r>
            <a:pPr indent="0" marL="0">
              <a:buNone/>
            </a:pPr>
            <a:r>
              <a:rPr lang="en-US" sz="1500" b="1" dirty="0">
                <a:solidFill>
                  <a:srgbClr val="FFFFFF"/>
                </a:solidFill>
                <a:latin typeface="Calibri" pitchFamily="34" charset="0"/>
                <a:ea typeface="Calibri" pitchFamily="34" charset="-122"/>
                <a:cs typeface="Calibri" pitchFamily="34" charset="-120"/>
              </a:rPr>
              <a:t>24 Matchups</a:t>
            </a:r>
            <a:pPr indent="0" marL="0">
              <a:buNone/>
            </a:pPr>
            <a:r>
              <a:rPr lang="en-US" sz="1500" dirty="0">
                <a:solidFill>
                  <a:srgbClr val="6E7681"/>
                </a:solidFill>
                <a:latin typeface="Calibri" pitchFamily="34" charset="0"/>
                <a:ea typeface="Calibri" pitchFamily="34" charset="-122"/>
                <a:cs typeface="Calibri" pitchFamily="34" charset="-120"/>
              </a:rPr>
              <a:t>   ·   </a:t>
            </a:r>
            <a:pPr indent="0" marL="0">
              <a:buNone/>
            </a:pPr>
            <a:r>
              <a:rPr lang="en-US" sz="1500" b="1" dirty="0">
                <a:solidFill>
                  <a:srgbClr val="FFFFFF"/>
                </a:solidFill>
                <a:latin typeface="Calibri" pitchFamily="34" charset="0"/>
                <a:ea typeface="Calibri" pitchFamily="34" charset="-122"/>
                <a:cs typeface="Calibri" pitchFamily="34" charset="-120"/>
              </a:rPr>
              <a:t>5 Seeds</a:t>
            </a:r>
            <a:endParaRPr lang="en-US" sz="1500" dirty="0"/>
          </a:p>
        </p:txBody>
      </p:sp>
      <p:sp>
        <p:nvSpPr>
          <p:cNvPr id="5" name="Text 3"/>
          <p:cNvSpPr/>
          <p:nvPr/>
        </p:nvSpPr>
        <p:spPr>
          <a:xfrm>
            <a:off x="640080" y="5897880"/>
            <a:ext cx="8778240" cy="292608"/>
          </a:xfrm>
          <a:prstGeom prst="rect">
            <a:avLst/>
          </a:prstGeom>
          <a:noFill/>
          <a:ln/>
        </p:spPr>
        <p:txBody>
          <a:bodyPr wrap="square" lIns="0" tIns="0" rIns="0" bIns="0" rtlCol="0" anchor="ctr"/>
          <a:lstStyle/>
          <a:p>
            <a:pPr indent="0" marL="0">
              <a:buNone/>
            </a:pPr>
            <a:r>
              <a:rPr lang="en-US" sz="1200" dirty="0">
                <a:solidFill>
                  <a:srgbClr val="6E7681"/>
                </a:solidFill>
                <a:latin typeface="Calibri" pitchFamily="34" charset="0"/>
                <a:ea typeface="Calibri" pitchFamily="34" charset="-122"/>
                <a:cs typeface="Calibri" pitchFamily="34" charset="-120"/>
              </a:rPr>
              <a:t>Lauf 20260820_005936   ·   Kantenbilanz-Reward, volles Budget ohne Auto-Stop</a:t>
            </a:r>
            <a:endParaRPr lang="en-US" sz="1200" dirty="0"/>
          </a:p>
        </p:txBody>
      </p:sp>
      <p:sp>
        <p:nvSpPr>
          <p:cNvPr id="6" name="Shape 4"/>
          <p:cNvSpPr/>
          <p:nvPr/>
        </p:nvSpPr>
        <p:spPr>
          <a:xfrm>
            <a:off x="9601200" y="2057400"/>
            <a:ext cx="1920240" cy="2011680"/>
          </a:xfrm>
          <a:prstGeom prst="roundRect">
            <a:avLst>
              <a:gd name="adj" fmla="val 5714"/>
            </a:avLst>
          </a:prstGeom>
          <a:solidFill>
            <a:srgbClr val="252B33"/>
          </a:solidFill>
          <a:ln w="12700">
            <a:solidFill>
              <a:srgbClr val="3A424D"/>
            </a:solidFill>
            <a:prstDash val="solid"/>
          </a:ln>
        </p:spPr>
      </p:sp>
      <p:sp>
        <p:nvSpPr>
          <p:cNvPr id="7" name="Text 5"/>
          <p:cNvSpPr/>
          <p:nvPr/>
        </p:nvSpPr>
        <p:spPr>
          <a:xfrm>
            <a:off x="9601200" y="2377440"/>
            <a:ext cx="1920240" cy="640080"/>
          </a:xfrm>
          <a:prstGeom prst="rect">
            <a:avLst/>
          </a:prstGeom>
          <a:noFill/>
          <a:ln/>
        </p:spPr>
        <p:txBody>
          <a:bodyPr wrap="square" lIns="0" tIns="0" rIns="0" bIns="0" rtlCol="0" anchor="ctr"/>
          <a:lstStyle/>
          <a:p>
            <a:pPr algn="ctr" indent="0" marL="0">
              <a:buNone/>
            </a:pPr>
            <a:r>
              <a:rPr lang="en-US" sz="3000" b="1" dirty="0">
                <a:solidFill>
                  <a:srgbClr val="D99A2B"/>
                </a:solidFill>
                <a:latin typeface="Cambria" pitchFamily="34" charset="0"/>
                <a:ea typeface="Cambria" pitchFamily="34" charset="-122"/>
                <a:cs typeface="Cambria" pitchFamily="34" charset="-120"/>
              </a:rPr>
              <a:t>500.000</a:t>
            </a:r>
            <a:endParaRPr lang="en-US" sz="3000" dirty="0"/>
          </a:p>
        </p:txBody>
      </p:sp>
      <p:sp>
        <p:nvSpPr>
          <p:cNvPr id="8" name="Text 6"/>
          <p:cNvSpPr/>
          <p:nvPr/>
        </p:nvSpPr>
        <p:spPr>
          <a:xfrm>
            <a:off x="9601200" y="3063240"/>
            <a:ext cx="1920240" cy="640080"/>
          </a:xfrm>
          <a:prstGeom prst="rect">
            <a:avLst/>
          </a:prstGeom>
          <a:noFill/>
          <a:ln/>
        </p:spPr>
        <p:txBody>
          <a:bodyPr wrap="square" lIns="0" tIns="0" rIns="0" bIns="0" rtlCol="0" anchor="ctr"/>
          <a:lstStyle/>
          <a:p>
            <a:pPr algn="ctr" indent="0" marL="0">
              <a:buNone/>
            </a:pPr>
            <a:r>
              <a:rPr lang="en-US" sz="1200" dirty="0">
                <a:solidFill>
                  <a:srgbClr val="C6CDD6"/>
                </a:solidFill>
                <a:latin typeface="Calibri" pitchFamily="34" charset="0"/>
                <a:ea typeface="Calibri" pitchFamily="34" charset="-122"/>
                <a:cs typeface="Calibri" pitchFamily="34" charset="-120"/>
              </a:rPr>
              <a:t>Schritte je Lauf,</a:t>
            </a:r>
            <a:endParaRPr lang="en-US" sz="1200" dirty="0"/>
          </a:p>
          <a:p>
            <a:pPr algn="ctr" indent="0" marL="0">
              <a:buNone/>
            </a:pPr>
            <a:r>
              <a:rPr lang="en-US" sz="1200" dirty="0">
                <a:solidFill>
                  <a:srgbClr val="C6CDD6"/>
                </a:solidFill>
                <a:latin typeface="Calibri" pitchFamily="34" charset="0"/>
                <a:ea typeface="Calibri" pitchFamily="34" charset="-122"/>
                <a:cs typeface="Calibri" pitchFamily="34" charset="-120"/>
              </a:rPr>
              <a:t>festes Budget</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640080" y="384048"/>
            <a:ext cx="10881360" cy="566928"/>
          </a:xfrm>
          <a:prstGeom prst="rect">
            <a:avLst/>
          </a:prstGeom>
          <a:noFill/>
          <a:ln/>
        </p:spPr>
        <p:txBody>
          <a:bodyPr wrap="square" lIns="0" tIns="0" rIns="0" bIns="0" rtlCol="0" anchor="ctr"/>
          <a:lstStyle/>
          <a:p>
            <a:pPr indent="0" marL="0">
              <a:buNone/>
            </a:pPr>
            <a:r>
              <a:rPr lang="en-US" sz="3400" b="1" dirty="0">
                <a:solidFill>
                  <a:srgbClr val="23282F"/>
                </a:solidFill>
                <a:latin typeface="Cambria" pitchFamily="34" charset="0"/>
                <a:ea typeface="Cambria" pitchFamily="34" charset="-122"/>
                <a:cs typeface="Cambria" pitchFamily="34" charset="-120"/>
              </a:rPr>
              <a:t>Was diesen Lauf von MARLons Original unterscheidet</a:t>
            </a:r>
            <a:endParaRPr lang="en-US" sz="3400" dirty="0"/>
          </a:p>
        </p:txBody>
      </p:sp>
      <p:sp>
        <p:nvSpPr>
          <p:cNvPr id="3" name="Text 1"/>
          <p:cNvSpPr/>
          <p:nvPr/>
        </p:nvSpPr>
        <p:spPr>
          <a:xfrm>
            <a:off x="640080" y="969264"/>
            <a:ext cx="10881360" cy="493776"/>
          </a:xfrm>
          <a:prstGeom prst="rect">
            <a:avLst/>
          </a:prstGeom>
          <a:noFill/>
          <a:ln/>
        </p:spPr>
        <p:txBody>
          <a:bodyPr wrap="square" lIns="0" tIns="0" rIns="0" bIns="0" rtlCol="0" anchor="ctr"/>
          <a:lstStyle/>
          <a:p>
            <a:pPr indent="0" marL="0">
              <a:buNone/>
            </a:pPr>
            <a:r>
              <a:rPr lang="en-US" sz="1400" dirty="0">
                <a:solidFill>
                  <a:srgbClr val="6E7681"/>
                </a:solidFill>
                <a:latin typeface="Calibri" pitchFamily="34" charset="0"/>
                <a:ea typeface="Calibri" pitchFamily="34" charset="-122"/>
                <a:cs typeface="Calibri" pitchFamily="34" charset="-120"/>
              </a:rPr>
              <a:t>Drei Eingriffe am geerbten Aufbau, siehe Kapitel 3.1</a:t>
            </a:r>
            <a:endParaRPr lang="en-US" sz="1400" dirty="0"/>
          </a:p>
        </p:txBody>
      </p:sp>
      <p:sp>
        <p:nvSpPr>
          <p:cNvPr id="4" name="Shape 2"/>
          <p:cNvSpPr/>
          <p:nvPr/>
        </p:nvSpPr>
        <p:spPr>
          <a:xfrm>
            <a:off x="640080" y="1691640"/>
            <a:ext cx="3383280" cy="3200400"/>
          </a:xfrm>
          <a:prstGeom prst="roundRect">
            <a:avLst>
              <a:gd name="adj" fmla="val 2857"/>
            </a:avLst>
          </a:prstGeom>
          <a:solidFill>
            <a:srgbClr val="F4F6F8"/>
          </a:solidFill>
          <a:ln w="12700">
            <a:solidFill>
              <a:srgbClr val="DDE1E6"/>
            </a:solidFill>
            <a:prstDash val="solid"/>
          </a:ln>
        </p:spPr>
      </p:sp>
      <p:sp>
        <p:nvSpPr>
          <p:cNvPr id="5" name="Text 3"/>
          <p:cNvSpPr/>
          <p:nvPr/>
        </p:nvSpPr>
        <p:spPr>
          <a:xfrm>
            <a:off x="914400" y="1920240"/>
            <a:ext cx="2834640" cy="365760"/>
          </a:xfrm>
          <a:prstGeom prst="rect">
            <a:avLst/>
          </a:prstGeom>
          <a:noFill/>
          <a:ln/>
        </p:spPr>
        <p:txBody>
          <a:bodyPr wrap="square" lIns="0" tIns="0" rIns="0" bIns="0" rtlCol="0" anchor="ctr"/>
          <a:lstStyle/>
          <a:p>
            <a:pPr indent="0" marL="0">
              <a:buNone/>
            </a:pPr>
            <a:r>
              <a:rPr lang="en-US" sz="1900" b="1" dirty="0">
                <a:solidFill>
                  <a:srgbClr val="1C6E8C"/>
                </a:solidFill>
                <a:latin typeface="Cambria" pitchFamily="34" charset="0"/>
                <a:ea typeface="Cambria" pitchFamily="34" charset="-122"/>
                <a:cs typeface="Cambria" pitchFamily="34" charset="-120"/>
              </a:rPr>
              <a:t>Abwehrbonus</a:t>
            </a:r>
            <a:endParaRPr lang="en-US" sz="1900" dirty="0"/>
          </a:p>
        </p:txBody>
      </p:sp>
      <p:sp>
        <p:nvSpPr>
          <p:cNvPr id="6" name="Text 4"/>
          <p:cNvSpPr/>
          <p:nvPr/>
        </p:nvSpPr>
        <p:spPr>
          <a:xfrm>
            <a:off x="914400" y="2359152"/>
            <a:ext cx="2834640" cy="731520"/>
          </a:xfrm>
          <a:prstGeom prst="rect">
            <a:avLst/>
          </a:prstGeom>
          <a:noFill/>
          <a:ln/>
        </p:spPr>
        <p:txBody>
          <a:bodyPr wrap="square" lIns="0" tIns="0" rIns="0" bIns="0" rtlCol="0" anchor="ctr"/>
          <a:lstStyle/>
          <a:p>
            <a:pPr indent="0" marL="0">
              <a:buNone/>
            </a:pPr>
            <a:r>
              <a:rPr lang="en-US" sz="1400" b="1" dirty="0">
                <a:solidFill>
                  <a:srgbClr val="23282F"/>
                </a:solidFill>
                <a:latin typeface="Calibri" pitchFamily="34" charset="0"/>
                <a:ea typeface="Calibri" pitchFamily="34" charset="-122"/>
                <a:cs typeface="Calibri" pitchFamily="34" charset="-120"/>
              </a:rPr>
              <a:t>Zustandsreward für Prävention statt nur Rückeroberung.</a:t>
            </a:r>
            <a:endParaRPr lang="en-US" sz="1400" dirty="0"/>
          </a:p>
        </p:txBody>
      </p:sp>
      <p:sp>
        <p:nvSpPr>
          <p:cNvPr id="7" name="Text 5"/>
          <p:cNvSpPr/>
          <p:nvPr/>
        </p:nvSpPr>
        <p:spPr>
          <a:xfrm>
            <a:off x="914400" y="3154680"/>
            <a:ext cx="2834640" cy="1554480"/>
          </a:xfrm>
          <a:prstGeom prst="rect">
            <a:avLst/>
          </a:prstGeom>
          <a:noFill/>
          <a:ln/>
        </p:spPr>
        <p:txBody>
          <a:bodyPr wrap="square" lIns="0" tIns="0" rIns="0" bIns="0" rtlCol="0" anchor="ctr"/>
          <a:lstStyle/>
          <a:p>
            <a:pPr indent="0" marL="0">
              <a:buNone/>
            </a:pPr>
            <a:r>
              <a:rPr lang="en-US" sz="1200" dirty="0">
                <a:solidFill>
                  <a:srgbClr val="6E7681"/>
                </a:solidFill>
                <a:latin typeface="Calibri" pitchFamily="34" charset="0"/>
                <a:ea typeface="Calibri" pitchFamily="34" charset="-122"/>
                <a:cs typeface="Calibri" pitchFamily="34" charset="-120"/>
              </a:rPr>
              <a:t>Kantenbilanz: Beitrag(Z) = 0,00025 · Wert(Z) · (2f−1), f = Anteil kompromittierter Vorgänger. MARLons Original kannte nur die Zero-Sum-Kopplung; Prävention war im Reward unsichtbar.</a:t>
            </a:r>
            <a:endParaRPr lang="en-US" sz="1200" dirty="0"/>
          </a:p>
        </p:txBody>
      </p:sp>
      <p:sp>
        <p:nvSpPr>
          <p:cNvPr id="8" name="Shape 6"/>
          <p:cNvSpPr/>
          <p:nvPr/>
        </p:nvSpPr>
        <p:spPr>
          <a:xfrm>
            <a:off x="4389120" y="1691640"/>
            <a:ext cx="3383280" cy="3200400"/>
          </a:xfrm>
          <a:prstGeom prst="roundRect">
            <a:avLst>
              <a:gd name="adj" fmla="val 2857"/>
            </a:avLst>
          </a:prstGeom>
          <a:solidFill>
            <a:srgbClr val="F4F6F8"/>
          </a:solidFill>
          <a:ln w="12700">
            <a:solidFill>
              <a:srgbClr val="DDE1E6"/>
            </a:solidFill>
            <a:prstDash val="solid"/>
          </a:ln>
        </p:spPr>
      </p:sp>
      <p:sp>
        <p:nvSpPr>
          <p:cNvPr id="9" name="Text 7"/>
          <p:cNvSpPr/>
          <p:nvPr/>
        </p:nvSpPr>
        <p:spPr>
          <a:xfrm>
            <a:off x="4663440" y="1920240"/>
            <a:ext cx="2834640" cy="365760"/>
          </a:xfrm>
          <a:prstGeom prst="rect">
            <a:avLst/>
          </a:prstGeom>
          <a:noFill/>
          <a:ln/>
        </p:spPr>
        <p:txBody>
          <a:bodyPr wrap="square" lIns="0" tIns="0" rIns="0" bIns="0" rtlCol="0" anchor="ctr"/>
          <a:lstStyle/>
          <a:p>
            <a:pPr indent="0" marL="0">
              <a:buNone/>
            </a:pPr>
            <a:r>
              <a:rPr lang="en-US" sz="1900" b="1" dirty="0">
                <a:solidFill>
                  <a:srgbClr val="1C6E8C"/>
                </a:solidFill>
                <a:latin typeface="Cambria" pitchFamily="34" charset="0"/>
                <a:ea typeface="Cambria" pitchFamily="34" charset="-122"/>
                <a:cs typeface="Cambria" pitchFamily="34" charset="-120"/>
              </a:rPr>
              <a:t>Aktionsraum</a:t>
            </a:r>
            <a:endParaRPr lang="en-US" sz="1900" dirty="0"/>
          </a:p>
        </p:txBody>
      </p:sp>
      <p:sp>
        <p:nvSpPr>
          <p:cNvPr id="10" name="Text 8"/>
          <p:cNvSpPr/>
          <p:nvPr/>
        </p:nvSpPr>
        <p:spPr>
          <a:xfrm>
            <a:off x="4663440" y="2359152"/>
            <a:ext cx="2834640" cy="731520"/>
          </a:xfrm>
          <a:prstGeom prst="rect">
            <a:avLst/>
          </a:prstGeom>
          <a:noFill/>
          <a:ln/>
        </p:spPr>
        <p:txBody>
          <a:bodyPr wrap="square" lIns="0" tIns="0" rIns="0" bIns="0" rtlCol="0" anchor="ctr"/>
          <a:lstStyle/>
          <a:p>
            <a:pPr indent="0" marL="0">
              <a:buNone/>
            </a:pPr>
            <a:r>
              <a:rPr lang="en-US" sz="1400" b="1" dirty="0">
                <a:solidFill>
                  <a:srgbClr val="23282F"/>
                </a:solidFill>
                <a:latin typeface="Calibri" pitchFamily="34" charset="0"/>
                <a:ea typeface="Calibri" pitchFamily="34" charset="-122"/>
                <a:cs typeface="Calibri" pitchFamily="34" charset="-120"/>
              </a:rPr>
              <a:t>Verteidiger: 3 Aktionsarten statt 5, kein Port-Raten mehr.</a:t>
            </a:r>
            <a:endParaRPr lang="en-US" sz="1400" dirty="0"/>
          </a:p>
        </p:txBody>
      </p:sp>
      <p:sp>
        <p:nvSpPr>
          <p:cNvPr id="11" name="Text 9"/>
          <p:cNvSpPr/>
          <p:nvPr/>
        </p:nvSpPr>
        <p:spPr>
          <a:xfrm>
            <a:off x="4663440" y="3154680"/>
            <a:ext cx="2834640" cy="1554480"/>
          </a:xfrm>
          <a:prstGeom prst="rect">
            <a:avLst/>
          </a:prstGeom>
          <a:noFill/>
          <a:ln/>
        </p:spPr>
        <p:txBody>
          <a:bodyPr wrap="square" lIns="0" tIns="0" rIns="0" bIns="0" rtlCol="0" anchor="ctr"/>
          <a:lstStyle/>
          <a:p>
            <a:pPr indent="0" marL="0">
              <a:buNone/>
            </a:pPr>
            <a:r>
              <a:rPr lang="en-US" sz="1200" dirty="0">
                <a:solidFill>
                  <a:srgbClr val="6E7681"/>
                </a:solidFill>
                <a:latin typeface="Calibri" pitchFamily="34" charset="0"/>
                <a:ea typeface="Calibri" pitchFamily="34" charset="-122"/>
                <a:cs typeface="Calibri" pitchFamily="34" charset="-120"/>
              </a:rPr>
              <a:t>Reimage, Sperren, Freigeben je Knoten, Dienst stoppen/starten entfallen, Port und Richtung ergeben sich automatisch. MARLons Original hatte 12 Dimensionen; drei der geerbten Codefehler (Portliste, block_traffic, Verfügbarkeit) sind zudem behoben.</a:t>
            </a:r>
            <a:endParaRPr lang="en-US" sz="1200" dirty="0"/>
          </a:p>
        </p:txBody>
      </p:sp>
      <p:sp>
        <p:nvSpPr>
          <p:cNvPr id="12" name="Shape 10"/>
          <p:cNvSpPr/>
          <p:nvPr/>
        </p:nvSpPr>
        <p:spPr>
          <a:xfrm>
            <a:off x="8138160" y="1691640"/>
            <a:ext cx="3383280" cy="3200400"/>
          </a:xfrm>
          <a:prstGeom prst="roundRect">
            <a:avLst>
              <a:gd name="adj" fmla="val 2857"/>
            </a:avLst>
          </a:prstGeom>
          <a:solidFill>
            <a:srgbClr val="F4F6F8"/>
          </a:solidFill>
          <a:ln w="12700">
            <a:solidFill>
              <a:srgbClr val="DDE1E6"/>
            </a:solidFill>
            <a:prstDash val="solid"/>
          </a:ln>
        </p:spPr>
      </p:sp>
      <p:sp>
        <p:nvSpPr>
          <p:cNvPr id="13" name="Text 11"/>
          <p:cNvSpPr/>
          <p:nvPr/>
        </p:nvSpPr>
        <p:spPr>
          <a:xfrm>
            <a:off x="8412480" y="1920240"/>
            <a:ext cx="2834640" cy="365760"/>
          </a:xfrm>
          <a:prstGeom prst="rect">
            <a:avLst/>
          </a:prstGeom>
          <a:noFill/>
          <a:ln/>
        </p:spPr>
        <p:txBody>
          <a:bodyPr wrap="square" lIns="0" tIns="0" rIns="0" bIns="0" rtlCol="0" anchor="ctr"/>
          <a:lstStyle/>
          <a:p>
            <a:pPr indent="0" marL="0">
              <a:buNone/>
            </a:pPr>
            <a:r>
              <a:rPr lang="en-US" sz="1900" b="1" dirty="0">
                <a:solidFill>
                  <a:srgbClr val="1C6E8C"/>
                </a:solidFill>
                <a:latin typeface="Cambria" pitchFamily="34" charset="0"/>
                <a:ea typeface="Cambria" pitchFamily="34" charset="-122"/>
                <a:cs typeface="Cambria" pitchFamily="34" charset="-120"/>
              </a:rPr>
              <a:t>Maskierung</a:t>
            </a:r>
            <a:endParaRPr lang="en-US" sz="1900" dirty="0"/>
          </a:p>
        </p:txBody>
      </p:sp>
      <p:sp>
        <p:nvSpPr>
          <p:cNvPr id="14" name="Text 12"/>
          <p:cNvSpPr/>
          <p:nvPr/>
        </p:nvSpPr>
        <p:spPr>
          <a:xfrm>
            <a:off x="8412480" y="2359152"/>
            <a:ext cx="2834640" cy="731520"/>
          </a:xfrm>
          <a:prstGeom prst="rect">
            <a:avLst/>
          </a:prstGeom>
          <a:noFill/>
          <a:ln/>
        </p:spPr>
        <p:txBody>
          <a:bodyPr wrap="square" lIns="0" tIns="0" rIns="0" bIns="0" rtlCol="0" anchor="ctr"/>
          <a:lstStyle/>
          <a:p>
            <a:pPr indent="0" marL="0">
              <a:buNone/>
            </a:pPr>
            <a:r>
              <a:rPr lang="en-US" sz="1400" b="1" dirty="0">
                <a:solidFill>
                  <a:srgbClr val="23282F"/>
                </a:solidFill>
                <a:latin typeface="Calibri" pitchFamily="34" charset="0"/>
                <a:ea typeface="Calibri" pitchFamily="34" charset="-122"/>
                <a:cs typeface="Calibri" pitchFamily="34" charset="-120"/>
              </a:rPr>
              <a:t>Angreifer-Maske jetzt an tatsächlich entdeckte Kanten gebunden.</a:t>
            </a:r>
            <a:endParaRPr lang="en-US" sz="1400" dirty="0"/>
          </a:p>
        </p:txBody>
      </p:sp>
      <p:sp>
        <p:nvSpPr>
          <p:cNvPr id="15" name="Text 13"/>
          <p:cNvSpPr/>
          <p:nvPr/>
        </p:nvSpPr>
        <p:spPr>
          <a:xfrm>
            <a:off x="8412480" y="3154680"/>
            <a:ext cx="2834640" cy="1554480"/>
          </a:xfrm>
          <a:prstGeom prst="rect">
            <a:avLst/>
          </a:prstGeom>
          <a:noFill/>
          <a:ln/>
        </p:spPr>
        <p:txBody>
          <a:bodyPr wrap="square" lIns="0" tIns="0" rIns="0" bIns="0" rtlCol="0" anchor="ctr"/>
          <a:lstStyle/>
          <a:p>
            <a:pPr indent="0" marL="0">
              <a:buNone/>
            </a:pPr>
            <a:r>
              <a:rPr lang="en-US" sz="1200" dirty="0">
                <a:solidFill>
                  <a:srgbClr val="6E7681"/>
                </a:solidFill>
                <a:latin typeface="Calibri" pitchFamily="34" charset="0"/>
                <a:ea typeface="Calibri" pitchFamily="34" charset="-122"/>
                <a:cs typeface="Calibri" pitchFamily="34" charset="-120"/>
              </a:rPr>
              <a:t>CBS' eigene Maske kennt nur Zugangsdaten, keine Topologie. Eine eigene Kantenverfolgung schneidet die Maske zusätzlich auf das, was ScanHostDiscovery tatsächlich aufgedeckt hat.</a:t>
            </a:r>
            <a:endParaRPr lang="en-US" sz="1200" dirty="0"/>
          </a:p>
        </p:txBody>
      </p:sp>
      <p:sp>
        <p:nvSpPr>
          <p:cNvPr id="16" name="Text 14"/>
          <p:cNvSpPr/>
          <p:nvPr/>
        </p:nvSpPr>
        <p:spPr>
          <a:xfrm>
            <a:off x="640080" y="6291072"/>
            <a:ext cx="10881360" cy="274320"/>
          </a:xfrm>
          <a:prstGeom prst="rect">
            <a:avLst/>
          </a:prstGeom>
          <a:noFill/>
          <a:ln/>
        </p:spPr>
        <p:txBody>
          <a:bodyPr wrap="square" lIns="0" tIns="0" rIns="0" bIns="0" rtlCol="0" anchor="ctr"/>
          <a:lstStyle/>
          <a:p>
            <a:pPr indent="0" marL="0">
              <a:buNone/>
            </a:pPr>
            <a:r>
              <a:rPr lang="en-US" sz="1000" i="1" dirty="0">
                <a:solidFill>
                  <a:srgbClr val="6E7681"/>
                </a:solidFill>
                <a:latin typeface="Calibri" pitchFamily="34" charset="0"/>
                <a:ea typeface="Calibri" pitchFamily="34" charset="-122"/>
                <a:cs typeface="Calibri" pitchFamily="34" charset="-120"/>
              </a:rPr>
              <a:t>Alle sechs Angreifermodelle wurden auf dem korrigierten Kantensatz neu trainiert (500.000 Schritte je Topologie plus Super-Angreifer-Curriculum).</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640080" y="384048"/>
            <a:ext cx="10881360" cy="566928"/>
          </a:xfrm>
          <a:prstGeom prst="rect">
            <a:avLst/>
          </a:prstGeom>
          <a:noFill/>
          <a:ln/>
        </p:spPr>
        <p:txBody>
          <a:bodyPr wrap="square" lIns="0" tIns="0" rIns="0" bIns="0" rtlCol="0" anchor="ctr"/>
          <a:lstStyle/>
          <a:p>
            <a:pPr indent="0" marL="0">
              <a:buNone/>
            </a:pPr>
            <a:r>
              <a:rPr lang="en-US" sz="3400" b="1" dirty="0">
                <a:solidFill>
                  <a:srgbClr val="23282F"/>
                </a:solidFill>
                <a:latin typeface="Cambria" pitchFamily="34" charset="0"/>
                <a:ea typeface="Cambria" pitchFamily="34" charset="-122"/>
                <a:cs typeface="Cambria" pitchFamily="34" charset="-120"/>
              </a:rPr>
              <a:t>Konvergenz: ein bekanntes Kriterium an seiner Grenze</a:t>
            </a:r>
            <a:endParaRPr lang="en-US" sz="3400" dirty="0"/>
          </a:p>
        </p:txBody>
      </p:sp>
      <p:sp>
        <p:nvSpPr>
          <p:cNvPr id="3" name="Text 1"/>
          <p:cNvSpPr/>
          <p:nvPr/>
        </p:nvSpPr>
        <p:spPr>
          <a:xfrm>
            <a:off x="640080" y="969264"/>
            <a:ext cx="10881360" cy="493776"/>
          </a:xfrm>
          <a:prstGeom prst="rect">
            <a:avLst/>
          </a:prstGeom>
          <a:noFill/>
          <a:ln/>
        </p:spPr>
        <p:txBody>
          <a:bodyPr wrap="square" lIns="0" tIns="0" rIns="0" bIns="0" rtlCol="0" anchor="ctr"/>
          <a:lstStyle/>
          <a:p>
            <a:pPr indent="0" marL="0">
              <a:buNone/>
            </a:pPr>
            <a:r>
              <a:rPr lang="en-US" sz="1400" dirty="0">
                <a:solidFill>
                  <a:srgbClr val="6E7681"/>
                </a:solidFill>
                <a:latin typeface="Calibri" pitchFamily="34" charset="0"/>
                <a:ea typeface="Calibri" pitchFamily="34" charset="-122"/>
                <a:cs typeface="Calibri" pitchFamily="34" charset="-120"/>
              </a:rPr>
              <a:t>Kapitel-3-Kriterium (σ/Spanne ≤ 0,05, Trend ≤ 0,05, W=15, Patience 10) nachträglich auf die volle Kurve angewendet</a:t>
            </a:r>
            <a:endParaRPr lang="en-US" sz="1400" dirty="0"/>
          </a:p>
        </p:txBody>
      </p:sp>
      <p:sp>
        <p:nvSpPr>
          <p:cNvPr id="4" name="Shape 2"/>
          <p:cNvSpPr/>
          <p:nvPr/>
        </p:nvSpPr>
        <p:spPr>
          <a:xfrm>
            <a:off x="640080" y="1737360"/>
            <a:ext cx="10881360" cy="1417320"/>
          </a:xfrm>
          <a:prstGeom prst="roundRect">
            <a:avLst>
              <a:gd name="adj" fmla="val 6452"/>
            </a:avLst>
          </a:prstGeom>
          <a:solidFill>
            <a:srgbClr val="FBF3E4"/>
          </a:solidFill>
          <a:ln w="12700">
            <a:solidFill>
              <a:srgbClr val="EBD6AB"/>
            </a:solidFill>
            <a:prstDash val="solid"/>
          </a:ln>
        </p:spPr>
      </p:sp>
      <p:sp>
        <p:nvSpPr>
          <p:cNvPr id="5" name="Text 3"/>
          <p:cNvSpPr/>
          <p:nvPr/>
        </p:nvSpPr>
        <p:spPr>
          <a:xfrm>
            <a:off x="960120" y="1920240"/>
            <a:ext cx="3657600" cy="685800"/>
          </a:xfrm>
          <a:prstGeom prst="rect">
            <a:avLst/>
          </a:prstGeom>
          <a:noFill/>
          <a:ln/>
        </p:spPr>
        <p:txBody>
          <a:bodyPr wrap="square" lIns="0" tIns="0" rIns="0" bIns="0" rtlCol="0" anchor="ctr"/>
          <a:lstStyle/>
          <a:p>
            <a:pPr indent="0" marL="0">
              <a:buNone/>
            </a:pPr>
            <a:r>
              <a:rPr lang="en-US" sz="3000" b="1" dirty="0">
                <a:solidFill>
                  <a:srgbClr val="8A6414"/>
                </a:solidFill>
                <a:latin typeface="Cambria" pitchFamily="34" charset="0"/>
                <a:ea typeface="Cambria" pitchFamily="34" charset="-122"/>
                <a:cs typeface="Cambria" pitchFamily="34" charset="-120"/>
              </a:rPr>
              <a:t>100 % (120/120)</a:t>
            </a:r>
            <a:endParaRPr lang="en-US" sz="3000" dirty="0"/>
          </a:p>
        </p:txBody>
      </p:sp>
      <p:sp>
        <p:nvSpPr>
          <p:cNvPr id="6" name="Text 4"/>
          <p:cNvSpPr/>
          <p:nvPr/>
        </p:nvSpPr>
        <p:spPr>
          <a:xfrm>
            <a:off x="4572000" y="1965960"/>
            <a:ext cx="6675120" cy="1097280"/>
          </a:xfrm>
          <a:prstGeom prst="rect">
            <a:avLst/>
          </a:prstGeom>
          <a:noFill/>
          <a:ln/>
        </p:spPr>
        <p:txBody>
          <a:bodyPr wrap="square" lIns="0" tIns="0" rIns="0" bIns="0" rtlCol="0" anchor="ctr"/>
          <a:lstStyle/>
          <a:p>
            <a:pPr indent="0" marL="0">
              <a:buNone/>
            </a:pPr>
            <a:r>
              <a:rPr lang="en-US" sz="1300" dirty="0">
                <a:solidFill>
                  <a:srgbClr val="5C4A0A"/>
                </a:solidFill>
                <a:latin typeface="Calibri" pitchFamily="34" charset="0"/>
                <a:ea typeface="Calibri" pitchFamily="34" charset="-122"/>
                <a:cs typeface="Calibri" pitchFamily="34" charset="-120"/>
              </a:rPr>
              <a:t>Läufe erfüllen das Kriterium, im Median bereits ab Episode 33, dem frühestmöglichen Bereich.</a:t>
            </a:r>
            <a:endParaRPr lang="en-US" sz="1300" dirty="0"/>
          </a:p>
        </p:txBody>
      </p:sp>
      <p:sp>
        <p:nvSpPr>
          <p:cNvPr id="7" name="Text 5"/>
          <p:cNvSpPr/>
          <p:nvPr/>
        </p:nvSpPr>
        <p:spPr>
          <a:xfrm>
            <a:off x="640080" y="3337560"/>
            <a:ext cx="10881360" cy="777240"/>
          </a:xfrm>
          <a:prstGeom prst="rect">
            <a:avLst/>
          </a:prstGeom>
          <a:noFill/>
          <a:ln/>
        </p:spPr>
        <p:txBody>
          <a:bodyPr wrap="square" lIns="0" tIns="0" rIns="0" bIns="0" rtlCol="0" anchor="ctr"/>
          <a:lstStyle/>
          <a:p>
            <a:pPr indent="0" marL="0">
              <a:buNone/>
            </a:pPr>
            <a:r>
              <a:rPr lang="en-US" sz="1300" dirty="0">
                <a:solidFill>
                  <a:srgbClr val="23282F"/>
                </a:solidFill>
                <a:latin typeface="Calibri" pitchFamily="34" charset="0"/>
                <a:ea typeface="Calibri" pitchFamily="34" charset="-122"/>
                <a:cs typeface="Calibri" pitchFamily="34" charset="-120"/>
              </a:rPr>
              <a:t>Das ist keine überraschend gute Nachricht, sondern die in Kapitel 3.6 hergeleitete Eigenschaft des Kriteriums: Es misst die Restunruhe relativ zur bisherigen Spanne. Frühe Episoden mit SLA-Brüchen erzeugen eine sehr große Anfangsspanne, an der jede spätere, tatsächlich noch andauernde Verbesserung klein wirkt.</a:t>
            </a:r>
            <a:endParaRPr lang="en-US" sz="1300" dirty="0"/>
          </a:p>
        </p:txBody>
      </p:sp>
      <p:sp>
        <p:nvSpPr>
          <p:cNvPr id="8" name="Text 6"/>
          <p:cNvSpPr/>
          <p:nvPr/>
        </p:nvSpPr>
        <p:spPr>
          <a:xfrm>
            <a:off x="640080" y="4206240"/>
            <a:ext cx="10881360" cy="731520"/>
          </a:xfrm>
          <a:prstGeom prst="rect">
            <a:avLst/>
          </a:prstGeom>
          <a:noFill/>
          <a:ln/>
        </p:spPr>
        <p:txBody>
          <a:bodyPr wrap="square" lIns="0" tIns="0" rIns="0" bIns="0" rtlCol="0" anchor="ctr"/>
          <a:lstStyle/>
          <a:p>
            <a:pPr indent="0" marL="0">
              <a:buNone/>
            </a:pPr>
            <a:r>
              <a:rPr lang="en-US" sz="1200" dirty="0">
                <a:solidFill>
                  <a:srgbClr val="6E7681"/>
                </a:solidFill>
                <a:latin typeface="Calibri" pitchFamily="34" charset="0"/>
                <a:ea typeface="Calibri" pitchFamily="34" charset="-122"/>
                <a:cs typeface="Calibri" pitchFamily="34" charset="-120"/>
              </a:rPr>
              <a:t>Beispiel DMZ vs. DMZ: Episode 1 liegt bei −16.129, Episode 30 bereits bei etwa −1.800, nach der Spanne-Definition „ruhig“. Der Reward verbessert sich danach aber weiter bis auf −60 bis −250 gegen Episode 265. Das Kriterium trennt Trainingsende und tatsächliches Ende der Verbesserung nicht.</a:t>
            </a:r>
            <a:endParaRPr lang="en-US" sz="1200" dirty="0"/>
          </a:p>
        </p:txBody>
      </p:sp>
      <p:sp>
        <p:nvSpPr>
          <p:cNvPr id="9" name="Text 7"/>
          <p:cNvSpPr/>
          <p:nvPr/>
        </p:nvSpPr>
        <p:spPr>
          <a:xfrm>
            <a:off x="640080" y="5074920"/>
            <a:ext cx="10881360" cy="640080"/>
          </a:xfrm>
          <a:prstGeom prst="rect">
            <a:avLst/>
          </a:prstGeom>
          <a:noFill/>
          <a:ln/>
        </p:spPr>
        <p:txBody>
          <a:bodyPr wrap="square" lIns="0" tIns="0" rIns="0" bIns="0" rtlCol="0" anchor="ctr"/>
          <a:lstStyle/>
          <a:p>
            <a:pPr indent="0" marL="0">
              <a:buNone/>
            </a:pPr>
            <a:r>
              <a:rPr lang="en-US" sz="1300" b="1" dirty="0">
                <a:solidFill>
                  <a:srgbClr val="1C6E8C"/>
                </a:solidFill>
                <a:latin typeface="Calibri" pitchFamily="34" charset="0"/>
                <a:ea typeface="Calibri" pitchFamily="34" charset="-122"/>
                <a:cs typeface="Calibri" pitchFamily="34" charset="-120"/>
              </a:rPr>
              <a:t>Für die Auswertung heißt das: Der Konvergenzzeitpunkt in dieser Form eignet sich nicht als Maß der Lerneffizienz. Die folgenden Folien vergleichen Topologien deshalb am Reward-Niveau und an der Wirksamkeit, nicht an der Konvergenz.</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640080" y="384048"/>
            <a:ext cx="10881360" cy="566928"/>
          </a:xfrm>
          <a:prstGeom prst="rect">
            <a:avLst/>
          </a:prstGeom>
          <a:noFill/>
          <a:ln/>
        </p:spPr>
        <p:txBody>
          <a:bodyPr wrap="square" lIns="0" tIns="0" rIns="0" bIns="0" rtlCol="0" anchor="ctr"/>
          <a:lstStyle/>
          <a:p>
            <a:pPr indent="0" marL="0">
              <a:buNone/>
            </a:pPr>
            <a:r>
              <a:rPr lang="en-US" sz="3400" b="1" dirty="0">
                <a:solidFill>
                  <a:srgbClr val="23282F"/>
                </a:solidFill>
                <a:latin typeface="Cambria" pitchFamily="34" charset="0"/>
                <a:ea typeface="Cambria" pitchFamily="34" charset="-122"/>
                <a:cs typeface="Cambria" pitchFamily="34" charset="-120"/>
              </a:rPr>
              <a:t>Mittlere Konvergenzepisode je verteidigter Topologie</a:t>
            </a:r>
            <a:endParaRPr lang="en-US" sz="3400" dirty="0"/>
          </a:p>
        </p:txBody>
      </p:sp>
      <p:sp>
        <p:nvSpPr>
          <p:cNvPr id="3" name="Text 1"/>
          <p:cNvSpPr/>
          <p:nvPr/>
        </p:nvSpPr>
        <p:spPr>
          <a:xfrm>
            <a:off x="640080" y="969264"/>
            <a:ext cx="10881360" cy="493776"/>
          </a:xfrm>
          <a:prstGeom prst="rect">
            <a:avLst/>
          </a:prstGeom>
          <a:noFill/>
          <a:ln/>
        </p:spPr>
        <p:txBody>
          <a:bodyPr wrap="square" lIns="0" tIns="0" rIns="0" bIns="0" rtlCol="0" anchor="ctr"/>
          <a:lstStyle/>
          <a:p>
            <a:pPr indent="0" marL="0">
              <a:buNone/>
            </a:pPr>
            <a:r>
              <a:rPr lang="en-US" sz="1400" dirty="0">
                <a:solidFill>
                  <a:srgbClr val="6E7681"/>
                </a:solidFill>
                <a:latin typeface="Calibri" pitchFamily="34" charset="0"/>
                <a:ea typeface="Calibri" pitchFamily="34" charset="-122"/>
                <a:cs typeface="Calibri" pitchFamily="34" charset="-120"/>
              </a:rPr>
              <a:t>Mittel über die sechs Angreifer, alle liegen nah am frühestmöglichen Zeitpunkt (Episode 30)</a:t>
            </a:r>
            <a:endParaRPr lang="en-US" sz="1400" dirty="0"/>
          </a:p>
        </p:txBody>
      </p:sp>
      <p:graphicFrame>
        <p:nvGraphicFramePr>
          <p:cNvPr id="4" name="Chart 0" descr=""/>
          <p:cNvGraphicFramePr/>
          <p:nvPr/>
        </p:nvGraphicFramePr>
        <p:xfrm>
          <a:off x="640080" y="1691640"/>
          <a:ext cx="6583680" cy="3840480"/>
        </p:xfrm>
        <a:graphic xmlns:a="http://schemas.openxmlformats.org/drawingml/2006/main">
          <a:graphicData uri="http://schemas.openxmlformats.org/drawingml/2006/chart">
            <c:chart xmlns:c="http://schemas.openxmlformats.org/drawingml/2006/chart" r:id="rId1"/>
          </a:graphicData>
        </a:graphic>
      </p:graphicFrame>
      <p:sp>
        <p:nvSpPr>
          <p:cNvPr id="5" name="Text 2"/>
          <p:cNvSpPr/>
          <p:nvPr/>
        </p:nvSpPr>
        <p:spPr>
          <a:xfrm>
            <a:off x="7589520" y="1828800"/>
            <a:ext cx="3931920" cy="822960"/>
          </a:xfrm>
          <a:prstGeom prst="rect">
            <a:avLst/>
          </a:prstGeom>
          <a:noFill/>
          <a:ln/>
        </p:spPr>
        <p:txBody>
          <a:bodyPr wrap="square" lIns="0" tIns="0" rIns="0" bIns="0" rtlCol="0" anchor="ctr"/>
          <a:lstStyle/>
          <a:p>
            <a:pPr indent="0" marL="0">
              <a:buNone/>
            </a:pPr>
            <a:r>
              <a:rPr lang="en-US" sz="1400" b="1" dirty="0">
                <a:solidFill>
                  <a:srgbClr val="23282F"/>
                </a:solidFill>
                <a:latin typeface="Calibri" pitchFamily="34" charset="0"/>
                <a:ea typeface="Calibri" pitchFamily="34" charset="-122"/>
                <a:cs typeface="Calibri" pitchFamily="34" charset="-120"/>
              </a:rPr>
              <a:t>Alle vier Topologien liegen zwischen Episode 32 und 35 im Mittel, kein Unterschied, der über das Rauschen hinausginge.</a:t>
            </a:r>
            <a:endParaRPr lang="en-US" sz="1400" dirty="0"/>
          </a:p>
        </p:txBody>
      </p:sp>
      <p:sp>
        <p:nvSpPr>
          <p:cNvPr id="6" name="Text 3"/>
          <p:cNvSpPr/>
          <p:nvPr/>
        </p:nvSpPr>
        <p:spPr>
          <a:xfrm>
            <a:off x="7589520" y="2697480"/>
            <a:ext cx="3931920" cy="914400"/>
          </a:xfrm>
          <a:prstGeom prst="rect">
            <a:avLst/>
          </a:prstGeom>
          <a:noFill/>
          <a:ln/>
        </p:spPr>
        <p:txBody>
          <a:bodyPr wrap="square" lIns="0" tIns="0" rIns="0" bIns="0" rtlCol="0" anchor="ctr"/>
          <a:lstStyle/>
          <a:p>
            <a:pPr indent="0" marL="0">
              <a:buNone/>
            </a:pPr>
            <a:r>
              <a:rPr lang="en-US" sz="1200" dirty="0">
                <a:solidFill>
                  <a:srgbClr val="6E7681"/>
                </a:solidFill>
                <a:latin typeface="Calibri" pitchFamily="34" charset="0"/>
                <a:ea typeface="Calibri" pitchFamily="34" charset="-122"/>
                <a:cs typeface="Calibri" pitchFamily="34" charset="-120"/>
              </a:rPr>
              <a:t>Einzelne Ausreißer wie DMZ gegen Micro-Segmentation (44,8) oder Hub &amp; Spoke gegen Micro-Segmentation (40,6) fallen kaum ins Gewicht.</a:t>
            </a:r>
            <a:endParaRPr lang="en-US" sz="1200" dirty="0"/>
          </a:p>
        </p:txBody>
      </p:sp>
      <p:sp>
        <p:nvSpPr>
          <p:cNvPr id="7" name="Text 4"/>
          <p:cNvSpPr/>
          <p:nvPr/>
        </p:nvSpPr>
        <p:spPr>
          <a:xfrm>
            <a:off x="7589520" y="3749040"/>
            <a:ext cx="3931920" cy="548640"/>
          </a:xfrm>
          <a:prstGeom prst="rect">
            <a:avLst/>
          </a:prstGeom>
          <a:noFill/>
          <a:ln/>
        </p:spPr>
        <p:txBody>
          <a:bodyPr wrap="square" lIns="0" tIns="0" rIns="0" bIns="0" rtlCol="0" anchor="ctr"/>
          <a:lstStyle/>
          <a:p>
            <a:pPr indent="0" marL="0">
              <a:buNone/>
            </a:pPr>
            <a:r>
              <a:rPr lang="en-US" sz="1200" i="1" dirty="0">
                <a:solidFill>
                  <a:srgbClr val="1C6E8C"/>
                </a:solidFill>
                <a:latin typeface="Calibri" pitchFamily="34" charset="0"/>
                <a:ea typeface="Calibri" pitchFamily="34" charset="-122"/>
                <a:cs typeface="Calibri" pitchFamily="34" charset="-120"/>
              </a:rPr>
              <a:t>Das bestätigt Folie 3: Die Konvergenzepisode trennt die Topologien in diesem Aufbau nicht.</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640080" y="384048"/>
            <a:ext cx="10881360" cy="566928"/>
          </a:xfrm>
          <a:prstGeom prst="rect">
            <a:avLst/>
          </a:prstGeom>
          <a:noFill/>
          <a:ln/>
        </p:spPr>
        <p:txBody>
          <a:bodyPr wrap="square" lIns="0" tIns="0" rIns="0" bIns="0" rtlCol="0" anchor="ctr"/>
          <a:lstStyle/>
          <a:p>
            <a:pPr indent="0" marL="0">
              <a:buNone/>
            </a:pPr>
            <a:r>
              <a:rPr lang="en-US" sz="3400" b="1" dirty="0">
                <a:solidFill>
                  <a:srgbClr val="23282F"/>
                </a:solidFill>
                <a:latin typeface="Cambria" pitchFamily="34" charset="0"/>
                <a:ea typeface="Cambria" pitchFamily="34" charset="-122"/>
                <a:cs typeface="Cambria" pitchFamily="34" charset="-120"/>
              </a:rPr>
              <a:t>Das Diagonalmuster kehrt sich um: Flat am schwersten</a:t>
            </a:r>
            <a:endParaRPr lang="en-US" sz="3400" dirty="0"/>
          </a:p>
        </p:txBody>
      </p:sp>
      <p:sp>
        <p:nvSpPr>
          <p:cNvPr id="3" name="Text 1"/>
          <p:cNvSpPr/>
          <p:nvPr/>
        </p:nvSpPr>
        <p:spPr>
          <a:xfrm>
            <a:off x="640080" y="969264"/>
            <a:ext cx="10881360" cy="493776"/>
          </a:xfrm>
          <a:prstGeom prst="rect">
            <a:avLst/>
          </a:prstGeom>
          <a:noFill/>
          <a:ln/>
        </p:spPr>
        <p:txBody>
          <a:bodyPr wrap="square" lIns="0" tIns="0" rIns="0" bIns="0" rtlCol="0" anchor="ctr"/>
          <a:lstStyle/>
          <a:p>
            <a:pPr indent="0" marL="0">
              <a:buNone/>
            </a:pPr>
            <a:r>
              <a:rPr lang="en-US" sz="1400" dirty="0">
                <a:solidFill>
                  <a:srgbClr val="6E7681"/>
                </a:solidFill>
                <a:latin typeface="Calibri" pitchFamily="34" charset="0"/>
                <a:ea typeface="Calibri" pitchFamily="34" charset="-122"/>
                <a:cs typeface="Calibri" pitchFamily="34" charset="-120"/>
              </a:rPr>
              <a:t>Verteidiger-Reward gegen den eigenen Angreifer, je näher an null, desto besser der Ausgleich</a:t>
            </a:r>
            <a:endParaRPr lang="en-US" sz="1400" dirty="0"/>
          </a:p>
        </p:txBody>
      </p:sp>
      <p:sp>
        <p:nvSpPr>
          <p:cNvPr id="4" name="Shape 2"/>
          <p:cNvSpPr/>
          <p:nvPr/>
        </p:nvSpPr>
        <p:spPr>
          <a:xfrm>
            <a:off x="640080" y="1828800"/>
            <a:ext cx="2480310" cy="1874520"/>
          </a:xfrm>
          <a:prstGeom prst="roundRect">
            <a:avLst>
              <a:gd name="adj" fmla="val 4878"/>
            </a:avLst>
          </a:prstGeom>
          <a:solidFill>
            <a:srgbClr val="F4F6F8"/>
          </a:solidFill>
          <a:ln w="12700">
            <a:solidFill>
              <a:srgbClr val="DDE1E6"/>
            </a:solidFill>
            <a:prstDash val="solid"/>
          </a:ln>
        </p:spPr>
      </p:sp>
      <p:sp>
        <p:nvSpPr>
          <p:cNvPr id="5" name="Text 3"/>
          <p:cNvSpPr/>
          <p:nvPr/>
        </p:nvSpPr>
        <p:spPr>
          <a:xfrm>
            <a:off x="640080" y="2011680"/>
            <a:ext cx="2480310" cy="310896"/>
          </a:xfrm>
          <a:prstGeom prst="rect">
            <a:avLst/>
          </a:prstGeom>
          <a:noFill/>
          <a:ln/>
        </p:spPr>
        <p:txBody>
          <a:bodyPr wrap="square" lIns="0" tIns="0" rIns="0" bIns="0" rtlCol="0" anchor="ctr"/>
          <a:lstStyle/>
          <a:p>
            <a:pPr algn="ctr" indent="0" marL="0">
              <a:buNone/>
            </a:pPr>
            <a:r>
              <a:rPr lang="en-US" sz="1400" b="1" dirty="0">
                <a:solidFill>
                  <a:srgbClr val="6E7681"/>
                </a:solidFill>
                <a:latin typeface="Calibri" pitchFamily="34" charset="0"/>
                <a:ea typeface="Calibri" pitchFamily="34" charset="-122"/>
                <a:cs typeface="Calibri" pitchFamily="34" charset="-120"/>
              </a:rPr>
              <a:t>Flat</a:t>
            </a:r>
            <a:endParaRPr lang="en-US" sz="1400" dirty="0"/>
          </a:p>
        </p:txBody>
      </p:sp>
      <p:sp>
        <p:nvSpPr>
          <p:cNvPr id="6" name="Text 4"/>
          <p:cNvSpPr/>
          <p:nvPr/>
        </p:nvSpPr>
        <p:spPr>
          <a:xfrm>
            <a:off x="640080" y="2395728"/>
            <a:ext cx="2480310" cy="777240"/>
          </a:xfrm>
          <a:prstGeom prst="rect">
            <a:avLst/>
          </a:prstGeom>
          <a:noFill/>
          <a:ln/>
        </p:spPr>
        <p:txBody>
          <a:bodyPr wrap="square" lIns="0" tIns="0" rIns="0" bIns="0" rtlCol="0" anchor="ctr"/>
          <a:lstStyle/>
          <a:p>
            <a:pPr algn="ctr" indent="0" marL="0">
              <a:buNone/>
            </a:pPr>
            <a:r>
              <a:rPr lang="en-US" sz="3600" b="1" dirty="0">
                <a:solidFill>
                  <a:srgbClr val="B3382C"/>
                </a:solidFill>
                <a:latin typeface="Cambria" pitchFamily="34" charset="0"/>
                <a:ea typeface="Cambria" pitchFamily="34" charset="-122"/>
                <a:cs typeface="Cambria" pitchFamily="34" charset="-120"/>
              </a:rPr>
              <a:t>-715</a:t>
            </a:r>
            <a:endParaRPr lang="en-US" sz="3600" dirty="0"/>
          </a:p>
        </p:txBody>
      </p:sp>
      <p:sp>
        <p:nvSpPr>
          <p:cNvPr id="7" name="Text 5"/>
          <p:cNvSpPr/>
          <p:nvPr/>
        </p:nvSpPr>
        <p:spPr>
          <a:xfrm>
            <a:off x="640080" y="3200400"/>
            <a:ext cx="2480310" cy="274320"/>
          </a:xfrm>
          <a:prstGeom prst="rect">
            <a:avLst/>
          </a:prstGeom>
          <a:noFill/>
          <a:ln/>
        </p:spPr>
        <p:txBody>
          <a:bodyPr wrap="square" lIns="0" tIns="0" rIns="0" bIns="0" rtlCol="0" anchor="ctr"/>
          <a:lstStyle/>
          <a:p>
            <a:pPr algn="ctr" indent="0" marL="0">
              <a:buNone/>
            </a:pPr>
            <a:r>
              <a:rPr lang="en-US" sz="1100" dirty="0">
                <a:solidFill>
                  <a:srgbClr val="6E7681"/>
                </a:solidFill>
                <a:latin typeface="Calibri" pitchFamily="34" charset="0"/>
                <a:ea typeface="Calibri" pitchFamily="34" charset="-122"/>
                <a:cs typeface="Calibri" pitchFamily="34" charset="-120"/>
              </a:rPr>
              <a:t>gegen sich selbst</a:t>
            </a:r>
            <a:endParaRPr lang="en-US" sz="1100" dirty="0"/>
          </a:p>
        </p:txBody>
      </p:sp>
      <p:sp>
        <p:nvSpPr>
          <p:cNvPr id="8" name="Shape 6"/>
          <p:cNvSpPr/>
          <p:nvPr/>
        </p:nvSpPr>
        <p:spPr>
          <a:xfrm>
            <a:off x="3440430" y="1828800"/>
            <a:ext cx="2480310" cy="1874520"/>
          </a:xfrm>
          <a:prstGeom prst="roundRect">
            <a:avLst>
              <a:gd name="adj" fmla="val 4878"/>
            </a:avLst>
          </a:prstGeom>
          <a:solidFill>
            <a:srgbClr val="F4F6F8"/>
          </a:solidFill>
          <a:ln w="12700">
            <a:solidFill>
              <a:srgbClr val="DDE1E6"/>
            </a:solidFill>
            <a:prstDash val="solid"/>
          </a:ln>
        </p:spPr>
      </p:sp>
      <p:sp>
        <p:nvSpPr>
          <p:cNvPr id="9" name="Text 7"/>
          <p:cNvSpPr/>
          <p:nvPr/>
        </p:nvSpPr>
        <p:spPr>
          <a:xfrm>
            <a:off x="3440430" y="2011680"/>
            <a:ext cx="2480310" cy="310896"/>
          </a:xfrm>
          <a:prstGeom prst="rect">
            <a:avLst/>
          </a:prstGeom>
          <a:noFill/>
          <a:ln/>
        </p:spPr>
        <p:txBody>
          <a:bodyPr wrap="square" lIns="0" tIns="0" rIns="0" bIns="0" rtlCol="0" anchor="ctr"/>
          <a:lstStyle/>
          <a:p>
            <a:pPr algn="ctr" indent="0" marL="0">
              <a:buNone/>
            </a:pPr>
            <a:r>
              <a:rPr lang="en-US" sz="1400" b="1" dirty="0">
                <a:solidFill>
                  <a:srgbClr val="6E7681"/>
                </a:solidFill>
                <a:latin typeface="Calibri" pitchFamily="34" charset="0"/>
                <a:ea typeface="Calibri" pitchFamily="34" charset="-122"/>
                <a:cs typeface="Calibri" pitchFamily="34" charset="-120"/>
              </a:rPr>
              <a:t>Hub &amp; Spoke</a:t>
            </a:r>
            <a:endParaRPr lang="en-US" sz="1400" dirty="0"/>
          </a:p>
        </p:txBody>
      </p:sp>
      <p:sp>
        <p:nvSpPr>
          <p:cNvPr id="10" name="Text 8"/>
          <p:cNvSpPr/>
          <p:nvPr/>
        </p:nvSpPr>
        <p:spPr>
          <a:xfrm>
            <a:off x="3440430" y="2395728"/>
            <a:ext cx="2480310" cy="777240"/>
          </a:xfrm>
          <a:prstGeom prst="rect">
            <a:avLst/>
          </a:prstGeom>
          <a:noFill/>
          <a:ln/>
        </p:spPr>
        <p:txBody>
          <a:bodyPr wrap="square" lIns="0" tIns="0" rIns="0" bIns="0" rtlCol="0" anchor="ctr"/>
          <a:lstStyle/>
          <a:p>
            <a:pPr algn="ctr" indent="0" marL="0">
              <a:buNone/>
            </a:pPr>
            <a:r>
              <a:rPr lang="en-US" sz="3600" b="1" dirty="0">
                <a:solidFill>
                  <a:srgbClr val="23282F"/>
                </a:solidFill>
                <a:latin typeface="Cambria" pitchFamily="34" charset="0"/>
                <a:ea typeface="Cambria" pitchFamily="34" charset="-122"/>
                <a:cs typeface="Cambria" pitchFamily="34" charset="-120"/>
              </a:rPr>
              <a:t>-26</a:t>
            </a:r>
            <a:endParaRPr lang="en-US" sz="3600" dirty="0"/>
          </a:p>
        </p:txBody>
      </p:sp>
      <p:sp>
        <p:nvSpPr>
          <p:cNvPr id="11" name="Text 9"/>
          <p:cNvSpPr/>
          <p:nvPr/>
        </p:nvSpPr>
        <p:spPr>
          <a:xfrm>
            <a:off x="3440430" y="3200400"/>
            <a:ext cx="2480310" cy="274320"/>
          </a:xfrm>
          <a:prstGeom prst="rect">
            <a:avLst/>
          </a:prstGeom>
          <a:noFill/>
          <a:ln/>
        </p:spPr>
        <p:txBody>
          <a:bodyPr wrap="square" lIns="0" tIns="0" rIns="0" bIns="0" rtlCol="0" anchor="ctr"/>
          <a:lstStyle/>
          <a:p>
            <a:pPr algn="ctr" indent="0" marL="0">
              <a:buNone/>
            </a:pPr>
            <a:r>
              <a:rPr lang="en-US" sz="1100" dirty="0">
                <a:solidFill>
                  <a:srgbClr val="6E7681"/>
                </a:solidFill>
                <a:latin typeface="Calibri" pitchFamily="34" charset="0"/>
                <a:ea typeface="Calibri" pitchFamily="34" charset="-122"/>
                <a:cs typeface="Calibri" pitchFamily="34" charset="-120"/>
              </a:rPr>
              <a:t>gegen sich selbst</a:t>
            </a:r>
            <a:endParaRPr lang="en-US" sz="1100" dirty="0"/>
          </a:p>
        </p:txBody>
      </p:sp>
      <p:sp>
        <p:nvSpPr>
          <p:cNvPr id="12" name="Shape 10"/>
          <p:cNvSpPr/>
          <p:nvPr/>
        </p:nvSpPr>
        <p:spPr>
          <a:xfrm>
            <a:off x="6240780" y="1828800"/>
            <a:ext cx="2480310" cy="1874520"/>
          </a:xfrm>
          <a:prstGeom prst="roundRect">
            <a:avLst>
              <a:gd name="adj" fmla="val 4878"/>
            </a:avLst>
          </a:prstGeom>
          <a:solidFill>
            <a:srgbClr val="F4F6F8"/>
          </a:solidFill>
          <a:ln w="12700">
            <a:solidFill>
              <a:srgbClr val="DDE1E6"/>
            </a:solidFill>
            <a:prstDash val="solid"/>
          </a:ln>
        </p:spPr>
      </p:sp>
      <p:sp>
        <p:nvSpPr>
          <p:cNvPr id="13" name="Text 11"/>
          <p:cNvSpPr/>
          <p:nvPr/>
        </p:nvSpPr>
        <p:spPr>
          <a:xfrm>
            <a:off x="6240780" y="2011680"/>
            <a:ext cx="2480310" cy="310896"/>
          </a:xfrm>
          <a:prstGeom prst="rect">
            <a:avLst/>
          </a:prstGeom>
          <a:noFill/>
          <a:ln/>
        </p:spPr>
        <p:txBody>
          <a:bodyPr wrap="square" lIns="0" tIns="0" rIns="0" bIns="0" rtlCol="0" anchor="ctr"/>
          <a:lstStyle/>
          <a:p>
            <a:pPr algn="ctr" indent="0" marL="0">
              <a:buNone/>
            </a:pPr>
            <a:r>
              <a:rPr lang="en-US" sz="1400" b="1" dirty="0">
                <a:solidFill>
                  <a:srgbClr val="6E7681"/>
                </a:solidFill>
                <a:latin typeface="Calibri" pitchFamily="34" charset="0"/>
                <a:ea typeface="Calibri" pitchFamily="34" charset="-122"/>
                <a:cs typeface="Calibri" pitchFamily="34" charset="-120"/>
              </a:rPr>
              <a:t>DMZ</a:t>
            </a:r>
            <a:endParaRPr lang="en-US" sz="1400" dirty="0"/>
          </a:p>
        </p:txBody>
      </p:sp>
      <p:sp>
        <p:nvSpPr>
          <p:cNvPr id="14" name="Text 12"/>
          <p:cNvSpPr/>
          <p:nvPr/>
        </p:nvSpPr>
        <p:spPr>
          <a:xfrm>
            <a:off x="6240780" y="2395728"/>
            <a:ext cx="2480310" cy="777240"/>
          </a:xfrm>
          <a:prstGeom prst="rect">
            <a:avLst/>
          </a:prstGeom>
          <a:noFill/>
          <a:ln/>
        </p:spPr>
        <p:txBody>
          <a:bodyPr wrap="square" lIns="0" tIns="0" rIns="0" bIns="0" rtlCol="0" anchor="ctr"/>
          <a:lstStyle/>
          <a:p>
            <a:pPr algn="ctr" indent="0" marL="0">
              <a:buNone/>
            </a:pPr>
            <a:r>
              <a:rPr lang="en-US" sz="3600" b="1" dirty="0">
                <a:solidFill>
                  <a:srgbClr val="23282F"/>
                </a:solidFill>
                <a:latin typeface="Cambria" pitchFamily="34" charset="0"/>
                <a:ea typeface="Cambria" pitchFamily="34" charset="-122"/>
                <a:cs typeface="Cambria" pitchFamily="34" charset="-120"/>
              </a:rPr>
              <a:t>-152</a:t>
            </a:r>
            <a:endParaRPr lang="en-US" sz="3600" dirty="0"/>
          </a:p>
        </p:txBody>
      </p:sp>
      <p:sp>
        <p:nvSpPr>
          <p:cNvPr id="15" name="Text 13"/>
          <p:cNvSpPr/>
          <p:nvPr/>
        </p:nvSpPr>
        <p:spPr>
          <a:xfrm>
            <a:off x="6240780" y="3200400"/>
            <a:ext cx="2480310" cy="274320"/>
          </a:xfrm>
          <a:prstGeom prst="rect">
            <a:avLst/>
          </a:prstGeom>
          <a:noFill/>
          <a:ln/>
        </p:spPr>
        <p:txBody>
          <a:bodyPr wrap="square" lIns="0" tIns="0" rIns="0" bIns="0" rtlCol="0" anchor="ctr"/>
          <a:lstStyle/>
          <a:p>
            <a:pPr algn="ctr" indent="0" marL="0">
              <a:buNone/>
            </a:pPr>
            <a:r>
              <a:rPr lang="en-US" sz="1100" dirty="0">
                <a:solidFill>
                  <a:srgbClr val="6E7681"/>
                </a:solidFill>
                <a:latin typeface="Calibri" pitchFamily="34" charset="0"/>
                <a:ea typeface="Calibri" pitchFamily="34" charset="-122"/>
                <a:cs typeface="Calibri" pitchFamily="34" charset="-120"/>
              </a:rPr>
              <a:t>gegen sich selbst</a:t>
            </a:r>
            <a:endParaRPr lang="en-US" sz="1100" dirty="0"/>
          </a:p>
        </p:txBody>
      </p:sp>
      <p:sp>
        <p:nvSpPr>
          <p:cNvPr id="16" name="Shape 14"/>
          <p:cNvSpPr/>
          <p:nvPr/>
        </p:nvSpPr>
        <p:spPr>
          <a:xfrm>
            <a:off x="9041130" y="1828800"/>
            <a:ext cx="2480310" cy="1874520"/>
          </a:xfrm>
          <a:prstGeom prst="roundRect">
            <a:avLst>
              <a:gd name="adj" fmla="val 4878"/>
            </a:avLst>
          </a:prstGeom>
          <a:solidFill>
            <a:srgbClr val="F4F6F8"/>
          </a:solidFill>
          <a:ln w="12700">
            <a:solidFill>
              <a:srgbClr val="DDE1E6"/>
            </a:solidFill>
            <a:prstDash val="solid"/>
          </a:ln>
        </p:spPr>
      </p:sp>
      <p:sp>
        <p:nvSpPr>
          <p:cNvPr id="17" name="Text 15"/>
          <p:cNvSpPr/>
          <p:nvPr/>
        </p:nvSpPr>
        <p:spPr>
          <a:xfrm>
            <a:off x="9041130" y="2011680"/>
            <a:ext cx="2480310" cy="310896"/>
          </a:xfrm>
          <a:prstGeom prst="rect">
            <a:avLst/>
          </a:prstGeom>
          <a:noFill/>
          <a:ln/>
        </p:spPr>
        <p:txBody>
          <a:bodyPr wrap="square" lIns="0" tIns="0" rIns="0" bIns="0" rtlCol="0" anchor="ctr"/>
          <a:lstStyle/>
          <a:p>
            <a:pPr algn="ctr" indent="0" marL="0">
              <a:buNone/>
            </a:pPr>
            <a:r>
              <a:rPr lang="en-US" sz="1400" b="1" dirty="0">
                <a:solidFill>
                  <a:srgbClr val="6E7681"/>
                </a:solidFill>
                <a:latin typeface="Calibri" pitchFamily="34" charset="0"/>
                <a:ea typeface="Calibri" pitchFamily="34" charset="-122"/>
                <a:cs typeface="Calibri" pitchFamily="34" charset="-120"/>
              </a:rPr>
              <a:t>Micro-Seg.</a:t>
            </a:r>
            <a:endParaRPr lang="en-US" sz="1400" dirty="0"/>
          </a:p>
        </p:txBody>
      </p:sp>
      <p:sp>
        <p:nvSpPr>
          <p:cNvPr id="18" name="Text 16"/>
          <p:cNvSpPr/>
          <p:nvPr/>
        </p:nvSpPr>
        <p:spPr>
          <a:xfrm>
            <a:off x="9041130" y="2395728"/>
            <a:ext cx="2480310" cy="777240"/>
          </a:xfrm>
          <a:prstGeom prst="rect">
            <a:avLst/>
          </a:prstGeom>
          <a:noFill/>
          <a:ln/>
        </p:spPr>
        <p:txBody>
          <a:bodyPr wrap="square" lIns="0" tIns="0" rIns="0" bIns="0" rtlCol="0" anchor="ctr"/>
          <a:lstStyle/>
          <a:p>
            <a:pPr algn="ctr" indent="0" marL="0">
              <a:buNone/>
            </a:pPr>
            <a:r>
              <a:rPr lang="en-US" sz="3600" b="1" dirty="0">
                <a:solidFill>
                  <a:srgbClr val="23282F"/>
                </a:solidFill>
                <a:latin typeface="Cambria" pitchFamily="34" charset="0"/>
                <a:ea typeface="Cambria" pitchFamily="34" charset="-122"/>
                <a:cs typeface="Cambria" pitchFamily="34" charset="-120"/>
              </a:rPr>
              <a:t>-20</a:t>
            </a:r>
            <a:endParaRPr lang="en-US" sz="3600" dirty="0"/>
          </a:p>
        </p:txBody>
      </p:sp>
      <p:sp>
        <p:nvSpPr>
          <p:cNvPr id="19" name="Text 17"/>
          <p:cNvSpPr/>
          <p:nvPr/>
        </p:nvSpPr>
        <p:spPr>
          <a:xfrm>
            <a:off x="9041130" y="3200400"/>
            <a:ext cx="2480310" cy="274320"/>
          </a:xfrm>
          <a:prstGeom prst="rect">
            <a:avLst/>
          </a:prstGeom>
          <a:noFill/>
          <a:ln/>
        </p:spPr>
        <p:txBody>
          <a:bodyPr wrap="square" lIns="0" tIns="0" rIns="0" bIns="0" rtlCol="0" anchor="ctr"/>
          <a:lstStyle/>
          <a:p>
            <a:pPr algn="ctr" indent="0" marL="0">
              <a:buNone/>
            </a:pPr>
            <a:r>
              <a:rPr lang="en-US" sz="1100" dirty="0">
                <a:solidFill>
                  <a:srgbClr val="6E7681"/>
                </a:solidFill>
                <a:latin typeface="Calibri" pitchFamily="34" charset="0"/>
                <a:ea typeface="Calibri" pitchFamily="34" charset="-122"/>
                <a:cs typeface="Calibri" pitchFamily="34" charset="-120"/>
              </a:rPr>
              <a:t>gegen sich selbst</a:t>
            </a:r>
            <a:endParaRPr lang="en-US" sz="1100" dirty="0"/>
          </a:p>
        </p:txBody>
      </p:sp>
      <p:sp>
        <p:nvSpPr>
          <p:cNvPr id="20" name="Text 18"/>
          <p:cNvSpPr/>
          <p:nvPr/>
        </p:nvSpPr>
        <p:spPr>
          <a:xfrm>
            <a:off x="640080" y="4023360"/>
            <a:ext cx="10881360" cy="548640"/>
          </a:xfrm>
          <a:prstGeom prst="rect">
            <a:avLst/>
          </a:prstGeom>
          <a:noFill/>
          <a:ln/>
        </p:spPr>
        <p:txBody>
          <a:bodyPr wrap="square" lIns="0" tIns="0" rIns="0" bIns="0" rtlCol="0" anchor="ctr"/>
          <a:lstStyle/>
          <a:p>
            <a:pPr indent="0" marL="0">
              <a:buNone/>
            </a:pPr>
            <a:r>
              <a:rPr lang="en-US" sz="1500" dirty="0">
                <a:solidFill>
                  <a:srgbClr val="23282F"/>
                </a:solidFill>
                <a:latin typeface="Calibri" pitchFamily="34" charset="0"/>
                <a:ea typeface="Calibri" pitchFamily="34" charset="-122"/>
                <a:cs typeface="Calibri" pitchFamily="34" charset="-120"/>
              </a:rPr>
              <a:t>Flat liegt bei −715 und damit um ein Vielfaches schlechter als die übrigen drei (−20 bis −152). Zum Vergleich: Gegen den neutralen Chain-Angreifer liegt Flat bei nur −182.</a:t>
            </a:r>
            <a:endParaRPr lang="en-US" sz="1500" dirty="0"/>
          </a:p>
        </p:txBody>
      </p:sp>
      <p:sp>
        <p:nvSpPr>
          <p:cNvPr id="21" name="Text 19"/>
          <p:cNvSpPr/>
          <p:nvPr/>
        </p:nvSpPr>
        <p:spPr>
          <a:xfrm>
            <a:off x="640080" y="4572000"/>
            <a:ext cx="10881360" cy="914400"/>
          </a:xfrm>
          <a:prstGeom prst="rect">
            <a:avLst/>
          </a:prstGeom>
          <a:noFill/>
          <a:ln/>
        </p:spPr>
        <p:txBody>
          <a:bodyPr wrap="square" lIns="0" tIns="0" rIns="0" bIns="0" rtlCol="0" anchor="ctr"/>
          <a:lstStyle/>
          <a:p>
            <a:pPr indent="0" marL="0">
              <a:buNone/>
            </a:pPr>
            <a:r>
              <a:rPr lang="en-US" sz="1300" dirty="0">
                <a:solidFill>
                  <a:srgbClr val="6E7681"/>
                </a:solidFill>
                <a:latin typeface="Calibri" pitchFamily="34" charset="0"/>
                <a:ea typeface="Calibri" pitchFamily="34" charset="-122"/>
                <a:cs typeface="Calibri" pitchFamily="34" charset="-120"/>
              </a:rPr>
              <a:t>Der Grund liegt im Aktionsverhalten (Folie 11): In Flat hat jeder Knoten neun eingehende Kanten, eine wahllose Sperre trifft dort selten eine echte Bedrohung. Der Verteidiger gibt das Sperren fast vollständig auf und verlässt sich auf Reimage, das kostet ihn die 715 Punkte, denn Reimage allein hält den Angreifer nicht klein. In den übrigen drei Topologien bleibt Sperren dagegen ein tragfähiges Werkzeug.</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640080" y="384048"/>
            <a:ext cx="10881360" cy="566928"/>
          </a:xfrm>
          <a:prstGeom prst="rect">
            <a:avLst/>
          </a:prstGeom>
          <a:noFill/>
          <a:ln/>
        </p:spPr>
        <p:txBody>
          <a:bodyPr wrap="square" lIns="0" tIns="0" rIns="0" bIns="0" rtlCol="0" anchor="ctr"/>
          <a:lstStyle/>
          <a:p>
            <a:pPr indent="0" marL="0">
              <a:buNone/>
            </a:pPr>
            <a:r>
              <a:rPr lang="en-US" sz="3400" b="1" dirty="0">
                <a:solidFill>
                  <a:srgbClr val="23282F"/>
                </a:solidFill>
                <a:latin typeface="Cambria" pitchFamily="34" charset="0"/>
                <a:ea typeface="Cambria" pitchFamily="34" charset="-122"/>
                <a:cs typeface="Cambria" pitchFamily="34" charset="-120"/>
              </a:rPr>
              <a:t>Verteidiger-Reward, mit Vorsicht zu lesen</a:t>
            </a:r>
            <a:endParaRPr lang="en-US" sz="3400" dirty="0"/>
          </a:p>
        </p:txBody>
      </p:sp>
      <p:sp>
        <p:nvSpPr>
          <p:cNvPr id="3" name="Text 1"/>
          <p:cNvSpPr/>
          <p:nvPr/>
        </p:nvSpPr>
        <p:spPr>
          <a:xfrm>
            <a:off x="640080" y="969264"/>
            <a:ext cx="10881360" cy="493776"/>
          </a:xfrm>
          <a:prstGeom prst="rect">
            <a:avLst/>
          </a:prstGeom>
          <a:noFill/>
          <a:ln/>
        </p:spPr>
        <p:txBody>
          <a:bodyPr wrap="square" lIns="0" tIns="0" rIns="0" bIns="0" rtlCol="0" anchor="ctr"/>
          <a:lstStyle/>
          <a:p>
            <a:pPr indent="0" marL="0">
              <a:buNone/>
            </a:pPr>
            <a:r>
              <a:rPr lang="en-US" sz="1400" dirty="0">
                <a:solidFill>
                  <a:srgbClr val="6E7681"/>
                </a:solidFill>
                <a:latin typeface="Calibri" pitchFamily="34" charset="0"/>
                <a:ea typeface="Calibri" pitchFamily="34" charset="-122"/>
                <a:cs typeface="Calibri" pitchFamily="34" charset="-120"/>
              </a:rPr>
              <a:t>Median der letzten 20 Episoden, über 5 Seeds gemittelt</a:t>
            </a:r>
            <a:endParaRPr lang="en-US" sz="1400" dirty="0"/>
          </a:p>
        </p:txBody>
      </p:sp>
      <p:sp>
        <p:nvSpPr>
          <p:cNvPr id="4" name="Text 2"/>
          <p:cNvSpPr/>
          <p:nvPr/>
        </p:nvSpPr>
        <p:spPr>
          <a:xfrm>
            <a:off x="2240280" y="1417320"/>
            <a:ext cx="1371600" cy="310896"/>
          </a:xfrm>
          <a:prstGeom prst="rect">
            <a:avLst/>
          </a:prstGeom>
          <a:noFill/>
          <a:ln/>
        </p:spPr>
        <p:txBody>
          <a:bodyPr wrap="square" lIns="0" tIns="0" rIns="0" bIns="0" rtlCol="0" anchor="ctr"/>
          <a:lstStyle/>
          <a:p>
            <a:pPr algn="ctr" indent="0" marL="0">
              <a:buNone/>
            </a:pPr>
            <a:r>
              <a:rPr lang="en-US" sz="1200" b="1" dirty="0">
                <a:solidFill>
                  <a:srgbClr val="6E7681"/>
                </a:solidFill>
                <a:latin typeface="Calibri" pitchFamily="34" charset="0"/>
                <a:ea typeface="Calibri" pitchFamily="34" charset="-122"/>
                <a:cs typeface="Calibri" pitchFamily="34" charset="-120"/>
              </a:rPr>
              <a:t>Chain</a:t>
            </a:r>
            <a:endParaRPr lang="en-US" sz="1200" dirty="0"/>
          </a:p>
        </p:txBody>
      </p:sp>
      <p:sp>
        <p:nvSpPr>
          <p:cNvPr id="5" name="Text 3"/>
          <p:cNvSpPr/>
          <p:nvPr/>
        </p:nvSpPr>
        <p:spPr>
          <a:xfrm>
            <a:off x="3611880" y="1417320"/>
            <a:ext cx="1371600" cy="310896"/>
          </a:xfrm>
          <a:prstGeom prst="rect">
            <a:avLst/>
          </a:prstGeom>
          <a:noFill/>
          <a:ln/>
        </p:spPr>
        <p:txBody>
          <a:bodyPr wrap="square" lIns="0" tIns="0" rIns="0" bIns="0" rtlCol="0" anchor="ctr"/>
          <a:lstStyle/>
          <a:p>
            <a:pPr algn="ctr" indent="0" marL="0">
              <a:buNone/>
            </a:pPr>
            <a:r>
              <a:rPr lang="en-US" sz="1200" b="1" dirty="0">
                <a:solidFill>
                  <a:srgbClr val="6E7681"/>
                </a:solidFill>
                <a:latin typeface="Calibri" pitchFamily="34" charset="0"/>
                <a:ea typeface="Calibri" pitchFamily="34" charset="-122"/>
                <a:cs typeface="Calibri" pitchFamily="34" charset="-120"/>
              </a:rPr>
              <a:t>Flat</a:t>
            </a:r>
            <a:endParaRPr lang="en-US" sz="1200" dirty="0"/>
          </a:p>
        </p:txBody>
      </p:sp>
      <p:sp>
        <p:nvSpPr>
          <p:cNvPr id="6" name="Text 4"/>
          <p:cNvSpPr/>
          <p:nvPr/>
        </p:nvSpPr>
        <p:spPr>
          <a:xfrm>
            <a:off x="4983480" y="1417320"/>
            <a:ext cx="1371600" cy="310896"/>
          </a:xfrm>
          <a:prstGeom prst="rect">
            <a:avLst/>
          </a:prstGeom>
          <a:noFill/>
          <a:ln/>
        </p:spPr>
        <p:txBody>
          <a:bodyPr wrap="square" lIns="0" tIns="0" rIns="0" bIns="0" rtlCol="0" anchor="ctr"/>
          <a:lstStyle/>
          <a:p>
            <a:pPr algn="ctr" indent="0" marL="0">
              <a:buNone/>
            </a:pPr>
            <a:r>
              <a:rPr lang="en-US" sz="1200" b="1" dirty="0">
                <a:solidFill>
                  <a:srgbClr val="6E7681"/>
                </a:solidFill>
                <a:latin typeface="Calibri" pitchFamily="34" charset="0"/>
                <a:ea typeface="Calibri" pitchFamily="34" charset="-122"/>
                <a:cs typeface="Calibri" pitchFamily="34" charset="-120"/>
              </a:rPr>
              <a:t>Hub &amp; Spoke</a:t>
            </a:r>
            <a:endParaRPr lang="en-US" sz="1200" dirty="0"/>
          </a:p>
        </p:txBody>
      </p:sp>
      <p:sp>
        <p:nvSpPr>
          <p:cNvPr id="7" name="Text 5"/>
          <p:cNvSpPr/>
          <p:nvPr/>
        </p:nvSpPr>
        <p:spPr>
          <a:xfrm>
            <a:off x="6355080" y="1417320"/>
            <a:ext cx="1371600" cy="310896"/>
          </a:xfrm>
          <a:prstGeom prst="rect">
            <a:avLst/>
          </a:prstGeom>
          <a:noFill/>
          <a:ln/>
        </p:spPr>
        <p:txBody>
          <a:bodyPr wrap="square" lIns="0" tIns="0" rIns="0" bIns="0" rtlCol="0" anchor="ctr"/>
          <a:lstStyle/>
          <a:p>
            <a:pPr algn="ctr" indent="0" marL="0">
              <a:buNone/>
            </a:pPr>
            <a:r>
              <a:rPr lang="en-US" sz="1200" b="1" dirty="0">
                <a:solidFill>
                  <a:srgbClr val="6E7681"/>
                </a:solidFill>
                <a:latin typeface="Calibri" pitchFamily="34" charset="0"/>
                <a:ea typeface="Calibri" pitchFamily="34" charset="-122"/>
                <a:cs typeface="Calibri" pitchFamily="34" charset="-120"/>
              </a:rPr>
              <a:t>DMZ</a:t>
            </a:r>
            <a:endParaRPr lang="en-US" sz="1200" dirty="0"/>
          </a:p>
        </p:txBody>
      </p:sp>
      <p:sp>
        <p:nvSpPr>
          <p:cNvPr id="8" name="Text 6"/>
          <p:cNvSpPr/>
          <p:nvPr/>
        </p:nvSpPr>
        <p:spPr>
          <a:xfrm>
            <a:off x="7726680" y="1417320"/>
            <a:ext cx="1371600" cy="310896"/>
          </a:xfrm>
          <a:prstGeom prst="rect">
            <a:avLst/>
          </a:prstGeom>
          <a:noFill/>
          <a:ln/>
        </p:spPr>
        <p:txBody>
          <a:bodyPr wrap="square" lIns="0" tIns="0" rIns="0" bIns="0" rtlCol="0" anchor="ctr"/>
          <a:lstStyle/>
          <a:p>
            <a:pPr algn="ctr" indent="0" marL="0">
              <a:buNone/>
            </a:pPr>
            <a:r>
              <a:rPr lang="en-US" sz="1200" b="1" dirty="0">
                <a:solidFill>
                  <a:srgbClr val="6E7681"/>
                </a:solidFill>
                <a:latin typeface="Calibri" pitchFamily="34" charset="0"/>
                <a:ea typeface="Calibri" pitchFamily="34" charset="-122"/>
                <a:cs typeface="Calibri" pitchFamily="34" charset="-120"/>
              </a:rPr>
              <a:t>Micro-Seg.</a:t>
            </a:r>
            <a:endParaRPr lang="en-US" sz="1200" dirty="0"/>
          </a:p>
        </p:txBody>
      </p:sp>
      <p:sp>
        <p:nvSpPr>
          <p:cNvPr id="9" name="Text 7"/>
          <p:cNvSpPr/>
          <p:nvPr/>
        </p:nvSpPr>
        <p:spPr>
          <a:xfrm>
            <a:off x="9098280" y="1417320"/>
            <a:ext cx="1371600" cy="310896"/>
          </a:xfrm>
          <a:prstGeom prst="rect">
            <a:avLst/>
          </a:prstGeom>
          <a:noFill/>
          <a:ln/>
        </p:spPr>
        <p:txBody>
          <a:bodyPr wrap="square" lIns="0" tIns="0" rIns="0" bIns="0" rtlCol="0" anchor="ctr"/>
          <a:lstStyle/>
          <a:p>
            <a:pPr algn="ctr" indent="0" marL="0">
              <a:buNone/>
            </a:pPr>
            <a:r>
              <a:rPr lang="en-US" sz="1200" b="1" dirty="0">
                <a:solidFill>
                  <a:srgbClr val="6E7681"/>
                </a:solidFill>
                <a:latin typeface="Calibri" pitchFamily="34" charset="0"/>
                <a:ea typeface="Calibri" pitchFamily="34" charset="-122"/>
                <a:cs typeface="Calibri" pitchFamily="34" charset="-120"/>
              </a:rPr>
              <a:t>Super</a:t>
            </a:r>
            <a:endParaRPr lang="en-US" sz="1200" dirty="0"/>
          </a:p>
        </p:txBody>
      </p:sp>
      <p:sp>
        <p:nvSpPr>
          <p:cNvPr id="10" name="Text 8"/>
          <p:cNvSpPr/>
          <p:nvPr/>
        </p:nvSpPr>
        <p:spPr>
          <a:xfrm>
            <a:off x="640080" y="1783080"/>
            <a:ext cx="1508760" cy="566928"/>
          </a:xfrm>
          <a:prstGeom prst="rect">
            <a:avLst/>
          </a:prstGeom>
          <a:noFill/>
          <a:ln/>
        </p:spPr>
        <p:txBody>
          <a:bodyPr wrap="square" lIns="0" tIns="0" rIns="0" bIns="0" rtlCol="0" anchor="ctr"/>
          <a:lstStyle/>
          <a:p>
            <a:pPr algn="r" indent="0" marL="0">
              <a:buNone/>
            </a:pPr>
            <a:r>
              <a:rPr lang="en-US" sz="1300" b="1" dirty="0">
                <a:solidFill>
                  <a:srgbClr val="23282F"/>
                </a:solidFill>
                <a:latin typeface="Calibri" pitchFamily="34" charset="0"/>
                <a:ea typeface="Calibri" pitchFamily="34" charset="-122"/>
                <a:cs typeface="Calibri" pitchFamily="34" charset="-120"/>
              </a:rPr>
              <a:t>Flat</a:t>
            </a:r>
            <a:endParaRPr lang="en-US" sz="1300" dirty="0"/>
          </a:p>
        </p:txBody>
      </p:sp>
      <p:sp>
        <p:nvSpPr>
          <p:cNvPr id="11" name="Shape 9"/>
          <p:cNvSpPr/>
          <p:nvPr/>
        </p:nvSpPr>
        <p:spPr>
          <a:xfrm>
            <a:off x="2240280" y="1783080"/>
            <a:ext cx="1316736" cy="512064"/>
          </a:xfrm>
          <a:prstGeom prst="rect">
            <a:avLst/>
          </a:prstGeom>
          <a:solidFill>
            <a:srgbClr val="F7F8F9"/>
          </a:solidFill>
          <a:ln w="19050">
            <a:solidFill>
              <a:srgbClr val="FFFFFF"/>
            </a:solidFill>
            <a:prstDash val="solid"/>
          </a:ln>
        </p:spPr>
      </p:sp>
      <p:sp>
        <p:nvSpPr>
          <p:cNvPr id="12" name="Text 10"/>
          <p:cNvSpPr/>
          <p:nvPr/>
        </p:nvSpPr>
        <p:spPr>
          <a:xfrm>
            <a:off x="2240280" y="1892808"/>
            <a:ext cx="1316736" cy="329184"/>
          </a:xfrm>
          <a:prstGeom prst="rect">
            <a:avLst/>
          </a:prstGeom>
          <a:noFill/>
          <a:ln/>
        </p:spPr>
        <p:txBody>
          <a:bodyPr wrap="square" lIns="0" tIns="0" rIns="0" bIns="0" rtlCol="0" anchor="ctr"/>
          <a:lstStyle/>
          <a:p>
            <a:pPr algn="ctr" indent="0" marL="0">
              <a:buNone/>
            </a:pPr>
            <a:r>
              <a:rPr lang="en-US" sz="1400" dirty="0">
                <a:solidFill>
                  <a:srgbClr val="B3382C"/>
                </a:solidFill>
                <a:latin typeface="Calibri" pitchFamily="34" charset="0"/>
                <a:ea typeface="Calibri" pitchFamily="34" charset="-122"/>
                <a:cs typeface="Calibri" pitchFamily="34" charset="-120"/>
              </a:rPr>
              <a:t>-182</a:t>
            </a:r>
            <a:endParaRPr lang="en-US" sz="1400" dirty="0"/>
          </a:p>
        </p:txBody>
      </p:sp>
      <p:sp>
        <p:nvSpPr>
          <p:cNvPr id="13" name="Shape 11"/>
          <p:cNvSpPr/>
          <p:nvPr/>
        </p:nvSpPr>
        <p:spPr>
          <a:xfrm>
            <a:off x="3611880" y="1783080"/>
            <a:ext cx="1316736" cy="512064"/>
          </a:xfrm>
          <a:prstGeom prst="rect">
            <a:avLst/>
          </a:prstGeom>
          <a:solidFill>
            <a:srgbClr val="F7E3E0"/>
          </a:solidFill>
          <a:ln w="19050">
            <a:solidFill>
              <a:srgbClr val="FFFFFF"/>
            </a:solidFill>
            <a:prstDash val="solid"/>
          </a:ln>
        </p:spPr>
      </p:sp>
      <p:sp>
        <p:nvSpPr>
          <p:cNvPr id="14" name="Text 12"/>
          <p:cNvSpPr/>
          <p:nvPr/>
        </p:nvSpPr>
        <p:spPr>
          <a:xfrm>
            <a:off x="3611880" y="1892808"/>
            <a:ext cx="1316736" cy="329184"/>
          </a:xfrm>
          <a:prstGeom prst="rect">
            <a:avLst/>
          </a:prstGeom>
          <a:noFill/>
          <a:ln/>
        </p:spPr>
        <p:txBody>
          <a:bodyPr wrap="square" lIns="0" tIns="0" rIns="0" bIns="0" rtlCol="0" anchor="ctr"/>
          <a:lstStyle/>
          <a:p>
            <a:pPr algn="ctr" indent="0" marL="0">
              <a:buNone/>
            </a:pPr>
            <a:r>
              <a:rPr lang="en-US" sz="1400" b="1" dirty="0">
                <a:solidFill>
                  <a:srgbClr val="B3382C"/>
                </a:solidFill>
                <a:latin typeface="Calibri" pitchFamily="34" charset="0"/>
                <a:ea typeface="Calibri" pitchFamily="34" charset="-122"/>
                <a:cs typeface="Calibri" pitchFamily="34" charset="-120"/>
              </a:rPr>
              <a:t>-715</a:t>
            </a:r>
            <a:endParaRPr lang="en-US" sz="1400" dirty="0"/>
          </a:p>
        </p:txBody>
      </p:sp>
      <p:sp>
        <p:nvSpPr>
          <p:cNvPr id="15" name="Shape 13"/>
          <p:cNvSpPr/>
          <p:nvPr/>
        </p:nvSpPr>
        <p:spPr>
          <a:xfrm>
            <a:off x="4983480" y="1783080"/>
            <a:ext cx="1316736" cy="512064"/>
          </a:xfrm>
          <a:prstGeom prst="rect">
            <a:avLst/>
          </a:prstGeom>
          <a:solidFill>
            <a:srgbClr val="F7F8F9"/>
          </a:solidFill>
          <a:ln w="19050">
            <a:solidFill>
              <a:srgbClr val="FFFFFF"/>
            </a:solidFill>
            <a:prstDash val="solid"/>
          </a:ln>
        </p:spPr>
      </p:sp>
      <p:sp>
        <p:nvSpPr>
          <p:cNvPr id="16" name="Text 14"/>
          <p:cNvSpPr/>
          <p:nvPr/>
        </p:nvSpPr>
        <p:spPr>
          <a:xfrm>
            <a:off x="4983480" y="1892808"/>
            <a:ext cx="1316736" cy="329184"/>
          </a:xfrm>
          <a:prstGeom prst="rect">
            <a:avLst/>
          </a:prstGeom>
          <a:noFill/>
          <a:ln/>
        </p:spPr>
        <p:txBody>
          <a:bodyPr wrap="square" lIns="0" tIns="0" rIns="0" bIns="0" rtlCol="0" anchor="ctr"/>
          <a:lstStyle/>
          <a:p>
            <a:pPr algn="ctr" indent="0" marL="0">
              <a:buNone/>
            </a:pPr>
            <a:r>
              <a:rPr lang="en-US" sz="1400" dirty="0">
                <a:solidFill>
                  <a:srgbClr val="B3382C"/>
                </a:solidFill>
                <a:latin typeface="Calibri" pitchFamily="34" charset="0"/>
                <a:ea typeface="Calibri" pitchFamily="34" charset="-122"/>
                <a:cs typeface="Calibri" pitchFamily="34" charset="-120"/>
              </a:rPr>
              <a:t>-175</a:t>
            </a:r>
            <a:endParaRPr lang="en-US" sz="1400" dirty="0"/>
          </a:p>
        </p:txBody>
      </p:sp>
      <p:sp>
        <p:nvSpPr>
          <p:cNvPr id="17" name="Shape 15"/>
          <p:cNvSpPr/>
          <p:nvPr/>
        </p:nvSpPr>
        <p:spPr>
          <a:xfrm>
            <a:off x="6355080" y="1783080"/>
            <a:ext cx="1316736" cy="512064"/>
          </a:xfrm>
          <a:prstGeom prst="rect">
            <a:avLst/>
          </a:prstGeom>
          <a:solidFill>
            <a:srgbClr val="F7F8F9"/>
          </a:solidFill>
          <a:ln w="19050">
            <a:solidFill>
              <a:srgbClr val="FFFFFF"/>
            </a:solidFill>
            <a:prstDash val="solid"/>
          </a:ln>
        </p:spPr>
      </p:sp>
      <p:sp>
        <p:nvSpPr>
          <p:cNvPr id="18" name="Text 16"/>
          <p:cNvSpPr/>
          <p:nvPr/>
        </p:nvSpPr>
        <p:spPr>
          <a:xfrm>
            <a:off x="6355080" y="1892808"/>
            <a:ext cx="1316736" cy="329184"/>
          </a:xfrm>
          <a:prstGeom prst="rect">
            <a:avLst/>
          </a:prstGeom>
          <a:noFill/>
          <a:ln/>
        </p:spPr>
        <p:txBody>
          <a:bodyPr wrap="square" lIns="0" tIns="0" rIns="0" bIns="0" rtlCol="0" anchor="ctr"/>
          <a:lstStyle/>
          <a:p>
            <a:pPr algn="ctr" indent="0" marL="0">
              <a:buNone/>
            </a:pPr>
            <a:r>
              <a:rPr lang="en-US" sz="1400" dirty="0">
                <a:solidFill>
                  <a:srgbClr val="B3382C"/>
                </a:solidFill>
                <a:latin typeface="Calibri" pitchFamily="34" charset="0"/>
                <a:ea typeface="Calibri" pitchFamily="34" charset="-122"/>
                <a:cs typeface="Calibri" pitchFamily="34" charset="-120"/>
              </a:rPr>
              <a:t>-165</a:t>
            </a:r>
            <a:endParaRPr lang="en-US" sz="1400" dirty="0"/>
          </a:p>
        </p:txBody>
      </p:sp>
      <p:sp>
        <p:nvSpPr>
          <p:cNvPr id="19" name="Shape 17"/>
          <p:cNvSpPr/>
          <p:nvPr/>
        </p:nvSpPr>
        <p:spPr>
          <a:xfrm>
            <a:off x="7726680" y="1783080"/>
            <a:ext cx="1316736" cy="512064"/>
          </a:xfrm>
          <a:prstGeom prst="rect">
            <a:avLst/>
          </a:prstGeom>
          <a:solidFill>
            <a:srgbClr val="F7F8F9"/>
          </a:solidFill>
          <a:ln w="19050">
            <a:solidFill>
              <a:srgbClr val="FFFFFF"/>
            </a:solidFill>
            <a:prstDash val="solid"/>
          </a:ln>
        </p:spPr>
      </p:sp>
      <p:sp>
        <p:nvSpPr>
          <p:cNvPr id="20" name="Text 18"/>
          <p:cNvSpPr/>
          <p:nvPr/>
        </p:nvSpPr>
        <p:spPr>
          <a:xfrm>
            <a:off x="7726680" y="1892808"/>
            <a:ext cx="1316736" cy="329184"/>
          </a:xfrm>
          <a:prstGeom prst="rect">
            <a:avLst/>
          </a:prstGeom>
          <a:noFill/>
          <a:ln/>
        </p:spPr>
        <p:txBody>
          <a:bodyPr wrap="square" lIns="0" tIns="0" rIns="0" bIns="0" rtlCol="0" anchor="ctr"/>
          <a:lstStyle/>
          <a:p>
            <a:pPr algn="ctr" indent="0" marL="0">
              <a:buNone/>
            </a:pPr>
            <a:r>
              <a:rPr lang="en-US" sz="1400" dirty="0">
                <a:solidFill>
                  <a:srgbClr val="B3382C"/>
                </a:solidFill>
                <a:latin typeface="Calibri" pitchFamily="34" charset="0"/>
                <a:ea typeface="Calibri" pitchFamily="34" charset="-122"/>
                <a:cs typeface="Calibri" pitchFamily="34" charset="-120"/>
              </a:rPr>
              <a:t>-186</a:t>
            </a:r>
            <a:endParaRPr lang="en-US" sz="1400" dirty="0"/>
          </a:p>
        </p:txBody>
      </p:sp>
      <p:sp>
        <p:nvSpPr>
          <p:cNvPr id="21" name="Shape 19"/>
          <p:cNvSpPr/>
          <p:nvPr/>
        </p:nvSpPr>
        <p:spPr>
          <a:xfrm>
            <a:off x="9098280" y="1783080"/>
            <a:ext cx="1316736" cy="512064"/>
          </a:xfrm>
          <a:prstGeom prst="rect">
            <a:avLst/>
          </a:prstGeom>
          <a:solidFill>
            <a:srgbClr val="F7F8F9"/>
          </a:solidFill>
          <a:ln w="19050">
            <a:solidFill>
              <a:srgbClr val="FFFFFF"/>
            </a:solidFill>
            <a:prstDash val="solid"/>
          </a:ln>
        </p:spPr>
      </p:sp>
      <p:sp>
        <p:nvSpPr>
          <p:cNvPr id="22" name="Text 20"/>
          <p:cNvSpPr/>
          <p:nvPr/>
        </p:nvSpPr>
        <p:spPr>
          <a:xfrm>
            <a:off x="9098280" y="1892808"/>
            <a:ext cx="1316736" cy="329184"/>
          </a:xfrm>
          <a:prstGeom prst="rect">
            <a:avLst/>
          </a:prstGeom>
          <a:noFill/>
          <a:ln/>
        </p:spPr>
        <p:txBody>
          <a:bodyPr wrap="square" lIns="0" tIns="0" rIns="0" bIns="0" rtlCol="0" anchor="ctr"/>
          <a:lstStyle/>
          <a:p>
            <a:pPr algn="ctr" indent="0" marL="0">
              <a:buNone/>
            </a:pPr>
            <a:r>
              <a:rPr lang="en-US" sz="1400" dirty="0">
                <a:solidFill>
                  <a:srgbClr val="B3382C"/>
                </a:solidFill>
                <a:latin typeface="Calibri" pitchFamily="34" charset="0"/>
                <a:ea typeface="Calibri" pitchFamily="34" charset="-122"/>
                <a:cs typeface="Calibri" pitchFamily="34" charset="-120"/>
              </a:rPr>
              <a:t>-189</a:t>
            </a:r>
            <a:endParaRPr lang="en-US" sz="1400" dirty="0"/>
          </a:p>
        </p:txBody>
      </p:sp>
      <p:sp>
        <p:nvSpPr>
          <p:cNvPr id="23" name="Text 21"/>
          <p:cNvSpPr/>
          <p:nvPr/>
        </p:nvSpPr>
        <p:spPr>
          <a:xfrm>
            <a:off x="640080" y="2350008"/>
            <a:ext cx="1508760" cy="566928"/>
          </a:xfrm>
          <a:prstGeom prst="rect">
            <a:avLst/>
          </a:prstGeom>
          <a:noFill/>
          <a:ln/>
        </p:spPr>
        <p:txBody>
          <a:bodyPr wrap="square" lIns="0" tIns="0" rIns="0" bIns="0" rtlCol="0" anchor="ctr"/>
          <a:lstStyle/>
          <a:p>
            <a:pPr algn="r" indent="0" marL="0">
              <a:buNone/>
            </a:pPr>
            <a:r>
              <a:rPr lang="en-US" sz="1300" b="1" dirty="0">
                <a:solidFill>
                  <a:srgbClr val="23282F"/>
                </a:solidFill>
                <a:latin typeface="Calibri" pitchFamily="34" charset="0"/>
                <a:ea typeface="Calibri" pitchFamily="34" charset="-122"/>
                <a:cs typeface="Calibri" pitchFamily="34" charset="-120"/>
              </a:rPr>
              <a:t>Hub &amp; Spoke</a:t>
            </a:r>
            <a:endParaRPr lang="en-US" sz="1300" dirty="0"/>
          </a:p>
        </p:txBody>
      </p:sp>
      <p:sp>
        <p:nvSpPr>
          <p:cNvPr id="24" name="Shape 22"/>
          <p:cNvSpPr/>
          <p:nvPr/>
        </p:nvSpPr>
        <p:spPr>
          <a:xfrm>
            <a:off x="2240280" y="2350008"/>
            <a:ext cx="1316736" cy="512064"/>
          </a:xfrm>
          <a:prstGeom prst="rect">
            <a:avLst/>
          </a:prstGeom>
          <a:solidFill>
            <a:srgbClr val="F7F8F9"/>
          </a:solidFill>
          <a:ln w="19050">
            <a:solidFill>
              <a:srgbClr val="FFFFFF"/>
            </a:solidFill>
            <a:prstDash val="solid"/>
          </a:ln>
        </p:spPr>
      </p:sp>
      <p:sp>
        <p:nvSpPr>
          <p:cNvPr id="25" name="Text 23"/>
          <p:cNvSpPr/>
          <p:nvPr/>
        </p:nvSpPr>
        <p:spPr>
          <a:xfrm>
            <a:off x="2240280" y="2459736"/>
            <a:ext cx="1316736" cy="329184"/>
          </a:xfrm>
          <a:prstGeom prst="rect">
            <a:avLst/>
          </a:prstGeom>
          <a:noFill/>
          <a:ln/>
        </p:spPr>
        <p:txBody>
          <a:bodyPr wrap="square" lIns="0" tIns="0" rIns="0" bIns="0" rtlCol="0" anchor="ctr"/>
          <a:lstStyle/>
          <a:p>
            <a:pPr algn="ctr" indent="0" marL="0">
              <a:buNone/>
            </a:pPr>
            <a:r>
              <a:rPr lang="en-US" sz="1400" dirty="0">
                <a:solidFill>
                  <a:srgbClr val="B3382C"/>
                </a:solidFill>
                <a:latin typeface="Calibri" pitchFamily="34" charset="0"/>
                <a:ea typeface="Calibri" pitchFamily="34" charset="-122"/>
                <a:cs typeface="Calibri" pitchFamily="34" charset="-120"/>
              </a:rPr>
              <a:t>-105</a:t>
            </a:r>
            <a:endParaRPr lang="en-US" sz="1400" dirty="0"/>
          </a:p>
        </p:txBody>
      </p:sp>
      <p:sp>
        <p:nvSpPr>
          <p:cNvPr id="26" name="Shape 24"/>
          <p:cNvSpPr/>
          <p:nvPr/>
        </p:nvSpPr>
        <p:spPr>
          <a:xfrm>
            <a:off x="3611880" y="2350008"/>
            <a:ext cx="1316736" cy="512064"/>
          </a:xfrm>
          <a:prstGeom prst="rect">
            <a:avLst/>
          </a:prstGeom>
          <a:solidFill>
            <a:srgbClr val="F7F8F9"/>
          </a:solidFill>
          <a:ln w="19050">
            <a:solidFill>
              <a:srgbClr val="FFFFFF"/>
            </a:solidFill>
            <a:prstDash val="solid"/>
          </a:ln>
        </p:spPr>
      </p:sp>
      <p:sp>
        <p:nvSpPr>
          <p:cNvPr id="27" name="Text 25"/>
          <p:cNvSpPr/>
          <p:nvPr/>
        </p:nvSpPr>
        <p:spPr>
          <a:xfrm>
            <a:off x="3611880" y="2459736"/>
            <a:ext cx="1316736" cy="329184"/>
          </a:xfrm>
          <a:prstGeom prst="rect">
            <a:avLst/>
          </a:prstGeom>
          <a:noFill/>
          <a:ln/>
        </p:spPr>
        <p:txBody>
          <a:bodyPr wrap="square" lIns="0" tIns="0" rIns="0" bIns="0" rtlCol="0" anchor="ctr"/>
          <a:lstStyle/>
          <a:p>
            <a:pPr algn="ctr" indent="0" marL="0">
              <a:buNone/>
            </a:pPr>
            <a:r>
              <a:rPr lang="en-US" sz="1400" dirty="0">
                <a:solidFill>
                  <a:srgbClr val="B3382C"/>
                </a:solidFill>
                <a:latin typeface="Calibri" pitchFamily="34" charset="0"/>
                <a:ea typeface="Calibri" pitchFamily="34" charset="-122"/>
                <a:cs typeface="Calibri" pitchFamily="34" charset="-120"/>
              </a:rPr>
              <a:t>-82</a:t>
            </a:r>
            <a:endParaRPr lang="en-US" sz="1400" dirty="0"/>
          </a:p>
        </p:txBody>
      </p:sp>
      <p:sp>
        <p:nvSpPr>
          <p:cNvPr id="28" name="Shape 26"/>
          <p:cNvSpPr/>
          <p:nvPr/>
        </p:nvSpPr>
        <p:spPr>
          <a:xfrm>
            <a:off x="4983480" y="2350008"/>
            <a:ext cx="1316736" cy="512064"/>
          </a:xfrm>
          <a:prstGeom prst="rect">
            <a:avLst/>
          </a:prstGeom>
          <a:solidFill>
            <a:srgbClr val="F7F8F9"/>
          </a:solidFill>
          <a:ln w="19050">
            <a:solidFill>
              <a:srgbClr val="FFFFFF"/>
            </a:solidFill>
            <a:prstDash val="solid"/>
          </a:ln>
        </p:spPr>
      </p:sp>
      <p:sp>
        <p:nvSpPr>
          <p:cNvPr id="29" name="Text 27"/>
          <p:cNvSpPr/>
          <p:nvPr/>
        </p:nvSpPr>
        <p:spPr>
          <a:xfrm>
            <a:off x="4983480" y="2459736"/>
            <a:ext cx="1316736" cy="329184"/>
          </a:xfrm>
          <a:prstGeom prst="rect">
            <a:avLst/>
          </a:prstGeom>
          <a:noFill/>
          <a:ln/>
        </p:spPr>
        <p:txBody>
          <a:bodyPr wrap="square" lIns="0" tIns="0" rIns="0" bIns="0" rtlCol="0" anchor="ctr"/>
          <a:lstStyle/>
          <a:p>
            <a:pPr algn="ctr" indent="0" marL="0">
              <a:buNone/>
            </a:pPr>
            <a:r>
              <a:rPr lang="en-US" sz="1400" dirty="0">
                <a:solidFill>
                  <a:srgbClr val="B3382C"/>
                </a:solidFill>
                <a:latin typeface="Calibri" pitchFamily="34" charset="0"/>
                <a:ea typeface="Calibri" pitchFamily="34" charset="-122"/>
                <a:cs typeface="Calibri" pitchFamily="34" charset="-120"/>
              </a:rPr>
              <a:t>-26</a:t>
            </a:r>
            <a:endParaRPr lang="en-US" sz="1400" dirty="0"/>
          </a:p>
        </p:txBody>
      </p:sp>
      <p:sp>
        <p:nvSpPr>
          <p:cNvPr id="30" name="Shape 28"/>
          <p:cNvSpPr/>
          <p:nvPr/>
        </p:nvSpPr>
        <p:spPr>
          <a:xfrm>
            <a:off x="6355080" y="2350008"/>
            <a:ext cx="1316736" cy="512064"/>
          </a:xfrm>
          <a:prstGeom prst="rect">
            <a:avLst/>
          </a:prstGeom>
          <a:solidFill>
            <a:srgbClr val="F7F8F9"/>
          </a:solidFill>
          <a:ln w="19050">
            <a:solidFill>
              <a:srgbClr val="FFFFFF"/>
            </a:solidFill>
            <a:prstDash val="solid"/>
          </a:ln>
        </p:spPr>
      </p:sp>
      <p:sp>
        <p:nvSpPr>
          <p:cNvPr id="31" name="Text 29"/>
          <p:cNvSpPr/>
          <p:nvPr/>
        </p:nvSpPr>
        <p:spPr>
          <a:xfrm>
            <a:off x="6355080" y="2459736"/>
            <a:ext cx="1316736" cy="329184"/>
          </a:xfrm>
          <a:prstGeom prst="rect">
            <a:avLst/>
          </a:prstGeom>
          <a:noFill/>
          <a:ln/>
        </p:spPr>
        <p:txBody>
          <a:bodyPr wrap="square" lIns="0" tIns="0" rIns="0" bIns="0" rtlCol="0" anchor="ctr"/>
          <a:lstStyle/>
          <a:p>
            <a:pPr algn="ctr" indent="0" marL="0">
              <a:buNone/>
            </a:pPr>
            <a:r>
              <a:rPr lang="en-US" sz="1400" dirty="0">
                <a:solidFill>
                  <a:srgbClr val="B3382C"/>
                </a:solidFill>
                <a:latin typeface="Calibri" pitchFamily="34" charset="0"/>
                <a:ea typeface="Calibri" pitchFamily="34" charset="-122"/>
                <a:cs typeface="Calibri" pitchFamily="34" charset="-120"/>
              </a:rPr>
              <a:t>-86</a:t>
            </a:r>
            <a:endParaRPr lang="en-US" sz="1400" dirty="0"/>
          </a:p>
        </p:txBody>
      </p:sp>
      <p:sp>
        <p:nvSpPr>
          <p:cNvPr id="32" name="Shape 30"/>
          <p:cNvSpPr/>
          <p:nvPr/>
        </p:nvSpPr>
        <p:spPr>
          <a:xfrm>
            <a:off x="7726680" y="2350008"/>
            <a:ext cx="1316736" cy="512064"/>
          </a:xfrm>
          <a:prstGeom prst="rect">
            <a:avLst/>
          </a:prstGeom>
          <a:solidFill>
            <a:srgbClr val="F7F8F9"/>
          </a:solidFill>
          <a:ln w="19050">
            <a:solidFill>
              <a:srgbClr val="FFFFFF"/>
            </a:solidFill>
            <a:prstDash val="solid"/>
          </a:ln>
        </p:spPr>
      </p:sp>
      <p:sp>
        <p:nvSpPr>
          <p:cNvPr id="33" name="Text 31"/>
          <p:cNvSpPr/>
          <p:nvPr/>
        </p:nvSpPr>
        <p:spPr>
          <a:xfrm>
            <a:off x="7726680" y="2459736"/>
            <a:ext cx="1316736" cy="329184"/>
          </a:xfrm>
          <a:prstGeom prst="rect">
            <a:avLst/>
          </a:prstGeom>
          <a:noFill/>
          <a:ln/>
        </p:spPr>
        <p:txBody>
          <a:bodyPr wrap="square" lIns="0" tIns="0" rIns="0" bIns="0" rtlCol="0" anchor="ctr"/>
          <a:lstStyle/>
          <a:p>
            <a:pPr algn="ctr" indent="0" marL="0">
              <a:buNone/>
            </a:pPr>
            <a:r>
              <a:rPr lang="en-US" sz="1400" dirty="0">
                <a:solidFill>
                  <a:srgbClr val="B3382C"/>
                </a:solidFill>
                <a:latin typeface="Calibri" pitchFamily="34" charset="0"/>
                <a:ea typeface="Calibri" pitchFamily="34" charset="-122"/>
                <a:cs typeface="Calibri" pitchFamily="34" charset="-120"/>
              </a:rPr>
              <a:t>-132</a:t>
            </a:r>
            <a:endParaRPr lang="en-US" sz="1400" dirty="0"/>
          </a:p>
        </p:txBody>
      </p:sp>
      <p:sp>
        <p:nvSpPr>
          <p:cNvPr id="34" name="Shape 32"/>
          <p:cNvSpPr/>
          <p:nvPr/>
        </p:nvSpPr>
        <p:spPr>
          <a:xfrm>
            <a:off x="9098280" y="2350008"/>
            <a:ext cx="1316736" cy="512064"/>
          </a:xfrm>
          <a:prstGeom prst="rect">
            <a:avLst/>
          </a:prstGeom>
          <a:solidFill>
            <a:srgbClr val="F7F8F9"/>
          </a:solidFill>
          <a:ln w="19050">
            <a:solidFill>
              <a:srgbClr val="FFFFFF"/>
            </a:solidFill>
            <a:prstDash val="solid"/>
          </a:ln>
        </p:spPr>
      </p:sp>
      <p:sp>
        <p:nvSpPr>
          <p:cNvPr id="35" name="Text 33"/>
          <p:cNvSpPr/>
          <p:nvPr/>
        </p:nvSpPr>
        <p:spPr>
          <a:xfrm>
            <a:off x="9098280" y="2459736"/>
            <a:ext cx="1316736" cy="329184"/>
          </a:xfrm>
          <a:prstGeom prst="rect">
            <a:avLst/>
          </a:prstGeom>
          <a:noFill/>
          <a:ln/>
        </p:spPr>
        <p:txBody>
          <a:bodyPr wrap="square" lIns="0" tIns="0" rIns="0" bIns="0" rtlCol="0" anchor="ctr"/>
          <a:lstStyle/>
          <a:p>
            <a:pPr algn="ctr" indent="0" marL="0">
              <a:buNone/>
            </a:pPr>
            <a:r>
              <a:rPr lang="en-US" sz="1400" dirty="0">
                <a:solidFill>
                  <a:srgbClr val="B3382C"/>
                </a:solidFill>
                <a:latin typeface="Calibri" pitchFamily="34" charset="0"/>
                <a:ea typeface="Calibri" pitchFamily="34" charset="-122"/>
                <a:cs typeface="Calibri" pitchFamily="34" charset="-120"/>
              </a:rPr>
              <a:t>-26</a:t>
            </a:r>
            <a:endParaRPr lang="en-US" sz="1400" dirty="0"/>
          </a:p>
        </p:txBody>
      </p:sp>
      <p:sp>
        <p:nvSpPr>
          <p:cNvPr id="36" name="Text 34"/>
          <p:cNvSpPr/>
          <p:nvPr/>
        </p:nvSpPr>
        <p:spPr>
          <a:xfrm>
            <a:off x="640080" y="2916936"/>
            <a:ext cx="1508760" cy="566928"/>
          </a:xfrm>
          <a:prstGeom prst="rect">
            <a:avLst/>
          </a:prstGeom>
          <a:noFill/>
          <a:ln/>
        </p:spPr>
        <p:txBody>
          <a:bodyPr wrap="square" lIns="0" tIns="0" rIns="0" bIns="0" rtlCol="0" anchor="ctr"/>
          <a:lstStyle/>
          <a:p>
            <a:pPr algn="r" indent="0" marL="0">
              <a:buNone/>
            </a:pPr>
            <a:r>
              <a:rPr lang="en-US" sz="1300" b="1" dirty="0">
                <a:solidFill>
                  <a:srgbClr val="23282F"/>
                </a:solidFill>
                <a:latin typeface="Calibri" pitchFamily="34" charset="0"/>
                <a:ea typeface="Calibri" pitchFamily="34" charset="-122"/>
                <a:cs typeface="Calibri" pitchFamily="34" charset="-120"/>
              </a:rPr>
              <a:t>DMZ</a:t>
            </a:r>
            <a:endParaRPr lang="en-US" sz="1300" dirty="0"/>
          </a:p>
        </p:txBody>
      </p:sp>
      <p:sp>
        <p:nvSpPr>
          <p:cNvPr id="37" name="Shape 35"/>
          <p:cNvSpPr/>
          <p:nvPr/>
        </p:nvSpPr>
        <p:spPr>
          <a:xfrm>
            <a:off x="2240280" y="2916936"/>
            <a:ext cx="1316736" cy="512064"/>
          </a:xfrm>
          <a:prstGeom prst="rect">
            <a:avLst/>
          </a:prstGeom>
          <a:solidFill>
            <a:srgbClr val="F7F8F9"/>
          </a:solidFill>
          <a:ln w="19050">
            <a:solidFill>
              <a:srgbClr val="FFFFFF"/>
            </a:solidFill>
            <a:prstDash val="solid"/>
          </a:ln>
        </p:spPr>
      </p:sp>
      <p:sp>
        <p:nvSpPr>
          <p:cNvPr id="38" name="Text 36"/>
          <p:cNvSpPr/>
          <p:nvPr/>
        </p:nvSpPr>
        <p:spPr>
          <a:xfrm>
            <a:off x="2240280" y="3026664"/>
            <a:ext cx="1316736" cy="329184"/>
          </a:xfrm>
          <a:prstGeom prst="rect">
            <a:avLst/>
          </a:prstGeom>
          <a:noFill/>
          <a:ln/>
        </p:spPr>
        <p:txBody>
          <a:bodyPr wrap="square" lIns="0" tIns="0" rIns="0" bIns="0" rtlCol="0" anchor="ctr"/>
          <a:lstStyle/>
          <a:p>
            <a:pPr algn="ctr" indent="0" marL="0">
              <a:buNone/>
            </a:pPr>
            <a:r>
              <a:rPr lang="en-US" sz="1400" dirty="0">
                <a:solidFill>
                  <a:srgbClr val="B3382C"/>
                </a:solidFill>
                <a:latin typeface="Calibri" pitchFamily="34" charset="0"/>
                <a:ea typeface="Calibri" pitchFamily="34" charset="-122"/>
                <a:cs typeface="Calibri" pitchFamily="34" charset="-120"/>
              </a:rPr>
              <a:t>-84</a:t>
            </a:r>
            <a:endParaRPr lang="en-US" sz="1400" dirty="0"/>
          </a:p>
        </p:txBody>
      </p:sp>
      <p:sp>
        <p:nvSpPr>
          <p:cNvPr id="39" name="Shape 37"/>
          <p:cNvSpPr/>
          <p:nvPr/>
        </p:nvSpPr>
        <p:spPr>
          <a:xfrm>
            <a:off x="3611880" y="2916936"/>
            <a:ext cx="1316736" cy="512064"/>
          </a:xfrm>
          <a:prstGeom prst="rect">
            <a:avLst/>
          </a:prstGeom>
          <a:solidFill>
            <a:srgbClr val="F7F8F9"/>
          </a:solidFill>
          <a:ln w="19050">
            <a:solidFill>
              <a:srgbClr val="FFFFFF"/>
            </a:solidFill>
            <a:prstDash val="solid"/>
          </a:ln>
        </p:spPr>
      </p:sp>
      <p:sp>
        <p:nvSpPr>
          <p:cNvPr id="40" name="Text 38"/>
          <p:cNvSpPr/>
          <p:nvPr/>
        </p:nvSpPr>
        <p:spPr>
          <a:xfrm>
            <a:off x="3611880" y="3026664"/>
            <a:ext cx="1316736" cy="329184"/>
          </a:xfrm>
          <a:prstGeom prst="rect">
            <a:avLst/>
          </a:prstGeom>
          <a:noFill/>
          <a:ln/>
        </p:spPr>
        <p:txBody>
          <a:bodyPr wrap="square" lIns="0" tIns="0" rIns="0" bIns="0" rtlCol="0" anchor="ctr"/>
          <a:lstStyle/>
          <a:p>
            <a:pPr algn="ctr" indent="0" marL="0">
              <a:buNone/>
            </a:pPr>
            <a:r>
              <a:rPr lang="en-US" sz="1400" dirty="0">
                <a:solidFill>
                  <a:srgbClr val="B3382C"/>
                </a:solidFill>
                <a:latin typeface="Calibri" pitchFamily="34" charset="0"/>
                <a:ea typeface="Calibri" pitchFamily="34" charset="-122"/>
                <a:cs typeface="Calibri" pitchFamily="34" charset="-120"/>
              </a:rPr>
              <a:t>-64</a:t>
            </a:r>
            <a:endParaRPr lang="en-US" sz="1400" dirty="0"/>
          </a:p>
        </p:txBody>
      </p:sp>
      <p:sp>
        <p:nvSpPr>
          <p:cNvPr id="41" name="Shape 39"/>
          <p:cNvSpPr/>
          <p:nvPr/>
        </p:nvSpPr>
        <p:spPr>
          <a:xfrm>
            <a:off x="4983480" y="2916936"/>
            <a:ext cx="1316736" cy="512064"/>
          </a:xfrm>
          <a:prstGeom prst="rect">
            <a:avLst/>
          </a:prstGeom>
          <a:solidFill>
            <a:srgbClr val="F7F8F9"/>
          </a:solidFill>
          <a:ln w="19050">
            <a:solidFill>
              <a:srgbClr val="FFFFFF"/>
            </a:solidFill>
            <a:prstDash val="solid"/>
          </a:ln>
        </p:spPr>
      </p:sp>
      <p:sp>
        <p:nvSpPr>
          <p:cNvPr id="42" name="Text 40"/>
          <p:cNvSpPr/>
          <p:nvPr/>
        </p:nvSpPr>
        <p:spPr>
          <a:xfrm>
            <a:off x="4983480" y="3026664"/>
            <a:ext cx="1316736" cy="329184"/>
          </a:xfrm>
          <a:prstGeom prst="rect">
            <a:avLst/>
          </a:prstGeom>
          <a:noFill/>
          <a:ln/>
        </p:spPr>
        <p:txBody>
          <a:bodyPr wrap="square" lIns="0" tIns="0" rIns="0" bIns="0" rtlCol="0" anchor="ctr"/>
          <a:lstStyle/>
          <a:p>
            <a:pPr algn="ctr" indent="0" marL="0">
              <a:buNone/>
            </a:pPr>
            <a:r>
              <a:rPr lang="en-US" sz="1400" dirty="0">
                <a:solidFill>
                  <a:srgbClr val="B3382C"/>
                </a:solidFill>
                <a:latin typeface="Calibri" pitchFamily="34" charset="0"/>
                <a:ea typeface="Calibri" pitchFamily="34" charset="-122"/>
                <a:cs typeface="Calibri" pitchFamily="34" charset="-120"/>
              </a:rPr>
              <a:t>-76</a:t>
            </a:r>
            <a:endParaRPr lang="en-US" sz="1400" dirty="0"/>
          </a:p>
        </p:txBody>
      </p:sp>
      <p:sp>
        <p:nvSpPr>
          <p:cNvPr id="43" name="Shape 41"/>
          <p:cNvSpPr/>
          <p:nvPr/>
        </p:nvSpPr>
        <p:spPr>
          <a:xfrm>
            <a:off x="6355080" y="2916936"/>
            <a:ext cx="1316736" cy="512064"/>
          </a:xfrm>
          <a:prstGeom prst="rect">
            <a:avLst/>
          </a:prstGeom>
          <a:solidFill>
            <a:srgbClr val="F7F8F9"/>
          </a:solidFill>
          <a:ln w="19050">
            <a:solidFill>
              <a:srgbClr val="FFFFFF"/>
            </a:solidFill>
            <a:prstDash val="solid"/>
          </a:ln>
        </p:spPr>
      </p:sp>
      <p:sp>
        <p:nvSpPr>
          <p:cNvPr id="44" name="Text 42"/>
          <p:cNvSpPr/>
          <p:nvPr/>
        </p:nvSpPr>
        <p:spPr>
          <a:xfrm>
            <a:off x="6355080" y="3026664"/>
            <a:ext cx="1316736" cy="329184"/>
          </a:xfrm>
          <a:prstGeom prst="rect">
            <a:avLst/>
          </a:prstGeom>
          <a:noFill/>
          <a:ln/>
        </p:spPr>
        <p:txBody>
          <a:bodyPr wrap="square" lIns="0" tIns="0" rIns="0" bIns="0" rtlCol="0" anchor="ctr"/>
          <a:lstStyle/>
          <a:p>
            <a:pPr algn="ctr" indent="0" marL="0">
              <a:buNone/>
            </a:pPr>
            <a:r>
              <a:rPr lang="en-US" sz="1400" dirty="0">
                <a:solidFill>
                  <a:srgbClr val="B3382C"/>
                </a:solidFill>
                <a:latin typeface="Calibri" pitchFamily="34" charset="0"/>
                <a:ea typeface="Calibri" pitchFamily="34" charset="-122"/>
                <a:cs typeface="Calibri" pitchFamily="34" charset="-120"/>
              </a:rPr>
              <a:t>-152</a:t>
            </a:r>
            <a:endParaRPr lang="en-US" sz="1400" dirty="0"/>
          </a:p>
        </p:txBody>
      </p:sp>
      <p:sp>
        <p:nvSpPr>
          <p:cNvPr id="45" name="Shape 43"/>
          <p:cNvSpPr/>
          <p:nvPr/>
        </p:nvSpPr>
        <p:spPr>
          <a:xfrm>
            <a:off x="7726680" y="2916936"/>
            <a:ext cx="1316736" cy="512064"/>
          </a:xfrm>
          <a:prstGeom prst="rect">
            <a:avLst/>
          </a:prstGeom>
          <a:solidFill>
            <a:srgbClr val="F7F8F9"/>
          </a:solidFill>
          <a:ln w="19050">
            <a:solidFill>
              <a:srgbClr val="FFFFFF"/>
            </a:solidFill>
            <a:prstDash val="solid"/>
          </a:ln>
        </p:spPr>
      </p:sp>
      <p:sp>
        <p:nvSpPr>
          <p:cNvPr id="46" name="Text 44"/>
          <p:cNvSpPr/>
          <p:nvPr/>
        </p:nvSpPr>
        <p:spPr>
          <a:xfrm>
            <a:off x="7726680" y="3026664"/>
            <a:ext cx="1316736" cy="329184"/>
          </a:xfrm>
          <a:prstGeom prst="rect">
            <a:avLst/>
          </a:prstGeom>
          <a:noFill/>
          <a:ln/>
        </p:spPr>
        <p:txBody>
          <a:bodyPr wrap="square" lIns="0" tIns="0" rIns="0" bIns="0" rtlCol="0" anchor="ctr"/>
          <a:lstStyle/>
          <a:p>
            <a:pPr algn="ctr" indent="0" marL="0">
              <a:buNone/>
            </a:pPr>
            <a:r>
              <a:rPr lang="en-US" sz="1400" dirty="0">
                <a:solidFill>
                  <a:srgbClr val="B3382C"/>
                </a:solidFill>
                <a:latin typeface="Calibri" pitchFamily="34" charset="0"/>
                <a:ea typeface="Calibri" pitchFamily="34" charset="-122"/>
                <a:cs typeface="Calibri" pitchFamily="34" charset="-120"/>
              </a:rPr>
              <a:t>-66</a:t>
            </a:r>
            <a:endParaRPr lang="en-US" sz="1400" dirty="0"/>
          </a:p>
        </p:txBody>
      </p:sp>
      <p:sp>
        <p:nvSpPr>
          <p:cNvPr id="47" name="Shape 45"/>
          <p:cNvSpPr/>
          <p:nvPr/>
        </p:nvSpPr>
        <p:spPr>
          <a:xfrm>
            <a:off x="9098280" y="2916936"/>
            <a:ext cx="1316736" cy="512064"/>
          </a:xfrm>
          <a:prstGeom prst="rect">
            <a:avLst/>
          </a:prstGeom>
          <a:solidFill>
            <a:srgbClr val="F7F8F9"/>
          </a:solidFill>
          <a:ln w="19050">
            <a:solidFill>
              <a:srgbClr val="FFFFFF"/>
            </a:solidFill>
            <a:prstDash val="solid"/>
          </a:ln>
        </p:spPr>
      </p:sp>
      <p:sp>
        <p:nvSpPr>
          <p:cNvPr id="48" name="Text 46"/>
          <p:cNvSpPr/>
          <p:nvPr/>
        </p:nvSpPr>
        <p:spPr>
          <a:xfrm>
            <a:off x="9098280" y="3026664"/>
            <a:ext cx="1316736" cy="329184"/>
          </a:xfrm>
          <a:prstGeom prst="rect">
            <a:avLst/>
          </a:prstGeom>
          <a:noFill/>
          <a:ln/>
        </p:spPr>
        <p:txBody>
          <a:bodyPr wrap="square" lIns="0" tIns="0" rIns="0" bIns="0" rtlCol="0" anchor="ctr"/>
          <a:lstStyle/>
          <a:p>
            <a:pPr algn="ctr" indent="0" marL="0">
              <a:buNone/>
            </a:pPr>
            <a:r>
              <a:rPr lang="en-US" sz="1400" dirty="0">
                <a:solidFill>
                  <a:srgbClr val="B3382C"/>
                </a:solidFill>
                <a:latin typeface="Calibri" pitchFamily="34" charset="0"/>
                <a:ea typeface="Calibri" pitchFamily="34" charset="-122"/>
                <a:cs typeface="Calibri" pitchFamily="34" charset="-120"/>
              </a:rPr>
              <a:t>-78</a:t>
            </a:r>
            <a:endParaRPr lang="en-US" sz="1400" dirty="0"/>
          </a:p>
        </p:txBody>
      </p:sp>
      <p:sp>
        <p:nvSpPr>
          <p:cNvPr id="49" name="Text 47"/>
          <p:cNvSpPr/>
          <p:nvPr/>
        </p:nvSpPr>
        <p:spPr>
          <a:xfrm>
            <a:off x="640080" y="3483864"/>
            <a:ext cx="1508760" cy="566928"/>
          </a:xfrm>
          <a:prstGeom prst="rect">
            <a:avLst/>
          </a:prstGeom>
          <a:noFill/>
          <a:ln/>
        </p:spPr>
        <p:txBody>
          <a:bodyPr wrap="square" lIns="0" tIns="0" rIns="0" bIns="0" rtlCol="0" anchor="ctr"/>
          <a:lstStyle/>
          <a:p>
            <a:pPr algn="r" indent="0" marL="0">
              <a:buNone/>
            </a:pPr>
            <a:r>
              <a:rPr lang="en-US" sz="1300" b="1" dirty="0">
                <a:solidFill>
                  <a:srgbClr val="23282F"/>
                </a:solidFill>
                <a:latin typeface="Calibri" pitchFamily="34" charset="0"/>
                <a:ea typeface="Calibri" pitchFamily="34" charset="-122"/>
                <a:cs typeface="Calibri" pitchFamily="34" charset="-120"/>
              </a:rPr>
              <a:t>Micro-Seg.</a:t>
            </a:r>
            <a:endParaRPr lang="en-US" sz="1300" dirty="0"/>
          </a:p>
        </p:txBody>
      </p:sp>
      <p:sp>
        <p:nvSpPr>
          <p:cNvPr id="50" name="Shape 48"/>
          <p:cNvSpPr/>
          <p:nvPr/>
        </p:nvSpPr>
        <p:spPr>
          <a:xfrm>
            <a:off x="2240280" y="3483864"/>
            <a:ext cx="1316736" cy="512064"/>
          </a:xfrm>
          <a:prstGeom prst="rect">
            <a:avLst/>
          </a:prstGeom>
          <a:solidFill>
            <a:srgbClr val="F7F8F9"/>
          </a:solidFill>
          <a:ln w="19050">
            <a:solidFill>
              <a:srgbClr val="FFFFFF"/>
            </a:solidFill>
            <a:prstDash val="solid"/>
          </a:ln>
        </p:spPr>
      </p:sp>
      <p:sp>
        <p:nvSpPr>
          <p:cNvPr id="51" name="Text 49"/>
          <p:cNvSpPr/>
          <p:nvPr/>
        </p:nvSpPr>
        <p:spPr>
          <a:xfrm>
            <a:off x="2240280" y="3593592"/>
            <a:ext cx="1316736" cy="329184"/>
          </a:xfrm>
          <a:prstGeom prst="rect">
            <a:avLst/>
          </a:prstGeom>
          <a:noFill/>
          <a:ln/>
        </p:spPr>
        <p:txBody>
          <a:bodyPr wrap="square" lIns="0" tIns="0" rIns="0" bIns="0" rtlCol="0" anchor="ctr"/>
          <a:lstStyle/>
          <a:p>
            <a:pPr algn="ctr" indent="0" marL="0">
              <a:buNone/>
            </a:pPr>
            <a:r>
              <a:rPr lang="en-US" sz="1400" dirty="0">
                <a:solidFill>
                  <a:srgbClr val="B3382C"/>
                </a:solidFill>
                <a:latin typeface="Calibri" pitchFamily="34" charset="0"/>
                <a:ea typeface="Calibri" pitchFamily="34" charset="-122"/>
                <a:cs typeface="Calibri" pitchFamily="34" charset="-120"/>
              </a:rPr>
              <a:t>-66</a:t>
            </a:r>
            <a:endParaRPr lang="en-US" sz="1400" dirty="0"/>
          </a:p>
        </p:txBody>
      </p:sp>
      <p:sp>
        <p:nvSpPr>
          <p:cNvPr id="52" name="Shape 50"/>
          <p:cNvSpPr/>
          <p:nvPr/>
        </p:nvSpPr>
        <p:spPr>
          <a:xfrm>
            <a:off x="3611880" y="3483864"/>
            <a:ext cx="1316736" cy="512064"/>
          </a:xfrm>
          <a:prstGeom prst="rect">
            <a:avLst/>
          </a:prstGeom>
          <a:solidFill>
            <a:srgbClr val="F7F8F9"/>
          </a:solidFill>
          <a:ln w="19050">
            <a:solidFill>
              <a:srgbClr val="FFFFFF"/>
            </a:solidFill>
            <a:prstDash val="solid"/>
          </a:ln>
        </p:spPr>
      </p:sp>
      <p:sp>
        <p:nvSpPr>
          <p:cNvPr id="53" name="Text 51"/>
          <p:cNvSpPr/>
          <p:nvPr/>
        </p:nvSpPr>
        <p:spPr>
          <a:xfrm>
            <a:off x="3611880" y="3593592"/>
            <a:ext cx="1316736" cy="329184"/>
          </a:xfrm>
          <a:prstGeom prst="rect">
            <a:avLst/>
          </a:prstGeom>
          <a:noFill/>
          <a:ln/>
        </p:spPr>
        <p:txBody>
          <a:bodyPr wrap="square" lIns="0" tIns="0" rIns="0" bIns="0" rtlCol="0" anchor="ctr"/>
          <a:lstStyle/>
          <a:p>
            <a:pPr algn="ctr" indent="0" marL="0">
              <a:buNone/>
            </a:pPr>
            <a:r>
              <a:rPr lang="en-US" sz="1400" dirty="0">
                <a:solidFill>
                  <a:srgbClr val="B3382C"/>
                </a:solidFill>
                <a:latin typeface="Calibri" pitchFamily="34" charset="0"/>
                <a:ea typeface="Calibri" pitchFamily="34" charset="-122"/>
                <a:cs typeface="Calibri" pitchFamily="34" charset="-120"/>
              </a:rPr>
              <a:t>-69</a:t>
            </a:r>
            <a:endParaRPr lang="en-US" sz="1400" dirty="0"/>
          </a:p>
        </p:txBody>
      </p:sp>
      <p:sp>
        <p:nvSpPr>
          <p:cNvPr id="54" name="Shape 52"/>
          <p:cNvSpPr/>
          <p:nvPr/>
        </p:nvSpPr>
        <p:spPr>
          <a:xfrm>
            <a:off x="4983480" y="3483864"/>
            <a:ext cx="1316736" cy="512064"/>
          </a:xfrm>
          <a:prstGeom prst="rect">
            <a:avLst/>
          </a:prstGeom>
          <a:solidFill>
            <a:srgbClr val="F7F8F9"/>
          </a:solidFill>
          <a:ln w="19050">
            <a:solidFill>
              <a:srgbClr val="FFFFFF"/>
            </a:solidFill>
            <a:prstDash val="solid"/>
          </a:ln>
        </p:spPr>
      </p:sp>
      <p:sp>
        <p:nvSpPr>
          <p:cNvPr id="55" name="Text 53"/>
          <p:cNvSpPr/>
          <p:nvPr/>
        </p:nvSpPr>
        <p:spPr>
          <a:xfrm>
            <a:off x="4983480" y="3593592"/>
            <a:ext cx="1316736" cy="329184"/>
          </a:xfrm>
          <a:prstGeom prst="rect">
            <a:avLst/>
          </a:prstGeom>
          <a:noFill/>
          <a:ln/>
        </p:spPr>
        <p:txBody>
          <a:bodyPr wrap="square" lIns="0" tIns="0" rIns="0" bIns="0" rtlCol="0" anchor="ctr"/>
          <a:lstStyle/>
          <a:p>
            <a:pPr algn="ctr" indent="0" marL="0">
              <a:buNone/>
            </a:pPr>
            <a:r>
              <a:rPr lang="en-US" sz="1400" dirty="0">
                <a:solidFill>
                  <a:srgbClr val="B3382C"/>
                </a:solidFill>
                <a:latin typeface="Calibri" pitchFamily="34" charset="0"/>
                <a:ea typeface="Calibri" pitchFamily="34" charset="-122"/>
                <a:cs typeface="Calibri" pitchFamily="34" charset="-120"/>
              </a:rPr>
              <a:t>-28</a:t>
            </a:r>
            <a:endParaRPr lang="en-US" sz="1400" dirty="0"/>
          </a:p>
        </p:txBody>
      </p:sp>
      <p:sp>
        <p:nvSpPr>
          <p:cNvPr id="56" name="Shape 54"/>
          <p:cNvSpPr/>
          <p:nvPr/>
        </p:nvSpPr>
        <p:spPr>
          <a:xfrm>
            <a:off x="6355080" y="3483864"/>
            <a:ext cx="1316736" cy="512064"/>
          </a:xfrm>
          <a:prstGeom prst="rect">
            <a:avLst/>
          </a:prstGeom>
          <a:solidFill>
            <a:srgbClr val="F7F8F9"/>
          </a:solidFill>
          <a:ln w="19050">
            <a:solidFill>
              <a:srgbClr val="FFFFFF"/>
            </a:solidFill>
            <a:prstDash val="solid"/>
          </a:ln>
        </p:spPr>
      </p:sp>
      <p:sp>
        <p:nvSpPr>
          <p:cNvPr id="57" name="Text 55"/>
          <p:cNvSpPr/>
          <p:nvPr/>
        </p:nvSpPr>
        <p:spPr>
          <a:xfrm>
            <a:off x="6355080" y="3593592"/>
            <a:ext cx="1316736" cy="329184"/>
          </a:xfrm>
          <a:prstGeom prst="rect">
            <a:avLst/>
          </a:prstGeom>
          <a:noFill/>
          <a:ln/>
        </p:spPr>
        <p:txBody>
          <a:bodyPr wrap="square" lIns="0" tIns="0" rIns="0" bIns="0" rtlCol="0" anchor="ctr"/>
          <a:lstStyle/>
          <a:p>
            <a:pPr algn="ctr" indent="0" marL="0">
              <a:buNone/>
            </a:pPr>
            <a:r>
              <a:rPr lang="en-US" sz="1400" dirty="0">
                <a:solidFill>
                  <a:srgbClr val="B3382C"/>
                </a:solidFill>
                <a:latin typeface="Calibri" pitchFamily="34" charset="0"/>
                <a:ea typeface="Calibri" pitchFamily="34" charset="-122"/>
                <a:cs typeface="Calibri" pitchFamily="34" charset="-120"/>
              </a:rPr>
              <a:t>-52</a:t>
            </a:r>
            <a:endParaRPr lang="en-US" sz="1400" dirty="0"/>
          </a:p>
        </p:txBody>
      </p:sp>
      <p:sp>
        <p:nvSpPr>
          <p:cNvPr id="58" name="Shape 56"/>
          <p:cNvSpPr/>
          <p:nvPr/>
        </p:nvSpPr>
        <p:spPr>
          <a:xfrm>
            <a:off x="7726680" y="3483864"/>
            <a:ext cx="1316736" cy="512064"/>
          </a:xfrm>
          <a:prstGeom prst="rect">
            <a:avLst/>
          </a:prstGeom>
          <a:solidFill>
            <a:srgbClr val="F7F8F9"/>
          </a:solidFill>
          <a:ln w="19050">
            <a:solidFill>
              <a:srgbClr val="FFFFFF"/>
            </a:solidFill>
            <a:prstDash val="solid"/>
          </a:ln>
        </p:spPr>
      </p:sp>
      <p:sp>
        <p:nvSpPr>
          <p:cNvPr id="59" name="Text 57"/>
          <p:cNvSpPr/>
          <p:nvPr/>
        </p:nvSpPr>
        <p:spPr>
          <a:xfrm>
            <a:off x="7726680" y="3593592"/>
            <a:ext cx="1316736" cy="329184"/>
          </a:xfrm>
          <a:prstGeom prst="rect">
            <a:avLst/>
          </a:prstGeom>
          <a:noFill/>
          <a:ln/>
        </p:spPr>
        <p:txBody>
          <a:bodyPr wrap="square" lIns="0" tIns="0" rIns="0" bIns="0" rtlCol="0" anchor="ctr"/>
          <a:lstStyle/>
          <a:p>
            <a:pPr algn="ctr" indent="0" marL="0">
              <a:buNone/>
            </a:pPr>
            <a:r>
              <a:rPr lang="en-US" sz="1400" dirty="0">
                <a:solidFill>
                  <a:srgbClr val="B3382C"/>
                </a:solidFill>
                <a:latin typeface="Calibri" pitchFamily="34" charset="0"/>
                <a:ea typeface="Calibri" pitchFamily="34" charset="-122"/>
                <a:cs typeface="Calibri" pitchFamily="34" charset="-120"/>
              </a:rPr>
              <a:t>-20</a:t>
            </a:r>
            <a:endParaRPr lang="en-US" sz="1400" dirty="0"/>
          </a:p>
        </p:txBody>
      </p:sp>
      <p:sp>
        <p:nvSpPr>
          <p:cNvPr id="60" name="Shape 58"/>
          <p:cNvSpPr/>
          <p:nvPr/>
        </p:nvSpPr>
        <p:spPr>
          <a:xfrm>
            <a:off x="9098280" y="3483864"/>
            <a:ext cx="1316736" cy="512064"/>
          </a:xfrm>
          <a:prstGeom prst="rect">
            <a:avLst/>
          </a:prstGeom>
          <a:solidFill>
            <a:srgbClr val="F7F8F9"/>
          </a:solidFill>
          <a:ln w="19050">
            <a:solidFill>
              <a:srgbClr val="FFFFFF"/>
            </a:solidFill>
            <a:prstDash val="solid"/>
          </a:ln>
        </p:spPr>
      </p:sp>
      <p:sp>
        <p:nvSpPr>
          <p:cNvPr id="61" name="Text 59"/>
          <p:cNvSpPr/>
          <p:nvPr/>
        </p:nvSpPr>
        <p:spPr>
          <a:xfrm>
            <a:off x="9098280" y="3593592"/>
            <a:ext cx="1316736" cy="329184"/>
          </a:xfrm>
          <a:prstGeom prst="rect">
            <a:avLst/>
          </a:prstGeom>
          <a:noFill/>
          <a:ln/>
        </p:spPr>
        <p:txBody>
          <a:bodyPr wrap="square" lIns="0" tIns="0" rIns="0" bIns="0" rtlCol="0" anchor="ctr"/>
          <a:lstStyle/>
          <a:p>
            <a:pPr algn="ctr" indent="0" marL="0">
              <a:buNone/>
            </a:pPr>
            <a:r>
              <a:rPr lang="en-US" sz="1400" dirty="0">
                <a:solidFill>
                  <a:srgbClr val="B3382C"/>
                </a:solidFill>
                <a:latin typeface="Calibri" pitchFamily="34" charset="0"/>
                <a:ea typeface="Calibri" pitchFamily="34" charset="-122"/>
                <a:cs typeface="Calibri" pitchFamily="34" charset="-120"/>
              </a:rPr>
              <a:t>-93</a:t>
            </a:r>
            <a:endParaRPr lang="en-US" sz="1400" dirty="0"/>
          </a:p>
        </p:txBody>
      </p:sp>
      <p:sp>
        <p:nvSpPr>
          <p:cNvPr id="62" name="Shape 60"/>
          <p:cNvSpPr/>
          <p:nvPr/>
        </p:nvSpPr>
        <p:spPr>
          <a:xfrm>
            <a:off x="640080" y="4343400"/>
            <a:ext cx="10881360" cy="1371600"/>
          </a:xfrm>
          <a:prstGeom prst="roundRect">
            <a:avLst>
              <a:gd name="adj" fmla="val 6667"/>
            </a:avLst>
          </a:prstGeom>
          <a:solidFill>
            <a:srgbClr val="FBF3E4"/>
          </a:solidFill>
          <a:ln w="12700">
            <a:solidFill>
              <a:srgbClr val="EBD6AB"/>
            </a:solidFill>
            <a:prstDash val="solid"/>
          </a:ln>
        </p:spPr>
      </p:sp>
      <p:sp>
        <p:nvSpPr>
          <p:cNvPr id="63" name="Text 61"/>
          <p:cNvSpPr/>
          <p:nvPr/>
        </p:nvSpPr>
        <p:spPr>
          <a:xfrm>
            <a:off x="960120" y="4526280"/>
            <a:ext cx="10241280" cy="320040"/>
          </a:xfrm>
          <a:prstGeom prst="rect">
            <a:avLst/>
          </a:prstGeom>
          <a:noFill/>
          <a:ln/>
        </p:spPr>
        <p:txBody>
          <a:bodyPr wrap="square" lIns="0" tIns="0" rIns="0" bIns="0" rtlCol="0" anchor="ctr"/>
          <a:lstStyle/>
          <a:p>
            <a:pPr indent="0" marL="0">
              <a:buNone/>
            </a:pPr>
            <a:r>
              <a:rPr lang="en-US" sz="1500" b="1" dirty="0">
                <a:solidFill>
                  <a:srgbClr val="8A6414"/>
                </a:solidFill>
                <a:latin typeface="Calibri" pitchFamily="34" charset="0"/>
                <a:ea typeface="Calibri" pitchFamily="34" charset="-122"/>
                <a:cs typeface="Calibri" pitchFamily="34" charset="-120"/>
              </a:rPr>
              <a:t>Diese Zahlen sind zwischen Topologien nicht vergleichbar</a:t>
            </a:r>
            <a:endParaRPr lang="en-US" sz="1500" dirty="0"/>
          </a:p>
        </p:txBody>
      </p:sp>
      <p:sp>
        <p:nvSpPr>
          <p:cNvPr id="64" name="Text 62"/>
          <p:cNvSpPr/>
          <p:nvPr/>
        </p:nvSpPr>
        <p:spPr>
          <a:xfrm>
            <a:off x="960120" y="4864608"/>
            <a:ext cx="10241280" cy="777240"/>
          </a:xfrm>
          <a:prstGeom prst="rect">
            <a:avLst/>
          </a:prstGeom>
          <a:noFill/>
          <a:ln/>
        </p:spPr>
        <p:txBody>
          <a:bodyPr wrap="square" lIns="0" tIns="0" rIns="0" bIns="0" rtlCol="0" anchor="ctr"/>
          <a:lstStyle/>
          <a:p>
            <a:pPr indent="0" marL="0">
              <a:buNone/>
            </a:pPr>
            <a:r>
              <a:rPr lang="en-US" sz="1200" dirty="0">
                <a:solidFill>
                  <a:srgbClr val="23282F"/>
                </a:solidFill>
                <a:latin typeface="Calibri" pitchFamily="34" charset="0"/>
                <a:ea typeface="Calibri" pitchFamily="34" charset="-122"/>
                <a:cs typeface="Calibri" pitchFamily="34" charset="-120"/>
              </a:rPr>
              <a:t>Der Verteidiger-Reward ist an den des Angreifers gekoppelt, und der erreichbare Punktevorrat unterscheidet sich je Topologie (235 gegenüber 145 in Micro-Segmentation). Zudem hängt die Episodenlänge über den Haltebonus mit hinein. Vergleichbar wird es erst durch Größen, die von der Reward-Skala unabhängig sind: Crown-Jewel-Quote und gehaltene Knoten (Folien 8–9).</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640080" y="384048"/>
            <a:ext cx="10881360" cy="566928"/>
          </a:xfrm>
          <a:prstGeom prst="rect">
            <a:avLst/>
          </a:prstGeom>
          <a:noFill/>
          <a:ln/>
        </p:spPr>
        <p:txBody>
          <a:bodyPr wrap="square" lIns="0" tIns="0" rIns="0" bIns="0" rtlCol="0" anchor="ctr"/>
          <a:lstStyle/>
          <a:p>
            <a:pPr indent="0" marL="0">
              <a:buNone/>
            </a:pPr>
            <a:r>
              <a:rPr lang="en-US" sz="3400" b="1" dirty="0">
                <a:solidFill>
                  <a:srgbClr val="23282F"/>
                </a:solidFill>
                <a:latin typeface="Cambria" pitchFamily="34" charset="0"/>
                <a:ea typeface="Cambria" pitchFamily="34" charset="-122"/>
                <a:cs typeface="Cambria" pitchFamily="34" charset="-120"/>
              </a:rPr>
              <a:t>Verteidiger-Reward: Beginn und Ende des Trainings</a:t>
            </a:r>
            <a:endParaRPr lang="en-US" sz="3400" dirty="0"/>
          </a:p>
        </p:txBody>
      </p:sp>
      <p:sp>
        <p:nvSpPr>
          <p:cNvPr id="3" name="Text 1"/>
          <p:cNvSpPr/>
          <p:nvPr/>
        </p:nvSpPr>
        <p:spPr>
          <a:xfrm>
            <a:off x="640080" y="969264"/>
            <a:ext cx="10881360" cy="493776"/>
          </a:xfrm>
          <a:prstGeom prst="rect">
            <a:avLst/>
          </a:prstGeom>
          <a:noFill/>
          <a:ln/>
        </p:spPr>
        <p:txBody>
          <a:bodyPr wrap="square" lIns="0" tIns="0" rIns="0" bIns="0" rtlCol="0" anchor="ctr"/>
          <a:lstStyle/>
          <a:p>
            <a:pPr indent="0" marL="0">
              <a:buNone/>
            </a:pPr>
            <a:r>
              <a:rPr lang="en-US" sz="1400" dirty="0">
                <a:solidFill>
                  <a:srgbClr val="6E7681"/>
                </a:solidFill>
                <a:latin typeface="Calibri" pitchFamily="34" charset="0"/>
                <a:ea typeface="Calibri" pitchFamily="34" charset="-122"/>
                <a:cs typeface="Calibri" pitchFamily="34" charset="-120"/>
              </a:rPr>
              <a:t>Mittel der ersten 10 gegen die letzten 20 Episoden je Lauf, über 5 Seeds gemittelt, volles Budget, kein Auto-Stop</a:t>
            </a:r>
            <a:endParaRPr lang="en-US" sz="1400" dirty="0"/>
          </a:p>
        </p:txBody>
      </p:sp>
      <p:sp>
        <p:nvSpPr>
          <p:cNvPr id="4" name="Text 2"/>
          <p:cNvSpPr/>
          <p:nvPr/>
        </p:nvSpPr>
        <p:spPr>
          <a:xfrm>
            <a:off x="2240280" y="1554480"/>
            <a:ext cx="1463040" cy="310896"/>
          </a:xfrm>
          <a:prstGeom prst="rect">
            <a:avLst/>
          </a:prstGeom>
          <a:noFill/>
          <a:ln/>
        </p:spPr>
        <p:txBody>
          <a:bodyPr wrap="square" lIns="0" tIns="0" rIns="0" bIns="0" rtlCol="0" anchor="ctr"/>
          <a:lstStyle/>
          <a:p>
            <a:pPr algn="ctr" indent="0" marL="0">
              <a:buNone/>
            </a:pPr>
            <a:r>
              <a:rPr lang="en-US" sz="1200" b="1" dirty="0">
                <a:solidFill>
                  <a:srgbClr val="6E7681"/>
                </a:solidFill>
                <a:latin typeface="Calibri" pitchFamily="34" charset="0"/>
                <a:ea typeface="Calibri" pitchFamily="34" charset="-122"/>
                <a:cs typeface="Calibri" pitchFamily="34" charset="-120"/>
              </a:rPr>
              <a:t>Chain</a:t>
            </a:r>
            <a:endParaRPr lang="en-US" sz="1200" dirty="0"/>
          </a:p>
        </p:txBody>
      </p:sp>
      <p:sp>
        <p:nvSpPr>
          <p:cNvPr id="5" name="Text 3"/>
          <p:cNvSpPr/>
          <p:nvPr/>
        </p:nvSpPr>
        <p:spPr>
          <a:xfrm>
            <a:off x="3703320" y="1554480"/>
            <a:ext cx="1463040" cy="310896"/>
          </a:xfrm>
          <a:prstGeom prst="rect">
            <a:avLst/>
          </a:prstGeom>
          <a:noFill/>
          <a:ln/>
        </p:spPr>
        <p:txBody>
          <a:bodyPr wrap="square" lIns="0" tIns="0" rIns="0" bIns="0" rtlCol="0" anchor="ctr"/>
          <a:lstStyle/>
          <a:p>
            <a:pPr algn="ctr" indent="0" marL="0">
              <a:buNone/>
            </a:pPr>
            <a:r>
              <a:rPr lang="en-US" sz="1200" b="1" dirty="0">
                <a:solidFill>
                  <a:srgbClr val="6E7681"/>
                </a:solidFill>
                <a:latin typeface="Calibri" pitchFamily="34" charset="0"/>
                <a:ea typeface="Calibri" pitchFamily="34" charset="-122"/>
                <a:cs typeface="Calibri" pitchFamily="34" charset="-120"/>
              </a:rPr>
              <a:t>Flat</a:t>
            </a:r>
            <a:endParaRPr lang="en-US" sz="1200" dirty="0"/>
          </a:p>
        </p:txBody>
      </p:sp>
      <p:sp>
        <p:nvSpPr>
          <p:cNvPr id="6" name="Text 4"/>
          <p:cNvSpPr/>
          <p:nvPr/>
        </p:nvSpPr>
        <p:spPr>
          <a:xfrm>
            <a:off x="5166360" y="1554480"/>
            <a:ext cx="1463040" cy="310896"/>
          </a:xfrm>
          <a:prstGeom prst="rect">
            <a:avLst/>
          </a:prstGeom>
          <a:noFill/>
          <a:ln/>
        </p:spPr>
        <p:txBody>
          <a:bodyPr wrap="square" lIns="0" tIns="0" rIns="0" bIns="0" rtlCol="0" anchor="ctr"/>
          <a:lstStyle/>
          <a:p>
            <a:pPr algn="ctr" indent="0" marL="0">
              <a:buNone/>
            </a:pPr>
            <a:r>
              <a:rPr lang="en-US" sz="1200" b="1" dirty="0">
                <a:solidFill>
                  <a:srgbClr val="6E7681"/>
                </a:solidFill>
                <a:latin typeface="Calibri" pitchFamily="34" charset="0"/>
                <a:ea typeface="Calibri" pitchFamily="34" charset="-122"/>
                <a:cs typeface="Calibri" pitchFamily="34" charset="-120"/>
              </a:rPr>
              <a:t>Hub &amp; Spoke</a:t>
            </a:r>
            <a:endParaRPr lang="en-US" sz="1200" dirty="0"/>
          </a:p>
        </p:txBody>
      </p:sp>
      <p:sp>
        <p:nvSpPr>
          <p:cNvPr id="7" name="Text 5"/>
          <p:cNvSpPr/>
          <p:nvPr/>
        </p:nvSpPr>
        <p:spPr>
          <a:xfrm>
            <a:off x="6629400" y="1554480"/>
            <a:ext cx="1463040" cy="310896"/>
          </a:xfrm>
          <a:prstGeom prst="rect">
            <a:avLst/>
          </a:prstGeom>
          <a:noFill/>
          <a:ln/>
        </p:spPr>
        <p:txBody>
          <a:bodyPr wrap="square" lIns="0" tIns="0" rIns="0" bIns="0" rtlCol="0" anchor="ctr"/>
          <a:lstStyle/>
          <a:p>
            <a:pPr algn="ctr" indent="0" marL="0">
              <a:buNone/>
            </a:pPr>
            <a:r>
              <a:rPr lang="en-US" sz="1200" b="1" dirty="0">
                <a:solidFill>
                  <a:srgbClr val="6E7681"/>
                </a:solidFill>
                <a:latin typeface="Calibri" pitchFamily="34" charset="0"/>
                <a:ea typeface="Calibri" pitchFamily="34" charset="-122"/>
                <a:cs typeface="Calibri" pitchFamily="34" charset="-120"/>
              </a:rPr>
              <a:t>DMZ</a:t>
            </a:r>
            <a:endParaRPr lang="en-US" sz="1200" dirty="0"/>
          </a:p>
        </p:txBody>
      </p:sp>
      <p:sp>
        <p:nvSpPr>
          <p:cNvPr id="8" name="Text 6"/>
          <p:cNvSpPr/>
          <p:nvPr/>
        </p:nvSpPr>
        <p:spPr>
          <a:xfrm>
            <a:off x="8092440" y="1554480"/>
            <a:ext cx="1463040" cy="310896"/>
          </a:xfrm>
          <a:prstGeom prst="rect">
            <a:avLst/>
          </a:prstGeom>
          <a:noFill/>
          <a:ln/>
        </p:spPr>
        <p:txBody>
          <a:bodyPr wrap="square" lIns="0" tIns="0" rIns="0" bIns="0" rtlCol="0" anchor="ctr"/>
          <a:lstStyle/>
          <a:p>
            <a:pPr algn="ctr" indent="0" marL="0">
              <a:buNone/>
            </a:pPr>
            <a:r>
              <a:rPr lang="en-US" sz="1200" b="1" dirty="0">
                <a:solidFill>
                  <a:srgbClr val="6E7681"/>
                </a:solidFill>
                <a:latin typeface="Calibri" pitchFamily="34" charset="0"/>
                <a:ea typeface="Calibri" pitchFamily="34" charset="-122"/>
                <a:cs typeface="Calibri" pitchFamily="34" charset="-120"/>
              </a:rPr>
              <a:t>Micro-Seg.</a:t>
            </a:r>
            <a:endParaRPr lang="en-US" sz="1200" dirty="0"/>
          </a:p>
        </p:txBody>
      </p:sp>
      <p:sp>
        <p:nvSpPr>
          <p:cNvPr id="9" name="Text 7"/>
          <p:cNvSpPr/>
          <p:nvPr/>
        </p:nvSpPr>
        <p:spPr>
          <a:xfrm>
            <a:off x="9555480" y="1554480"/>
            <a:ext cx="1463040" cy="310896"/>
          </a:xfrm>
          <a:prstGeom prst="rect">
            <a:avLst/>
          </a:prstGeom>
          <a:noFill/>
          <a:ln/>
        </p:spPr>
        <p:txBody>
          <a:bodyPr wrap="square" lIns="0" tIns="0" rIns="0" bIns="0" rtlCol="0" anchor="ctr"/>
          <a:lstStyle/>
          <a:p>
            <a:pPr algn="ctr" indent="0" marL="0">
              <a:buNone/>
            </a:pPr>
            <a:r>
              <a:rPr lang="en-US" sz="1200" b="1" dirty="0">
                <a:solidFill>
                  <a:srgbClr val="6E7681"/>
                </a:solidFill>
                <a:latin typeface="Calibri" pitchFamily="34" charset="0"/>
                <a:ea typeface="Calibri" pitchFamily="34" charset="-122"/>
                <a:cs typeface="Calibri" pitchFamily="34" charset="-120"/>
              </a:rPr>
              <a:t>Super</a:t>
            </a:r>
            <a:endParaRPr lang="en-US" sz="1200" dirty="0"/>
          </a:p>
        </p:txBody>
      </p:sp>
      <p:sp>
        <p:nvSpPr>
          <p:cNvPr id="10" name="Text 8"/>
          <p:cNvSpPr/>
          <p:nvPr/>
        </p:nvSpPr>
        <p:spPr>
          <a:xfrm>
            <a:off x="640080" y="1920240"/>
            <a:ext cx="1508760" cy="713232"/>
          </a:xfrm>
          <a:prstGeom prst="rect">
            <a:avLst/>
          </a:prstGeom>
          <a:noFill/>
          <a:ln/>
        </p:spPr>
        <p:txBody>
          <a:bodyPr wrap="square" lIns="0" tIns="0" rIns="0" bIns="0" rtlCol="0" anchor="ctr"/>
          <a:lstStyle/>
          <a:p>
            <a:pPr algn="r" indent="0" marL="0">
              <a:buNone/>
            </a:pPr>
            <a:r>
              <a:rPr lang="en-US" sz="1300" b="1" dirty="0">
                <a:solidFill>
                  <a:srgbClr val="23282F"/>
                </a:solidFill>
                <a:latin typeface="Calibri" pitchFamily="34" charset="0"/>
                <a:ea typeface="Calibri" pitchFamily="34" charset="-122"/>
                <a:cs typeface="Calibri" pitchFamily="34" charset="-120"/>
              </a:rPr>
              <a:t>Flat</a:t>
            </a:r>
            <a:endParaRPr lang="en-US" sz="1300" dirty="0"/>
          </a:p>
        </p:txBody>
      </p:sp>
      <p:sp>
        <p:nvSpPr>
          <p:cNvPr id="11" name="Shape 9"/>
          <p:cNvSpPr/>
          <p:nvPr/>
        </p:nvSpPr>
        <p:spPr>
          <a:xfrm>
            <a:off x="2240280" y="1920240"/>
            <a:ext cx="1408176" cy="658368"/>
          </a:xfrm>
          <a:prstGeom prst="rect">
            <a:avLst/>
          </a:prstGeom>
          <a:solidFill>
            <a:srgbClr val="E9F0F3"/>
          </a:solidFill>
          <a:ln w="19050">
            <a:solidFill>
              <a:srgbClr val="FFFFFF"/>
            </a:solidFill>
            <a:prstDash val="solid"/>
          </a:ln>
        </p:spPr>
      </p:sp>
      <p:sp>
        <p:nvSpPr>
          <p:cNvPr id="12" name="Text 10"/>
          <p:cNvSpPr/>
          <p:nvPr/>
        </p:nvSpPr>
        <p:spPr>
          <a:xfrm>
            <a:off x="2240280" y="2011680"/>
            <a:ext cx="1408176" cy="310896"/>
          </a:xfrm>
          <a:prstGeom prst="rect">
            <a:avLst/>
          </a:prstGeom>
          <a:noFill/>
          <a:ln/>
        </p:spPr>
        <p:txBody>
          <a:bodyPr wrap="square" lIns="0" tIns="0" rIns="0" bIns="0" rtlCol="0" anchor="ctr"/>
          <a:lstStyle/>
          <a:p>
            <a:pPr algn="ctr" indent="0" marL="0">
              <a:buNone/>
            </a:pPr>
            <a:r>
              <a:rPr lang="en-US" sz="1200" dirty="0">
                <a:solidFill>
                  <a:srgbClr val="6E7681"/>
                </a:solidFill>
                <a:latin typeface="Calibri" pitchFamily="34" charset="0"/>
                <a:ea typeface="Calibri" pitchFamily="34" charset="-122"/>
                <a:cs typeface="Calibri" pitchFamily="34" charset="-120"/>
              </a:rPr>
              <a:t>-1.894</a:t>
            </a:r>
            <a:pPr algn="ctr" indent="0" marL="0">
              <a:buNone/>
            </a:pPr>
            <a:r>
              <a:rPr lang="en-US" sz="1200" dirty="0">
                <a:solidFill>
                  <a:srgbClr val="6E7681"/>
                </a:solidFill>
                <a:latin typeface="Calibri" pitchFamily="34" charset="0"/>
                <a:ea typeface="Calibri" pitchFamily="34" charset="-122"/>
                <a:cs typeface="Calibri" pitchFamily="34" charset="-120"/>
              </a:rPr>
              <a:t>  →  </a:t>
            </a:r>
            <a:pPr algn="ctr" indent="0" marL="0">
              <a:buNone/>
            </a:pPr>
            <a:r>
              <a:rPr lang="en-US" sz="1200" b="1" dirty="0">
                <a:solidFill>
                  <a:srgbClr val="1C6E8C"/>
                </a:solidFill>
                <a:latin typeface="Calibri" pitchFamily="34" charset="0"/>
                <a:ea typeface="Calibri" pitchFamily="34" charset="-122"/>
                <a:cs typeface="Calibri" pitchFamily="34" charset="-120"/>
              </a:rPr>
              <a:t>-185</a:t>
            </a:r>
            <a:endParaRPr lang="en-US" sz="1200" dirty="0"/>
          </a:p>
        </p:txBody>
      </p:sp>
      <p:sp>
        <p:nvSpPr>
          <p:cNvPr id="13" name="Text 11"/>
          <p:cNvSpPr/>
          <p:nvPr/>
        </p:nvSpPr>
        <p:spPr>
          <a:xfrm>
            <a:off x="2240280" y="2322576"/>
            <a:ext cx="1408176" cy="219456"/>
          </a:xfrm>
          <a:prstGeom prst="rect">
            <a:avLst/>
          </a:prstGeom>
          <a:noFill/>
          <a:ln/>
        </p:spPr>
        <p:txBody>
          <a:bodyPr wrap="square" lIns="0" tIns="0" rIns="0" bIns="0" rtlCol="0" anchor="ctr"/>
          <a:lstStyle/>
          <a:p>
            <a:pPr algn="ctr" indent="0" marL="0">
              <a:buNone/>
            </a:pPr>
            <a:r>
              <a:rPr lang="en-US" sz="900" dirty="0">
                <a:solidFill>
                  <a:srgbClr val="6E7681"/>
                </a:solidFill>
                <a:latin typeface="Calibri" pitchFamily="34" charset="0"/>
                <a:ea typeface="Calibri" pitchFamily="34" charset="-122"/>
                <a:cs typeface="Calibri" pitchFamily="34" charset="-120"/>
              </a:rPr>
              <a:t>251 Episoden</a:t>
            </a:r>
            <a:endParaRPr lang="en-US" sz="900" dirty="0"/>
          </a:p>
        </p:txBody>
      </p:sp>
      <p:sp>
        <p:nvSpPr>
          <p:cNvPr id="14" name="Shape 12"/>
          <p:cNvSpPr/>
          <p:nvPr/>
        </p:nvSpPr>
        <p:spPr>
          <a:xfrm>
            <a:off x="3703320" y="1920240"/>
            <a:ext cx="1408176" cy="658368"/>
          </a:xfrm>
          <a:prstGeom prst="rect">
            <a:avLst/>
          </a:prstGeom>
          <a:solidFill>
            <a:srgbClr val="E9F0F3"/>
          </a:solidFill>
          <a:ln w="19050">
            <a:solidFill>
              <a:srgbClr val="FFFFFF"/>
            </a:solidFill>
            <a:prstDash val="solid"/>
          </a:ln>
        </p:spPr>
      </p:sp>
      <p:sp>
        <p:nvSpPr>
          <p:cNvPr id="15" name="Text 13"/>
          <p:cNvSpPr/>
          <p:nvPr/>
        </p:nvSpPr>
        <p:spPr>
          <a:xfrm>
            <a:off x="3703320" y="2011680"/>
            <a:ext cx="1408176" cy="310896"/>
          </a:xfrm>
          <a:prstGeom prst="rect">
            <a:avLst/>
          </a:prstGeom>
          <a:noFill/>
          <a:ln/>
        </p:spPr>
        <p:txBody>
          <a:bodyPr wrap="square" lIns="0" tIns="0" rIns="0" bIns="0" rtlCol="0" anchor="ctr"/>
          <a:lstStyle/>
          <a:p>
            <a:pPr algn="ctr" indent="0" marL="0">
              <a:buNone/>
            </a:pPr>
            <a:r>
              <a:rPr lang="en-US" sz="1200" dirty="0">
                <a:solidFill>
                  <a:srgbClr val="6E7681"/>
                </a:solidFill>
                <a:latin typeface="Calibri" pitchFamily="34" charset="0"/>
                <a:ea typeface="Calibri" pitchFamily="34" charset="-122"/>
                <a:cs typeface="Calibri" pitchFamily="34" charset="-120"/>
              </a:rPr>
              <a:t>-12.283</a:t>
            </a:r>
            <a:pPr algn="ctr" indent="0" marL="0">
              <a:buNone/>
            </a:pPr>
            <a:r>
              <a:rPr lang="en-US" sz="1200" dirty="0">
                <a:solidFill>
                  <a:srgbClr val="6E7681"/>
                </a:solidFill>
                <a:latin typeface="Calibri" pitchFamily="34" charset="0"/>
                <a:ea typeface="Calibri" pitchFamily="34" charset="-122"/>
                <a:cs typeface="Calibri" pitchFamily="34" charset="-120"/>
              </a:rPr>
              <a:t>  →  </a:t>
            </a:r>
            <a:pPr algn="ctr" indent="0" marL="0">
              <a:buNone/>
            </a:pPr>
            <a:r>
              <a:rPr lang="en-US" sz="1200" b="1" dirty="0">
                <a:solidFill>
                  <a:srgbClr val="1C6E8C"/>
                </a:solidFill>
                <a:latin typeface="Calibri" pitchFamily="34" charset="0"/>
                <a:ea typeface="Calibri" pitchFamily="34" charset="-122"/>
                <a:cs typeface="Calibri" pitchFamily="34" charset="-120"/>
              </a:rPr>
              <a:t>-750</a:t>
            </a:r>
            <a:endParaRPr lang="en-US" sz="1200" dirty="0"/>
          </a:p>
        </p:txBody>
      </p:sp>
      <p:sp>
        <p:nvSpPr>
          <p:cNvPr id="16" name="Text 14"/>
          <p:cNvSpPr/>
          <p:nvPr/>
        </p:nvSpPr>
        <p:spPr>
          <a:xfrm>
            <a:off x="3703320" y="2322576"/>
            <a:ext cx="1408176" cy="219456"/>
          </a:xfrm>
          <a:prstGeom prst="rect">
            <a:avLst/>
          </a:prstGeom>
          <a:noFill/>
          <a:ln/>
        </p:spPr>
        <p:txBody>
          <a:bodyPr wrap="square" lIns="0" tIns="0" rIns="0" bIns="0" rtlCol="0" anchor="ctr"/>
          <a:lstStyle/>
          <a:p>
            <a:pPr algn="ctr" indent="0" marL="0">
              <a:buNone/>
            </a:pPr>
            <a:r>
              <a:rPr lang="en-US" sz="900" dirty="0">
                <a:solidFill>
                  <a:srgbClr val="6E7681"/>
                </a:solidFill>
                <a:latin typeface="Calibri" pitchFamily="34" charset="0"/>
                <a:ea typeface="Calibri" pitchFamily="34" charset="-122"/>
                <a:cs typeface="Calibri" pitchFamily="34" charset="-120"/>
              </a:rPr>
              <a:t>253 Episoden</a:t>
            </a:r>
            <a:endParaRPr lang="en-US" sz="900" dirty="0"/>
          </a:p>
        </p:txBody>
      </p:sp>
      <p:sp>
        <p:nvSpPr>
          <p:cNvPr id="17" name="Shape 15"/>
          <p:cNvSpPr/>
          <p:nvPr/>
        </p:nvSpPr>
        <p:spPr>
          <a:xfrm>
            <a:off x="5166360" y="1920240"/>
            <a:ext cx="1408176" cy="658368"/>
          </a:xfrm>
          <a:prstGeom prst="rect">
            <a:avLst/>
          </a:prstGeom>
          <a:solidFill>
            <a:srgbClr val="E9F0F3"/>
          </a:solidFill>
          <a:ln w="19050">
            <a:solidFill>
              <a:srgbClr val="FFFFFF"/>
            </a:solidFill>
            <a:prstDash val="solid"/>
          </a:ln>
        </p:spPr>
      </p:sp>
      <p:sp>
        <p:nvSpPr>
          <p:cNvPr id="18" name="Text 16"/>
          <p:cNvSpPr/>
          <p:nvPr/>
        </p:nvSpPr>
        <p:spPr>
          <a:xfrm>
            <a:off x="5166360" y="2011680"/>
            <a:ext cx="1408176" cy="310896"/>
          </a:xfrm>
          <a:prstGeom prst="rect">
            <a:avLst/>
          </a:prstGeom>
          <a:noFill/>
          <a:ln/>
        </p:spPr>
        <p:txBody>
          <a:bodyPr wrap="square" lIns="0" tIns="0" rIns="0" bIns="0" rtlCol="0" anchor="ctr"/>
          <a:lstStyle/>
          <a:p>
            <a:pPr algn="ctr" indent="0" marL="0">
              <a:buNone/>
            </a:pPr>
            <a:r>
              <a:rPr lang="en-US" sz="1200" dirty="0">
                <a:solidFill>
                  <a:srgbClr val="6E7681"/>
                </a:solidFill>
                <a:latin typeface="Calibri" pitchFamily="34" charset="0"/>
                <a:ea typeface="Calibri" pitchFamily="34" charset="-122"/>
                <a:cs typeface="Calibri" pitchFamily="34" charset="-120"/>
              </a:rPr>
              <a:t>-2.348</a:t>
            </a:r>
            <a:pPr algn="ctr" indent="0" marL="0">
              <a:buNone/>
            </a:pPr>
            <a:r>
              <a:rPr lang="en-US" sz="1200" dirty="0">
                <a:solidFill>
                  <a:srgbClr val="6E7681"/>
                </a:solidFill>
                <a:latin typeface="Calibri" pitchFamily="34" charset="0"/>
                <a:ea typeface="Calibri" pitchFamily="34" charset="-122"/>
                <a:cs typeface="Calibri" pitchFamily="34" charset="-120"/>
              </a:rPr>
              <a:t>  →  </a:t>
            </a:r>
            <a:pPr algn="ctr" indent="0" marL="0">
              <a:buNone/>
            </a:pPr>
            <a:r>
              <a:rPr lang="en-US" sz="1200" b="1" dirty="0">
                <a:solidFill>
                  <a:srgbClr val="1C6E8C"/>
                </a:solidFill>
                <a:latin typeface="Calibri" pitchFamily="34" charset="0"/>
                <a:ea typeface="Calibri" pitchFamily="34" charset="-122"/>
                <a:cs typeface="Calibri" pitchFamily="34" charset="-120"/>
              </a:rPr>
              <a:t>-262</a:t>
            </a:r>
            <a:endParaRPr lang="en-US" sz="1200" dirty="0"/>
          </a:p>
        </p:txBody>
      </p:sp>
      <p:sp>
        <p:nvSpPr>
          <p:cNvPr id="19" name="Text 17"/>
          <p:cNvSpPr/>
          <p:nvPr/>
        </p:nvSpPr>
        <p:spPr>
          <a:xfrm>
            <a:off x="5166360" y="2322576"/>
            <a:ext cx="1408176" cy="219456"/>
          </a:xfrm>
          <a:prstGeom prst="rect">
            <a:avLst/>
          </a:prstGeom>
          <a:noFill/>
          <a:ln/>
        </p:spPr>
        <p:txBody>
          <a:bodyPr wrap="square" lIns="0" tIns="0" rIns="0" bIns="0" rtlCol="0" anchor="ctr"/>
          <a:lstStyle/>
          <a:p>
            <a:pPr algn="ctr" indent="0" marL="0">
              <a:buNone/>
            </a:pPr>
            <a:r>
              <a:rPr lang="en-US" sz="900" dirty="0">
                <a:solidFill>
                  <a:srgbClr val="6E7681"/>
                </a:solidFill>
                <a:latin typeface="Calibri" pitchFamily="34" charset="0"/>
                <a:ea typeface="Calibri" pitchFamily="34" charset="-122"/>
                <a:cs typeface="Calibri" pitchFamily="34" charset="-120"/>
              </a:rPr>
              <a:t>251 Episoden</a:t>
            </a:r>
            <a:endParaRPr lang="en-US" sz="900" dirty="0"/>
          </a:p>
        </p:txBody>
      </p:sp>
      <p:sp>
        <p:nvSpPr>
          <p:cNvPr id="20" name="Shape 18"/>
          <p:cNvSpPr/>
          <p:nvPr/>
        </p:nvSpPr>
        <p:spPr>
          <a:xfrm>
            <a:off x="6629400" y="1920240"/>
            <a:ext cx="1408176" cy="658368"/>
          </a:xfrm>
          <a:prstGeom prst="rect">
            <a:avLst/>
          </a:prstGeom>
          <a:solidFill>
            <a:srgbClr val="E9F0F3"/>
          </a:solidFill>
          <a:ln w="19050">
            <a:solidFill>
              <a:srgbClr val="FFFFFF"/>
            </a:solidFill>
            <a:prstDash val="solid"/>
          </a:ln>
        </p:spPr>
      </p:sp>
      <p:sp>
        <p:nvSpPr>
          <p:cNvPr id="21" name="Text 19"/>
          <p:cNvSpPr/>
          <p:nvPr/>
        </p:nvSpPr>
        <p:spPr>
          <a:xfrm>
            <a:off x="6629400" y="2011680"/>
            <a:ext cx="1408176" cy="310896"/>
          </a:xfrm>
          <a:prstGeom prst="rect">
            <a:avLst/>
          </a:prstGeom>
          <a:noFill/>
          <a:ln/>
        </p:spPr>
        <p:txBody>
          <a:bodyPr wrap="square" lIns="0" tIns="0" rIns="0" bIns="0" rtlCol="0" anchor="ctr"/>
          <a:lstStyle/>
          <a:p>
            <a:pPr algn="ctr" indent="0" marL="0">
              <a:buNone/>
            </a:pPr>
            <a:r>
              <a:rPr lang="en-US" sz="1200" dirty="0">
                <a:solidFill>
                  <a:srgbClr val="6E7681"/>
                </a:solidFill>
                <a:latin typeface="Calibri" pitchFamily="34" charset="0"/>
                <a:ea typeface="Calibri" pitchFamily="34" charset="-122"/>
                <a:cs typeface="Calibri" pitchFamily="34" charset="-120"/>
              </a:rPr>
              <a:t>-1.963</a:t>
            </a:r>
            <a:pPr algn="ctr" indent="0" marL="0">
              <a:buNone/>
            </a:pPr>
            <a:r>
              <a:rPr lang="en-US" sz="1200" dirty="0">
                <a:solidFill>
                  <a:srgbClr val="6E7681"/>
                </a:solidFill>
                <a:latin typeface="Calibri" pitchFamily="34" charset="0"/>
                <a:ea typeface="Calibri" pitchFamily="34" charset="-122"/>
                <a:cs typeface="Calibri" pitchFamily="34" charset="-120"/>
              </a:rPr>
              <a:t>  →  </a:t>
            </a:r>
            <a:pPr algn="ctr" indent="0" marL="0">
              <a:buNone/>
            </a:pPr>
            <a:r>
              <a:rPr lang="en-US" sz="1200" b="1" dirty="0">
                <a:solidFill>
                  <a:srgbClr val="1C6E8C"/>
                </a:solidFill>
                <a:latin typeface="Calibri" pitchFamily="34" charset="0"/>
                <a:ea typeface="Calibri" pitchFamily="34" charset="-122"/>
                <a:cs typeface="Calibri" pitchFamily="34" charset="-120"/>
              </a:rPr>
              <a:t>-274</a:t>
            </a:r>
            <a:endParaRPr lang="en-US" sz="1200" dirty="0"/>
          </a:p>
        </p:txBody>
      </p:sp>
      <p:sp>
        <p:nvSpPr>
          <p:cNvPr id="22" name="Text 20"/>
          <p:cNvSpPr/>
          <p:nvPr/>
        </p:nvSpPr>
        <p:spPr>
          <a:xfrm>
            <a:off x="6629400" y="2322576"/>
            <a:ext cx="1408176" cy="219456"/>
          </a:xfrm>
          <a:prstGeom prst="rect">
            <a:avLst/>
          </a:prstGeom>
          <a:noFill/>
          <a:ln/>
        </p:spPr>
        <p:txBody>
          <a:bodyPr wrap="square" lIns="0" tIns="0" rIns="0" bIns="0" rtlCol="0" anchor="ctr"/>
          <a:lstStyle/>
          <a:p>
            <a:pPr algn="ctr" indent="0" marL="0">
              <a:buNone/>
            </a:pPr>
            <a:r>
              <a:rPr lang="en-US" sz="900" dirty="0">
                <a:solidFill>
                  <a:srgbClr val="6E7681"/>
                </a:solidFill>
                <a:latin typeface="Calibri" pitchFamily="34" charset="0"/>
                <a:ea typeface="Calibri" pitchFamily="34" charset="-122"/>
                <a:cs typeface="Calibri" pitchFamily="34" charset="-120"/>
              </a:rPr>
              <a:t>251 Episoden</a:t>
            </a:r>
            <a:endParaRPr lang="en-US" sz="900" dirty="0"/>
          </a:p>
        </p:txBody>
      </p:sp>
      <p:sp>
        <p:nvSpPr>
          <p:cNvPr id="23" name="Shape 21"/>
          <p:cNvSpPr/>
          <p:nvPr/>
        </p:nvSpPr>
        <p:spPr>
          <a:xfrm>
            <a:off x="8092440" y="1920240"/>
            <a:ext cx="1408176" cy="658368"/>
          </a:xfrm>
          <a:prstGeom prst="rect">
            <a:avLst/>
          </a:prstGeom>
          <a:solidFill>
            <a:srgbClr val="E9F0F3"/>
          </a:solidFill>
          <a:ln w="19050">
            <a:solidFill>
              <a:srgbClr val="FFFFFF"/>
            </a:solidFill>
            <a:prstDash val="solid"/>
          </a:ln>
        </p:spPr>
      </p:sp>
      <p:sp>
        <p:nvSpPr>
          <p:cNvPr id="24" name="Text 22"/>
          <p:cNvSpPr/>
          <p:nvPr/>
        </p:nvSpPr>
        <p:spPr>
          <a:xfrm>
            <a:off x="8092440" y="2011680"/>
            <a:ext cx="1408176" cy="310896"/>
          </a:xfrm>
          <a:prstGeom prst="rect">
            <a:avLst/>
          </a:prstGeom>
          <a:noFill/>
          <a:ln/>
        </p:spPr>
        <p:txBody>
          <a:bodyPr wrap="square" lIns="0" tIns="0" rIns="0" bIns="0" rtlCol="0" anchor="ctr"/>
          <a:lstStyle/>
          <a:p>
            <a:pPr algn="ctr" indent="0" marL="0">
              <a:buNone/>
            </a:pPr>
            <a:r>
              <a:rPr lang="en-US" sz="1200" dirty="0">
                <a:solidFill>
                  <a:srgbClr val="6E7681"/>
                </a:solidFill>
                <a:latin typeface="Calibri" pitchFamily="34" charset="0"/>
                <a:ea typeface="Calibri" pitchFamily="34" charset="-122"/>
                <a:cs typeface="Calibri" pitchFamily="34" charset="-120"/>
              </a:rPr>
              <a:t>-2.153</a:t>
            </a:r>
            <a:pPr algn="ctr" indent="0" marL="0">
              <a:buNone/>
            </a:pPr>
            <a:r>
              <a:rPr lang="en-US" sz="1200" dirty="0">
                <a:solidFill>
                  <a:srgbClr val="6E7681"/>
                </a:solidFill>
                <a:latin typeface="Calibri" pitchFamily="34" charset="0"/>
                <a:ea typeface="Calibri" pitchFamily="34" charset="-122"/>
                <a:cs typeface="Calibri" pitchFamily="34" charset="-120"/>
              </a:rPr>
              <a:t>  →  </a:t>
            </a:r>
            <a:pPr algn="ctr" indent="0" marL="0">
              <a:buNone/>
            </a:pPr>
            <a:r>
              <a:rPr lang="en-US" sz="1200" b="1" dirty="0">
                <a:solidFill>
                  <a:srgbClr val="1C6E8C"/>
                </a:solidFill>
                <a:latin typeface="Calibri" pitchFamily="34" charset="0"/>
                <a:ea typeface="Calibri" pitchFamily="34" charset="-122"/>
                <a:cs typeface="Calibri" pitchFamily="34" charset="-120"/>
              </a:rPr>
              <a:t>-243</a:t>
            </a:r>
            <a:endParaRPr lang="en-US" sz="1200" dirty="0"/>
          </a:p>
        </p:txBody>
      </p:sp>
      <p:sp>
        <p:nvSpPr>
          <p:cNvPr id="25" name="Text 23"/>
          <p:cNvSpPr/>
          <p:nvPr/>
        </p:nvSpPr>
        <p:spPr>
          <a:xfrm>
            <a:off x="8092440" y="2322576"/>
            <a:ext cx="1408176" cy="219456"/>
          </a:xfrm>
          <a:prstGeom prst="rect">
            <a:avLst/>
          </a:prstGeom>
          <a:noFill/>
          <a:ln/>
        </p:spPr>
        <p:txBody>
          <a:bodyPr wrap="square" lIns="0" tIns="0" rIns="0" bIns="0" rtlCol="0" anchor="ctr"/>
          <a:lstStyle/>
          <a:p>
            <a:pPr algn="ctr" indent="0" marL="0">
              <a:buNone/>
            </a:pPr>
            <a:r>
              <a:rPr lang="en-US" sz="900" dirty="0">
                <a:solidFill>
                  <a:srgbClr val="6E7681"/>
                </a:solidFill>
                <a:latin typeface="Calibri" pitchFamily="34" charset="0"/>
                <a:ea typeface="Calibri" pitchFamily="34" charset="-122"/>
                <a:cs typeface="Calibri" pitchFamily="34" charset="-120"/>
              </a:rPr>
              <a:t>251 Episoden</a:t>
            </a:r>
            <a:endParaRPr lang="en-US" sz="900" dirty="0"/>
          </a:p>
        </p:txBody>
      </p:sp>
      <p:sp>
        <p:nvSpPr>
          <p:cNvPr id="26" name="Shape 24"/>
          <p:cNvSpPr/>
          <p:nvPr/>
        </p:nvSpPr>
        <p:spPr>
          <a:xfrm>
            <a:off x="9555480" y="1920240"/>
            <a:ext cx="1408176" cy="658368"/>
          </a:xfrm>
          <a:prstGeom prst="rect">
            <a:avLst/>
          </a:prstGeom>
          <a:solidFill>
            <a:srgbClr val="E9F0F3"/>
          </a:solidFill>
          <a:ln w="19050">
            <a:solidFill>
              <a:srgbClr val="FFFFFF"/>
            </a:solidFill>
            <a:prstDash val="solid"/>
          </a:ln>
        </p:spPr>
      </p:sp>
      <p:sp>
        <p:nvSpPr>
          <p:cNvPr id="27" name="Text 25"/>
          <p:cNvSpPr/>
          <p:nvPr/>
        </p:nvSpPr>
        <p:spPr>
          <a:xfrm>
            <a:off x="9555480" y="2011680"/>
            <a:ext cx="1408176" cy="310896"/>
          </a:xfrm>
          <a:prstGeom prst="rect">
            <a:avLst/>
          </a:prstGeom>
          <a:noFill/>
          <a:ln/>
        </p:spPr>
        <p:txBody>
          <a:bodyPr wrap="square" lIns="0" tIns="0" rIns="0" bIns="0" rtlCol="0" anchor="ctr"/>
          <a:lstStyle/>
          <a:p>
            <a:pPr algn="ctr" indent="0" marL="0">
              <a:buNone/>
            </a:pPr>
            <a:r>
              <a:rPr lang="en-US" sz="1200" dirty="0">
                <a:solidFill>
                  <a:srgbClr val="6E7681"/>
                </a:solidFill>
                <a:latin typeface="Calibri" pitchFamily="34" charset="0"/>
                <a:ea typeface="Calibri" pitchFamily="34" charset="-122"/>
                <a:cs typeface="Calibri" pitchFamily="34" charset="-120"/>
              </a:rPr>
              <a:t>-3.421</a:t>
            </a:r>
            <a:pPr algn="ctr" indent="0" marL="0">
              <a:buNone/>
            </a:pPr>
            <a:r>
              <a:rPr lang="en-US" sz="1200" dirty="0">
                <a:solidFill>
                  <a:srgbClr val="6E7681"/>
                </a:solidFill>
                <a:latin typeface="Calibri" pitchFamily="34" charset="0"/>
                <a:ea typeface="Calibri" pitchFamily="34" charset="-122"/>
                <a:cs typeface="Calibri" pitchFamily="34" charset="-120"/>
              </a:rPr>
              <a:t>  →  </a:t>
            </a:r>
            <a:pPr algn="ctr" indent="0" marL="0">
              <a:buNone/>
            </a:pPr>
            <a:r>
              <a:rPr lang="en-US" sz="1200" b="1" dirty="0">
                <a:solidFill>
                  <a:srgbClr val="1C6E8C"/>
                </a:solidFill>
                <a:latin typeface="Calibri" pitchFamily="34" charset="0"/>
                <a:ea typeface="Calibri" pitchFamily="34" charset="-122"/>
                <a:cs typeface="Calibri" pitchFamily="34" charset="-120"/>
              </a:rPr>
              <a:t>-271</a:t>
            </a:r>
            <a:endParaRPr lang="en-US" sz="1200" dirty="0"/>
          </a:p>
        </p:txBody>
      </p:sp>
      <p:sp>
        <p:nvSpPr>
          <p:cNvPr id="28" name="Text 26"/>
          <p:cNvSpPr/>
          <p:nvPr/>
        </p:nvSpPr>
        <p:spPr>
          <a:xfrm>
            <a:off x="9555480" y="2322576"/>
            <a:ext cx="1408176" cy="219456"/>
          </a:xfrm>
          <a:prstGeom prst="rect">
            <a:avLst/>
          </a:prstGeom>
          <a:noFill/>
          <a:ln/>
        </p:spPr>
        <p:txBody>
          <a:bodyPr wrap="square" lIns="0" tIns="0" rIns="0" bIns="0" rtlCol="0" anchor="ctr"/>
          <a:lstStyle/>
          <a:p>
            <a:pPr algn="ctr" indent="0" marL="0">
              <a:buNone/>
            </a:pPr>
            <a:r>
              <a:rPr lang="en-US" sz="900" dirty="0">
                <a:solidFill>
                  <a:srgbClr val="6E7681"/>
                </a:solidFill>
                <a:latin typeface="Calibri" pitchFamily="34" charset="0"/>
                <a:ea typeface="Calibri" pitchFamily="34" charset="-122"/>
                <a:cs typeface="Calibri" pitchFamily="34" charset="-120"/>
              </a:rPr>
              <a:t>251 Episoden</a:t>
            </a:r>
            <a:endParaRPr lang="en-US" sz="900" dirty="0"/>
          </a:p>
        </p:txBody>
      </p:sp>
      <p:sp>
        <p:nvSpPr>
          <p:cNvPr id="29" name="Text 27"/>
          <p:cNvSpPr/>
          <p:nvPr/>
        </p:nvSpPr>
        <p:spPr>
          <a:xfrm>
            <a:off x="640080" y="2633472"/>
            <a:ext cx="1508760" cy="713232"/>
          </a:xfrm>
          <a:prstGeom prst="rect">
            <a:avLst/>
          </a:prstGeom>
          <a:noFill/>
          <a:ln/>
        </p:spPr>
        <p:txBody>
          <a:bodyPr wrap="square" lIns="0" tIns="0" rIns="0" bIns="0" rtlCol="0" anchor="ctr"/>
          <a:lstStyle/>
          <a:p>
            <a:pPr algn="r" indent="0" marL="0">
              <a:buNone/>
            </a:pPr>
            <a:r>
              <a:rPr lang="en-US" sz="1300" b="1" dirty="0">
                <a:solidFill>
                  <a:srgbClr val="23282F"/>
                </a:solidFill>
                <a:latin typeface="Calibri" pitchFamily="34" charset="0"/>
                <a:ea typeface="Calibri" pitchFamily="34" charset="-122"/>
                <a:cs typeface="Calibri" pitchFamily="34" charset="-120"/>
              </a:rPr>
              <a:t>Hub &amp; Spoke</a:t>
            </a:r>
            <a:endParaRPr lang="en-US" sz="1300" dirty="0"/>
          </a:p>
        </p:txBody>
      </p:sp>
      <p:sp>
        <p:nvSpPr>
          <p:cNvPr id="30" name="Shape 28"/>
          <p:cNvSpPr/>
          <p:nvPr/>
        </p:nvSpPr>
        <p:spPr>
          <a:xfrm>
            <a:off x="2240280" y="2633472"/>
            <a:ext cx="1408176" cy="658368"/>
          </a:xfrm>
          <a:prstGeom prst="rect">
            <a:avLst/>
          </a:prstGeom>
          <a:solidFill>
            <a:srgbClr val="E9F0F3"/>
          </a:solidFill>
          <a:ln w="19050">
            <a:solidFill>
              <a:srgbClr val="FFFFFF"/>
            </a:solidFill>
            <a:prstDash val="solid"/>
          </a:ln>
        </p:spPr>
      </p:sp>
      <p:sp>
        <p:nvSpPr>
          <p:cNvPr id="31" name="Text 29"/>
          <p:cNvSpPr/>
          <p:nvPr/>
        </p:nvSpPr>
        <p:spPr>
          <a:xfrm>
            <a:off x="2240280" y="2724912"/>
            <a:ext cx="1408176" cy="310896"/>
          </a:xfrm>
          <a:prstGeom prst="rect">
            <a:avLst/>
          </a:prstGeom>
          <a:noFill/>
          <a:ln/>
        </p:spPr>
        <p:txBody>
          <a:bodyPr wrap="square" lIns="0" tIns="0" rIns="0" bIns="0" rtlCol="0" anchor="ctr"/>
          <a:lstStyle/>
          <a:p>
            <a:pPr algn="ctr" indent="0" marL="0">
              <a:buNone/>
            </a:pPr>
            <a:r>
              <a:rPr lang="en-US" sz="1200" dirty="0">
                <a:solidFill>
                  <a:srgbClr val="6E7681"/>
                </a:solidFill>
                <a:latin typeface="Calibri" pitchFamily="34" charset="0"/>
                <a:ea typeface="Calibri" pitchFamily="34" charset="-122"/>
                <a:cs typeface="Calibri" pitchFamily="34" charset="-120"/>
              </a:rPr>
              <a:t>-1.849</a:t>
            </a:r>
            <a:pPr algn="ctr" indent="0" marL="0">
              <a:buNone/>
            </a:pPr>
            <a:r>
              <a:rPr lang="en-US" sz="1200" dirty="0">
                <a:solidFill>
                  <a:srgbClr val="6E7681"/>
                </a:solidFill>
                <a:latin typeface="Calibri" pitchFamily="34" charset="0"/>
                <a:ea typeface="Calibri" pitchFamily="34" charset="-122"/>
                <a:cs typeface="Calibri" pitchFamily="34" charset="-120"/>
              </a:rPr>
              <a:t>  →  </a:t>
            </a:r>
            <a:pPr algn="ctr" indent="0" marL="0">
              <a:buNone/>
            </a:pPr>
            <a:r>
              <a:rPr lang="en-US" sz="1200" b="1" dirty="0">
                <a:solidFill>
                  <a:srgbClr val="1C6E8C"/>
                </a:solidFill>
                <a:latin typeface="Calibri" pitchFamily="34" charset="0"/>
                <a:ea typeface="Calibri" pitchFamily="34" charset="-122"/>
                <a:cs typeface="Calibri" pitchFamily="34" charset="-120"/>
              </a:rPr>
              <a:t>-109</a:t>
            </a:r>
            <a:endParaRPr lang="en-US" sz="1200" dirty="0"/>
          </a:p>
        </p:txBody>
      </p:sp>
      <p:sp>
        <p:nvSpPr>
          <p:cNvPr id="32" name="Text 30"/>
          <p:cNvSpPr/>
          <p:nvPr/>
        </p:nvSpPr>
        <p:spPr>
          <a:xfrm>
            <a:off x="2240280" y="3035808"/>
            <a:ext cx="1408176" cy="219456"/>
          </a:xfrm>
          <a:prstGeom prst="rect">
            <a:avLst/>
          </a:prstGeom>
          <a:noFill/>
          <a:ln/>
        </p:spPr>
        <p:txBody>
          <a:bodyPr wrap="square" lIns="0" tIns="0" rIns="0" bIns="0" rtlCol="0" anchor="ctr"/>
          <a:lstStyle/>
          <a:p>
            <a:pPr algn="ctr" indent="0" marL="0">
              <a:buNone/>
            </a:pPr>
            <a:r>
              <a:rPr lang="en-US" sz="900" dirty="0">
                <a:solidFill>
                  <a:srgbClr val="6E7681"/>
                </a:solidFill>
                <a:latin typeface="Calibri" pitchFamily="34" charset="0"/>
                <a:ea typeface="Calibri" pitchFamily="34" charset="-122"/>
                <a:cs typeface="Calibri" pitchFamily="34" charset="-120"/>
              </a:rPr>
              <a:t>251 Episoden</a:t>
            </a:r>
            <a:endParaRPr lang="en-US" sz="900" dirty="0"/>
          </a:p>
        </p:txBody>
      </p:sp>
      <p:sp>
        <p:nvSpPr>
          <p:cNvPr id="33" name="Shape 31"/>
          <p:cNvSpPr/>
          <p:nvPr/>
        </p:nvSpPr>
        <p:spPr>
          <a:xfrm>
            <a:off x="3703320" y="2633472"/>
            <a:ext cx="1408176" cy="658368"/>
          </a:xfrm>
          <a:prstGeom prst="rect">
            <a:avLst/>
          </a:prstGeom>
          <a:solidFill>
            <a:srgbClr val="E9F0F3"/>
          </a:solidFill>
          <a:ln w="19050">
            <a:solidFill>
              <a:srgbClr val="FFFFFF"/>
            </a:solidFill>
            <a:prstDash val="solid"/>
          </a:ln>
        </p:spPr>
      </p:sp>
      <p:sp>
        <p:nvSpPr>
          <p:cNvPr id="34" name="Text 32"/>
          <p:cNvSpPr/>
          <p:nvPr/>
        </p:nvSpPr>
        <p:spPr>
          <a:xfrm>
            <a:off x="3703320" y="2724912"/>
            <a:ext cx="1408176" cy="310896"/>
          </a:xfrm>
          <a:prstGeom prst="rect">
            <a:avLst/>
          </a:prstGeom>
          <a:noFill/>
          <a:ln/>
        </p:spPr>
        <p:txBody>
          <a:bodyPr wrap="square" lIns="0" tIns="0" rIns="0" bIns="0" rtlCol="0" anchor="ctr"/>
          <a:lstStyle/>
          <a:p>
            <a:pPr algn="ctr" indent="0" marL="0">
              <a:buNone/>
            </a:pPr>
            <a:r>
              <a:rPr lang="en-US" sz="1200" dirty="0">
                <a:solidFill>
                  <a:srgbClr val="6E7681"/>
                </a:solidFill>
                <a:latin typeface="Calibri" pitchFamily="34" charset="0"/>
                <a:ea typeface="Calibri" pitchFamily="34" charset="-122"/>
                <a:cs typeface="Calibri" pitchFamily="34" charset="-120"/>
              </a:rPr>
              <a:t>-2.180</a:t>
            </a:r>
            <a:pPr algn="ctr" indent="0" marL="0">
              <a:buNone/>
            </a:pPr>
            <a:r>
              <a:rPr lang="en-US" sz="1200" dirty="0">
                <a:solidFill>
                  <a:srgbClr val="6E7681"/>
                </a:solidFill>
                <a:latin typeface="Calibri" pitchFamily="34" charset="0"/>
                <a:ea typeface="Calibri" pitchFamily="34" charset="-122"/>
                <a:cs typeface="Calibri" pitchFamily="34" charset="-120"/>
              </a:rPr>
              <a:t>  →  </a:t>
            </a:r>
            <a:pPr algn="ctr" indent="0" marL="0">
              <a:buNone/>
            </a:pPr>
            <a:r>
              <a:rPr lang="en-US" sz="1200" b="1" dirty="0">
                <a:solidFill>
                  <a:srgbClr val="1C6E8C"/>
                </a:solidFill>
                <a:latin typeface="Calibri" pitchFamily="34" charset="0"/>
                <a:ea typeface="Calibri" pitchFamily="34" charset="-122"/>
                <a:cs typeface="Calibri" pitchFamily="34" charset="-120"/>
              </a:rPr>
              <a:t>-77</a:t>
            </a:r>
            <a:endParaRPr lang="en-US" sz="1200" dirty="0"/>
          </a:p>
        </p:txBody>
      </p:sp>
      <p:sp>
        <p:nvSpPr>
          <p:cNvPr id="35" name="Text 33"/>
          <p:cNvSpPr/>
          <p:nvPr/>
        </p:nvSpPr>
        <p:spPr>
          <a:xfrm>
            <a:off x="3703320" y="3035808"/>
            <a:ext cx="1408176" cy="219456"/>
          </a:xfrm>
          <a:prstGeom prst="rect">
            <a:avLst/>
          </a:prstGeom>
          <a:noFill/>
          <a:ln/>
        </p:spPr>
        <p:txBody>
          <a:bodyPr wrap="square" lIns="0" tIns="0" rIns="0" bIns="0" rtlCol="0" anchor="ctr"/>
          <a:lstStyle/>
          <a:p>
            <a:pPr algn="ctr" indent="0" marL="0">
              <a:buNone/>
            </a:pPr>
            <a:r>
              <a:rPr lang="en-US" sz="900" dirty="0">
                <a:solidFill>
                  <a:srgbClr val="6E7681"/>
                </a:solidFill>
                <a:latin typeface="Calibri" pitchFamily="34" charset="0"/>
                <a:ea typeface="Calibri" pitchFamily="34" charset="-122"/>
                <a:cs typeface="Calibri" pitchFamily="34" charset="-120"/>
              </a:rPr>
              <a:t>251 Episoden</a:t>
            </a:r>
            <a:endParaRPr lang="en-US" sz="900" dirty="0"/>
          </a:p>
        </p:txBody>
      </p:sp>
      <p:sp>
        <p:nvSpPr>
          <p:cNvPr id="36" name="Shape 34"/>
          <p:cNvSpPr/>
          <p:nvPr/>
        </p:nvSpPr>
        <p:spPr>
          <a:xfrm>
            <a:off x="5166360" y="2633472"/>
            <a:ext cx="1408176" cy="658368"/>
          </a:xfrm>
          <a:prstGeom prst="rect">
            <a:avLst/>
          </a:prstGeom>
          <a:solidFill>
            <a:srgbClr val="E9F0F3"/>
          </a:solidFill>
          <a:ln w="19050">
            <a:solidFill>
              <a:srgbClr val="FFFFFF"/>
            </a:solidFill>
            <a:prstDash val="solid"/>
          </a:ln>
        </p:spPr>
      </p:sp>
      <p:sp>
        <p:nvSpPr>
          <p:cNvPr id="37" name="Text 35"/>
          <p:cNvSpPr/>
          <p:nvPr/>
        </p:nvSpPr>
        <p:spPr>
          <a:xfrm>
            <a:off x="5166360" y="2724912"/>
            <a:ext cx="1408176" cy="310896"/>
          </a:xfrm>
          <a:prstGeom prst="rect">
            <a:avLst/>
          </a:prstGeom>
          <a:noFill/>
          <a:ln/>
        </p:spPr>
        <p:txBody>
          <a:bodyPr wrap="square" lIns="0" tIns="0" rIns="0" bIns="0" rtlCol="0" anchor="ctr"/>
          <a:lstStyle/>
          <a:p>
            <a:pPr algn="ctr" indent="0" marL="0">
              <a:buNone/>
            </a:pPr>
            <a:r>
              <a:rPr lang="en-US" sz="1200" dirty="0">
                <a:solidFill>
                  <a:srgbClr val="6E7681"/>
                </a:solidFill>
                <a:latin typeface="Calibri" pitchFamily="34" charset="0"/>
                <a:ea typeface="Calibri" pitchFamily="34" charset="-122"/>
                <a:cs typeface="Calibri" pitchFamily="34" charset="-120"/>
              </a:rPr>
              <a:t>-9.352</a:t>
            </a:r>
            <a:pPr algn="ctr" indent="0" marL="0">
              <a:buNone/>
            </a:pPr>
            <a:r>
              <a:rPr lang="en-US" sz="1200" dirty="0">
                <a:solidFill>
                  <a:srgbClr val="6E7681"/>
                </a:solidFill>
                <a:latin typeface="Calibri" pitchFamily="34" charset="0"/>
                <a:ea typeface="Calibri" pitchFamily="34" charset="-122"/>
                <a:cs typeface="Calibri" pitchFamily="34" charset="-120"/>
              </a:rPr>
              <a:t>  →  </a:t>
            </a:r>
            <a:pPr algn="ctr" indent="0" marL="0">
              <a:buNone/>
            </a:pPr>
            <a:r>
              <a:rPr lang="en-US" sz="1200" b="1" dirty="0">
                <a:solidFill>
                  <a:srgbClr val="1C6E8C"/>
                </a:solidFill>
                <a:latin typeface="Calibri" pitchFamily="34" charset="0"/>
                <a:ea typeface="Calibri" pitchFamily="34" charset="-122"/>
                <a:cs typeface="Calibri" pitchFamily="34" charset="-120"/>
              </a:rPr>
              <a:t>-102</a:t>
            </a:r>
            <a:endParaRPr lang="en-US" sz="1200" dirty="0"/>
          </a:p>
        </p:txBody>
      </p:sp>
      <p:sp>
        <p:nvSpPr>
          <p:cNvPr id="38" name="Text 36"/>
          <p:cNvSpPr/>
          <p:nvPr/>
        </p:nvSpPr>
        <p:spPr>
          <a:xfrm>
            <a:off x="5166360" y="3035808"/>
            <a:ext cx="1408176" cy="219456"/>
          </a:xfrm>
          <a:prstGeom prst="rect">
            <a:avLst/>
          </a:prstGeom>
          <a:noFill/>
          <a:ln/>
        </p:spPr>
        <p:txBody>
          <a:bodyPr wrap="square" lIns="0" tIns="0" rIns="0" bIns="0" rtlCol="0" anchor="ctr"/>
          <a:lstStyle/>
          <a:p>
            <a:pPr algn="ctr" indent="0" marL="0">
              <a:buNone/>
            </a:pPr>
            <a:r>
              <a:rPr lang="en-US" sz="900" dirty="0">
                <a:solidFill>
                  <a:srgbClr val="6E7681"/>
                </a:solidFill>
                <a:latin typeface="Calibri" pitchFamily="34" charset="0"/>
                <a:ea typeface="Calibri" pitchFamily="34" charset="-122"/>
                <a:cs typeface="Calibri" pitchFamily="34" charset="-120"/>
              </a:rPr>
              <a:t>259 Episoden</a:t>
            </a:r>
            <a:endParaRPr lang="en-US" sz="900" dirty="0"/>
          </a:p>
        </p:txBody>
      </p:sp>
      <p:sp>
        <p:nvSpPr>
          <p:cNvPr id="39" name="Shape 37"/>
          <p:cNvSpPr/>
          <p:nvPr/>
        </p:nvSpPr>
        <p:spPr>
          <a:xfrm>
            <a:off x="6629400" y="2633472"/>
            <a:ext cx="1408176" cy="658368"/>
          </a:xfrm>
          <a:prstGeom prst="rect">
            <a:avLst/>
          </a:prstGeom>
          <a:solidFill>
            <a:srgbClr val="E9F0F3"/>
          </a:solidFill>
          <a:ln w="19050">
            <a:solidFill>
              <a:srgbClr val="FFFFFF"/>
            </a:solidFill>
            <a:prstDash val="solid"/>
          </a:ln>
        </p:spPr>
      </p:sp>
      <p:sp>
        <p:nvSpPr>
          <p:cNvPr id="40" name="Text 38"/>
          <p:cNvSpPr/>
          <p:nvPr/>
        </p:nvSpPr>
        <p:spPr>
          <a:xfrm>
            <a:off x="6629400" y="2724912"/>
            <a:ext cx="1408176" cy="310896"/>
          </a:xfrm>
          <a:prstGeom prst="rect">
            <a:avLst/>
          </a:prstGeom>
          <a:noFill/>
          <a:ln/>
        </p:spPr>
        <p:txBody>
          <a:bodyPr wrap="square" lIns="0" tIns="0" rIns="0" bIns="0" rtlCol="0" anchor="ctr"/>
          <a:lstStyle/>
          <a:p>
            <a:pPr algn="ctr" indent="0" marL="0">
              <a:buNone/>
            </a:pPr>
            <a:r>
              <a:rPr lang="en-US" sz="1200" dirty="0">
                <a:solidFill>
                  <a:srgbClr val="6E7681"/>
                </a:solidFill>
                <a:latin typeface="Calibri" pitchFamily="34" charset="0"/>
                <a:ea typeface="Calibri" pitchFamily="34" charset="-122"/>
                <a:cs typeface="Calibri" pitchFamily="34" charset="-120"/>
              </a:rPr>
              <a:t>-1.398</a:t>
            </a:r>
            <a:pPr algn="ctr" indent="0" marL="0">
              <a:buNone/>
            </a:pPr>
            <a:r>
              <a:rPr lang="en-US" sz="1200" dirty="0">
                <a:solidFill>
                  <a:srgbClr val="6E7681"/>
                </a:solidFill>
                <a:latin typeface="Calibri" pitchFamily="34" charset="0"/>
                <a:ea typeface="Calibri" pitchFamily="34" charset="-122"/>
                <a:cs typeface="Calibri" pitchFamily="34" charset="-120"/>
              </a:rPr>
              <a:t>  →  </a:t>
            </a:r>
            <a:pPr algn="ctr" indent="0" marL="0">
              <a:buNone/>
            </a:pPr>
            <a:r>
              <a:rPr lang="en-US" sz="1200" b="1" dirty="0">
                <a:solidFill>
                  <a:srgbClr val="1C6E8C"/>
                </a:solidFill>
                <a:latin typeface="Calibri" pitchFamily="34" charset="0"/>
                <a:ea typeface="Calibri" pitchFamily="34" charset="-122"/>
                <a:cs typeface="Calibri" pitchFamily="34" charset="-120"/>
              </a:rPr>
              <a:t>-77</a:t>
            </a:r>
            <a:endParaRPr lang="en-US" sz="1200" dirty="0"/>
          </a:p>
        </p:txBody>
      </p:sp>
      <p:sp>
        <p:nvSpPr>
          <p:cNvPr id="41" name="Text 39"/>
          <p:cNvSpPr/>
          <p:nvPr/>
        </p:nvSpPr>
        <p:spPr>
          <a:xfrm>
            <a:off x="6629400" y="3035808"/>
            <a:ext cx="1408176" cy="219456"/>
          </a:xfrm>
          <a:prstGeom prst="rect">
            <a:avLst/>
          </a:prstGeom>
          <a:noFill/>
          <a:ln/>
        </p:spPr>
        <p:txBody>
          <a:bodyPr wrap="square" lIns="0" tIns="0" rIns="0" bIns="0" rtlCol="0" anchor="ctr"/>
          <a:lstStyle/>
          <a:p>
            <a:pPr algn="ctr" indent="0" marL="0">
              <a:buNone/>
            </a:pPr>
            <a:r>
              <a:rPr lang="en-US" sz="900" dirty="0">
                <a:solidFill>
                  <a:srgbClr val="6E7681"/>
                </a:solidFill>
                <a:latin typeface="Calibri" pitchFamily="34" charset="0"/>
                <a:ea typeface="Calibri" pitchFamily="34" charset="-122"/>
                <a:cs typeface="Calibri" pitchFamily="34" charset="-120"/>
              </a:rPr>
              <a:t>251 Episoden</a:t>
            </a:r>
            <a:endParaRPr lang="en-US" sz="900" dirty="0"/>
          </a:p>
        </p:txBody>
      </p:sp>
      <p:sp>
        <p:nvSpPr>
          <p:cNvPr id="42" name="Shape 40"/>
          <p:cNvSpPr/>
          <p:nvPr/>
        </p:nvSpPr>
        <p:spPr>
          <a:xfrm>
            <a:off x="8092440" y="2633472"/>
            <a:ext cx="1408176" cy="658368"/>
          </a:xfrm>
          <a:prstGeom prst="rect">
            <a:avLst/>
          </a:prstGeom>
          <a:solidFill>
            <a:srgbClr val="E9F0F3"/>
          </a:solidFill>
          <a:ln w="19050">
            <a:solidFill>
              <a:srgbClr val="FFFFFF"/>
            </a:solidFill>
            <a:prstDash val="solid"/>
          </a:ln>
        </p:spPr>
      </p:sp>
      <p:sp>
        <p:nvSpPr>
          <p:cNvPr id="43" name="Text 41"/>
          <p:cNvSpPr/>
          <p:nvPr/>
        </p:nvSpPr>
        <p:spPr>
          <a:xfrm>
            <a:off x="8092440" y="2724912"/>
            <a:ext cx="1408176" cy="310896"/>
          </a:xfrm>
          <a:prstGeom prst="rect">
            <a:avLst/>
          </a:prstGeom>
          <a:noFill/>
          <a:ln/>
        </p:spPr>
        <p:txBody>
          <a:bodyPr wrap="square" lIns="0" tIns="0" rIns="0" bIns="0" rtlCol="0" anchor="ctr"/>
          <a:lstStyle/>
          <a:p>
            <a:pPr algn="ctr" indent="0" marL="0">
              <a:buNone/>
            </a:pPr>
            <a:r>
              <a:rPr lang="en-US" sz="1200" dirty="0">
                <a:solidFill>
                  <a:srgbClr val="6E7681"/>
                </a:solidFill>
                <a:latin typeface="Calibri" pitchFamily="34" charset="0"/>
                <a:ea typeface="Calibri" pitchFamily="34" charset="-122"/>
                <a:cs typeface="Calibri" pitchFamily="34" charset="-120"/>
              </a:rPr>
              <a:t>-2.112</a:t>
            </a:r>
            <a:pPr algn="ctr" indent="0" marL="0">
              <a:buNone/>
            </a:pPr>
            <a:r>
              <a:rPr lang="en-US" sz="1200" dirty="0">
                <a:solidFill>
                  <a:srgbClr val="6E7681"/>
                </a:solidFill>
                <a:latin typeface="Calibri" pitchFamily="34" charset="0"/>
                <a:ea typeface="Calibri" pitchFamily="34" charset="-122"/>
                <a:cs typeface="Calibri" pitchFamily="34" charset="-120"/>
              </a:rPr>
              <a:t>  →  </a:t>
            </a:r>
            <a:pPr algn="ctr" indent="0" marL="0">
              <a:buNone/>
            </a:pPr>
            <a:r>
              <a:rPr lang="en-US" sz="1200" b="1" dirty="0">
                <a:solidFill>
                  <a:srgbClr val="1C6E8C"/>
                </a:solidFill>
                <a:latin typeface="Calibri" pitchFamily="34" charset="0"/>
                <a:ea typeface="Calibri" pitchFamily="34" charset="-122"/>
                <a:cs typeface="Calibri" pitchFamily="34" charset="-120"/>
              </a:rPr>
              <a:t>-1.015</a:t>
            </a:r>
            <a:endParaRPr lang="en-US" sz="1200" dirty="0"/>
          </a:p>
        </p:txBody>
      </p:sp>
      <p:sp>
        <p:nvSpPr>
          <p:cNvPr id="44" name="Text 42"/>
          <p:cNvSpPr/>
          <p:nvPr/>
        </p:nvSpPr>
        <p:spPr>
          <a:xfrm>
            <a:off x="8092440" y="3035808"/>
            <a:ext cx="1408176" cy="219456"/>
          </a:xfrm>
          <a:prstGeom prst="rect">
            <a:avLst/>
          </a:prstGeom>
          <a:noFill/>
          <a:ln/>
        </p:spPr>
        <p:txBody>
          <a:bodyPr wrap="square" lIns="0" tIns="0" rIns="0" bIns="0" rtlCol="0" anchor="ctr"/>
          <a:lstStyle/>
          <a:p>
            <a:pPr algn="ctr" indent="0" marL="0">
              <a:buNone/>
            </a:pPr>
            <a:r>
              <a:rPr lang="en-US" sz="900" dirty="0">
                <a:solidFill>
                  <a:srgbClr val="6E7681"/>
                </a:solidFill>
                <a:latin typeface="Calibri" pitchFamily="34" charset="0"/>
                <a:ea typeface="Calibri" pitchFamily="34" charset="-122"/>
                <a:cs typeface="Calibri" pitchFamily="34" charset="-120"/>
              </a:rPr>
              <a:t>251 Episoden</a:t>
            </a:r>
            <a:endParaRPr lang="en-US" sz="900" dirty="0"/>
          </a:p>
        </p:txBody>
      </p:sp>
      <p:sp>
        <p:nvSpPr>
          <p:cNvPr id="45" name="Shape 43"/>
          <p:cNvSpPr/>
          <p:nvPr/>
        </p:nvSpPr>
        <p:spPr>
          <a:xfrm>
            <a:off x="9555480" y="2633472"/>
            <a:ext cx="1408176" cy="658368"/>
          </a:xfrm>
          <a:prstGeom prst="rect">
            <a:avLst/>
          </a:prstGeom>
          <a:solidFill>
            <a:srgbClr val="E9F0F3"/>
          </a:solidFill>
          <a:ln w="19050">
            <a:solidFill>
              <a:srgbClr val="FFFFFF"/>
            </a:solidFill>
            <a:prstDash val="solid"/>
          </a:ln>
        </p:spPr>
      </p:sp>
      <p:sp>
        <p:nvSpPr>
          <p:cNvPr id="46" name="Text 44"/>
          <p:cNvSpPr/>
          <p:nvPr/>
        </p:nvSpPr>
        <p:spPr>
          <a:xfrm>
            <a:off x="9555480" y="2724912"/>
            <a:ext cx="1408176" cy="310896"/>
          </a:xfrm>
          <a:prstGeom prst="rect">
            <a:avLst/>
          </a:prstGeom>
          <a:noFill/>
          <a:ln/>
        </p:spPr>
        <p:txBody>
          <a:bodyPr wrap="square" lIns="0" tIns="0" rIns="0" bIns="0" rtlCol="0" anchor="ctr"/>
          <a:lstStyle/>
          <a:p>
            <a:pPr algn="ctr" indent="0" marL="0">
              <a:buNone/>
            </a:pPr>
            <a:r>
              <a:rPr lang="en-US" sz="1200" dirty="0">
                <a:solidFill>
                  <a:srgbClr val="6E7681"/>
                </a:solidFill>
                <a:latin typeface="Calibri" pitchFamily="34" charset="0"/>
                <a:ea typeface="Calibri" pitchFamily="34" charset="-122"/>
                <a:cs typeface="Calibri" pitchFamily="34" charset="-120"/>
              </a:rPr>
              <a:t>-2.561</a:t>
            </a:r>
            <a:pPr algn="ctr" indent="0" marL="0">
              <a:buNone/>
            </a:pPr>
            <a:r>
              <a:rPr lang="en-US" sz="1200" dirty="0">
                <a:solidFill>
                  <a:srgbClr val="6E7681"/>
                </a:solidFill>
                <a:latin typeface="Calibri" pitchFamily="34" charset="0"/>
                <a:ea typeface="Calibri" pitchFamily="34" charset="-122"/>
                <a:cs typeface="Calibri" pitchFamily="34" charset="-120"/>
              </a:rPr>
              <a:t>  →  </a:t>
            </a:r>
            <a:pPr algn="ctr" indent="0" marL="0">
              <a:buNone/>
            </a:pPr>
            <a:r>
              <a:rPr lang="en-US" sz="1200" b="1" dirty="0">
                <a:solidFill>
                  <a:srgbClr val="1C6E8C"/>
                </a:solidFill>
                <a:latin typeface="Calibri" pitchFamily="34" charset="0"/>
                <a:ea typeface="Calibri" pitchFamily="34" charset="-122"/>
                <a:cs typeface="Calibri" pitchFamily="34" charset="-120"/>
              </a:rPr>
              <a:t>-147</a:t>
            </a:r>
            <a:endParaRPr lang="en-US" sz="1200" dirty="0"/>
          </a:p>
        </p:txBody>
      </p:sp>
      <p:sp>
        <p:nvSpPr>
          <p:cNvPr id="47" name="Text 45"/>
          <p:cNvSpPr/>
          <p:nvPr/>
        </p:nvSpPr>
        <p:spPr>
          <a:xfrm>
            <a:off x="9555480" y="3035808"/>
            <a:ext cx="1408176" cy="219456"/>
          </a:xfrm>
          <a:prstGeom prst="rect">
            <a:avLst/>
          </a:prstGeom>
          <a:noFill/>
          <a:ln/>
        </p:spPr>
        <p:txBody>
          <a:bodyPr wrap="square" lIns="0" tIns="0" rIns="0" bIns="0" rtlCol="0" anchor="ctr"/>
          <a:lstStyle/>
          <a:p>
            <a:pPr algn="ctr" indent="0" marL="0">
              <a:buNone/>
            </a:pPr>
            <a:r>
              <a:rPr lang="en-US" sz="900" dirty="0">
                <a:solidFill>
                  <a:srgbClr val="6E7681"/>
                </a:solidFill>
                <a:latin typeface="Calibri" pitchFamily="34" charset="0"/>
                <a:ea typeface="Calibri" pitchFamily="34" charset="-122"/>
                <a:cs typeface="Calibri" pitchFamily="34" charset="-120"/>
              </a:rPr>
              <a:t>251 Episoden</a:t>
            </a:r>
            <a:endParaRPr lang="en-US" sz="900" dirty="0"/>
          </a:p>
        </p:txBody>
      </p:sp>
      <p:sp>
        <p:nvSpPr>
          <p:cNvPr id="48" name="Text 46"/>
          <p:cNvSpPr/>
          <p:nvPr/>
        </p:nvSpPr>
        <p:spPr>
          <a:xfrm>
            <a:off x="640080" y="3346704"/>
            <a:ext cx="1508760" cy="713232"/>
          </a:xfrm>
          <a:prstGeom prst="rect">
            <a:avLst/>
          </a:prstGeom>
          <a:noFill/>
          <a:ln/>
        </p:spPr>
        <p:txBody>
          <a:bodyPr wrap="square" lIns="0" tIns="0" rIns="0" bIns="0" rtlCol="0" anchor="ctr"/>
          <a:lstStyle/>
          <a:p>
            <a:pPr algn="r" indent="0" marL="0">
              <a:buNone/>
            </a:pPr>
            <a:r>
              <a:rPr lang="en-US" sz="1300" b="1" dirty="0">
                <a:solidFill>
                  <a:srgbClr val="23282F"/>
                </a:solidFill>
                <a:latin typeface="Calibri" pitchFamily="34" charset="0"/>
                <a:ea typeface="Calibri" pitchFamily="34" charset="-122"/>
                <a:cs typeface="Calibri" pitchFamily="34" charset="-120"/>
              </a:rPr>
              <a:t>DMZ</a:t>
            </a:r>
            <a:endParaRPr lang="en-US" sz="1300" dirty="0"/>
          </a:p>
        </p:txBody>
      </p:sp>
      <p:sp>
        <p:nvSpPr>
          <p:cNvPr id="49" name="Shape 47"/>
          <p:cNvSpPr/>
          <p:nvPr/>
        </p:nvSpPr>
        <p:spPr>
          <a:xfrm>
            <a:off x="2240280" y="3346704"/>
            <a:ext cx="1408176" cy="658368"/>
          </a:xfrm>
          <a:prstGeom prst="rect">
            <a:avLst/>
          </a:prstGeom>
          <a:solidFill>
            <a:srgbClr val="E9F0F3"/>
          </a:solidFill>
          <a:ln w="19050">
            <a:solidFill>
              <a:srgbClr val="FFFFFF"/>
            </a:solidFill>
            <a:prstDash val="solid"/>
          </a:ln>
        </p:spPr>
      </p:sp>
      <p:sp>
        <p:nvSpPr>
          <p:cNvPr id="50" name="Text 48"/>
          <p:cNvSpPr/>
          <p:nvPr/>
        </p:nvSpPr>
        <p:spPr>
          <a:xfrm>
            <a:off x="2240280" y="3438144"/>
            <a:ext cx="1408176" cy="310896"/>
          </a:xfrm>
          <a:prstGeom prst="rect">
            <a:avLst/>
          </a:prstGeom>
          <a:noFill/>
          <a:ln/>
        </p:spPr>
        <p:txBody>
          <a:bodyPr wrap="square" lIns="0" tIns="0" rIns="0" bIns="0" rtlCol="0" anchor="ctr"/>
          <a:lstStyle/>
          <a:p>
            <a:pPr algn="ctr" indent="0" marL="0">
              <a:buNone/>
            </a:pPr>
            <a:r>
              <a:rPr lang="en-US" sz="1200" dirty="0">
                <a:solidFill>
                  <a:srgbClr val="6E7681"/>
                </a:solidFill>
                <a:latin typeface="Calibri" pitchFamily="34" charset="0"/>
                <a:ea typeface="Calibri" pitchFamily="34" charset="-122"/>
                <a:cs typeface="Calibri" pitchFamily="34" charset="-120"/>
              </a:rPr>
              <a:t>-1.989</a:t>
            </a:r>
            <a:pPr algn="ctr" indent="0" marL="0">
              <a:buNone/>
            </a:pPr>
            <a:r>
              <a:rPr lang="en-US" sz="1200" dirty="0">
                <a:solidFill>
                  <a:srgbClr val="6E7681"/>
                </a:solidFill>
                <a:latin typeface="Calibri" pitchFamily="34" charset="0"/>
                <a:ea typeface="Calibri" pitchFamily="34" charset="-122"/>
                <a:cs typeface="Calibri" pitchFamily="34" charset="-120"/>
              </a:rPr>
              <a:t>  →  </a:t>
            </a:r>
            <a:pPr algn="ctr" indent="0" marL="0">
              <a:buNone/>
            </a:pPr>
            <a:r>
              <a:rPr lang="en-US" sz="1200" b="1" dirty="0">
                <a:solidFill>
                  <a:srgbClr val="1C6E8C"/>
                </a:solidFill>
                <a:latin typeface="Calibri" pitchFamily="34" charset="0"/>
                <a:ea typeface="Calibri" pitchFamily="34" charset="-122"/>
                <a:cs typeface="Calibri" pitchFamily="34" charset="-120"/>
              </a:rPr>
              <a:t>-90</a:t>
            </a:r>
            <a:endParaRPr lang="en-US" sz="1200" dirty="0"/>
          </a:p>
        </p:txBody>
      </p:sp>
      <p:sp>
        <p:nvSpPr>
          <p:cNvPr id="51" name="Text 49"/>
          <p:cNvSpPr/>
          <p:nvPr/>
        </p:nvSpPr>
        <p:spPr>
          <a:xfrm>
            <a:off x="2240280" y="3749040"/>
            <a:ext cx="1408176" cy="219456"/>
          </a:xfrm>
          <a:prstGeom prst="rect">
            <a:avLst/>
          </a:prstGeom>
          <a:noFill/>
          <a:ln/>
        </p:spPr>
        <p:txBody>
          <a:bodyPr wrap="square" lIns="0" tIns="0" rIns="0" bIns="0" rtlCol="0" anchor="ctr"/>
          <a:lstStyle/>
          <a:p>
            <a:pPr algn="ctr" indent="0" marL="0">
              <a:buNone/>
            </a:pPr>
            <a:r>
              <a:rPr lang="en-US" sz="900" dirty="0">
                <a:solidFill>
                  <a:srgbClr val="6E7681"/>
                </a:solidFill>
                <a:latin typeface="Calibri" pitchFamily="34" charset="0"/>
                <a:ea typeface="Calibri" pitchFamily="34" charset="-122"/>
                <a:cs typeface="Calibri" pitchFamily="34" charset="-120"/>
              </a:rPr>
              <a:t>251 Episoden</a:t>
            </a:r>
            <a:endParaRPr lang="en-US" sz="900" dirty="0"/>
          </a:p>
        </p:txBody>
      </p:sp>
      <p:sp>
        <p:nvSpPr>
          <p:cNvPr id="52" name="Shape 50"/>
          <p:cNvSpPr/>
          <p:nvPr/>
        </p:nvSpPr>
        <p:spPr>
          <a:xfrm>
            <a:off x="3703320" y="3346704"/>
            <a:ext cx="1408176" cy="658368"/>
          </a:xfrm>
          <a:prstGeom prst="rect">
            <a:avLst/>
          </a:prstGeom>
          <a:solidFill>
            <a:srgbClr val="E9F0F3"/>
          </a:solidFill>
          <a:ln w="19050">
            <a:solidFill>
              <a:srgbClr val="FFFFFF"/>
            </a:solidFill>
            <a:prstDash val="solid"/>
          </a:ln>
        </p:spPr>
      </p:sp>
      <p:sp>
        <p:nvSpPr>
          <p:cNvPr id="53" name="Text 51"/>
          <p:cNvSpPr/>
          <p:nvPr/>
        </p:nvSpPr>
        <p:spPr>
          <a:xfrm>
            <a:off x="3703320" y="3438144"/>
            <a:ext cx="1408176" cy="310896"/>
          </a:xfrm>
          <a:prstGeom prst="rect">
            <a:avLst/>
          </a:prstGeom>
          <a:noFill/>
          <a:ln/>
        </p:spPr>
        <p:txBody>
          <a:bodyPr wrap="square" lIns="0" tIns="0" rIns="0" bIns="0" rtlCol="0" anchor="ctr"/>
          <a:lstStyle/>
          <a:p>
            <a:pPr algn="ctr" indent="0" marL="0">
              <a:buNone/>
            </a:pPr>
            <a:r>
              <a:rPr lang="en-US" sz="1200" dirty="0">
                <a:solidFill>
                  <a:srgbClr val="6E7681"/>
                </a:solidFill>
                <a:latin typeface="Calibri" pitchFamily="34" charset="0"/>
                <a:ea typeface="Calibri" pitchFamily="34" charset="-122"/>
                <a:cs typeface="Calibri" pitchFamily="34" charset="-120"/>
              </a:rPr>
              <a:t>-1.743</a:t>
            </a:r>
            <a:pPr algn="ctr" indent="0" marL="0">
              <a:buNone/>
            </a:pPr>
            <a:r>
              <a:rPr lang="en-US" sz="1200" dirty="0">
                <a:solidFill>
                  <a:srgbClr val="6E7681"/>
                </a:solidFill>
                <a:latin typeface="Calibri" pitchFamily="34" charset="0"/>
                <a:ea typeface="Calibri" pitchFamily="34" charset="-122"/>
                <a:cs typeface="Calibri" pitchFamily="34" charset="-120"/>
              </a:rPr>
              <a:t>  →  </a:t>
            </a:r>
            <a:pPr algn="ctr" indent="0" marL="0">
              <a:buNone/>
            </a:pPr>
            <a:r>
              <a:rPr lang="en-US" sz="1200" b="1" dirty="0">
                <a:solidFill>
                  <a:srgbClr val="1C6E8C"/>
                </a:solidFill>
                <a:latin typeface="Calibri" pitchFamily="34" charset="0"/>
                <a:ea typeface="Calibri" pitchFamily="34" charset="-122"/>
                <a:cs typeface="Calibri" pitchFamily="34" charset="-120"/>
              </a:rPr>
              <a:t>-73</a:t>
            </a:r>
            <a:endParaRPr lang="en-US" sz="1200" dirty="0"/>
          </a:p>
        </p:txBody>
      </p:sp>
      <p:sp>
        <p:nvSpPr>
          <p:cNvPr id="54" name="Text 52"/>
          <p:cNvSpPr/>
          <p:nvPr/>
        </p:nvSpPr>
        <p:spPr>
          <a:xfrm>
            <a:off x="3703320" y="3749040"/>
            <a:ext cx="1408176" cy="219456"/>
          </a:xfrm>
          <a:prstGeom prst="rect">
            <a:avLst/>
          </a:prstGeom>
          <a:noFill/>
          <a:ln/>
        </p:spPr>
        <p:txBody>
          <a:bodyPr wrap="square" lIns="0" tIns="0" rIns="0" bIns="0" rtlCol="0" anchor="ctr"/>
          <a:lstStyle/>
          <a:p>
            <a:pPr algn="ctr" indent="0" marL="0">
              <a:buNone/>
            </a:pPr>
            <a:r>
              <a:rPr lang="en-US" sz="900" dirty="0">
                <a:solidFill>
                  <a:srgbClr val="6E7681"/>
                </a:solidFill>
                <a:latin typeface="Calibri" pitchFamily="34" charset="0"/>
                <a:ea typeface="Calibri" pitchFamily="34" charset="-122"/>
                <a:cs typeface="Calibri" pitchFamily="34" charset="-120"/>
              </a:rPr>
              <a:t>251 Episoden</a:t>
            </a:r>
            <a:endParaRPr lang="en-US" sz="900" dirty="0"/>
          </a:p>
        </p:txBody>
      </p:sp>
      <p:sp>
        <p:nvSpPr>
          <p:cNvPr id="55" name="Shape 53"/>
          <p:cNvSpPr/>
          <p:nvPr/>
        </p:nvSpPr>
        <p:spPr>
          <a:xfrm>
            <a:off x="5166360" y="3346704"/>
            <a:ext cx="1408176" cy="658368"/>
          </a:xfrm>
          <a:prstGeom prst="rect">
            <a:avLst/>
          </a:prstGeom>
          <a:solidFill>
            <a:srgbClr val="E9F0F3"/>
          </a:solidFill>
          <a:ln w="19050">
            <a:solidFill>
              <a:srgbClr val="FFFFFF"/>
            </a:solidFill>
            <a:prstDash val="solid"/>
          </a:ln>
        </p:spPr>
      </p:sp>
      <p:sp>
        <p:nvSpPr>
          <p:cNvPr id="56" name="Text 54"/>
          <p:cNvSpPr/>
          <p:nvPr/>
        </p:nvSpPr>
        <p:spPr>
          <a:xfrm>
            <a:off x="5166360" y="3438144"/>
            <a:ext cx="1408176" cy="310896"/>
          </a:xfrm>
          <a:prstGeom prst="rect">
            <a:avLst/>
          </a:prstGeom>
          <a:noFill/>
          <a:ln/>
        </p:spPr>
        <p:txBody>
          <a:bodyPr wrap="square" lIns="0" tIns="0" rIns="0" bIns="0" rtlCol="0" anchor="ctr"/>
          <a:lstStyle/>
          <a:p>
            <a:pPr algn="ctr" indent="0" marL="0">
              <a:buNone/>
            </a:pPr>
            <a:r>
              <a:rPr lang="en-US" sz="1200" dirty="0">
                <a:solidFill>
                  <a:srgbClr val="6E7681"/>
                </a:solidFill>
                <a:latin typeface="Calibri" pitchFamily="34" charset="0"/>
                <a:ea typeface="Calibri" pitchFamily="34" charset="-122"/>
                <a:cs typeface="Calibri" pitchFamily="34" charset="-120"/>
              </a:rPr>
              <a:t>-2.098</a:t>
            </a:r>
            <a:pPr algn="ctr" indent="0" marL="0">
              <a:buNone/>
            </a:pPr>
            <a:r>
              <a:rPr lang="en-US" sz="1200" dirty="0">
                <a:solidFill>
                  <a:srgbClr val="6E7681"/>
                </a:solidFill>
                <a:latin typeface="Calibri" pitchFamily="34" charset="0"/>
                <a:ea typeface="Calibri" pitchFamily="34" charset="-122"/>
                <a:cs typeface="Calibri" pitchFamily="34" charset="-120"/>
              </a:rPr>
              <a:t>  →  </a:t>
            </a:r>
            <a:pPr algn="ctr" indent="0" marL="0">
              <a:buNone/>
            </a:pPr>
            <a:r>
              <a:rPr lang="en-US" sz="1200" b="1" dirty="0">
                <a:solidFill>
                  <a:srgbClr val="1C6E8C"/>
                </a:solidFill>
                <a:latin typeface="Calibri" pitchFamily="34" charset="0"/>
                <a:ea typeface="Calibri" pitchFamily="34" charset="-122"/>
                <a:cs typeface="Calibri" pitchFamily="34" charset="-120"/>
              </a:rPr>
              <a:t>-192</a:t>
            </a:r>
            <a:endParaRPr lang="en-US" sz="1200" dirty="0"/>
          </a:p>
        </p:txBody>
      </p:sp>
      <p:sp>
        <p:nvSpPr>
          <p:cNvPr id="57" name="Text 55"/>
          <p:cNvSpPr/>
          <p:nvPr/>
        </p:nvSpPr>
        <p:spPr>
          <a:xfrm>
            <a:off x="5166360" y="3749040"/>
            <a:ext cx="1408176" cy="219456"/>
          </a:xfrm>
          <a:prstGeom prst="rect">
            <a:avLst/>
          </a:prstGeom>
          <a:noFill/>
          <a:ln/>
        </p:spPr>
        <p:txBody>
          <a:bodyPr wrap="square" lIns="0" tIns="0" rIns="0" bIns="0" rtlCol="0" anchor="ctr"/>
          <a:lstStyle/>
          <a:p>
            <a:pPr algn="ctr" indent="0" marL="0">
              <a:buNone/>
            </a:pPr>
            <a:r>
              <a:rPr lang="en-US" sz="900" dirty="0">
                <a:solidFill>
                  <a:srgbClr val="6E7681"/>
                </a:solidFill>
                <a:latin typeface="Calibri" pitchFamily="34" charset="0"/>
                <a:ea typeface="Calibri" pitchFamily="34" charset="-122"/>
                <a:cs typeface="Calibri" pitchFamily="34" charset="-120"/>
              </a:rPr>
              <a:t>251 Episoden</a:t>
            </a:r>
            <a:endParaRPr lang="en-US" sz="900" dirty="0"/>
          </a:p>
        </p:txBody>
      </p:sp>
      <p:sp>
        <p:nvSpPr>
          <p:cNvPr id="58" name="Shape 56"/>
          <p:cNvSpPr/>
          <p:nvPr/>
        </p:nvSpPr>
        <p:spPr>
          <a:xfrm>
            <a:off x="6629400" y="3346704"/>
            <a:ext cx="1408176" cy="658368"/>
          </a:xfrm>
          <a:prstGeom prst="rect">
            <a:avLst/>
          </a:prstGeom>
          <a:solidFill>
            <a:srgbClr val="E9F0F3"/>
          </a:solidFill>
          <a:ln w="19050">
            <a:solidFill>
              <a:srgbClr val="FFFFFF"/>
            </a:solidFill>
            <a:prstDash val="solid"/>
          </a:ln>
        </p:spPr>
      </p:sp>
      <p:sp>
        <p:nvSpPr>
          <p:cNvPr id="59" name="Text 57"/>
          <p:cNvSpPr/>
          <p:nvPr/>
        </p:nvSpPr>
        <p:spPr>
          <a:xfrm>
            <a:off x="6629400" y="3438144"/>
            <a:ext cx="1408176" cy="310896"/>
          </a:xfrm>
          <a:prstGeom prst="rect">
            <a:avLst/>
          </a:prstGeom>
          <a:noFill/>
          <a:ln/>
        </p:spPr>
        <p:txBody>
          <a:bodyPr wrap="square" lIns="0" tIns="0" rIns="0" bIns="0" rtlCol="0" anchor="ctr"/>
          <a:lstStyle/>
          <a:p>
            <a:pPr algn="ctr" indent="0" marL="0">
              <a:buNone/>
            </a:pPr>
            <a:r>
              <a:rPr lang="en-US" sz="1200" dirty="0">
                <a:solidFill>
                  <a:srgbClr val="6E7681"/>
                </a:solidFill>
                <a:latin typeface="Calibri" pitchFamily="34" charset="0"/>
                <a:ea typeface="Calibri" pitchFamily="34" charset="-122"/>
                <a:cs typeface="Calibri" pitchFamily="34" charset="-120"/>
              </a:rPr>
              <a:t>-8.129</a:t>
            </a:r>
            <a:pPr algn="ctr" indent="0" marL="0">
              <a:buNone/>
            </a:pPr>
            <a:r>
              <a:rPr lang="en-US" sz="1200" dirty="0">
                <a:solidFill>
                  <a:srgbClr val="6E7681"/>
                </a:solidFill>
                <a:latin typeface="Calibri" pitchFamily="34" charset="0"/>
                <a:ea typeface="Calibri" pitchFamily="34" charset="-122"/>
                <a:cs typeface="Calibri" pitchFamily="34" charset="-120"/>
              </a:rPr>
              <a:t>  →  </a:t>
            </a:r>
            <a:pPr algn="ctr" indent="0" marL="0">
              <a:buNone/>
            </a:pPr>
            <a:r>
              <a:rPr lang="en-US" sz="1200" b="1" dirty="0">
                <a:solidFill>
                  <a:srgbClr val="1C6E8C"/>
                </a:solidFill>
                <a:latin typeface="Calibri" pitchFamily="34" charset="0"/>
                <a:ea typeface="Calibri" pitchFamily="34" charset="-122"/>
                <a:cs typeface="Calibri" pitchFamily="34" charset="-120"/>
              </a:rPr>
              <a:t>-242</a:t>
            </a:r>
            <a:endParaRPr lang="en-US" sz="1200" dirty="0"/>
          </a:p>
        </p:txBody>
      </p:sp>
      <p:sp>
        <p:nvSpPr>
          <p:cNvPr id="60" name="Text 58"/>
          <p:cNvSpPr/>
          <p:nvPr/>
        </p:nvSpPr>
        <p:spPr>
          <a:xfrm>
            <a:off x="6629400" y="3749040"/>
            <a:ext cx="1408176" cy="219456"/>
          </a:xfrm>
          <a:prstGeom prst="rect">
            <a:avLst/>
          </a:prstGeom>
          <a:noFill/>
          <a:ln/>
        </p:spPr>
        <p:txBody>
          <a:bodyPr wrap="square" lIns="0" tIns="0" rIns="0" bIns="0" rtlCol="0" anchor="ctr"/>
          <a:lstStyle/>
          <a:p>
            <a:pPr algn="ctr" indent="0" marL="0">
              <a:buNone/>
            </a:pPr>
            <a:r>
              <a:rPr lang="en-US" sz="900" dirty="0">
                <a:solidFill>
                  <a:srgbClr val="6E7681"/>
                </a:solidFill>
                <a:latin typeface="Calibri" pitchFamily="34" charset="0"/>
                <a:ea typeface="Calibri" pitchFamily="34" charset="-122"/>
                <a:cs typeface="Calibri" pitchFamily="34" charset="-120"/>
              </a:rPr>
              <a:t>311 Episoden</a:t>
            </a:r>
            <a:endParaRPr lang="en-US" sz="900" dirty="0"/>
          </a:p>
        </p:txBody>
      </p:sp>
      <p:sp>
        <p:nvSpPr>
          <p:cNvPr id="61" name="Shape 59"/>
          <p:cNvSpPr/>
          <p:nvPr/>
        </p:nvSpPr>
        <p:spPr>
          <a:xfrm>
            <a:off x="8092440" y="3346704"/>
            <a:ext cx="1408176" cy="658368"/>
          </a:xfrm>
          <a:prstGeom prst="rect">
            <a:avLst/>
          </a:prstGeom>
          <a:solidFill>
            <a:srgbClr val="E9F0F3"/>
          </a:solidFill>
          <a:ln w="19050">
            <a:solidFill>
              <a:srgbClr val="FFFFFF"/>
            </a:solidFill>
            <a:prstDash val="solid"/>
          </a:ln>
        </p:spPr>
      </p:sp>
      <p:sp>
        <p:nvSpPr>
          <p:cNvPr id="62" name="Text 60"/>
          <p:cNvSpPr/>
          <p:nvPr/>
        </p:nvSpPr>
        <p:spPr>
          <a:xfrm>
            <a:off x="8092440" y="3438144"/>
            <a:ext cx="1408176" cy="310896"/>
          </a:xfrm>
          <a:prstGeom prst="rect">
            <a:avLst/>
          </a:prstGeom>
          <a:noFill/>
          <a:ln/>
        </p:spPr>
        <p:txBody>
          <a:bodyPr wrap="square" lIns="0" tIns="0" rIns="0" bIns="0" rtlCol="0" anchor="ctr"/>
          <a:lstStyle/>
          <a:p>
            <a:pPr algn="ctr" indent="0" marL="0">
              <a:buNone/>
            </a:pPr>
            <a:r>
              <a:rPr lang="en-US" sz="1200" dirty="0">
                <a:solidFill>
                  <a:srgbClr val="6E7681"/>
                </a:solidFill>
                <a:latin typeface="Calibri" pitchFamily="34" charset="0"/>
                <a:ea typeface="Calibri" pitchFamily="34" charset="-122"/>
                <a:cs typeface="Calibri" pitchFamily="34" charset="-120"/>
              </a:rPr>
              <a:t>-1.661</a:t>
            </a:r>
            <a:pPr algn="ctr" indent="0" marL="0">
              <a:buNone/>
            </a:pPr>
            <a:r>
              <a:rPr lang="en-US" sz="1200" dirty="0">
                <a:solidFill>
                  <a:srgbClr val="6E7681"/>
                </a:solidFill>
                <a:latin typeface="Calibri" pitchFamily="34" charset="0"/>
                <a:ea typeface="Calibri" pitchFamily="34" charset="-122"/>
                <a:cs typeface="Calibri" pitchFamily="34" charset="-120"/>
              </a:rPr>
              <a:t>  →  </a:t>
            </a:r>
            <a:pPr algn="ctr" indent="0" marL="0">
              <a:buNone/>
            </a:pPr>
            <a:r>
              <a:rPr lang="en-US" sz="1200" b="1" dirty="0">
                <a:solidFill>
                  <a:srgbClr val="1C6E8C"/>
                </a:solidFill>
                <a:latin typeface="Calibri" pitchFamily="34" charset="0"/>
                <a:ea typeface="Calibri" pitchFamily="34" charset="-122"/>
                <a:cs typeface="Calibri" pitchFamily="34" charset="-120"/>
              </a:rPr>
              <a:t>-63</a:t>
            </a:r>
            <a:endParaRPr lang="en-US" sz="1200" dirty="0"/>
          </a:p>
        </p:txBody>
      </p:sp>
      <p:sp>
        <p:nvSpPr>
          <p:cNvPr id="63" name="Text 61"/>
          <p:cNvSpPr/>
          <p:nvPr/>
        </p:nvSpPr>
        <p:spPr>
          <a:xfrm>
            <a:off x="8092440" y="3749040"/>
            <a:ext cx="1408176" cy="219456"/>
          </a:xfrm>
          <a:prstGeom prst="rect">
            <a:avLst/>
          </a:prstGeom>
          <a:noFill/>
          <a:ln/>
        </p:spPr>
        <p:txBody>
          <a:bodyPr wrap="square" lIns="0" tIns="0" rIns="0" bIns="0" rtlCol="0" anchor="ctr"/>
          <a:lstStyle/>
          <a:p>
            <a:pPr algn="ctr" indent="0" marL="0">
              <a:buNone/>
            </a:pPr>
            <a:r>
              <a:rPr lang="en-US" sz="900" dirty="0">
                <a:solidFill>
                  <a:srgbClr val="6E7681"/>
                </a:solidFill>
                <a:latin typeface="Calibri" pitchFamily="34" charset="0"/>
                <a:ea typeface="Calibri" pitchFamily="34" charset="-122"/>
                <a:cs typeface="Calibri" pitchFamily="34" charset="-120"/>
              </a:rPr>
              <a:t>251 Episoden</a:t>
            </a:r>
            <a:endParaRPr lang="en-US" sz="900" dirty="0"/>
          </a:p>
        </p:txBody>
      </p:sp>
      <p:sp>
        <p:nvSpPr>
          <p:cNvPr id="64" name="Shape 62"/>
          <p:cNvSpPr/>
          <p:nvPr/>
        </p:nvSpPr>
        <p:spPr>
          <a:xfrm>
            <a:off x="9555480" y="3346704"/>
            <a:ext cx="1408176" cy="658368"/>
          </a:xfrm>
          <a:prstGeom prst="rect">
            <a:avLst/>
          </a:prstGeom>
          <a:solidFill>
            <a:srgbClr val="E9F0F3"/>
          </a:solidFill>
          <a:ln w="19050">
            <a:solidFill>
              <a:srgbClr val="FFFFFF"/>
            </a:solidFill>
            <a:prstDash val="solid"/>
          </a:ln>
        </p:spPr>
      </p:sp>
      <p:sp>
        <p:nvSpPr>
          <p:cNvPr id="65" name="Text 63"/>
          <p:cNvSpPr/>
          <p:nvPr/>
        </p:nvSpPr>
        <p:spPr>
          <a:xfrm>
            <a:off x="9555480" y="3438144"/>
            <a:ext cx="1408176" cy="310896"/>
          </a:xfrm>
          <a:prstGeom prst="rect">
            <a:avLst/>
          </a:prstGeom>
          <a:noFill/>
          <a:ln/>
        </p:spPr>
        <p:txBody>
          <a:bodyPr wrap="square" lIns="0" tIns="0" rIns="0" bIns="0" rtlCol="0" anchor="ctr"/>
          <a:lstStyle/>
          <a:p>
            <a:pPr algn="ctr" indent="0" marL="0">
              <a:buNone/>
            </a:pPr>
            <a:r>
              <a:rPr lang="en-US" sz="1200" dirty="0">
                <a:solidFill>
                  <a:srgbClr val="6E7681"/>
                </a:solidFill>
                <a:latin typeface="Calibri" pitchFamily="34" charset="0"/>
                <a:ea typeface="Calibri" pitchFamily="34" charset="-122"/>
                <a:cs typeface="Calibri" pitchFamily="34" charset="-120"/>
              </a:rPr>
              <a:t>-1.727</a:t>
            </a:r>
            <a:pPr algn="ctr" indent="0" marL="0">
              <a:buNone/>
            </a:pPr>
            <a:r>
              <a:rPr lang="en-US" sz="1200" dirty="0">
                <a:solidFill>
                  <a:srgbClr val="6E7681"/>
                </a:solidFill>
                <a:latin typeface="Calibri" pitchFamily="34" charset="0"/>
                <a:ea typeface="Calibri" pitchFamily="34" charset="-122"/>
                <a:cs typeface="Calibri" pitchFamily="34" charset="-120"/>
              </a:rPr>
              <a:t>  →  </a:t>
            </a:r>
            <a:pPr algn="ctr" indent="0" marL="0">
              <a:buNone/>
            </a:pPr>
            <a:r>
              <a:rPr lang="en-US" sz="1200" b="1" dirty="0">
                <a:solidFill>
                  <a:srgbClr val="1C6E8C"/>
                </a:solidFill>
                <a:latin typeface="Calibri" pitchFamily="34" charset="0"/>
                <a:ea typeface="Calibri" pitchFamily="34" charset="-122"/>
                <a:cs typeface="Calibri" pitchFamily="34" charset="-120"/>
              </a:rPr>
              <a:t>-82</a:t>
            </a:r>
            <a:endParaRPr lang="en-US" sz="1200" dirty="0"/>
          </a:p>
        </p:txBody>
      </p:sp>
      <p:sp>
        <p:nvSpPr>
          <p:cNvPr id="66" name="Text 64"/>
          <p:cNvSpPr/>
          <p:nvPr/>
        </p:nvSpPr>
        <p:spPr>
          <a:xfrm>
            <a:off x="9555480" y="3749040"/>
            <a:ext cx="1408176" cy="219456"/>
          </a:xfrm>
          <a:prstGeom prst="rect">
            <a:avLst/>
          </a:prstGeom>
          <a:noFill/>
          <a:ln/>
        </p:spPr>
        <p:txBody>
          <a:bodyPr wrap="square" lIns="0" tIns="0" rIns="0" bIns="0" rtlCol="0" anchor="ctr"/>
          <a:lstStyle/>
          <a:p>
            <a:pPr algn="ctr" indent="0" marL="0">
              <a:buNone/>
            </a:pPr>
            <a:r>
              <a:rPr lang="en-US" sz="900" dirty="0">
                <a:solidFill>
                  <a:srgbClr val="6E7681"/>
                </a:solidFill>
                <a:latin typeface="Calibri" pitchFamily="34" charset="0"/>
                <a:ea typeface="Calibri" pitchFamily="34" charset="-122"/>
                <a:cs typeface="Calibri" pitchFamily="34" charset="-120"/>
              </a:rPr>
              <a:t>251 Episoden</a:t>
            </a:r>
            <a:endParaRPr lang="en-US" sz="900" dirty="0"/>
          </a:p>
        </p:txBody>
      </p:sp>
      <p:sp>
        <p:nvSpPr>
          <p:cNvPr id="67" name="Text 65"/>
          <p:cNvSpPr/>
          <p:nvPr/>
        </p:nvSpPr>
        <p:spPr>
          <a:xfrm>
            <a:off x="640080" y="4059936"/>
            <a:ext cx="1508760" cy="713232"/>
          </a:xfrm>
          <a:prstGeom prst="rect">
            <a:avLst/>
          </a:prstGeom>
          <a:noFill/>
          <a:ln/>
        </p:spPr>
        <p:txBody>
          <a:bodyPr wrap="square" lIns="0" tIns="0" rIns="0" bIns="0" rtlCol="0" anchor="ctr"/>
          <a:lstStyle/>
          <a:p>
            <a:pPr algn="r" indent="0" marL="0">
              <a:buNone/>
            </a:pPr>
            <a:r>
              <a:rPr lang="en-US" sz="1300" b="1" dirty="0">
                <a:solidFill>
                  <a:srgbClr val="23282F"/>
                </a:solidFill>
                <a:latin typeface="Calibri" pitchFamily="34" charset="0"/>
                <a:ea typeface="Calibri" pitchFamily="34" charset="-122"/>
                <a:cs typeface="Calibri" pitchFamily="34" charset="-120"/>
              </a:rPr>
              <a:t>Micro-Seg.</a:t>
            </a:r>
            <a:endParaRPr lang="en-US" sz="1300" dirty="0"/>
          </a:p>
        </p:txBody>
      </p:sp>
      <p:sp>
        <p:nvSpPr>
          <p:cNvPr id="68" name="Shape 66"/>
          <p:cNvSpPr/>
          <p:nvPr/>
        </p:nvSpPr>
        <p:spPr>
          <a:xfrm>
            <a:off x="2240280" y="4059936"/>
            <a:ext cx="1408176" cy="658368"/>
          </a:xfrm>
          <a:prstGeom prst="rect">
            <a:avLst/>
          </a:prstGeom>
          <a:solidFill>
            <a:srgbClr val="E9F0F3"/>
          </a:solidFill>
          <a:ln w="19050">
            <a:solidFill>
              <a:srgbClr val="FFFFFF"/>
            </a:solidFill>
            <a:prstDash val="solid"/>
          </a:ln>
        </p:spPr>
      </p:sp>
      <p:sp>
        <p:nvSpPr>
          <p:cNvPr id="69" name="Text 67"/>
          <p:cNvSpPr/>
          <p:nvPr/>
        </p:nvSpPr>
        <p:spPr>
          <a:xfrm>
            <a:off x="2240280" y="4151376"/>
            <a:ext cx="1408176" cy="310896"/>
          </a:xfrm>
          <a:prstGeom prst="rect">
            <a:avLst/>
          </a:prstGeom>
          <a:noFill/>
          <a:ln/>
        </p:spPr>
        <p:txBody>
          <a:bodyPr wrap="square" lIns="0" tIns="0" rIns="0" bIns="0" rtlCol="0" anchor="ctr"/>
          <a:lstStyle/>
          <a:p>
            <a:pPr algn="ctr" indent="0" marL="0">
              <a:buNone/>
            </a:pPr>
            <a:r>
              <a:rPr lang="en-US" sz="1200" dirty="0">
                <a:solidFill>
                  <a:srgbClr val="6E7681"/>
                </a:solidFill>
                <a:latin typeface="Calibri" pitchFamily="34" charset="0"/>
                <a:ea typeface="Calibri" pitchFamily="34" charset="-122"/>
                <a:cs typeface="Calibri" pitchFamily="34" charset="-120"/>
              </a:rPr>
              <a:t>-1.549</a:t>
            </a:r>
            <a:pPr algn="ctr" indent="0" marL="0">
              <a:buNone/>
            </a:pPr>
            <a:r>
              <a:rPr lang="en-US" sz="1200" dirty="0">
                <a:solidFill>
                  <a:srgbClr val="6E7681"/>
                </a:solidFill>
                <a:latin typeface="Calibri" pitchFamily="34" charset="0"/>
                <a:ea typeface="Calibri" pitchFamily="34" charset="-122"/>
                <a:cs typeface="Calibri" pitchFamily="34" charset="-120"/>
              </a:rPr>
              <a:t>  →  </a:t>
            </a:r>
            <a:pPr algn="ctr" indent="0" marL="0">
              <a:buNone/>
            </a:pPr>
            <a:r>
              <a:rPr lang="en-US" sz="1200" b="1" dirty="0">
                <a:solidFill>
                  <a:srgbClr val="1C6E8C"/>
                </a:solidFill>
                <a:latin typeface="Calibri" pitchFamily="34" charset="0"/>
                <a:ea typeface="Calibri" pitchFamily="34" charset="-122"/>
                <a:cs typeface="Calibri" pitchFamily="34" charset="-120"/>
              </a:rPr>
              <a:t>-87</a:t>
            </a:r>
            <a:endParaRPr lang="en-US" sz="1200" dirty="0"/>
          </a:p>
        </p:txBody>
      </p:sp>
      <p:sp>
        <p:nvSpPr>
          <p:cNvPr id="70" name="Text 68"/>
          <p:cNvSpPr/>
          <p:nvPr/>
        </p:nvSpPr>
        <p:spPr>
          <a:xfrm>
            <a:off x="2240280" y="4462272"/>
            <a:ext cx="1408176" cy="219456"/>
          </a:xfrm>
          <a:prstGeom prst="rect">
            <a:avLst/>
          </a:prstGeom>
          <a:noFill/>
          <a:ln/>
        </p:spPr>
        <p:txBody>
          <a:bodyPr wrap="square" lIns="0" tIns="0" rIns="0" bIns="0" rtlCol="0" anchor="ctr"/>
          <a:lstStyle/>
          <a:p>
            <a:pPr algn="ctr" indent="0" marL="0">
              <a:buNone/>
            </a:pPr>
            <a:r>
              <a:rPr lang="en-US" sz="900" dirty="0">
                <a:solidFill>
                  <a:srgbClr val="6E7681"/>
                </a:solidFill>
                <a:latin typeface="Calibri" pitchFamily="34" charset="0"/>
                <a:ea typeface="Calibri" pitchFamily="34" charset="-122"/>
                <a:cs typeface="Calibri" pitchFamily="34" charset="-120"/>
              </a:rPr>
              <a:t>251 Episoden</a:t>
            </a:r>
            <a:endParaRPr lang="en-US" sz="900" dirty="0"/>
          </a:p>
        </p:txBody>
      </p:sp>
      <p:sp>
        <p:nvSpPr>
          <p:cNvPr id="71" name="Shape 69"/>
          <p:cNvSpPr/>
          <p:nvPr/>
        </p:nvSpPr>
        <p:spPr>
          <a:xfrm>
            <a:off x="3703320" y="4059936"/>
            <a:ext cx="1408176" cy="658368"/>
          </a:xfrm>
          <a:prstGeom prst="rect">
            <a:avLst/>
          </a:prstGeom>
          <a:solidFill>
            <a:srgbClr val="E9F0F3"/>
          </a:solidFill>
          <a:ln w="19050">
            <a:solidFill>
              <a:srgbClr val="FFFFFF"/>
            </a:solidFill>
            <a:prstDash val="solid"/>
          </a:ln>
        </p:spPr>
      </p:sp>
      <p:sp>
        <p:nvSpPr>
          <p:cNvPr id="72" name="Text 70"/>
          <p:cNvSpPr/>
          <p:nvPr/>
        </p:nvSpPr>
        <p:spPr>
          <a:xfrm>
            <a:off x="3703320" y="4151376"/>
            <a:ext cx="1408176" cy="310896"/>
          </a:xfrm>
          <a:prstGeom prst="rect">
            <a:avLst/>
          </a:prstGeom>
          <a:noFill/>
          <a:ln/>
        </p:spPr>
        <p:txBody>
          <a:bodyPr wrap="square" lIns="0" tIns="0" rIns="0" bIns="0" rtlCol="0" anchor="ctr"/>
          <a:lstStyle/>
          <a:p>
            <a:pPr algn="ctr" indent="0" marL="0">
              <a:buNone/>
            </a:pPr>
            <a:r>
              <a:rPr lang="en-US" sz="1200" dirty="0">
                <a:solidFill>
                  <a:srgbClr val="6E7681"/>
                </a:solidFill>
                <a:latin typeface="Calibri" pitchFamily="34" charset="0"/>
                <a:ea typeface="Calibri" pitchFamily="34" charset="-122"/>
                <a:cs typeface="Calibri" pitchFamily="34" charset="-120"/>
              </a:rPr>
              <a:t>-2.310</a:t>
            </a:r>
            <a:pPr algn="ctr" indent="0" marL="0">
              <a:buNone/>
            </a:pPr>
            <a:r>
              <a:rPr lang="en-US" sz="1200" dirty="0">
                <a:solidFill>
                  <a:srgbClr val="6E7681"/>
                </a:solidFill>
                <a:latin typeface="Calibri" pitchFamily="34" charset="0"/>
                <a:ea typeface="Calibri" pitchFamily="34" charset="-122"/>
                <a:cs typeface="Calibri" pitchFamily="34" charset="-120"/>
              </a:rPr>
              <a:t>  →  </a:t>
            </a:r>
            <a:pPr algn="ctr" indent="0" marL="0">
              <a:buNone/>
            </a:pPr>
            <a:r>
              <a:rPr lang="en-US" sz="1200" b="1" dirty="0">
                <a:solidFill>
                  <a:srgbClr val="1C6E8C"/>
                </a:solidFill>
                <a:latin typeface="Calibri" pitchFamily="34" charset="0"/>
                <a:ea typeface="Calibri" pitchFamily="34" charset="-122"/>
                <a:cs typeface="Calibri" pitchFamily="34" charset="-120"/>
              </a:rPr>
              <a:t>-71</a:t>
            </a:r>
            <a:endParaRPr lang="en-US" sz="1200" dirty="0"/>
          </a:p>
        </p:txBody>
      </p:sp>
      <p:sp>
        <p:nvSpPr>
          <p:cNvPr id="73" name="Text 71"/>
          <p:cNvSpPr/>
          <p:nvPr/>
        </p:nvSpPr>
        <p:spPr>
          <a:xfrm>
            <a:off x="3703320" y="4462272"/>
            <a:ext cx="1408176" cy="219456"/>
          </a:xfrm>
          <a:prstGeom prst="rect">
            <a:avLst/>
          </a:prstGeom>
          <a:noFill/>
          <a:ln/>
        </p:spPr>
        <p:txBody>
          <a:bodyPr wrap="square" lIns="0" tIns="0" rIns="0" bIns="0" rtlCol="0" anchor="ctr"/>
          <a:lstStyle/>
          <a:p>
            <a:pPr algn="ctr" indent="0" marL="0">
              <a:buNone/>
            </a:pPr>
            <a:r>
              <a:rPr lang="en-US" sz="900" dirty="0">
                <a:solidFill>
                  <a:srgbClr val="6E7681"/>
                </a:solidFill>
                <a:latin typeface="Calibri" pitchFamily="34" charset="0"/>
                <a:ea typeface="Calibri" pitchFamily="34" charset="-122"/>
                <a:cs typeface="Calibri" pitchFamily="34" charset="-120"/>
              </a:rPr>
              <a:t>251 Episoden</a:t>
            </a:r>
            <a:endParaRPr lang="en-US" sz="900" dirty="0"/>
          </a:p>
        </p:txBody>
      </p:sp>
      <p:sp>
        <p:nvSpPr>
          <p:cNvPr id="74" name="Shape 72"/>
          <p:cNvSpPr/>
          <p:nvPr/>
        </p:nvSpPr>
        <p:spPr>
          <a:xfrm>
            <a:off x="5166360" y="4059936"/>
            <a:ext cx="1408176" cy="658368"/>
          </a:xfrm>
          <a:prstGeom prst="rect">
            <a:avLst/>
          </a:prstGeom>
          <a:solidFill>
            <a:srgbClr val="E9F0F3"/>
          </a:solidFill>
          <a:ln w="19050">
            <a:solidFill>
              <a:srgbClr val="FFFFFF"/>
            </a:solidFill>
            <a:prstDash val="solid"/>
          </a:ln>
        </p:spPr>
      </p:sp>
      <p:sp>
        <p:nvSpPr>
          <p:cNvPr id="75" name="Text 73"/>
          <p:cNvSpPr/>
          <p:nvPr/>
        </p:nvSpPr>
        <p:spPr>
          <a:xfrm>
            <a:off x="5166360" y="4151376"/>
            <a:ext cx="1408176" cy="310896"/>
          </a:xfrm>
          <a:prstGeom prst="rect">
            <a:avLst/>
          </a:prstGeom>
          <a:noFill/>
          <a:ln/>
        </p:spPr>
        <p:txBody>
          <a:bodyPr wrap="square" lIns="0" tIns="0" rIns="0" bIns="0" rtlCol="0" anchor="ctr"/>
          <a:lstStyle/>
          <a:p>
            <a:pPr algn="ctr" indent="0" marL="0">
              <a:buNone/>
            </a:pPr>
            <a:r>
              <a:rPr lang="en-US" sz="1200" dirty="0">
                <a:solidFill>
                  <a:srgbClr val="6E7681"/>
                </a:solidFill>
                <a:latin typeface="Calibri" pitchFamily="34" charset="0"/>
                <a:ea typeface="Calibri" pitchFamily="34" charset="-122"/>
                <a:cs typeface="Calibri" pitchFamily="34" charset="-120"/>
              </a:rPr>
              <a:t>-1.998</a:t>
            </a:r>
            <a:pPr algn="ctr" indent="0" marL="0">
              <a:buNone/>
            </a:pPr>
            <a:r>
              <a:rPr lang="en-US" sz="1200" dirty="0">
                <a:solidFill>
                  <a:srgbClr val="6E7681"/>
                </a:solidFill>
                <a:latin typeface="Calibri" pitchFamily="34" charset="0"/>
                <a:ea typeface="Calibri" pitchFamily="34" charset="-122"/>
                <a:cs typeface="Calibri" pitchFamily="34" charset="-120"/>
              </a:rPr>
              <a:t>  →  </a:t>
            </a:r>
            <a:pPr algn="ctr" indent="0" marL="0">
              <a:buNone/>
            </a:pPr>
            <a:r>
              <a:rPr lang="en-US" sz="1200" b="1" dirty="0">
                <a:solidFill>
                  <a:srgbClr val="1C6E8C"/>
                </a:solidFill>
                <a:latin typeface="Calibri" pitchFamily="34" charset="0"/>
                <a:ea typeface="Calibri" pitchFamily="34" charset="-122"/>
                <a:cs typeface="Calibri" pitchFamily="34" charset="-120"/>
              </a:rPr>
              <a:t>-68</a:t>
            </a:r>
            <a:endParaRPr lang="en-US" sz="1200" dirty="0"/>
          </a:p>
        </p:txBody>
      </p:sp>
      <p:sp>
        <p:nvSpPr>
          <p:cNvPr id="76" name="Text 74"/>
          <p:cNvSpPr/>
          <p:nvPr/>
        </p:nvSpPr>
        <p:spPr>
          <a:xfrm>
            <a:off x="5166360" y="4462272"/>
            <a:ext cx="1408176" cy="219456"/>
          </a:xfrm>
          <a:prstGeom prst="rect">
            <a:avLst/>
          </a:prstGeom>
          <a:noFill/>
          <a:ln/>
        </p:spPr>
        <p:txBody>
          <a:bodyPr wrap="square" lIns="0" tIns="0" rIns="0" bIns="0" rtlCol="0" anchor="ctr"/>
          <a:lstStyle/>
          <a:p>
            <a:pPr algn="ctr" indent="0" marL="0">
              <a:buNone/>
            </a:pPr>
            <a:r>
              <a:rPr lang="en-US" sz="900" dirty="0">
                <a:solidFill>
                  <a:srgbClr val="6E7681"/>
                </a:solidFill>
                <a:latin typeface="Calibri" pitchFamily="34" charset="0"/>
                <a:ea typeface="Calibri" pitchFamily="34" charset="-122"/>
                <a:cs typeface="Calibri" pitchFamily="34" charset="-120"/>
              </a:rPr>
              <a:t>251 Episoden</a:t>
            </a:r>
            <a:endParaRPr lang="en-US" sz="900" dirty="0"/>
          </a:p>
        </p:txBody>
      </p:sp>
      <p:sp>
        <p:nvSpPr>
          <p:cNvPr id="77" name="Shape 75"/>
          <p:cNvSpPr/>
          <p:nvPr/>
        </p:nvSpPr>
        <p:spPr>
          <a:xfrm>
            <a:off x="6629400" y="4059936"/>
            <a:ext cx="1408176" cy="658368"/>
          </a:xfrm>
          <a:prstGeom prst="rect">
            <a:avLst/>
          </a:prstGeom>
          <a:solidFill>
            <a:srgbClr val="E9F0F3"/>
          </a:solidFill>
          <a:ln w="19050">
            <a:solidFill>
              <a:srgbClr val="FFFFFF"/>
            </a:solidFill>
            <a:prstDash val="solid"/>
          </a:ln>
        </p:spPr>
      </p:sp>
      <p:sp>
        <p:nvSpPr>
          <p:cNvPr id="78" name="Text 76"/>
          <p:cNvSpPr/>
          <p:nvPr/>
        </p:nvSpPr>
        <p:spPr>
          <a:xfrm>
            <a:off x="6629400" y="4151376"/>
            <a:ext cx="1408176" cy="310896"/>
          </a:xfrm>
          <a:prstGeom prst="rect">
            <a:avLst/>
          </a:prstGeom>
          <a:noFill/>
          <a:ln/>
        </p:spPr>
        <p:txBody>
          <a:bodyPr wrap="square" lIns="0" tIns="0" rIns="0" bIns="0" rtlCol="0" anchor="ctr"/>
          <a:lstStyle/>
          <a:p>
            <a:pPr algn="ctr" indent="0" marL="0">
              <a:buNone/>
            </a:pPr>
            <a:r>
              <a:rPr lang="en-US" sz="1200" dirty="0">
                <a:solidFill>
                  <a:srgbClr val="6E7681"/>
                </a:solidFill>
                <a:latin typeface="Calibri" pitchFamily="34" charset="0"/>
                <a:ea typeface="Calibri" pitchFamily="34" charset="-122"/>
                <a:cs typeface="Calibri" pitchFamily="34" charset="-120"/>
              </a:rPr>
              <a:t>-1.132</a:t>
            </a:r>
            <a:pPr algn="ctr" indent="0" marL="0">
              <a:buNone/>
            </a:pPr>
            <a:r>
              <a:rPr lang="en-US" sz="1200" dirty="0">
                <a:solidFill>
                  <a:srgbClr val="6E7681"/>
                </a:solidFill>
                <a:latin typeface="Calibri" pitchFamily="34" charset="0"/>
                <a:ea typeface="Calibri" pitchFamily="34" charset="-122"/>
                <a:cs typeface="Calibri" pitchFamily="34" charset="-120"/>
              </a:rPr>
              <a:t>  →  </a:t>
            </a:r>
            <a:pPr algn="ctr" indent="0" marL="0">
              <a:buNone/>
            </a:pPr>
            <a:r>
              <a:rPr lang="en-US" sz="1200" b="1" dirty="0">
                <a:solidFill>
                  <a:srgbClr val="1C6E8C"/>
                </a:solidFill>
                <a:latin typeface="Calibri" pitchFamily="34" charset="0"/>
                <a:ea typeface="Calibri" pitchFamily="34" charset="-122"/>
                <a:cs typeface="Calibri" pitchFamily="34" charset="-120"/>
              </a:rPr>
              <a:t>-50</a:t>
            </a:r>
            <a:endParaRPr lang="en-US" sz="1200" dirty="0"/>
          </a:p>
        </p:txBody>
      </p:sp>
      <p:sp>
        <p:nvSpPr>
          <p:cNvPr id="79" name="Text 77"/>
          <p:cNvSpPr/>
          <p:nvPr/>
        </p:nvSpPr>
        <p:spPr>
          <a:xfrm>
            <a:off x="6629400" y="4462272"/>
            <a:ext cx="1408176" cy="219456"/>
          </a:xfrm>
          <a:prstGeom prst="rect">
            <a:avLst/>
          </a:prstGeom>
          <a:noFill/>
          <a:ln/>
        </p:spPr>
        <p:txBody>
          <a:bodyPr wrap="square" lIns="0" tIns="0" rIns="0" bIns="0" rtlCol="0" anchor="ctr"/>
          <a:lstStyle/>
          <a:p>
            <a:pPr algn="ctr" indent="0" marL="0">
              <a:buNone/>
            </a:pPr>
            <a:r>
              <a:rPr lang="en-US" sz="900" dirty="0">
                <a:solidFill>
                  <a:srgbClr val="6E7681"/>
                </a:solidFill>
                <a:latin typeface="Calibri" pitchFamily="34" charset="0"/>
                <a:ea typeface="Calibri" pitchFamily="34" charset="-122"/>
                <a:cs typeface="Calibri" pitchFamily="34" charset="-120"/>
              </a:rPr>
              <a:t>251 Episoden</a:t>
            </a:r>
            <a:endParaRPr lang="en-US" sz="900" dirty="0"/>
          </a:p>
        </p:txBody>
      </p:sp>
      <p:sp>
        <p:nvSpPr>
          <p:cNvPr id="80" name="Shape 78"/>
          <p:cNvSpPr/>
          <p:nvPr/>
        </p:nvSpPr>
        <p:spPr>
          <a:xfrm>
            <a:off x="8092440" y="4059936"/>
            <a:ext cx="1408176" cy="658368"/>
          </a:xfrm>
          <a:prstGeom prst="rect">
            <a:avLst/>
          </a:prstGeom>
          <a:solidFill>
            <a:srgbClr val="E9F0F3"/>
          </a:solidFill>
          <a:ln w="19050">
            <a:solidFill>
              <a:srgbClr val="FFFFFF"/>
            </a:solidFill>
            <a:prstDash val="solid"/>
          </a:ln>
        </p:spPr>
      </p:sp>
      <p:sp>
        <p:nvSpPr>
          <p:cNvPr id="81" name="Text 79"/>
          <p:cNvSpPr/>
          <p:nvPr/>
        </p:nvSpPr>
        <p:spPr>
          <a:xfrm>
            <a:off x="8092440" y="4151376"/>
            <a:ext cx="1408176" cy="310896"/>
          </a:xfrm>
          <a:prstGeom prst="rect">
            <a:avLst/>
          </a:prstGeom>
          <a:noFill/>
          <a:ln/>
        </p:spPr>
        <p:txBody>
          <a:bodyPr wrap="square" lIns="0" tIns="0" rIns="0" bIns="0" rtlCol="0" anchor="ctr"/>
          <a:lstStyle/>
          <a:p>
            <a:pPr algn="ctr" indent="0" marL="0">
              <a:buNone/>
            </a:pPr>
            <a:r>
              <a:rPr lang="en-US" sz="1200" dirty="0">
                <a:solidFill>
                  <a:srgbClr val="6E7681"/>
                </a:solidFill>
                <a:latin typeface="Calibri" pitchFamily="34" charset="0"/>
                <a:ea typeface="Calibri" pitchFamily="34" charset="-122"/>
                <a:cs typeface="Calibri" pitchFamily="34" charset="-120"/>
              </a:rPr>
              <a:t>-4.754</a:t>
            </a:r>
            <a:pPr algn="ctr" indent="0" marL="0">
              <a:buNone/>
            </a:pPr>
            <a:r>
              <a:rPr lang="en-US" sz="1200" dirty="0">
                <a:solidFill>
                  <a:srgbClr val="6E7681"/>
                </a:solidFill>
                <a:latin typeface="Calibri" pitchFamily="34" charset="0"/>
                <a:ea typeface="Calibri" pitchFamily="34" charset="-122"/>
                <a:cs typeface="Calibri" pitchFamily="34" charset="-120"/>
              </a:rPr>
              <a:t>  →  </a:t>
            </a:r>
            <a:pPr algn="ctr" indent="0" marL="0">
              <a:buNone/>
            </a:pPr>
            <a:r>
              <a:rPr lang="en-US" sz="1200" b="1" dirty="0">
                <a:solidFill>
                  <a:srgbClr val="1C6E8C"/>
                </a:solidFill>
                <a:latin typeface="Calibri" pitchFamily="34" charset="0"/>
                <a:ea typeface="Calibri" pitchFamily="34" charset="-122"/>
                <a:cs typeface="Calibri" pitchFamily="34" charset="-120"/>
              </a:rPr>
              <a:t>-21</a:t>
            </a:r>
            <a:endParaRPr lang="en-US" sz="1200" dirty="0"/>
          </a:p>
        </p:txBody>
      </p:sp>
      <p:sp>
        <p:nvSpPr>
          <p:cNvPr id="82" name="Text 80"/>
          <p:cNvSpPr/>
          <p:nvPr/>
        </p:nvSpPr>
        <p:spPr>
          <a:xfrm>
            <a:off x="8092440" y="4462272"/>
            <a:ext cx="1408176" cy="219456"/>
          </a:xfrm>
          <a:prstGeom prst="rect">
            <a:avLst/>
          </a:prstGeom>
          <a:noFill/>
          <a:ln/>
        </p:spPr>
        <p:txBody>
          <a:bodyPr wrap="square" lIns="0" tIns="0" rIns="0" bIns="0" rtlCol="0" anchor="ctr"/>
          <a:lstStyle/>
          <a:p>
            <a:pPr algn="ctr" indent="0" marL="0">
              <a:buNone/>
            </a:pPr>
            <a:r>
              <a:rPr lang="en-US" sz="900" dirty="0">
                <a:solidFill>
                  <a:srgbClr val="6E7681"/>
                </a:solidFill>
                <a:latin typeface="Calibri" pitchFamily="34" charset="0"/>
                <a:ea typeface="Calibri" pitchFamily="34" charset="-122"/>
                <a:cs typeface="Calibri" pitchFamily="34" charset="-120"/>
              </a:rPr>
              <a:t>251 Episoden</a:t>
            </a:r>
            <a:endParaRPr lang="en-US" sz="900" dirty="0"/>
          </a:p>
        </p:txBody>
      </p:sp>
      <p:sp>
        <p:nvSpPr>
          <p:cNvPr id="83" name="Shape 81"/>
          <p:cNvSpPr/>
          <p:nvPr/>
        </p:nvSpPr>
        <p:spPr>
          <a:xfrm>
            <a:off x="9555480" y="4059936"/>
            <a:ext cx="1408176" cy="658368"/>
          </a:xfrm>
          <a:prstGeom prst="rect">
            <a:avLst/>
          </a:prstGeom>
          <a:solidFill>
            <a:srgbClr val="E9F0F3"/>
          </a:solidFill>
          <a:ln w="19050">
            <a:solidFill>
              <a:srgbClr val="FFFFFF"/>
            </a:solidFill>
            <a:prstDash val="solid"/>
          </a:ln>
        </p:spPr>
      </p:sp>
      <p:sp>
        <p:nvSpPr>
          <p:cNvPr id="84" name="Text 82"/>
          <p:cNvSpPr/>
          <p:nvPr/>
        </p:nvSpPr>
        <p:spPr>
          <a:xfrm>
            <a:off x="9555480" y="4151376"/>
            <a:ext cx="1408176" cy="310896"/>
          </a:xfrm>
          <a:prstGeom prst="rect">
            <a:avLst/>
          </a:prstGeom>
          <a:noFill/>
          <a:ln/>
        </p:spPr>
        <p:txBody>
          <a:bodyPr wrap="square" lIns="0" tIns="0" rIns="0" bIns="0" rtlCol="0" anchor="ctr"/>
          <a:lstStyle/>
          <a:p>
            <a:pPr algn="ctr" indent="0" marL="0">
              <a:buNone/>
            </a:pPr>
            <a:r>
              <a:rPr lang="en-US" sz="1200" dirty="0">
                <a:solidFill>
                  <a:srgbClr val="6E7681"/>
                </a:solidFill>
                <a:latin typeface="Calibri" pitchFamily="34" charset="0"/>
                <a:ea typeface="Calibri" pitchFamily="34" charset="-122"/>
                <a:cs typeface="Calibri" pitchFamily="34" charset="-120"/>
              </a:rPr>
              <a:t>-3.607</a:t>
            </a:r>
            <a:pPr algn="ctr" indent="0" marL="0">
              <a:buNone/>
            </a:pPr>
            <a:r>
              <a:rPr lang="en-US" sz="1200" dirty="0">
                <a:solidFill>
                  <a:srgbClr val="6E7681"/>
                </a:solidFill>
                <a:latin typeface="Calibri" pitchFamily="34" charset="0"/>
                <a:ea typeface="Calibri" pitchFamily="34" charset="-122"/>
                <a:cs typeface="Calibri" pitchFamily="34" charset="-120"/>
              </a:rPr>
              <a:t>  →  </a:t>
            </a:r>
            <a:pPr algn="ctr" indent="0" marL="0">
              <a:buNone/>
            </a:pPr>
            <a:r>
              <a:rPr lang="en-US" sz="1200" b="1" dirty="0">
                <a:solidFill>
                  <a:srgbClr val="1C6E8C"/>
                </a:solidFill>
                <a:latin typeface="Calibri" pitchFamily="34" charset="0"/>
                <a:ea typeface="Calibri" pitchFamily="34" charset="-122"/>
                <a:cs typeface="Calibri" pitchFamily="34" charset="-120"/>
              </a:rPr>
              <a:t>-94</a:t>
            </a:r>
            <a:endParaRPr lang="en-US" sz="1200" dirty="0"/>
          </a:p>
        </p:txBody>
      </p:sp>
      <p:sp>
        <p:nvSpPr>
          <p:cNvPr id="85" name="Text 83"/>
          <p:cNvSpPr/>
          <p:nvPr/>
        </p:nvSpPr>
        <p:spPr>
          <a:xfrm>
            <a:off x="9555480" y="4462272"/>
            <a:ext cx="1408176" cy="219456"/>
          </a:xfrm>
          <a:prstGeom prst="rect">
            <a:avLst/>
          </a:prstGeom>
          <a:noFill/>
          <a:ln/>
        </p:spPr>
        <p:txBody>
          <a:bodyPr wrap="square" lIns="0" tIns="0" rIns="0" bIns="0" rtlCol="0" anchor="ctr"/>
          <a:lstStyle/>
          <a:p>
            <a:pPr algn="ctr" indent="0" marL="0">
              <a:buNone/>
            </a:pPr>
            <a:r>
              <a:rPr lang="en-US" sz="900" dirty="0">
                <a:solidFill>
                  <a:srgbClr val="6E7681"/>
                </a:solidFill>
                <a:latin typeface="Calibri" pitchFamily="34" charset="0"/>
                <a:ea typeface="Calibri" pitchFamily="34" charset="-122"/>
                <a:cs typeface="Calibri" pitchFamily="34" charset="-120"/>
              </a:rPr>
              <a:t>251 Episoden</a:t>
            </a:r>
            <a:endParaRPr lang="en-US" sz="900" dirty="0"/>
          </a:p>
        </p:txBody>
      </p:sp>
      <p:sp>
        <p:nvSpPr>
          <p:cNvPr id="86" name="Text 84"/>
          <p:cNvSpPr/>
          <p:nvPr/>
        </p:nvSpPr>
        <p:spPr>
          <a:xfrm>
            <a:off x="640080" y="5029200"/>
            <a:ext cx="10881360" cy="320040"/>
          </a:xfrm>
          <a:prstGeom prst="rect">
            <a:avLst/>
          </a:prstGeom>
          <a:noFill/>
          <a:ln/>
        </p:spPr>
        <p:txBody>
          <a:bodyPr wrap="square" lIns="0" tIns="0" rIns="0" bIns="0" rtlCol="0" anchor="ctr"/>
          <a:lstStyle/>
          <a:p>
            <a:pPr indent="0" marL="0">
              <a:buNone/>
            </a:pPr>
            <a:r>
              <a:rPr lang="en-US" sz="1300" dirty="0">
                <a:solidFill>
                  <a:srgbClr val="23282F"/>
                </a:solidFill>
                <a:latin typeface="Calibri" pitchFamily="34" charset="0"/>
                <a:ea typeface="Calibri" pitchFamily="34" charset="-122"/>
                <a:cs typeface="Calibri" pitchFamily="34" charset="-120"/>
              </a:rPr>
              <a:t>Blau = der Verteidiger verbessert sich im Lauf des Trainings. Rot = er verliert an Boden.</a:t>
            </a:r>
            <a:endParaRPr lang="en-US" sz="1300" dirty="0"/>
          </a:p>
        </p:txBody>
      </p:sp>
      <p:sp>
        <p:nvSpPr>
          <p:cNvPr id="87" name="Text 85"/>
          <p:cNvSpPr/>
          <p:nvPr/>
        </p:nvSpPr>
        <p:spPr>
          <a:xfrm>
            <a:off x="640080" y="5349240"/>
            <a:ext cx="10881360" cy="640080"/>
          </a:xfrm>
          <a:prstGeom prst="rect">
            <a:avLst/>
          </a:prstGeom>
          <a:noFill/>
          <a:ln/>
        </p:spPr>
        <p:txBody>
          <a:bodyPr wrap="square" lIns="0" tIns="0" rIns="0" bIns="0" rtlCol="0" anchor="ctr"/>
          <a:lstStyle/>
          <a:p>
            <a:pPr indent="0" marL="0">
              <a:buNone/>
            </a:pPr>
            <a:r>
              <a:rPr lang="en-US" sz="1200" dirty="0">
                <a:solidFill>
                  <a:srgbClr val="6E7681"/>
                </a:solidFill>
                <a:latin typeface="Calibri" pitchFamily="34" charset="0"/>
                <a:ea typeface="Calibri" pitchFamily="34" charset="-122"/>
                <a:cs typeface="Calibri" pitchFamily="34" charset="-120"/>
              </a:rPr>
              <a:t>Jede Zelle verbessert sich deutlich, auch wenn das Konvergenzkriterium das nicht anzeigt (Folie 3). Am stärksten fällt die Verbesserung dort aus, wo der Startwert extrem negativ ist: Flat gegen Flat startet bei −12.283 und landet bei −750, Hub &amp; Spoke gegen sich selbst bei −9.352 auf −102. Kein einziges Matchup verschlechtert sich.</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640080" y="384048"/>
            <a:ext cx="10881360" cy="566928"/>
          </a:xfrm>
          <a:prstGeom prst="rect">
            <a:avLst/>
          </a:prstGeom>
          <a:noFill/>
          <a:ln/>
        </p:spPr>
        <p:txBody>
          <a:bodyPr wrap="square" lIns="0" tIns="0" rIns="0" bIns="0" rtlCol="0" anchor="ctr"/>
          <a:lstStyle/>
          <a:p>
            <a:pPr indent="0" marL="0">
              <a:buNone/>
            </a:pPr>
            <a:r>
              <a:rPr lang="en-US" sz="3400" b="1" dirty="0">
                <a:solidFill>
                  <a:srgbClr val="23282F"/>
                </a:solidFill>
                <a:latin typeface="Cambria" pitchFamily="34" charset="0"/>
                <a:ea typeface="Cambria" pitchFamily="34" charset="-122"/>
                <a:cs typeface="Cambria" pitchFamily="34" charset="-120"/>
              </a:rPr>
              <a:t>Angreifer-Reward: Beginn und Ende des Trainings</a:t>
            </a:r>
            <a:endParaRPr lang="en-US" sz="3400" dirty="0"/>
          </a:p>
        </p:txBody>
      </p:sp>
      <p:sp>
        <p:nvSpPr>
          <p:cNvPr id="3" name="Text 1"/>
          <p:cNvSpPr/>
          <p:nvPr/>
        </p:nvSpPr>
        <p:spPr>
          <a:xfrm>
            <a:off x="640080" y="969264"/>
            <a:ext cx="10881360" cy="493776"/>
          </a:xfrm>
          <a:prstGeom prst="rect">
            <a:avLst/>
          </a:prstGeom>
          <a:noFill/>
          <a:ln/>
        </p:spPr>
        <p:txBody>
          <a:bodyPr wrap="square" lIns="0" tIns="0" rIns="0" bIns="0" rtlCol="0" anchor="ctr"/>
          <a:lstStyle/>
          <a:p>
            <a:pPr indent="0" marL="0">
              <a:buNone/>
            </a:pPr>
            <a:r>
              <a:rPr lang="en-US" sz="1400" dirty="0">
                <a:solidFill>
                  <a:srgbClr val="6E7681"/>
                </a:solidFill>
                <a:latin typeface="Calibri" pitchFamily="34" charset="0"/>
                <a:ea typeface="Calibri" pitchFamily="34" charset="-122"/>
                <a:cs typeface="Calibri" pitchFamily="34" charset="-120"/>
              </a:rPr>
              <a:t>Dieselbe Rechnung für die Gegenseite: Zeigt sie, dass der Verteidiger den Angreifer über die Zeit zurückdrängt?</a:t>
            </a:r>
            <a:endParaRPr lang="en-US" sz="1400" dirty="0"/>
          </a:p>
        </p:txBody>
      </p:sp>
      <p:sp>
        <p:nvSpPr>
          <p:cNvPr id="4" name="Text 2"/>
          <p:cNvSpPr/>
          <p:nvPr/>
        </p:nvSpPr>
        <p:spPr>
          <a:xfrm>
            <a:off x="2240280" y="1554480"/>
            <a:ext cx="1463040" cy="310896"/>
          </a:xfrm>
          <a:prstGeom prst="rect">
            <a:avLst/>
          </a:prstGeom>
          <a:noFill/>
          <a:ln/>
        </p:spPr>
        <p:txBody>
          <a:bodyPr wrap="square" lIns="0" tIns="0" rIns="0" bIns="0" rtlCol="0" anchor="ctr"/>
          <a:lstStyle/>
          <a:p>
            <a:pPr algn="ctr" indent="0" marL="0">
              <a:buNone/>
            </a:pPr>
            <a:r>
              <a:rPr lang="en-US" sz="1200" b="1" dirty="0">
                <a:solidFill>
                  <a:srgbClr val="6E7681"/>
                </a:solidFill>
                <a:latin typeface="Calibri" pitchFamily="34" charset="0"/>
                <a:ea typeface="Calibri" pitchFamily="34" charset="-122"/>
                <a:cs typeface="Calibri" pitchFamily="34" charset="-120"/>
              </a:rPr>
              <a:t>Chain</a:t>
            </a:r>
            <a:endParaRPr lang="en-US" sz="1200" dirty="0"/>
          </a:p>
        </p:txBody>
      </p:sp>
      <p:sp>
        <p:nvSpPr>
          <p:cNvPr id="5" name="Text 3"/>
          <p:cNvSpPr/>
          <p:nvPr/>
        </p:nvSpPr>
        <p:spPr>
          <a:xfrm>
            <a:off x="3703320" y="1554480"/>
            <a:ext cx="1463040" cy="310896"/>
          </a:xfrm>
          <a:prstGeom prst="rect">
            <a:avLst/>
          </a:prstGeom>
          <a:noFill/>
          <a:ln/>
        </p:spPr>
        <p:txBody>
          <a:bodyPr wrap="square" lIns="0" tIns="0" rIns="0" bIns="0" rtlCol="0" anchor="ctr"/>
          <a:lstStyle/>
          <a:p>
            <a:pPr algn="ctr" indent="0" marL="0">
              <a:buNone/>
            </a:pPr>
            <a:r>
              <a:rPr lang="en-US" sz="1200" b="1" dirty="0">
                <a:solidFill>
                  <a:srgbClr val="6E7681"/>
                </a:solidFill>
                <a:latin typeface="Calibri" pitchFamily="34" charset="0"/>
                <a:ea typeface="Calibri" pitchFamily="34" charset="-122"/>
                <a:cs typeface="Calibri" pitchFamily="34" charset="-120"/>
              </a:rPr>
              <a:t>Flat</a:t>
            </a:r>
            <a:endParaRPr lang="en-US" sz="1200" dirty="0"/>
          </a:p>
        </p:txBody>
      </p:sp>
      <p:sp>
        <p:nvSpPr>
          <p:cNvPr id="6" name="Text 4"/>
          <p:cNvSpPr/>
          <p:nvPr/>
        </p:nvSpPr>
        <p:spPr>
          <a:xfrm>
            <a:off x="5166360" y="1554480"/>
            <a:ext cx="1463040" cy="310896"/>
          </a:xfrm>
          <a:prstGeom prst="rect">
            <a:avLst/>
          </a:prstGeom>
          <a:noFill/>
          <a:ln/>
        </p:spPr>
        <p:txBody>
          <a:bodyPr wrap="square" lIns="0" tIns="0" rIns="0" bIns="0" rtlCol="0" anchor="ctr"/>
          <a:lstStyle/>
          <a:p>
            <a:pPr algn="ctr" indent="0" marL="0">
              <a:buNone/>
            </a:pPr>
            <a:r>
              <a:rPr lang="en-US" sz="1200" b="1" dirty="0">
                <a:solidFill>
                  <a:srgbClr val="6E7681"/>
                </a:solidFill>
                <a:latin typeface="Calibri" pitchFamily="34" charset="0"/>
                <a:ea typeface="Calibri" pitchFamily="34" charset="-122"/>
                <a:cs typeface="Calibri" pitchFamily="34" charset="-120"/>
              </a:rPr>
              <a:t>Hub &amp; Spoke</a:t>
            </a:r>
            <a:endParaRPr lang="en-US" sz="1200" dirty="0"/>
          </a:p>
        </p:txBody>
      </p:sp>
      <p:sp>
        <p:nvSpPr>
          <p:cNvPr id="7" name="Text 5"/>
          <p:cNvSpPr/>
          <p:nvPr/>
        </p:nvSpPr>
        <p:spPr>
          <a:xfrm>
            <a:off x="6629400" y="1554480"/>
            <a:ext cx="1463040" cy="310896"/>
          </a:xfrm>
          <a:prstGeom prst="rect">
            <a:avLst/>
          </a:prstGeom>
          <a:noFill/>
          <a:ln/>
        </p:spPr>
        <p:txBody>
          <a:bodyPr wrap="square" lIns="0" tIns="0" rIns="0" bIns="0" rtlCol="0" anchor="ctr"/>
          <a:lstStyle/>
          <a:p>
            <a:pPr algn="ctr" indent="0" marL="0">
              <a:buNone/>
            </a:pPr>
            <a:r>
              <a:rPr lang="en-US" sz="1200" b="1" dirty="0">
                <a:solidFill>
                  <a:srgbClr val="6E7681"/>
                </a:solidFill>
                <a:latin typeface="Calibri" pitchFamily="34" charset="0"/>
                <a:ea typeface="Calibri" pitchFamily="34" charset="-122"/>
                <a:cs typeface="Calibri" pitchFamily="34" charset="-120"/>
              </a:rPr>
              <a:t>DMZ</a:t>
            </a:r>
            <a:endParaRPr lang="en-US" sz="1200" dirty="0"/>
          </a:p>
        </p:txBody>
      </p:sp>
      <p:sp>
        <p:nvSpPr>
          <p:cNvPr id="8" name="Text 6"/>
          <p:cNvSpPr/>
          <p:nvPr/>
        </p:nvSpPr>
        <p:spPr>
          <a:xfrm>
            <a:off x="8092440" y="1554480"/>
            <a:ext cx="1463040" cy="310896"/>
          </a:xfrm>
          <a:prstGeom prst="rect">
            <a:avLst/>
          </a:prstGeom>
          <a:noFill/>
          <a:ln/>
        </p:spPr>
        <p:txBody>
          <a:bodyPr wrap="square" lIns="0" tIns="0" rIns="0" bIns="0" rtlCol="0" anchor="ctr"/>
          <a:lstStyle/>
          <a:p>
            <a:pPr algn="ctr" indent="0" marL="0">
              <a:buNone/>
            </a:pPr>
            <a:r>
              <a:rPr lang="en-US" sz="1200" b="1" dirty="0">
                <a:solidFill>
                  <a:srgbClr val="6E7681"/>
                </a:solidFill>
                <a:latin typeface="Calibri" pitchFamily="34" charset="0"/>
                <a:ea typeface="Calibri" pitchFamily="34" charset="-122"/>
                <a:cs typeface="Calibri" pitchFamily="34" charset="-120"/>
              </a:rPr>
              <a:t>Micro-Seg.</a:t>
            </a:r>
            <a:endParaRPr lang="en-US" sz="1200" dirty="0"/>
          </a:p>
        </p:txBody>
      </p:sp>
      <p:sp>
        <p:nvSpPr>
          <p:cNvPr id="9" name="Text 7"/>
          <p:cNvSpPr/>
          <p:nvPr/>
        </p:nvSpPr>
        <p:spPr>
          <a:xfrm>
            <a:off x="9555480" y="1554480"/>
            <a:ext cx="1463040" cy="310896"/>
          </a:xfrm>
          <a:prstGeom prst="rect">
            <a:avLst/>
          </a:prstGeom>
          <a:noFill/>
          <a:ln/>
        </p:spPr>
        <p:txBody>
          <a:bodyPr wrap="square" lIns="0" tIns="0" rIns="0" bIns="0" rtlCol="0" anchor="ctr"/>
          <a:lstStyle/>
          <a:p>
            <a:pPr algn="ctr" indent="0" marL="0">
              <a:buNone/>
            </a:pPr>
            <a:r>
              <a:rPr lang="en-US" sz="1200" b="1" dirty="0">
                <a:solidFill>
                  <a:srgbClr val="6E7681"/>
                </a:solidFill>
                <a:latin typeface="Calibri" pitchFamily="34" charset="0"/>
                <a:ea typeface="Calibri" pitchFamily="34" charset="-122"/>
                <a:cs typeface="Calibri" pitchFamily="34" charset="-120"/>
              </a:rPr>
              <a:t>Super</a:t>
            </a:r>
            <a:endParaRPr lang="en-US" sz="1200" dirty="0"/>
          </a:p>
        </p:txBody>
      </p:sp>
      <p:sp>
        <p:nvSpPr>
          <p:cNvPr id="10" name="Text 8"/>
          <p:cNvSpPr/>
          <p:nvPr/>
        </p:nvSpPr>
        <p:spPr>
          <a:xfrm>
            <a:off x="640080" y="1920240"/>
            <a:ext cx="1508760" cy="713232"/>
          </a:xfrm>
          <a:prstGeom prst="rect">
            <a:avLst/>
          </a:prstGeom>
          <a:noFill/>
          <a:ln/>
        </p:spPr>
        <p:txBody>
          <a:bodyPr wrap="square" lIns="0" tIns="0" rIns="0" bIns="0" rtlCol="0" anchor="ctr"/>
          <a:lstStyle/>
          <a:p>
            <a:pPr algn="r" indent="0" marL="0">
              <a:buNone/>
            </a:pPr>
            <a:r>
              <a:rPr lang="en-US" sz="1300" b="1" dirty="0">
                <a:solidFill>
                  <a:srgbClr val="23282F"/>
                </a:solidFill>
                <a:latin typeface="Calibri" pitchFamily="34" charset="0"/>
                <a:ea typeface="Calibri" pitchFamily="34" charset="-122"/>
                <a:cs typeface="Calibri" pitchFamily="34" charset="-120"/>
              </a:rPr>
              <a:t>Flat</a:t>
            </a:r>
            <a:endParaRPr lang="en-US" sz="1300" dirty="0"/>
          </a:p>
        </p:txBody>
      </p:sp>
      <p:sp>
        <p:nvSpPr>
          <p:cNvPr id="11" name="Shape 9"/>
          <p:cNvSpPr/>
          <p:nvPr/>
        </p:nvSpPr>
        <p:spPr>
          <a:xfrm>
            <a:off x="2240280" y="1920240"/>
            <a:ext cx="1408176" cy="658368"/>
          </a:xfrm>
          <a:prstGeom prst="rect">
            <a:avLst/>
          </a:prstGeom>
          <a:solidFill>
            <a:srgbClr val="E9F0F3"/>
          </a:solidFill>
          <a:ln w="19050">
            <a:solidFill>
              <a:srgbClr val="FFFFFF"/>
            </a:solidFill>
            <a:prstDash val="solid"/>
          </a:ln>
        </p:spPr>
      </p:sp>
      <p:sp>
        <p:nvSpPr>
          <p:cNvPr id="12" name="Text 10"/>
          <p:cNvSpPr/>
          <p:nvPr/>
        </p:nvSpPr>
        <p:spPr>
          <a:xfrm>
            <a:off x="2240280" y="2011680"/>
            <a:ext cx="1408176" cy="310896"/>
          </a:xfrm>
          <a:prstGeom prst="rect">
            <a:avLst/>
          </a:prstGeom>
          <a:noFill/>
          <a:ln/>
        </p:spPr>
        <p:txBody>
          <a:bodyPr wrap="square" lIns="0" tIns="0" rIns="0" bIns="0" rtlCol="0" anchor="ctr"/>
          <a:lstStyle/>
          <a:p>
            <a:pPr algn="ctr" indent="0" marL="0">
              <a:buNone/>
            </a:pPr>
            <a:r>
              <a:rPr lang="en-US" sz="1200" dirty="0">
                <a:solidFill>
                  <a:srgbClr val="6E7681"/>
                </a:solidFill>
                <a:latin typeface="Calibri" pitchFamily="34" charset="0"/>
                <a:ea typeface="Calibri" pitchFamily="34" charset="-122"/>
                <a:cs typeface="Calibri" pitchFamily="34" charset="-120"/>
              </a:rPr>
              <a:t>298</a:t>
            </a:r>
            <a:pPr algn="ctr" indent="0" marL="0">
              <a:buNone/>
            </a:pPr>
            <a:r>
              <a:rPr lang="en-US" sz="1200" dirty="0">
                <a:solidFill>
                  <a:srgbClr val="6E7681"/>
                </a:solidFill>
                <a:latin typeface="Calibri" pitchFamily="34" charset="0"/>
                <a:ea typeface="Calibri" pitchFamily="34" charset="-122"/>
                <a:cs typeface="Calibri" pitchFamily="34" charset="-120"/>
              </a:rPr>
              <a:t>  →  </a:t>
            </a:r>
            <a:pPr algn="ctr" indent="0" marL="0">
              <a:buNone/>
            </a:pPr>
            <a:r>
              <a:rPr lang="en-US" sz="1200" b="1" dirty="0">
                <a:solidFill>
                  <a:srgbClr val="1C6E8C"/>
                </a:solidFill>
                <a:latin typeface="Calibri" pitchFamily="34" charset="0"/>
                <a:ea typeface="Calibri" pitchFamily="34" charset="-122"/>
                <a:cs typeface="Calibri" pitchFamily="34" charset="-120"/>
              </a:rPr>
              <a:t>166</a:t>
            </a:r>
            <a:endParaRPr lang="en-US" sz="1200" dirty="0"/>
          </a:p>
        </p:txBody>
      </p:sp>
      <p:sp>
        <p:nvSpPr>
          <p:cNvPr id="13" name="Text 11"/>
          <p:cNvSpPr/>
          <p:nvPr/>
        </p:nvSpPr>
        <p:spPr>
          <a:xfrm>
            <a:off x="2240280" y="2322576"/>
            <a:ext cx="1408176" cy="219456"/>
          </a:xfrm>
          <a:prstGeom prst="rect">
            <a:avLst/>
          </a:prstGeom>
          <a:noFill/>
          <a:ln/>
        </p:spPr>
        <p:txBody>
          <a:bodyPr wrap="square" lIns="0" tIns="0" rIns="0" bIns="0" rtlCol="0" anchor="ctr"/>
          <a:lstStyle/>
          <a:p>
            <a:pPr algn="ctr" indent="0" marL="0">
              <a:buNone/>
            </a:pPr>
            <a:r>
              <a:rPr lang="en-US" sz="900" dirty="0">
                <a:solidFill>
                  <a:srgbClr val="6E7681"/>
                </a:solidFill>
                <a:latin typeface="Calibri" pitchFamily="34" charset="0"/>
                <a:ea typeface="Calibri" pitchFamily="34" charset="-122"/>
                <a:cs typeface="Calibri" pitchFamily="34" charset="-120"/>
              </a:rPr>
              <a:t>251 Episoden</a:t>
            </a:r>
            <a:endParaRPr lang="en-US" sz="900" dirty="0"/>
          </a:p>
        </p:txBody>
      </p:sp>
      <p:sp>
        <p:nvSpPr>
          <p:cNvPr id="14" name="Shape 12"/>
          <p:cNvSpPr/>
          <p:nvPr/>
        </p:nvSpPr>
        <p:spPr>
          <a:xfrm>
            <a:off x="3703320" y="1920240"/>
            <a:ext cx="1408176" cy="658368"/>
          </a:xfrm>
          <a:prstGeom prst="rect">
            <a:avLst/>
          </a:prstGeom>
          <a:solidFill>
            <a:srgbClr val="E9F0F3"/>
          </a:solidFill>
          <a:ln w="19050">
            <a:solidFill>
              <a:srgbClr val="FFFFFF"/>
            </a:solidFill>
            <a:prstDash val="solid"/>
          </a:ln>
        </p:spPr>
      </p:sp>
      <p:sp>
        <p:nvSpPr>
          <p:cNvPr id="15" name="Text 13"/>
          <p:cNvSpPr/>
          <p:nvPr/>
        </p:nvSpPr>
        <p:spPr>
          <a:xfrm>
            <a:off x="3703320" y="2011680"/>
            <a:ext cx="1408176" cy="310896"/>
          </a:xfrm>
          <a:prstGeom prst="rect">
            <a:avLst/>
          </a:prstGeom>
          <a:noFill/>
          <a:ln/>
        </p:spPr>
        <p:txBody>
          <a:bodyPr wrap="square" lIns="0" tIns="0" rIns="0" bIns="0" rtlCol="0" anchor="ctr"/>
          <a:lstStyle/>
          <a:p>
            <a:pPr algn="ctr" indent="0" marL="0">
              <a:buNone/>
            </a:pPr>
            <a:r>
              <a:rPr lang="en-US" sz="1200" dirty="0">
                <a:solidFill>
                  <a:srgbClr val="6E7681"/>
                </a:solidFill>
                <a:latin typeface="Calibri" pitchFamily="34" charset="0"/>
                <a:ea typeface="Calibri" pitchFamily="34" charset="-122"/>
                <a:cs typeface="Calibri" pitchFamily="34" charset="-120"/>
              </a:rPr>
              <a:t>1.329</a:t>
            </a:r>
            <a:pPr algn="ctr" indent="0" marL="0">
              <a:buNone/>
            </a:pPr>
            <a:r>
              <a:rPr lang="en-US" sz="1200" dirty="0">
                <a:solidFill>
                  <a:srgbClr val="6E7681"/>
                </a:solidFill>
                <a:latin typeface="Calibri" pitchFamily="34" charset="0"/>
                <a:ea typeface="Calibri" pitchFamily="34" charset="-122"/>
                <a:cs typeface="Calibri" pitchFamily="34" charset="-120"/>
              </a:rPr>
              <a:t>  →  </a:t>
            </a:r>
            <a:pPr algn="ctr" indent="0" marL="0">
              <a:buNone/>
            </a:pPr>
            <a:r>
              <a:rPr lang="en-US" sz="1200" b="1" dirty="0">
                <a:solidFill>
                  <a:srgbClr val="1C6E8C"/>
                </a:solidFill>
                <a:latin typeface="Calibri" pitchFamily="34" charset="0"/>
                <a:ea typeface="Calibri" pitchFamily="34" charset="-122"/>
                <a:cs typeface="Calibri" pitchFamily="34" charset="-120"/>
              </a:rPr>
              <a:t>660</a:t>
            </a:r>
            <a:endParaRPr lang="en-US" sz="1200" dirty="0"/>
          </a:p>
        </p:txBody>
      </p:sp>
      <p:sp>
        <p:nvSpPr>
          <p:cNvPr id="16" name="Text 14"/>
          <p:cNvSpPr/>
          <p:nvPr/>
        </p:nvSpPr>
        <p:spPr>
          <a:xfrm>
            <a:off x="3703320" y="2322576"/>
            <a:ext cx="1408176" cy="219456"/>
          </a:xfrm>
          <a:prstGeom prst="rect">
            <a:avLst/>
          </a:prstGeom>
          <a:noFill/>
          <a:ln/>
        </p:spPr>
        <p:txBody>
          <a:bodyPr wrap="square" lIns="0" tIns="0" rIns="0" bIns="0" rtlCol="0" anchor="ctr"/>
          <a:lstStyle/>
          <a:p>
            <a:pPr algn="ctr" indent="0" marL="0">
              <a:buNone/>
            </a:pPr>
            <a:r>
              <a:rPr lang="en-US" sz="900" dirty="0">
                <a:solidFill>
                  <a:srgbClr val="6E7681"/>
                </a:solidFill>
                <a:latin typeface="Calibri" pitchFamily="34" charset="0"/>
                <a:ea typeface="Calibri" pitchFamily="34" charset="-122"/>
                <a:cs typeface="Calibri" pitchFamily="34" charset="-120"/>
              </a:rPr>
              <a:t>253 Episoden</a:t>
            </a:r>
            <a:endParaRPr lang="en-US" sz="900" dirty="0"/>
          </a:p>
        </p:txBody>
      </p:sp>
      <p:sp>
        <p:nvSpPr>
          <p:cNvPr id="17" name="Shape 15"/>
          <p:cNvSpPr/>
          <p:nvPr/>
        </p:nvSpPr>
        <p:spPr>
          <a:xfrm>
            <a:off x="5166360" y="1920240"/>
            <a:ext cx="1408176" cy="658368"/>
          </a:xfrm>
          <a:prstGeom prst="rect">
            <a:avLst/>
          </a:prstGeom>
          <a:solidFill>
            <a:srgbClr val="E9F0F3"/>
          </a:solidFill>
          <a:ln w="19050">
            <a:solidFill>
              <a:srgbClr val="FFFFFF"/>
            </a:solidFill>
            <a:prstDash val="solid"/>
          </a:ln>
        </p:spPr>
      </p:sp>
      <p:sp>
        <p:nvSpPr>
          <p:cNvPr id="18" name="Text 16"/>
          <p:cNvSpPr/>
          <p:nvPr/>
        </p:nvSpPr>
        <p:spPr>
          <a:xfrm>
            <a:off x="5166360" y="2011680"/>
            <a:ext cx="1408176" cy="310896"/>
          </a:xfrm>
          <a:prstGeom prst="rect">
            <a:avLst/>
          </a:prstGeom>
          <a:noFill/>
          <a:ln/>
        </p:spPr>
        <p:txBody>
          <a:bodyPr wrap="square" lIns="0" tIns="0" rIns="0" bIns="0" rtlCol="0" anchor="ctr"/>
          <a:lstStyle/>
          <a:p>
            <a:pPr algn="ctr" indent="0" marL="0">
              <a:buNone/>
            </a:pPr>
            <a:r>
              <a:rPr lang="en-US" sz="1200" dirty="0">
                <a:solidFill>
                  <a:srgbClr val="6E7681"/>
                </a:solidFill>
                <a:latin typeface="Calibri" pitchFamily="34" charset="0"/>
                <a:ea typeface="Calibri" pitchFamily="34" charset="-122"/>
                <a:cs typeface="Calibri" pitchFamily="34" charset="-120"/>
              </a:rPr>
              <a:t>322</a:t>
            </a:r>
            <a:pPr algn="ctr" indent="0" marL="0">
              <a:buNone/>
            </a:pPr>
            <a:r>
              <a:rPr lang="en-US" sz="1200" dirty="0">
                <a:solidFill>
                  <a:srgbClr val="6E7681"/>
                </a:solidFill>
                <a:latin typeface="Calibri" pitchFamily="34" charset="0"/>
                <a:ea typeface="Calibri" pitchFamily="34" charset="-122"/>
                <a:cs typeface="Calibri" pitchFamily="34" charset="-120"/>
              </a:rPr>
              <a:t>  →  </a:t>
            </a:r>
            <a:pPr algn="ctr" indent="0" marL="0">
              <a:buNone/>
            </a:pPr>
            <a:r>
              <a:rPr lang="en-US" sz="1200" b="1" dirty="0">
                <a:solidFill>
                  <a:srgbClr val="1C6E8C"/>
                </a:solidFill>
                <a:latin typeface="Calibri" pitchFamily="34" charset="0"/>
                <a:ea typeface="Calibri" pitchFamily="34" charset="-122"/>
                <a:cs typeface="Calibri" pitchFamily="34" charset="-120"/>
              </a:rPr>
              <a:t>174</a:t>
            </a:r>
            <a:endParaRPr lang="en-US" sz="1200" dirty="0"/>
          </a:p>
        </p:txBody>
      </p:sp>
      <p:sp>
        <p:nvSpPr>
          <p:cNvPr id="19" name="Text 17"/>
          <p:cNvSpPr/>
          <p:nvPr/>
        </p:nvSpPr>
        <p:spPr>
          <a:xfrm>
            <a:off x="5166360" y="2322576"/>
            <a:ext cx="1408176" cy="219456"/>
          </a:xfrm>
          <a:prstGeom prst="rect">
            <a:avLst/>
          </a:prstGeom>
          <a:noFill/>
          <a:ln/>
        </p:spPr>
        <p:txBody>
          <a:bodyPr wrap="square" lIns="0" tIns="0" rIns="0" bIns="0" rtlCol="0" anchor="ctr"/>
          <a:lstStyle/>
          <a:p>
            <a:pPr algn="ctr" indent="0" marL="0">
              <a:buNone/>
            </a:pPr>
            <a:r>
              <a:rPr lang="en-US" sz="900" dirty="0">
                <a:solidFill>
                  <a:srgbClr val="6E7681"/>
                </a:solidFill>
                <a:latin typeface="Calibri" pitchFamily="34" charset="0"/>
                <a:ea typeface="Calibri" pitchFamily="34" charset="-122"/>
                <a:cs typeface="Calibri" pitchFamily="34" charset="-120"/>
              </a:rPr>
              <a:t>251 Episoden</a:t>
            </a:r>
            <a:endParaRPr lang="en-US" sz="900" dirty="0"/>
          </a:p>
        </p:txBody>
      </p:sp>
      <p:sp>
        <p:nvSpPr>
          <p:cNvPr id="20" name="Shape 18"/>
          <p:cNvSpPr/>
          <p:nvPr/>
        </p:nvSpPr>
        <p:spPr>
          <a:xfrm>
            <a:off x="6629400" y="1920240"/>
            <a:ext cx="1408176" cy="658368"/>
          </a:xfrm>
          <a:prstGeom prst="rect">
            <a:avLst/>
          </a:prstGeom>
          <a:solidFill>
            <a:srgbClr val="E9F0F3"/>
          </a:solidFill>
          <a:ln w="19050">
            <a:solidFill>
              <a:srgbClr val="FFFFFF"/>
            </a:solidFill>
            <a:prstDash val="solid"/>
          </a:ln>
        </p:spPr>
      </p:sp>
      <p:sp>
        <p:nvSpPr>
          <p:cNvPr id="21" name="Text 19"/>
          <p:cNvSpPr/>
          <p:nvPr/>
        </p:nvSpPr>
        <p:spPr>
          <a:xfrm>
            <a:off x="6629400" y="2011680"/>
            <a:ext cx="1408176" cy="310896"/>
          </a:xfrm>
          <a:prstGeom prst="rect">
            <a:avLst/>
          </a:prstGeom>
          <a:noFill/>
          <a:ln/>
        </p:spPr>
        <p:txBody>
          <a:bodyPr wrap="square" lIns="0" tIns="0" rIns="0" bIns="0" rtlCol="0" anchor="ctr"/>
          <a:lstStyle/>
          <a:p>
            <a:pPr algn="ctr" indent="0" marL="0">
              <a:buNone/>
            </a:pPr>
            <a:r>
              <a:rPr lang="en-US" sz="1200" dirty="0">
                <a:solidFill>
                  <a:srgbClr val="6E7681"/>
                </a:solidFill>
                <a:latin typeface="Calibri" pitchFamily="34" charset="0"/>
                <a:ea typeface="Calibri" pitchFamily="34" charset="-122"/>
                <a:cs typeface="Calibri" pitchFamily="34" charset="-120"/>
              </a:rPr>
              <a:t>254</a:t>
            </a:r>
            <a:pPr algn="ctr" indent="0" marL="0">
              <a:buNone/>
            </a:pPr>
            <a:r>
              <a:rPr lang="en-US" sz="1200" dirty="0">
                <a:solidFill>
                  <a:srgbClr val="6E7681"/>
                </a:solidFill>
                <a:latin typeface="Calibri" pitchFamily="34" charset="0"/>
                <a:ea typeface="Calibri" pitchFamily="34" charset="-122"/>
                <a:cs typeface="Calibri" pitchFamily="34" charset="-120"/>
              </a:rPr>
              <a:t>  →  </a:t>
            </a:r>
            <a:pPr algn="ctr" indent="0" marL="0">
              <a:buNone/>
            </a:pPr>
            <a:r>
              <a:rPr lang="en-US" sz="1200" b="1" dirty="0">
                <a:solidFill>
                  <a:srgbClr val="1C6E8C"/>
                </a:solidFill>
                <a:latin typeface="Calibri" pitchFamily="34" charset="0"/>
                <a:ea typeface="Calibri" pitchFamily="34" charset="-122"/>
                <a:cs typeface="Calibri" pitchFamily="34" charset="-120"/>
              </a:rPr>
              <a:t>152</a:t>
            </a:r>
            <a:endParaRPr lang="en-US" sz="1200" dirty="0"/>
          </a:p>
        </p:txBody>
      </p:sp>
      <p:sp>
        <p:nvSpPr>
          <p:cNvPr id="22" name="Text 20"/>
          <p:cNvSpPr/>
          <p:nvPr/>
        </p:nvSpPr>
        <p:spPr>
          <a:xfrm>
            <a:off x="6629400" y="2322576"/>
            <a:ext cx="1408176" cy="219456"/>
          </a:xfrm>
          <a:prstGeom prst="rect">
            <a:avLst/>
          </a:prstGeom>
          <a:noFill/>
          <a:ln/>
        </p:spPr>
        <p:txBody>
          <a:bodyPr wrap="square" lIns="0" tIns="0" rIns="0" bIns="0" rtlCol="0" anchor="ctr"/>
          <a:lstStyle/>
          <a:p>
            <a:pPr algn="ctr" indent="0" marL="0">
              <a:buNone/>
            </a:pPr>
            <a:r>
              <a:rPr lang="en-US" sz="900" dirty="0">
                <a:solidFill>
                  <a:srgbClr val="6E7681"/>
                </a:solidFill>
                <a:latin typeface="Calibri" pitchFamily="34" charset="0"/>
                <a:ea typeface="Calibri" pitchFamily="34" charset="-122"/>
                <a:cs typeface="Calibri" pitchFamily="34" charset="-120"/>
              </a:rPr>
              <a:t>251 Episoden</a:t>
            </a:r>
            <a:endParaRPr lang="en-US" sz="900" dirty="0"/>
          </a:p>
        </p:txBody>
      </p:sp>
      <p:sp>
        <p:nvSpPr>
          <p:cNvPr id="23" name="Shape 21"/>
          <p:cNvSpPr/>
          <p:nvPr/>
        </p:nvSpPr>
        <p:spPr>
          <a:xfrm>
            <a:off x="8092440" y="1920240"/>
            <a:ext cx="1408176" cy="658368"/>
          </a:xfrm>
          <a:prstGeom prst="rect">
            <a:avLst/>
          </a:prstGeom>
          <a:solidFill>
            <a:srgbClr val="E9F0F3"/>
          </a:solidFill>
          <a:ln w="19050">
            <a:solidFill>
              <a:srgbClr val="FFFFFF"/>
            </a:solidFill>
            <a:prstDash val="solid"/>
          </a:ln>
        </p:spPr>
      </p:sp>
      <p:sp>
        <p:nvSpPr>
          <p:cNvPr id="24" name="Text 22"/>
          <p:cNvSpPr/>
          <p:nvPr/>
        </p:nvSpPr>
        <p:spPr>
          <a:xfrm>
            <a:off x="8092440" y="2011680"/>
            <a:ext cx="1408176" cy="310896"/>
          </a:xfrm>
          <a:prstGeom prst="rect">
            <a:avLst/>
          </a:prstGeom>
          <a:noFill/>
          <a:ln/>
        </p:spPr>
        <p:txBody>
          <a:bodyPr wrap="square" lIns="0" tIns="0" rIns="0" bIns="0" rtlCol="0" anchor="ctr"/>
          <a:lstStyle/>
          <a:p>
            <a:pPr algn="ctr" indent="0" marL="0">
              <a:buNone/>
            </a:pPr>
            <a:r>
              <a:rPr lang="en-US" sz="1200" dirty="0">
                <a:solidFill>
                  <a:srgbClr val="6E7681"/>
                </a:solidFill>
                <a:latin typeface="Calibri" pitchFamily="34" charset="0"/>
                <a:ea typeface="Calibri" pitchFamily="34" charset="-122"/>
                <a:cs typeface="Calibri" pitchFamily="34" charset="-120"/>
              </a:rPr>
              <a:t>301</a:t>
            </a:r>
            <a:pPr algn="ctr" indent="0" marL="0">
              <a:buNone/>
            </a:pPr>
            <a:r>
              <a:rPr lang="en-US" sz="1200" dirty="0">
                <a:solidFill>
                  <a:srgbClr val="6E7681"/>
                </a:solidFill>
                <a:latin typeface="Calibri" pitchFamily="34" charset="0"/>
                <a:ea typeface="Calibri" pitchFamily="34" charset="-122"/>
                <a:cs typeface="Calibri" pitchFamily="34" charset="-120"/>
              </a:rPr>
              <a:t>  →  </a:t>
            </a:r>
            <a:pPr algn="ctr" indent="0" marL="0">
              <a:buNone/>
            </a:pPr>
            <a:r>
              <a:rPr lang="en-US" sz="1200" b="1" dirty="0">
                <a:solidFill>
                  <a:srgbClr val="1C6E8C"/>
                </a:solidFill>
                <a:latin typeface="Calibri" pitchFamily="34" charset="0"/>
                <a:ea typeface="Calibri" pitchFamily="34" charset="-122"/>
                <a:cs typeface="Calibri" pitchFamily="34" charset="-120"/>
              </a:rPr>
              <a:t>176</a:t>
            </a:r>
            <a:endParaRPr lang="en-US" sz="1200" dirty="0"/>
          </a:p>
        </p:txBody>
      </p:sp>
      <p:sp>
        <p:nvSpPr>
          <p:cNvPr id="25" name="Text 23"/>
          <p:cNvSpPr/>
          <p:nvPr/>
        </p:nvSpPr>
        <p:spPr>
          <a:xfrm>
            <a:off x="8092440" y="2322576"/>
            <a:ext cx="1408176" cy="219456"/>
          </a:xfrm>
          <a:prstGeom prst="rect">
            <a:avLst/>
          </a:prstGeom>
          <a:noFill/>
          <a:ln/>
        </p:spPr>
        <p:txBody>
          <a:bodyPr wrap="square" lIns="0" tIns="0" rIns="0" bIns="0" rtlCol="0" anchor="ctr"/>
          <a:lstStyle/>
          <a:p>
            <a:pPr algn="ctr" indent="0" marL="0">
              <a:buNone/>
            </a:pPr>
            <a:r>
              <a:rPr lang="en-US" sz="900" dirty="0">
                <a:solidFill>
                  <a:srgbClr val="6E7681"/>
                </a:solidFill>
                <a:latin typeface="Calibri" pitchFamily="34" charset="0"/>
                <a:ea typeface="Calibri" pitchFamily="34" charset="-122"/>
                <a:cs typeface="Calibri" pitchFamily="34" charset="-120"/>
              </a:rPr>
              <a:t>251 Episoden</a:t>
            </a:r>
            <a:endParaRPr lang="en-US" sz="900" dirty="0"/>
          </a:p>
        </p:txBody>
      </p:sp>
      <p:sp>
        <p:nvSpPr>
          <p:cNvPr id="26" name="Shape 24"/>
          <p:cNvSpPr/>
          <p:nvPr/>
        </p:nvSpPr>
        <p:spPr>
          <a:xfrm>
            <a:off x="9555480" y="1920240"/>
            <a:ext cx="1408176" cy="658368"/>
          </a:xfrm>
          <a:prstGeom prst="rect">
            <a:avLst/>
          </a:prstGeom>
          <a:solidFill>
            <a:srgbClr val="E9F0F3"/>
          </a:solidFill>
          <a:ln w="19050">
            <a:solidFill>
              <a:srgbClr val="FFFFFF"/>
            </a:solidFill>
            <a:prstDash val="solid"/>
          </a:ln>
        </p:spPr>
      </p:sp>
      <p:sp>
        <p:nvSpPr>
          <p:cNvPr id="27" name="Text 25"/>
          <p:cNvSpPr/>
          <p:nvPr/>
        </p:nvSpPr>
        <p:spPr>
          <a:xfrm>
            <a:off x="9555480" y="2011680"/>
            <a:ext cx="1408176" cy="310896"/>
          </a:xfrm>
          <a:prstGeom prst="rect">
            <a:avLst/>
          </a:prstGeom>
          <a:noFill/>
          <a:ln/>
        </p:spPr>
        <p:txBody>
          <a:bodyPr wrap="square" lIns="0" tIns="0" rIns="0" bIns="0" rtlCol="0" anchor="ctr"/>
          <a:lstStyle/>
          <a:p>
            <a:pPr algn="ctr" indent="0" marL="0">
              <a:buNone/>
            </a:pPr>
            <a:r>
              <a:rPr lang="en-US" sz="1200" dirty="0">
                <a:solidFill>
                  <a:srgbClr val="6E7681"/>
                </a:solidFill>
                <a:latin typeface="Calibri" pitchFamily="34" charset="0"/>
                <a:ea typeface="Calibri" pitchFamily="34" charset="-122"/>
                <a:cs typeface="Calibri" pitchFamily="34" charset="-120"/>
              </a:rPr>
              <a:t>567</a:t>
            </a:r>
            <a:pPr algn="ctr" indent="0" marL="0">
              <a:buNone/>
            </a:pPr>
            <a:r>
              <a:rPr lang="en-US" sz="1200" dirty="0">
                <a:solidFill>
                  <a:srgbClr val="6E7681"/>
                </a:solidFill>
                <a:latin typeface="Calibri" pitchFamily="34" charset="0"/>
                <a:ea typeface="Calibri" pitchFamily="34" charset="-122"/>
                <a:cs typeface="Calibri" pitchFamily="34" charset="-120"/>
              </a:rPr>
              <a:t>  →  </a:t>
            </a:r>
            <a:pPr algn="ctr" indent="0" marL="0">
              <a:buNone/>
            </a:pPr>
            <a:r>
              <a:rPr lang="en-US" sz="1200" b="1" dirty="0">
                <a:solidFill>
                  <a:srgbClr val="1C6E8C"/>
                </a:solidFill>
                <a:latin typeface="Calibri" pitchFamily="34" charset="0"/>
                <a:ea typeface="Calibri" pitchFamily="34" charset="-122"/>
                <a:cs typeface="Calibri" pitchFamily="34" charset="-120"/>
              </a:rPr>
              <a:t>238</a:t>
            </a:r>
            <a:endParaRPr lang="en-US" sz="1200" dirty="0"/>
          </a:p>
        </p:txBody>
      </p:sp>
      <p:sp>
        <p:nvSpPr>
          <p:cNvPr id="28" name="Text 26"/>
          <p:cNvSpPr/>
          <p:nvPr/>
        </p:nvSpPr>
        <p:spPr>
          <a:xfrm>
            <a:off x="9555480" y="2322576"/>
            <a:ext cx="1408176" cy="219456"/>
          </a:xfrm>
          <a:prstGeom prst="rect">
            <a:avLst/>
          </a:prstGeom>
          <a:noFill/>
          <a:ln/>
        </p:spPr>
        <p:txBody>
          <a:bodyPr wrap="square" lIns="0" tIns="0" rIns="0" bIns="0" rtlCol="0" anchor="ctr"/>
          <a:lstStyle/>
          <a:p>
            <a:pPr algn="ctr" indent="0" marL="0">
              <a:buNone/>
            </a:pPr>
            <a:r>
              <a:rPr lang="en-US" sz="900" dirty="0">
                <a:solidFill>
                  <a:srgbClr val="6E7681"/>
                </a:solidFill>
                <a:latin typeface="Calibri" pitchFamily="34" charset="0"/>
                <a:ea typeface="Calibri" pitchFamily="34" charset="-122"/>
                <a:cs typeface="Calibri" pitchFamily="34" charset="-120"/>
              </a:rPr>
              <a:t>251 Episoden</a:t>
            </a:r>
            <a:endParaRPr lang="en-US" sz="900" dirty="0"/>
          </a:p>
        </p:txBody>
      </p:sp>
      <p:sp>
        <p:nvSpPr>
          <p:cNvPr id="29" name="Text 27"/>
          <p:cNvSpPr/>
          <p:nvPr/>
        </p:nvSpPr>
        <p:spPr>
          <a:xfrm>
            <a:off x="640080" y="2633472"/>
            <a:ext cx="1508760" cy="713232"/>
          </a:xfrm>
          <a:prstGeom prst="rect">
            <a:avLst/>
          </a:prstGeom>
          <a:noFill/>
          <a:ln/>
        </p:spPr>
        <p:txBody>
          <a:bodyPr wrap="square" lIns="0" tIns="0" rIns="0" bIns="0" rtlCol="0" anchor="ctr"/>
          <a:lstStyle/>
          <a:p>
            <a:pPr algn="r" indent="0" marL="0">
              <a:buNone/>
            </a:pPr>
            <a:r>
              <a:rPr lang="en-US" sz="1300" b="1" dirty="0">
                <a:solidFill>
                  <a:srgbClr val="23282F"/>
                </a:solidFill>
                <a:latin typeface="Calibri" pitchFamily="34" charset="0"/>
                <a:ea typeface="Calibri" pitchFamily="34" charset="-122"/>
                <a:cs typeface="Calibri" pitchFamily="34" charset="-120"/>
              </a:rPr>
              <a:t>Hub &amp; Spoke</a:t>
            </a:r>
            <a:endParaRPr lang="en-US" sz="1300" dirty="0"/>
          </a:p>
        </p:txBody>
      </p:sp>
      <p:sp>
        <p:nvSpPr>
          <p:cNvPr id="30" name="Shape 28"/>
          <p:cNvSpPr/>
          <p:nvPr/>
        </p:nvSpPr>
        <p:spPr>
          <a:xfrm>
            <a:off x="2240280" y="2633472"/>
            <a:ext cx="1408176" cy="658368"/>
          </a:xfrm>
          <a:prstGeom prst="rect">
            <a:avLst/>
          </a:prstGeom>
          <a:solidFill>
            <a:srgbClr val="E9F0F3"/>
          </a:solidFill>
          <a:ln w="19050">
            <a:solidFill>
              <a:srgbClr val="FFFFFF"/>
            </a:solidFill>
            <a:prstDash val="solid"/>
          </a:ln>
        </p:spPr>
      </p:sp>
      <p:sp>
        <p:nvSpPr>
          <p:cNvPr id="31" name="Text 29"/>
          <p:cNvSpPr/>
          <p:nvPr/>
        </p:nvSpPr>
        <p:spPr>
          <a:xfrm>
            <a:off x="2240280" y="2724912"/>
            <a:ext cx="1408176" cy="310896"/>
          </a:xfrm>
          <a:prstGeom prst="rect">
            <a:avLst/>
          </a:prstGeom>
          <a:noFill/>
          <a:ln/>
        </p:spPr>
        <p:txBody>
          <a:bodyPr wrap="square" lIns="0" tIns="0" rIns="0" bIns="0" rtlCol="0" anchor="ctr"/>
          <a:lstStyle/>
          <a:p>
            <a:pPr algn="ctr" indent="0" marL="0">
              <a:buNone/>
            </a:pPr>
            <a:r>
              <a:rPr lang="en-US" sz="1200" dirty="0">
                <a:solidFill>
                  <a:srgbClr val="6E7681"/>
                </a:solidFill>
                <a:latin typeface="Calibri" pitchFamily="34" charset="0"/>
                <a:ea typeface="Calibri" pitchFamily="34" charset="-122"/>
                <a:cs typeface="Calibri" pitchFamily="34" charset="-120"/>
              </a:rPr>
              <a:t>234</a:t>
            </a:r>
            <a:pPr algn="ctr" indent="0" marL="0">
              <a:buNone/>
            </a:pPr>
            <a:r>
              <a:rPr lang="en-US" sz="1200" dirty="0">
                <a:solidFill>
                  <a:srgbClr val="6E7681"/>
                </a:solidFill>
                <a:latin typeface="Calibri" pitchFamily="34" charset="0"/>
                <a:ea typeface="Calibri" pitchFamily="34" charset="-122"/>
                <a:cs typeface="Calibri" pitchFamily="34" charset="-120"/>
              </a:rPr>
              <a:t>  →  </a:t>
            </a:r>
            <a:pPr algn="ctr" indent="0" marL="0">
              <a:buNone/>
            </a:pPr>
            <a:r>
              <a:rPr lang="en-US" sz="1200" b="1" dirty="0">
                <a:solidFill>
                  <a:srgbClr val="1C6E8C"/>
                </a:solidFill>
                <a:latin typeface="Calibri" pitchFamily="34" charset="0"/>
                <a:ea typeface="Calibri" pitchFamily="34" charset="-122"/>
                <a:cs typeface="Calibri" pitchFamily="34" charset="-120"/>
              </a:rPr>
              <a:t>110</a:t>
            </a:r>
            <a:endParaRPr lang="en-US" sz="1200" dirty="0"/>
          </a:p>
        </p:txBody>
      </p:sp>
      <p:sp>
        <p:nvSpPr>
          <p:cNvPr id="32" name="Text 30"/>
          <p:cNvSpPr/>
          <p:nvPr/>
        </p:nvSpPr>
        <p:spPr>
          <a:xfrm>
            <a:off x="2240280" y="3035808"/>
            <a:ext cx="1408176" cy="219456"/>
          </a:xfrm>
          <a:prstGeom prst="rect">
            <a:avLst/>
          </a:prstGeom>
          <a:noFill/>
          <a:ln/>
        </p:spPr>
        <p:txBody>
          <a:bodyPr wrap="square" lIns="0" tIns="0" rIns="0" bIns="0" rtlCol="0" anchor="ctr"/>
          <a:lstStyle/>
          <a:p>
            <a:pPr algn="ctr" indent="0" marL="0">
              <a:buNone/>
            </a:pPr>
            <a:r>
              <a:rPr lang="en-US" sz="900" dirty="0">
                <a:solidFill>
                  <a:srgbClr val="6E7681"/>
                </a:solidFill>
                <a:latin typeface="Calibri" pitchFamily="34" charset="0"/>
                <a:ea typeface="Calibri" pitchFamily="34" charset="-122"/>
                <a:cs typeface="Calibri" pitchFamily="34" charset="-120"/>
              </a:rPr>
              <a:t>251 Episoden</a:t>
            </a:r>
            <a:endParaRPr lang="en-US" sz="900" dirty="0"/>
          </a:p>
        </p:txBody>
      </p:sp>
      <p:sp>
        <p:nvSpPr>
          <p:cNvPr id="33" name="Shape 31"/>
          <p:cNvSpPr/>
          <p:nvPr/>
        </p:nvSpPr>
        <p:spPr>
          <a:xfrm>
            <a:off x="3703320" y="2633472"/>
            <a:ext cx="1408176" cy="658368"/>
          </a:xfrm>
          <a:prstGeom prst="rect">
            <a:avLst/>
          </a:prstGeom>
          <a:solidFill>
            <a:srgbClr val="E9F0F3"/>
          </a:solidFill>
          <a:ln w="19050">
            <a:solidFill>
              <a:srgbClr val="FFFFFF"/>
            </a:solidFill>
            <a:prstDash val="solid"/>
          </a:ln>
        </p:spPr>
      </p:sp>
      <p:sp>
        <p:nvSpPr>
          <p:cNvPr id="34" name="Text 32"/>
          <p:cNvSpPr/>
          <p:nvPr/>
        </p:nvSpPr>
        <p:spPr>
          <a:xfrm>
            <a:off x="3703320" y="2724912"/>
            <a:ext cx="1408176" cy="310896"/>
          </a:xfrm>
          <a:prstGeom prst="rect">
            <a:avLst/>
          </a:prstGeom>
          <a:noFill/>
          <a:ln/>
        </p:spPr>
        <p:txBody>
          <a:bodyPr wrap="square" lIns="0" tIns="0" rIns="0" bIns="0" rtlCol="0" anchor="ctr"/>
          <a:lstStyle/>
          <a:p>
            <a:pPr algn="ctr" indent="0" marL="0">
              <a:buNone/>
            </a:pPr>
            <a:r>
              <a:rPr lang="en-US" sz="1200" dirty="0">
                <a:solidFill>
                  <a:srgbClr val="6E7681"/>
                </a:solidFill>
                <a:latin typeface="Calibri" pitchFamily="34" charset="0"/>
                <a:ea typeface="Calibri" pitchFamily="34" charset="-122"/>
                <a:cs typeface="Calibri" pitchFamily="34" charset="-120"/>
              </a:rPr>
              <a:t>280</a:t>
            </a:r>
            <a:pPr algn="ctr" indent="0" marL="0">
              <a:buNone/>
            </a:pPr>
            <a:r>
              <a:rPr lang="en-US" sz="1200" dirty="0">
                <a:solidFill>
                  <a:srgbClr val="6E7681"/>
                </a:solidFill>
                <a:latin typeface="Calibri" pitchFamily="34" charset="0"/>
                <a:ea typeface="Calibri" pitchFamily="34" charset="-122"/>
                <a:cs typeface="Calibri" pitchFamily="34" charset="-120"/>
              </a:rPr>
              <a:t>  →  </a:t>
            </a:r>
            <a:pPr algn="ctr" indent="0" marL="0">
              <a:buNone/>
            </a:pPr>
            <a:r>
              <a:rPr lang="en-US" sz="1200" b="1" dirty="0">
                <a:solidFill>
                  <a:srgbClr val="1C6E8C"/>
                </a:solidFill>
                <a:latin typeface="Calibri" pitchFamily="34" charset="0"/>
                <a:ea typeface="Calibri" pitchFamily="34" charset="-122"/>
                <a:cs typeface="Calibri" pitchFamily="34" charset="-120"/>
              </a:rPr>
              <a:t>77</a:t>
            </a:r>
            <a:endParaRPr lang="en-US" sz="1200" dirty="0"/>
          </a:p>
        </p:txBody>
      </p:sp>
      <p:sp>
        <p:nvSpPr>
          <p:cNvPr id="35" name="Text 33"/>
          <p:cNvSpPr/>
          <p:nvPr/>
        </p:nvSpPr>
        <p:spPr>
          <a:xfrm>
            <a:off x="3703320" y="3035808"/>
            <a:ext cx="1408176" cy="219456"/>
          </a:xfrm>
          <a:prstGeom prst="rect">
            <a:avLst/>
          </a:prstGeom>
          <a:noFill/>
          <a:ln/>
        </p:spPr>
        <p:txBody>
          <a:bodyPr wrap="square" lIns="0" tIns="0" rIns="0" bIns="0" rtlCol="0" anchor="ctr"/>
          <a:lstStyle/>
          <a:p>
            <a:pPr algn="ctr" indent="0" marL="0">
              <a:buNone/>
            </a:pPr>
            <a:r>
              <a:rPr lang="en-US" sz="900" dirty="0">
                <a:solidFill>
                  <a:srgbClr val="6E7681"/>
                </a:solidFill>
                <a:latin typeface="Calibri" pitchFamily="34" charset="0"/>
                <a:ea typeface="Calibri" pitchFamily="34" charset="-122"/>
                <a:cs typeface="Calibri" pitchFamily="34" charset="-120"/>
              </a:rPr>
              <a:t>251 Episoden</a:t>
            </a:r>
            <a:endParaRPr lang="en-US" sz="900" dirty="0"/>
          </a:p>
        </p:txBody>
      </p:sp>
      <p:sp>
        <p:nvSpPr>
          <p:cNvPr id="36" name="Shape 34"/>
          <p:cNvSpPr/>
          <p:nvPr/>
        </p:nvSpPr>
        <p:spPr>
          <a:xfrm>
            <a:off x="5166360" y="2633472"/>
            <a:ext cx="1408176" cy="658368"/>
          </a:xfrm>
          <a:prstGeom prst="rect">
            <a:avLst/>
          </a:prstGeom>
          <a:solidFill>
            <a:srgbClr val="E9F0F3"/>
          </a:solidFill>
          <a:ln w="19050">
            <a:solidFill>
              <a:srgbClr val="FFFFFF"/>
            </a:solidFill>
            <a:prstDash val="solid"/>
          </a:ln>
        </p:spPr>
      </p:sp>
      <p:sp>
        <p:nvSpPr>
          <p:cNvPr id="37" name="Text 35"/>
          <p:cNvSpPr/>
          <p:nvPr/>
        </p:nvSpPr>
        <p:spPr>
          <a:xfrm>
            <a:off x="5166360" y="2724912"/>
            <a:ext cx="1408176" cy="310896"/>
          </a:xfrm>
          <a:prstGeom prst="rect">
            <a:avLst/>
          </a:prstGeom>
          <a:noFill/>
          <a:ln/>
        </p:spPr>
        <p:txBody>
          <a:bodyPr wrap="square" lIns="0" tIns="0" rIns="0" bIns="0" rtlCol="0" anchor="ctr"/>
          <a:lstStyle/>
          <a:p>
            <a:pPr algn="ctr" indent="0" marL="0">
              <a:buNone/>
            </a:pPr>
            <a:r>
              <a:rPr lang="en-US" sz="1200" dirty="0">
                <a:solidFill>
                  <a:srgbClr val="6E7681"/>
                </a:solidFill>
                <a:latin typeface="Calibri" pitchFamily="34" charset="0"/>
                <a:ea typeface="Calibri" pitchFamily="34" charset="-122"/>
                <a:cs typeface="Calibri" pitchFamily="34" charset="-120"/>
              </a:rPr>
              <a:t>1.116</a:t>
            </a:r>
            <a:pPr algn="ctr" indent="0" marL="0">
              <a:buNone/>
            </a:pPr>
            <a:r>
              <a:rPr lang="en-US" sz="1200" dirty="0">
                <a:solidFill>
                  <a:srgbClr val="6E7681"/>
                </a:solidFill>
                <a:latin typeface="Calibri" pitchFamily="34" charset="0"/>
                <a:ea typeface="Calibri" pitchFamily="34" charset="-122"/>
                <a:cs typeface="Calibri" pitchFamily="34" charset="-120"/>
              </a:rPr>
              <a:t>  →  </a:t>
            </a:r>
            <a:pPr algn="ctr" indent="0" marL="0">
              <a:buNone/>
            </a:pPr>
            <a:r>
              <a:rPr lang="en-US" sz="1200" b="1" dirty="0">
                <a:solidFill>
                  <a:srgbClr val="1C6E8C"/>
                </a:solidFill>
                <a:latin typeface="Calibri" pitchFamily="34" charset="0"/>
                <a:ea typeface="Calibri" pitchFamily="34" charset="-122"/>
                <a:cs typeface="Calibri" pitchFamily="34" charset="-120"/>
              </a:rPr>
              <a:t>79</a:t>
            </a:r>
            <a:endParaRPr lang="en-US" sz="1200" dirty="0"/>
          </a:p>
        </p:txBody>
      </p:sp>
      <p:sp>
        <p:nvSpPr>
          <p:cNvPr id="38" name="Text 36"/>
          <p:cNvSpPr/>
          <p:nvPr/>
        </p:nvSpPr>
        <p:spPr>
          <a:xfrm>
            <a:off x="5166360" y="3035808"/>
            <a:ext cx="1408176" cy="219456"/>
          </a:xfrm>
          <a:prstGeom prst="rect">
            <a:avLst/>
          </a:prstGeom>
          <a:noFill/>
          <a:ln/>
        </p:spPr>
        <p:txBody>
          <a:bodyPr wrap="square" lIns="0" tIns="0" rIns="0" bIns="0" rtlCol="0" anchor="ctr"/>
          <a:lstStyle/>
          <a:p>
            <a:pPr algn="ctr" indent="0" marL="0">
              <a:buNone/>
            </a:pPr>
            <a:r>
              <a:rPr lang="en-US" sz="900" dirty="0">
                <a:solidFill>
                  <a:srgbClr val="6E7681"/>
                </a:solidFill>
                <a:latin typeface="Calibri" pitchFamily="34" charset="0"/>
                <a:ea typeface="Calibri" pitchFamily="34" charset="-122"/>
                <a:cs typeface="Calibri" pitchFamily="34" charset="-120"/>
              </a:rPr>
              <a:t>259 Episoden</a:t>
            </a:r>
            <a:endParaRPr lang="en-US" sz="900" dirty="0"/>
          </a:p>
        </p:txBody>
      </p:sp>
      <p:sp>
        <p:nvSpPr>
          <p:cNvPr id="39" name="Shape 37"/>
          <p:cNvSpPr/>
          <p:nvPr/>
        </p:nvSpPr>
        <p:spPr>
          <a:xfrm>
            <a:off x="6629400" y="2633472"/>
            <a:ext cx="1408176" cy="658368"/>
          </a:xfrm>
          <a:prstGeom prst="rect">
            <a:avLst/>
          </a:prstGeom>
          <a:solidFill>
            <a:srgbClr val="E9F0F3"/>
          </a:solidFill>
          <a:ln w="19050">
            <a:solidFill>
              <a:srgbClr val="FFFFFF"/>
            </a:solidFill>
            <a:prstDash val="solid"/>
          </a:ln>
        </p:spPr>
      </p:sp>
      <p:sp>
        <p:nvSpPr>
          <p:cNvPr id="40" name="Text 38"/>
          <p:cNvSpPr/>
          <p:nvPr/>
        </p:nvSpPr>
        <p:spPr>
          <a:xfrm>
            <a:off x="6629400" y="2724912"/>
            <a:ext cx="1408176" cy="310896"/>
          </a:xfrm>
          <a:prstGeom prst="rect">
            <a:avLst/>
          </a:prstGeom>
          <a:noFill/>
          <a:ln/>
        </p:spPr>
        <p:txBody>
          <a:bodyPr wrap="square" lIns="0" tIns="0" rIns="0" bIns="0" rtlCol="0" anchor="ctr"/>
          <a:lstStyle/>
          <a:p>
            <a:pPr algn="ctr" indent="0" marL="0">
              <a:buNone/>
            </a:pPr>
            <a:r>
              <a:rPr lang="en-US" sz="1200" dirty="0">
                <a:solidFill>
                  <a:srgbClr val="6E7681"/>
                </a:solidFill>
                <a:latin typeface="Calibri" pitchFamily="34" charset="0"/>
                <a:ea typeface="Calibri" pitchFamily="34" charset="-122"/>
                <a:cs typeface="Calibri" pitchFamily="34" charset="-120"/>
              </a:rPr>
              <a:t>133</a:t>
            </a:r>
            <a:pPr algn="ctr" indent="0" marL="0">
              <a:buNone/>
            </a:pPr>
            <a:r>
              <a:rPr lang="en-US" sz="1200" dirty="0">
                <a:solidFill>
                  <a:srgbClr val="6E7681"/>
                </a:solidFill>
                <a:latin typeface="Calibri" pitchFamily="34" charset="0"/>
                <a:ea typeface="Calibri" pitchFamily="34" charset="-122"/>
                <a:cs typeface="Calibri" pitchFamily="34" charset="-120"/>
              </a:rPr>
              <a:t>  →  </a:t>
            </a:r>
            <a:pPr algn="ctr" indent="0" marL="0">
              <a:buNone/>
            </a:pPr>
            <a:r>
              <a:rPr lang="en-US" sz="1200" b="1" dirty="0">
                <a:solidFill>
                  <a:srgbClr val="1C6E8C"/>
                </a:solidFill>
                <a:latin typeface="Calibri" pitchFamily="34" charset="0"/>
                <a:ea typeface="Calibri" pitchFamily="34" charset="-122"/>
                <a:cs typeface="Calibri" pitchFamily="34" charset="-120"/>
              </a:rPr>
              <a:t>76</a:t>
            </a:r>
            <a:endParaRPr lang="en-US" sz="1200" dirty="0"/>
          </a:p>
        </p:txBody>
      </p:sp>
      <p:sp>
        <p:nvSpPr>
          <p:cNvPr id="41" name="Text 39"/>
          <p:cNvSpPr/>
          <p:nvPr/>
        </p:nvSpPr>
        <p:spPr>
          <a:xfrm>
            <a:off x="6629400" y="3035808"/>
            <a:ext cx="1408176" cy="219456"/>
          </a:xfrm>
          <a:prstGeom prst="rect">
            <a:avLst/>
          </a:prstGeom>
          <a:noFill/>
          <a:ln/>
        </p:spPr>
        <p:txBody>
          <a:bodyPr wrap="square" lIns="0" tIns="0" rIns="0" bIns="0" rtlCol="0" anchor="ctr"/>
          <a:lstStyle/>
          <a:p>
            <a:pPr algn="ctr" indent="0" marL="0">
              <a:buNone/>
            </a:pPr>
            <a:r>
              <a:rPr lang="en-US" sz="900" dirty="0">
                <a:solidFill>
                  <a:srgbClr val="6E7681"/>
                </a:solidFill>
                <a:latin typeface="Calibri" pitchFamily="34" charset="0"/>
                <a:ea typeface="Calibri" pitchFamily="34" charset="-122"/>
                <a:cs typeface="Calibri" pitchFamily="34" charset="-120"/>
              </a:rPr>
              <a:t>251 Episoden</a:t>
            </a:r>
            <a:endParaRPr lang="en-US" sz="900" dirty="0"/>
          </a:p>
        </p:txBody>
      </p:sp>
      <p:sp>
        <p:nvSpPr>
          <p:cNvPr id="42" name="Shape 40"/>
          <p:cNvSpPr/>
          <p:nvPr/>
        </p:nvSpPr>
        <p:spPr>
          <a:xfrm>
            <a:off x="8092440" y="2633472"/>
            <a:ext cx="1408176" cy="658368"/>
          </a:xfrm>
          <a:prstGeom prst="rect">
            <a:avLst/>
          </a:prstGeom>
          <a:solidFill>
            <a:srgbClr val="E9F0F3"/>
          </a:solidFill>
          <a:ln w="19050">
            <a:solidFill>
              <a:srgbClr val="FFFFFF"/>
            </a:solidFill>
            <a:prstDash val="solid"/>
          </a:ln>
        </p:spPr>
      </p:sp>
      <p:sp>
        <p:nvSpPr>
          <p:cNvPr id="43" name="Text 41"/>
          <p:cNvSpPr/>
          <p:nvPr/>
        </p:nvSpPr>
        <p:spPr>
          <a:xfrm>
            <a:off x="8092440" y="2724912"/>
            <a:ext cx="1408176" cy="310896"/>
          </a:xfrm>
          <a:prstGeom prst="rect">
            <a:avLst/>
          </a:prstGeom>
          <a:noFill/>
          <a:ln/>
        </p:spPr>
        <p:txBody>
          <a:bodyPr wrap="square" lIns="0" tIns="0" rIns="0" bIns="0" rtlCol="0" anchor="ctr"/>
          <a:lstStyle/>
          <a:p>
            <a:pPr algn="ctr" indent="0" marL="0">
              <a:buNone/>
            </a:pPr>
            <a:r>
              <a:rPr lang="en-US" sz="1200" dirty="0">
                <a:solidFill>
                  <a:srgbClr val="6E7681"/>
                </a:solidFill>
                <a:latin typeface="Calibri" pitchFamily="34" charset="0"/>
                <a:ea typeface="Calibri" pitchFamily="34" charset="-122"/>
                <a:cs typeface="Calibri" pitchFamily="34" charset="-120"/>
              </a:rPr>
              <a:t>259</a:t>
            </a:r>
            <a:pPr algn="ctr" indent="0" marL="0">
              <a:buNone/>
            </a:pPr>
            <a:r>
              <a:rPr lang="en-US" sz="1200" dirty="0">
                <a:solidFill>
                  <a:srgbClr val="6E7681"/>
                </a:solidFill>
                <a:latin typeface="Calibri" pitchFamily="34" charset="0"/>
                <a:ea typeface="Calibri" pitchFamily="34" charset="-122"/>
                <a:cs typeface="Calibri" pitchFamily="34" charset="-120"/>
              </a:rPr>
              <a:t>  →  </a:t>
            </a:r>
            <a:pPr algn="ctr" indent="0" marL="0">
              <a:buNone/>
            </a:pPr>
            <a:r>
              <a:rPr lang="en-US" sz="1200" b="1" dirty="0">
                <a:solidFill>
                  <a:srgbClr val="1C6E8C"/>
                </a:solidFill>
                <a:latin typeface="Calibri" pitchFamily="34" charset="0"/>
                <a:ea typeface="Calibri" pitchFamily="34" charset="-122"/>
                <a:cs typeface="Calibri" pitchFamily="34" charset="-120"/>
              </a:rPr>
              <a:t>173</a:t>
            </a:r>
            <a:endParaRPr lang="en-US" sz="1200" dirty="0"/>
          </a:p>
        </p:txBody>
      </p:sp>
      <p:sp>
        <p:nvSpPr>
          <p:cNvPr id="44" name="Text 42"/>
          <p:cNvSpPr/>
          <p:nvPr/>
        </p:nvSpPr>
        <p:spPr>
          <a:xfrm>
            <a:off x="8092440" y="3035808"/>
            <a:ext cx="1408176" cy="219456"/>
          </a:xfrm>
          <a:prstGeom prst="rect">
            <a:avLst/>
          </a:prstGeom>
          <a:noFill/>
          <a:ln/>
        </p:spPr>
        <p:txBody>
          <a:bodyPr wrap="square" lIns="0" tIns="0" rIns="0" bIns="0" rtlCol="0" anchor="ctr"/>
          <a:lstStyle/>
          <a:p>
            <a:pPr algn="ctr" indent="0" marL="0">
              <a:buNone/>
            </a:pPr>
            <a:r>
              <a:rPr lang="en-US" sz="900" dirty="0">
                <a:solidFill>
                  <a:srgbClr val="6E7681"/>
                </a:solidFill>
                <a:latin typeface="Calibri" pitchFamily="34" charset="0"/>
                <a:ea typeface="Calibri" pitchFamily="34" charset="-122"/>
                <a:cs typeface="Calibri" pitchFamily="34" charset="-120"/>
              </a:rPr>
              <a:t>251 Episoden</a:t>
            </a:r>
            <a:endParaRPr lang="en-US" sz="900" dirty="0"/>
          </a:p>
        </p:txBody>
      </p:sp>
      <p:sp>
        <p:nvSpPr>
          <p:cNvPr id="45" name="Shape 43"/>
          <p:cNvSpPr/>
          <p:nvPr/>
        </p:nvSpPr>
        <p:spPr>
          <a:xfrm>
            <a:off x="9555480" y="2633472"/>
            <a:ext cx="1408176" cy="658368"/>
          </a:xfrm>
          <a:prstGeom prst="rect">
            <a:avLst/>
          </a:prstGeom>
          <a:solidFill>
            <a:srgbClr val="E9F0F3"/>
          </a:solidFill>
          <a:ln w="19050">
            <a:solidFill>
              <a:srgbClr val="FFFFFF"/>
            </a:solidFill>
            <a:prstDash val="solid"/>
          </a:ln>
        </p:spPr>
      </p:sp>
      <p:sp>
        <p:nvSpPr>
          <p:cNvPr id="46" name="Text 44"/>
          <p:cNvSpPr/>
          <p:nvPr/>
        </p:nvSpPr>
        <p:spPr>
          <a:xfrm>
            <a:off x="9555480" y="2724912"/>
            <a:ext cx="1408176" cy="310896"/>
          </a:xfrm>
          <a:prstGeom prst="rect">
            <a:avLst/>
          </a:prstGeom>
          <a:noFill/>
          <a:ln/>
        </p:spPr>
        <p:txBody>
          <a:bodyPr wrap="square" lIns="0" tIns="0" rIns="0" bIns="0" rtlCol="0" anchor="ctr"/>
          <a:lstStyle/>
          <a:p>
            <a:pPr algn="ctr" indent="0" marL="0">
              <a:buNone/>
            </a:pPr>
            <a:r>
              <a:rPr lang="en-US" sz="1200" dirty="0">
                <a:solidFill>
                  <a:srgbClr val="6E7681"/>
                </a:solidFill>
                <a:latin typeface="Calibri" pitchFamily="34" charset="0"/>
                <a:ea typeface="Calibri" pitchFamily="34" charset="-122"/>
                <a:cs typeface="Calibri" pitchFamily="34" charset="-120"/>
              </a:rPr>
              <a:t>274</a:t>
            </a:r>
            <a:pPr algn="ctr" indent="0" marL="0">
              <a:buNone/>
            </a:pPr>
            <a:r>
              <a:rPr lang="en-US" sz="1200" dirty="0">
                <a:solidFill>
                  <a:srgbClr val="6E7681"/>
                </a:solidFill>
                <a:latin typeface="Calibri" pitchFamily="34" charset="0"/>
                <a:ea typeface="Calibri" pitchFamily="34" charset="-122"/>
                <a:cs typeface="Calibri" pitchFamily="34" charset="-120"/>
              </a:rPr>
              <a:t>  →  </a:t>
            </a:r>
            <a:pPr algn="ctr" indent="0" marL="0">
              <a:buNone/>
            </a:pPr>
            <a:r>
              <a:rPr lang="en-US" sz="1200" b="1" dirty="0">
                <a:solidFill>
                  <a:srgbClr val="1C6E8C"/>
                </a:solidFill>
                <a:latin typeface="Calibri" pitchFamily="34" charset="0"/>
                <a:ea typeface="Calibri" pitchFamily="34" charset="-122"/>
                <a:cs typeface="Calibri" pitchFamily="34" charset="-120"/>
              </a:rPr>
              <a:t>70</a:t>
            </a:r>
            <a:endParaRPr lang="en-US" sz="1200" dirty="0"/>
          </a:p>
        </p:txBody>
      </p:sp>
      <p:sp>
        <p:nvSpPr>
          <p:cNvPr id="47" name="Text 45"/>
          <p:cNvSpPr/>
          <p:nvPr/>
        </p:nvSpPr>
        <p:spPr>
          <a:xfrm>
            <a:off x="9555480" y="3035808"/>
            <a:ext cx="1408176" cy="219456"/>
          </a:xfrm>
          <a:prstGeom prst="rect">
            <a:avLst/>
          </a:prstGeom>
          <a:noFill/>
          <a:ln/>
        </p:spPr>
        <p:txBody>
          <a:bodyPr wrap="square" lIns="0" tIns="0" rIns="0" bIns="0" rtlCol="0" anchor="ctr"/>
          <a:lstStyle/>
          <a:p>
            <a:pPr algn="ctr" indent="0" marL="0">
              <a:buNone/>
            </a:pPr>
            <a:r>
              <a:rPr lang="en-US" sz="900" dirty="0">
                <a:solidFill>
                  <a:srgbClr val="6E7681"/>
                </a:solidFill>
                <a:latin typeface="Calibri" pitchFamily="34" charset="0"/>
                <a:ea typeface="Calibri" pitchFamily="34" charset="-122"/>
                <a:cs typeface="Calibri" pitchFamily="34" charset="-120"/>
              </a:rPr>
              <a:t>251 Episoden</a:t>
            </a:r>
            <a:endParaRPr lang="en-US" sz="900" dirty="0"/>
          </a:p>
        </p:txBody>
      </p:sp>
      <p:sp>
        <p:nvSpPr>
          <p:cNvPr id="48" name="Text 46"/>
          <p:cNvSpPr/>
          <p:nvPr/>
        </p:nvSpPr>
        <p:spPr>
          <a:xfrm>
            <a:off x="640080" y="3346704"/>
            <a:ext cx="1508760" cy="713232"/>
          </a:xfrm>
          <a:prstGeom prst="rect">
            <a:avLst/>
          </a:prstGeom>
          <a:noFill/>
          <a:ln/>
        </p:spPr>
        <p:txBody>
          <a:bodyPr wrap="square" lIns="0" tIns="0" rIns="0" bIns="0" rtlCol="0" anchor="ctr"/>
          <a:lstStyle/>
          <a:p>
            <a:pPr algn="r" indent="0" marL="0">
              <a:buNone/>
            </a:pPr>
            <a:r>
              <a:rPr lang="en-US" sz="1300" b="1" dirty="0">
                <a:solidFill>
                  <a:srgbClr val="23282F"/>
                </a:solidFill>
                <a:latin typeface="Calibri" pitchFamily="34" charset="0"/>
                <a:ea typeface="Calibri" pitchFamily="34" charset="-122"/>
                <a:cs typeface="Calibri" pitchFamily="34" charset="-120"/>
              </a:rPr>
              <a:t>DMZ</a:t>
            </a:r>
            <a:endParaRPr lang="en-US" sz="1300" dirty="0"/>
          </a:p>
        </p:txBody>
      </p:sp>
      <p:sp>
        <p:nvSpPr>
          <p:cNvPr id="49" name="Shape 47"/>
          <p:cNvSpPr/>
          <p:nvPr/>
        </p:nvSpPr>
        <p:spPr>
          <a:xfrm>
            <a:off x="2240280" y="3346704"/>
            <a:ext cx="1408176" cy="658368"/>
          </a:xfrm>
          <a:prstGeom prst="rect">
            <a:avLst/>
          </a:prstGeom>
          <a:solidFill>
            <a:srgbClr val="E9F0F3"/>
          </a:solidFill>
          <a:ln w="19050">
            <a:solidFill>
              <a:srgbClr val="FFFFFF"/>
            </a:solidFill>
            <a:prstDash val="solid"/>
          </a:ln>
        </p:spPr>
      </p:sp>
      <p:sp>
        <p:nvSpPr>
          <p:cNvPr id="50" name="Text 48"/>
          <p:cNvSpPr/>
          <p:nvPr/>
        </p:nvSpPr>
        <p:spPr>
          <a:xfrm>
            <a:off x="2240280" y="3438144"/>
            <a:ext cx="1408176" cy="310896"/>
          </a:xfrm>
          <a:prstGeom prst="rect">
            <a:avLst/>
          </a:prstGeom>
          <a:noFill/>
          <a:ln/>
        </p:spPr>
        <p:txBody>
          <a:bodyPr wrap="square" lIns="0" tIns="0" rIns="0" bIns="0" rtlCol="0" anchor="ctr"/>
          <a:lstStyle/>
          <a:p>
            <a:pPr algn="ctr" indent="0" marL="0">
              <a:buNone/>
            </a:pPr>
            <a:r>
              <a:rPr lang="en-US" sz="1200" dirty="0">
                <a:solidFill>
                  <a:srgbClr val="6E7681"/>
                </a:solidFill>
                <a:latin typeface="Calibri" pitchFamily="34" charset="0"/>
                <a:ea typeface="Calibri" pitchFamily="34" charset="-122"/>
                <a:cs typeface="Calibri" pitchFamily="34" charset="-120"/>
              </a:rPr>
              <a:t>207</a:t>
            </a:r>
            <a:pPr algn="ctr" indent="0" marL="0">
              <a:buNone/>
            </a:pPr>
            <a:r>
              <a:rPr lang="en-US" sz="1200" dirty="0">
                <a:solidFill>
                  <a:srgbClr val="6E7681"/>
                </a:solidFill>
                <a:latin typeface="Calibri" pitchFamily="34" charset="0"/>
                <a:ea typeface="Calibri" pitchFamily="34" charset="-122"/>
                <a:cs typeface="Calibri" pitchFamily="34" charset="-120"/>
              </a:rPr>
              <a:t>  →  </a:t>
            </a:r>
            <a:pPr algn="ctr" indent="0" marL="0">
              <a:buNone/>
            </a:pPr>
            <a:r>
              <a:rPr lang="en-US" sz="1200" b="1" dirty="0">
                <a:solidFill>
                  <a:srgbClr val="1C6E8C"/>
                </a:solidFill>
                <a:latin typeface="Calibri" pitchFamily="34" charset="0"/>
                <a:ea typeface="Calibri" pitchFamily="34" charset="-122"/>
                <a:cs typeface="Calibri" pitchFamily="34" charset="-120"/>
              </a:rPr>
              <a:t>93</a:t>
            </a:r>
            <a:endParaRPr lang="en-US" sz="1200" dirty="0"/>
          </a:p>
        </p:txBody>
      </p:sp>
      <p:sp>
        <p:nvSpPr>
          <p:cNvPr id="51" name="Text 49"/>
          <p:cNvSpPr/>
          <p:nvPr/>
        </p:nvSpPr>
        <p:spPr>
          <a:xfrm>
            <a:off x="2240280" y="3749040"/>
            <a:ext cx="1408176" cy="219456"/>
          </a:xfrm>
          <a:prstGeom prst="rect">
            <a:avLst/>
          </a:prstGeom>
          <a:noFill/>
          <a:ln/>
        </p:spPr>
        <p:txBody>
          <a:bodyPr wrap="square" lIns="0" tIns="0" rIns="0" bIns="0" rtlCol="0" anchor="ctr"/>
          <a:lstStyle/>
          <a:p>
            <a:pPr algn="ctr" indent="0" marL="0">
              <a:buNone/>
            </a:pPr>
            <a:r>
              <a:rPr lang="en-US" sz="900" dirty="0">
                <a:solidFill>
                  <a:srgbClr val="6E7681"/>
                </a:solidFill>
                <a:latin typeface="Calibri" pitchFamily="34" charset="0"/>
                <a:ea typeface="Calibri" pitchFamily="34" charset="-122"/>
                <a:cs typeface="Calibri" pitchFamily="34" charset="-120"/>
              </a:rPr>
              <a:t>251 Episoden</a:t>
            </a:r>
            <a:endParaRPr lang="en-US" sz="900" dirty="0"/>
          </a:p>
        </p:txBody>
      </p:sp>
      <p:sp>
        <p:nvSpPr>
          <p:cNvPr id="52" name="Shape 50"/>
          <p:cNvSpPr/>
          <p:nvPr/>
        </p:nvSpPr>
        <p:spPr>
          <a:xfrm>
            <a:off x="3703320" y="3346704"/>
            <a:ext cx="1408176" cy="658368"/>
          </a:xfrm>
          <a:prstGeom prst="rect">
            <a:avLst/>
          </a:prstGeom>
          <a:solidFill>
            <a:srgbClr val="E9F0F3"/>
          </a:solidFill>
          <a:ln w="19050">
            <a:solidFill>
              <a:srgbClr val="FFFFFF"/>
            </a:solidFill>
            <a:prstDash val="solid"/>
          </a:ln>
        </p:spPr>
      </p:sp>
      <p:sp>
        <p:nvSpPr>
          <p:cNvPr id="53" name="Text 51"/>
          <p:cNvSpPr/>
          <p:nvPr/>
        </p:nvSpPr>
        <p:spPr>
          <a:xfrm>
            <a:off x="3703320" y="3438144"/>
            <a:ext cx="1408176" cy="310896"/>
          </a:xfrm>
          <a:prstGeom prst="rect">
            <a:avLst/>
          </a:prstGeom>
          <a:noFill/>
          <a:ln/>
        </p:spPr>
        <p:txBody>
          <a:bodyPr wrap="square" lIns="0" tIns="0" rIns="0" bIns="0" rtlCol="0" anchor="ctr"/>
          <a:lstStyle/>
          <a:p>
            <a:pPr algn="ctr" indent="0" marL="0">
              <a:buNone/>
            </a:pPr>
            <a:r>
              <a:rPr lang="en-US" sz="1200" dirty="0">
                <a:solidFill>
                  <a:srgbClr val="6E7681"/>
                </a:solidFill>
                <a:latin typeface="Calibri" pitchFamily="34" charset="0"/>
                <a:ea typeface="Calibri" pitchFamily="34" charset="-122"/>
                <a:cs typeface="Calibri" pitchFamily="34" charset="-120"/>
              </a:rPr>
              <a:t>163</a:t>
            </a:r>
            <a:pPr algn="ctr" indent="0" marL="0">
              <a:buNone/>
            </a:pPr>
            <a:r>
              <a:rPr lang="en-US" sz="1200" dirty="0">
                <a:solidFill>
                  <a:srgbClr val="6E7681"/>
                </a:solidFill>
                <a:latin typeface="Calibri" pitchFamily="34" charset="0"/>
                <a:ea typeface="Calibri" pitchFamily="34" charset="-122"/>
                <a:cs typeface="Calibri" pitchFamily="34" charset="-120"/>
              </a:rPr>
              <a:t>  →  </a:t>
            </a:r>
            <a:pPr algn="ctr" indent="0" marL="0">
              <a:buNone/>
            </a:pPr>
            <a:r>
              <a:rPr lang="en-US" sz="1200" b="1" dirty="0">
                <a:solidFill>
                  <a:srgbClr val="1C6E8C"/>
                </a:solidFill>
                <a:latin typeface="Calibri" pitchFamily="34" charset="0"/>
                <a:ea typeface="Calibri" pitchFamily="34" charset="-122"/>
                <a:cs typeface="Calibri" pitchFamily="34" charset="-120"/>
              </a:rPr>
              <a:t>73</a:t>
            </a:r>
            <a:endParaRPr lang="en-US" sz="1200" dirty="0"/>
          </a:p>
        </p:txBody>
      </p:sp>
      <p:sp>
        <p:nvSpPr>
          <p:cNvPr id="54" name="Text 52"/>
          <p:cNvSpPr/>
          <p:nvPr/>
        </p:nvSpPr>
        <p:spPr>
          <a:xfrm>
            <a:off x="3703320" y="3749040"/>
            <a:ext cx="1408176" cy="219456"/>
          </a:xfrm>
          <a:prstGeom prst="rect">
            <a:avLst/>
          </a:prstGeom>
          <a:noFill/>
          <a:ln/>
        </p:spPr>
        <p:txBody>
          <a:bodyPr wrap="square" lIns="0" tIns="0" rIns="0" bIns="0" rtlCol="0" anchor="ctr"/>
          <a:lstStyle/>
          <a:p>
            <a:pPr algn="ctr" indent="0" marL="0">
              <a:buNone/>
            </a:pPr>
            <a:r>
              <a:rPr lang="en-US" sz="900" dirty="0">
                <a:solidFill>
                  <a:srgbClr val="6E7681"/>
                </a:solidFill>
                <a:latin typeface="Calibri" pitchFamily="34" charset="0"/>
                <a:ea typeface="Calibri" pitchFamily="34" charset="-122"/>
                <a:cs typeface="Calibri" pitchFamily="34" charset="-120"/>
              </a:rPr>
              <a:t>251 Episoden</a:t>
            </a:r>
            <a:endParaRPr lang="en-US" sz="900" dirty="0"/>
          </a:p>
        </p:txBody>
      </p:sp>
      <p:sp>
        <p:nvSpPr>
          <p:cNvPr id="55" name="Shape 53"/>
          <p:cNvSpPr/>
          <p:nvPr/>
        </p:nvSpPr>
        <p:spPr>
          <a:xfrm>
            <a:off x="5166360" y="3346704"/>
            <a:ext cx="1408176" cy="658368"/>
          </a:xfrm>
          <a:prstGeom prst="rect">
            <a:avLst/>
          </a:prstGeom>
          <a:solidFill>
            <a:srgbClr val="E9F0F3"/>
          </a:solidFill>
          <a:ln w="19050">
            <a:solidFill>
              <a:srgbClr val="FFFFFF"/>
            </a:solidFill>
            <a:prstDash val="solid"/>
          </a:ln>
        </p:spPr>
      </p:sp>
      <p:sp>
        <p:nvSpPr>
          <p:cNvPr id="56" name="Text 54"/>
          <p:cNvSpPr/>
          <p:nvPr/>
        </p:nvSpPr>
        <p:spPr>
          <a:xfrm>
            <a:off x="5166360" y="3438144"/>
            <a:ext cx="1408176" cy="310896"/>
          </a:xfrm>
          <a:prstGeom prst="rect">
            <a:avLst/>
          </a:prstGeom>
          <a:noFill/>
          <a:ln/>
        </p:spPr>
        <p:txBody>
          <a:bodyPr wrap="square" lIns="0" tIns="0" rIns="0" bIns="0" rtlCol="0" anchor="ctr"/>
          <a:lstStyle/>
          <a:p>
            <a:pPr algn="ctr" indent="0" marL="0">
              <a:buNone/>
            </a:pPr>
            <a:r>
              <a:rPr lang="en-US" sz="1200" dirty="0">
                <a:solidFill>
                  <a:srgbClr val="6E7681"/>
                </a:solidFill>
                <a:latin typeface="Calibri" pitchFamily="34" charset="0"/>
                <a:ea typeface="Calibri" pitchFamily="34" charset="-122"/>
                <a:cs typeface="Calibri" pitchFamily="34" charset="-120"/>
              </a:rPr>
              <a:t>222</a:t>
            </a:r>
            <a:pPr algn="ctr" indent="0" marL="0">
              <a:buNone/>
            </a:pPr>
            <a:r>
              <a:rPr lang="en-US" sz="1200" dirty="0">
                <a:solidFill>
                  <a:srgbClr val="6E7681"/>
                </a:solidFill>
                <a:latin typeface="Calibri" pitchFamily="34" charset="0"/>
                <a:ea typeface="Calibri" pitchFamily="34" charset="-122"/>
                <a:cs typeface="Calibri" pitchFamily="34" charset="-120"/>
              </a:rPr>
              <a:t>  →  </a:t>
            </a:r>
            <a:pPr algn="ctr" indent="0" marL="0">
              <a:buNone/>
            </a:pPr>
            <a:r>
              <a:rPr lang="en-US" sz="1200" b="1" dirty="0">
                <a:solidFill>
                  <a:srgbClr val="1C6E8C"/>
                </a:solidFill>
                <a:latin typeface="Calibri" pitchFamily="34" charset="0"/>
                <a:ea typeface="Calibri" pitchFamily="34" charset="-122"/>
                <a:cs typeface="Calibri" pitchFamily="34" charset="-120"/>
              </a:rPr>
              <a:t>87</a:t>
            </a:r>
            <a:endParaRPr lang="en-US" sz="1200" dirty="0"/>
          </a:p>
        </p:txBody>
      </p:sp>
      <p:sp>
        <p:nvSpPr>
          <p:cNvPr id="57" name="Text 55"/>
          <p:cNvSpPr/>
          <p:nvPr/>
        </p:nvSpPr>
        <p:spPr>
          <a:xfrm>
            <a:off x="5166360" y="3749040"/>
            <a:ext cx="1408176" cy="219456"/>
          </a:xfrm>
          <a:prstGeom prst="rect">
            <a:avLst/>
          </a:prstGeom>
          <a:noFill/>
          <a:ln/>
        </p:spPr>
        <p:txBody>
          <a:bodyPr wrap="square" lIns="0" tIns="0" rIns="0" bIns="0" rtlCol="0" anchor="ctr"/>
          <a:lstStyle/>
          <a:p>
            <a:pPr algn="ctr" indent="0" marL="0">
              <a:buNone/>
            </a:pPr>
            <a:r>
              <a:rPr lang="en-US" sz="900" dirty="0">
                <a:solidFill>
                  <a:srgbClr val="6E7681"/>
                </a:solidFill>
                <a:latin typeface="Calibri" pitchFamily="34" charset="0"/>
                <a:ea typeface="Calibri" pitchFamily="34" charset="-122"/>
                <a:cs typeface="Calibri" pitchFamily="34" charset="-120"/>
              </a:rPr>
              <a:t>251 Episoden</a:t>
            </a:r>
            <a:endParaRPr lang="en-US" sz="900" dirty="0"/>
          </a:p>
        </p:txBody>
      </p:sp>
      <p:sp>
        <p:nvSpPr>
          <p:cNvPr id="58" name="Shape 56"/>
          <p:cNvSpPr/>
          <p:nvPr/>
        </p:nvSpPr>
        <p:spPr>
          <a:xfrm>
            <a:off x="6629400" y="3346704"/>
            <a:ext cx="1408176" cy="658368"/>
          </a:xfrm>
          <a:prstGeom prst="rect">
            <a:avLst/>
          </a:prstGeom>
          <a:solidFill>
            <a:srgbClr val="E9F0F3"/>
          </a:solidFill>
          <a:ln w="19050">
            <a:solidFill>
              <a:srgbClr val="FFFFFF"/>
            </a:solidFill>
            <a:prstDash val="solid"/>
          </a:ln>
        </p:spPr>
      </p:sp>
      <p:sp>
        <p:nvSpPr>
          <p:cNvPr id="59" name="Text 57"/>
          <p:cNvSpPr/>
          <p:nvPr/>
        </p:nvSpPr>
        <p:spPr>
          <a:xfrm>
            <a:off x="6629400" y="3438144"/>
            <a:ext cx="1408176" cy="310896"/>
          </a:xfrm>
          <a:prstGeom prst="rect">
            <a:avLst/>
          </a:prstGeom>
          <a:noFill/>
          <a:ln/>
        </p:spPr>
        <p:txBody>
          <a:bodyPr wrap="square" lIns="0" tIns="0" rIns="0" bIns="0" rtlCol="0" anchor="ctr"/>
          <a:lstStyle/>
          <a:p>
            <a:pPr algn="ctr" indent="0" marL="0">
              <a:buNone/>
            </a:pPr>
            <a:r>
              <a:rPr lang="en-US" sz="1200" dirty="0">
                <a:solidFill>
                  <a:srgbClr val="6E7681"/>
                </a:solidFill>
                <a:latin typeface="Calibri" pitchFamily="34" charset="0"/>
                <a:ea typeface="Calibri" pitchFamily="34" charset="-122"/>
                <a:cs typeface="Calibri" pitchFamily="34" charset="-120"/>
              </a:rPr>
              <a:t>2.291</a:t>
            </a:r>
            <a:pPr algn="ctr" indent="0" marL="0">
              <a:buNone/>
            </a:pPr>
            <a:r>
              <a:rPr lang="en-US" sz="1200" dirty="0">
                <a:solidFill>
                  <a:srgbClr val="6E7681"/>
                </a:solidFill>
                <a:latin typeface="Calibri" pitchFamily="34" charset="0"/>
                <a:ea typeface="Calibri" pitchFamily="34" charset="-122"/>
                <a:cs typeface="Calibri" pitchFamily="34" charset="-120"/>
              </a:rPr>
              <a:t>  →  </a:t>
            </a:r>
            <a:pPr algn="ctr" indent="0" marL="0">
              <a:buNone/>
            </a:pPr>
            <a:r>
              <a:rPr lang="en-US" sz="1200" b="1" dirty="0">
                <a:solidFill>
                  <a:srgbClr val="1C6E8C"/>
                </a:solidFill>
                <a:latin typeface="Calibri" pitchFamily="34" charset="0"/>
                <a:ea typeface="Calibri" pitchFamily="34" charset="-122"/>
                <a:cs typeface="Calibri" pitchFamily="34" charset="-120"/>
              </a:rPr>
              <a:t>143</a:t>
            </a:r>
            <a:endParaRPr lang="en-US" sz="1200" dirty="0"/>
          </a:p>
        </p:txBody>
      </p:sp>
      <p:sp>
        <p:nvSpPr>
          <p:cNvPr id="60" name="Text 58"/>
          <p:cNvSpPr/>
          <p:nvPr/>
        </p:nvSpPr>
        <p:spPr>
          <a:xfrm>
            <a:off x="6629400" y="3749040"/>
            <a:ext cx="1408176" cy="219456"/>
          </a:xfrm>
          <a:prstGeom prst="rect">
            <a:avLst/>
          </a:prstGeom>
          <a:noFill/>
          <a:ln/>
        </p:spPr>
        <p:txBody>
          <a:bodyPr wrap="square" lIns="0" tIns="0" rIns="0" bIns="0" rtlCol="0" anchor="ctr"/>
          <a:lstStyle/>
          <a:p>
            <a:pPr algn="ctr" indent="0" marL="0">
              <a:buNone/>
            </a:pPr>
            <a:r>
              <a:rPr lang="en-US" sz="900" dirty="0">
                <a:solidFill>
                  <a:srgbClr val="6E7681"/>
                </a:solidFill>
                <a:latin typeface="Calibri" pitchFamily="34" charset="0"/>
                <a:ea typeface="Calibri" pitchFamily="34" charset="-122"/>
                <a:cs typeface="Calibri" pitchFamily="34" charset="-120"/>
              </a:rPr>
              <a:t>311 Episoden</a:t>
            </a:r>
            <a:endParaRPr lang="en-US" sz="900" dirty="0"/>
          </a:p>
        </p:txBody>
      </p:sp>
      <p:sp>
        <p:nvSpPr>
          <p:cNvPr id="61" name="Shape 59"/>
          <p:cNvSpPr/>
          <p:nvPr/>
        </p:nvSpPr>
        <p:spPr>
          <a:xfrm>
            <a:off x="8092440" y="3346704"/>
            <a:ext cx="1408176" cy="658368"/>
          </a:xfrm>
          <a:prstGeom prst="rect">
            <a:avLst/>
          </a:prstGeom>
          <a:solidFill>
            <a:srgbClr val="E9F0F3"/>
          </a:solidFill>
          <a:ln w="19050">
            <a:solidFill>
              <a:srgbClr val="FFFFFF"/>
            </a:solidFill>
            <a:prstDash val="solid"/>
          </a:ln>
        </p:spPr>
      </p:sp>
      <p:sp>
        <p:nvSpPr>
          <p:cNvPr id="62" name="Text 60"/>
          <p:cNvSpPr/>
          <p:nvPr/>
        </p:nvSpPr>
        <p:spPr>
          <a:xfrm>
            <a:off x="8092440" y="3438144"/>
            <a:ext cx="1408176" cy="310896"/>
          </a:xfrm>
          <a:prstGeom prst="rect">
            <a:avLst/>
          </a:prstGeom>
          <a:noFill/>
          <a:ln/>
        </p:spPr>
        <p:txBody>
          <a:bodyPr wrap="square" lIns="0" tIns="0" rIns="0" bIns="0" rtlCol="0" anchor="ctr"/>
          <a:lstStyle/>
          <a:p>
            <a:pPr algn="ctr" indent="0" marL="0">
              <a:buNone/>
            </a:pPr>
            <a:r>
              <a:rPr lang="en-US" sz="1200" dirty="0">
                <a:solidFill>
                  <a:srgbClr val="6E7681"/>
                </a:solidFill>
                <a:latin typeface="Calibri" pitchFamily="34" charset="0"/>
                <a:ea typeface="Calibri" pitchFamily="34" charset="-122"/>
                <a:cs typeface="Calibri" pitchFamily="34" charset="-120"/>
              </a:rPr>
              <a:t>141</a:t>
            </a:r>
            <a:pPr algn="ctr" indent="0" marL="0">
              <a:buNone/>
            </a:pPr>
            <a:r>
              <a:rPr lang="en-US" sz="1200" dirty="0">
                <a:solidFill>
                  <a:srgbClr val="6E7681"/>
                </a:solidFill>
                <a:latin typeface="Calibri" pitchFamily="34" charset="0"/>
                <a:ea typeface="Calibri" pitchFamily="34" charset="-122"/>
                <a:cs typeface="Calibri" pitchFamily="34" charset="-120"/>
              </a:rPr>
              <a:t>  →  </a:t>
            </a:r>
            <a:pPr algn="ctr" indent="0" marL="0">
              <a:buNone/>
            </a:pPr>
            <a:r>
              <a:rPr lang="en-US" sz="1200" b="1" dirty="0">
                <a:solidFill>
                  <a:srgbClr val="1C6E8C"/>
                </a:solidFill>
                <a:latin typeface="Calibri" pitchFamily="34" charset="0"/>
                <a:ea typeface="Calibri" pitchFamily="34" charset="-122"/>
                <a:cs typeface="Calibri" pitchFamily="34" charset="-120"/>
              </a:rPr>
              <a:t>66</a:t>
            </a:r>
            <a:endParaRPr lang="en-US" sz="1200" dirty="0"/>
          </a:p>
        </p:txBody>
      </p:sp>
      <p:sp>
        <p:nvSpPr>
          <p:cNvPr id="63" name="Text 61"/>
          <p:cNvSpPr/>
          <p:nvPr/>
        </p:nvSpPr>
        <p:spPr>
          <a:xfrm>
            <a:off x="8092440" y="3749040"/>
            <a:ext cx="1408176" cy="219456"/>
          </a:xfrm>
          <a:prstGeom prst="rect">
            <a:avLst/>
          </a:prstGeom>
          <a:noFill/>
          <a:ln/>
        </p:spPr>
        <p:txBody>
          <a:bodyPr wrap="square" lIns="0" tIns="0" rIns="0" bIns="0" rtlCol="0" anchor="ctr"/>
          <a:lstStyle/>
          <a:p>
            <a:pPr algn="ctr" indent="0" marL="0">
              <a:buNone/>
            </a:pPr>
            <a:r>
              <a:rPr lang="en-US" sz="900" dirty="0">
                <a:solidFill>
                  <a:srgbClr val="6E7681"/>
                </a:solidFill>
                <a:latin typeface="Calibri" pitchFamily="34" charset="0"/>
                <a:ea typeface="Calibri" pitchFamily="34" charset="-122"/>
                <a:cs typeface="Calibri" pitchFamily="34" charset="-120"/>
              </a:rPr>
              <a:t>251 Episoden</a:t>
            </a:r>
            <a:endParaRPr lang="en-US" sz="900" dirty="0"/>
          </a:p>
        </p:txBody>
      </p:sp>
      <p:sp>
        <p:nvSpPr>
          <p:cNvPr id="64" name="Shape 62"/>
          <p:cNvSpPr/>
          <p:nvPr/>
        </p:nvSpPr>
        <p:spPr>
          <a:xfrm>
            <a:off x="9555480" y="3346704"/>
            <a:ext cx="1408176" cy="658368"/>
          </a:xfrm>
          <a:prstGeom prst="rect">
            <a:avLst/>
          </a:prstGeom>
          <a:solidFill>
            <a:srgbClr val="E9F0F3"/>
          </a:solidFill>
          <a:ln w="19050">
            <a:solidFill>
              <a:srgbClr val="FFFFFF"/>
            </a:solidFill>
            <a:prstDash val="solid"/>
          </a:ln>
        </p:spPr>
      </p:sp>
      <p:sp>
        <p:nvSpPr>
          <p:cNvPr id="65" name="Text 63"/>
          <p:cNvSpPr/>
          <p:nvPr/>
        </p:nvSpPr>
        <p:spPr>
          <a:xfrm>
            <a:off x="9555480" y="3438144"/>
            <a:ext cx="1408176" cy="310896"/>
          </a:xfrm>
          <a:prstGeom prst="rect">
            <a:avLst/>
          </a:prstGeom>
          <a:noFill/>
          <a:ln/>
        </p:spPr>
        <p:txBody>
          <a:bodyPr wrap="square" lIns="0" tIns="0" rIns="0" bIns="0" rtlCol="0" anchor="ctr"/>
          <a:lstStyle/>
          <a:p>
            <a:pPr algn="ctr" indent="0" marL="0">
              <a:buNone/>
            </a:pPr>
            <a:r>
              <a:rPr lang="en-US" sz="1200" dirty="0">
                <a:solidFill>
                  <a:srgbClr val="6E7681"/>
                </a:solidFill>
                <a:latin typeface="Calibri" pitchFamily="34" charset="0"/>
                <a:ea typeface="Calibri" pitchFamily="34" charset="-122"/>
                <a:cs typeface="Calibri" pitchFamily="34" charset="-120"/>
              </a:rPr>
              <a:t>165</a:t>
            </a:r>
            <a:pPr algn="ctr" indent="0" marL="0">
              <a:buNone/>
            </a:pPr>
            <a:r>
              <a:rPr lang="en-US" sz="1200" dirty="0">
                <a:solidFill>
                  <a:srgbClr val="6E7681"/>
                </a:solidFill>
                <a:latin typeface="Calibri" pitchFamily="34" charset="0"/>
                <a:ea typeface="Calibri" pitchFamily="34" charset="-122"/>
                <a:cs typeface="Calibri" pitchFamily="34" charset="-120"/>
              </a:rPr>
              <a:t>  →  </a:t>
            </a:r>
            <a:pPr algn="ctr" indent="0" marL="0">
              <a:buNone/>
            </a:pPr>
            <a:r>
              <a:rPr lang="en-US" sz="1200" b="1" dirty="0">
                <a:solidFill>
                  <a:srgbClr val="1C6E8C"/>
                </a:solidFill>
                <a:latin typeface="Calibri" pitchFamily="34" charset="0"/>
                <a:ea typeface="Calibri" pitchFamily="34" charset="-122"/>
                <a:cs typeface="Calibri" pitchFamily="34" charset="-120"/>
              </a:rPr>
              <a:t>85</a:t>
            </a:r>
            <a:endParaRPr lang="en-US" sz="1200" dirty="0"/>
          </a:p>
        </p:txBody>
      </p:sp>
      <p:sp>
        <p:nvSpPr>
          <p:cNvPr id="66" name="Text 64"/>
          <p:cNvSpPr/>
          <p:nvPr/>
        </p:nvSpPr>
        <p:spPr>
          <a:xfrm>
            <a:off x="9555480" y="3749040"/>
            <a:ext cx="1408176" cy="219456"/>
          </a:xfrm>
          <a:prstGeom prst="rect">
            <a:avLst/>
          </a:prstGeom>
          <a:noFill/>
          <a:ln/>
        </p:spPr>
        <p:txBody>
          <a:bodyPr wrap="square" lIns="0" tIns="0" rIns="0" bIns="0" rtlCol="0" anchor="ctr"/>
          <a:lstStyle/>
          <a:p>
            <a:pPr algn="ctr" indent="0" marL="0">
              <a:buNone/>
            </a:pPr>
            <a:r>
              <a:rPr lang="en-US" sz="900" dirty="0">
                <a:solidFill>
                  <a:srgbClr val="6E7681"/>
                </a:solidFill>
                <a:latin typeface="Calibri" pitchFamily="34" charset="0"/>
                <a:ea typeface="Calibri" pitchFamily="34" charset="-122"/>
                <a:cs typeface="Calibri" pitchFamily="34" charset="-120"/>
              </a:rPr>
              <a:t>251 Episoden</a:t>
            </a:r>
            <a:endParaRPr lang="en-US" sz="900" dirty="0"/>
          </a:p>
        </p:txBody>
      </p:sp>
      <p:sp>
        <p:nvSpPr>
          <p:cNvPr id="67" name="Text 65"/>
          <p:cNvSpPr/>
          <p:nvPr/>
        </p:nvSpPr>
        <p:spPr>
          <a:xfrm>
            <a:off x="640080" y="4059936"/>
            <a:ext cx="1508760" cy="713232"/>
          </a:xfrm>
          <a:prstGeom prst="rect">
            <a:avLst/>
          </a:prstGeom>
          <a:noFill/>
          <a:ln/>
        </p:spPr>
        <p:txBody>
          <a:bodyPr wrap="square" lIns="0" tIns="0" rIns="0" bIns="0" rtlCol="0" anchor="ctr"/>
          <a:lstStyle/>
          <a:p>
            <a:pPr algn="r" indent="0" marL="0">
              <a:buNone/>
            </a:pPr>
            <a:r>
              <a:rPr lang="en-US" sz="1300" b="1" dirty="0">
                <a:solidFill>
                  <a:srgbClr val="23282F"/>
                </a:solidFill>
                <a:latin typeface="Calibri" pitchFamily="34" charset="0"/>
                <a:ea typeface="Calibri" pitchFamily="34" charset="-122"/>
                <a:cs typeface="Calibri" pitchFamily="34" charset="-120"/>
              </a:rPr>
              <a:t>Micro-Seg.</a:t>
            </a:r>
            <a:endParaRPr lang="en-US" sz="1300" dirty="0"/>
          </a:p>
        </p:txBody>
      </p:sp>
      <p:sp>
        <p:nvSpPr>
          <p:cNvPr id="68" name="Shape 66"/>
          <p:cNvSpPr/>
          <p:nvPr/>
        </p:nvSpPr>
        <p:spPr>
          <a:xfrm>
            <a:off x="2240280" y="4059936"/>
            <a:ext cx="1408176" cy="658368"/>
          </a:xfrm>
          <a:prstGeom prst="rect">
            <a:avLst/>
          </a:prstGeom>
          <a:solidFill>
            <a:srgbClr val="E9F0F3"/>
          </a:solidFill>
          <a:ln w="19050">
            <a:solidFill>
              <a:srgbClr val="FFFFFF"/>
            </a:solidFill>
            <a:prstDash val="solid"/>
          </a:ln>
        </p:spPr>
      </p:sp>
      <p:sp>
        <p:nvSpPr>
          <p:cNvPr id="69" name="Text 67"/>
          <p:cNvSpPr/>
          <p:nvPr/>
        </p:nvSpPr>
        <p:spPr>
          <a:xfrm>
            <a:off x="2240280" y="4151376"/>
            <a:ext cx="1408176" cy="310896"/>
          </a:xfrm>
          <a:prstGeom prst="rect">
            <a:avLst/>
          </a:prstGeom>
          <a:noFill/>
          <a:ln/>
        </p:spPr>
        <p:txBody>
          <a:bodyPr wrap="square" lIns="0" tIns="0" rIns="0" bIns="0" rtlCol="0" anchor="ctr"/>
          <a:lstStyle/>
          <a:p>
            <a:pPr algn="ctr" indent="0" marL="0">
              <a:buNone/>
            </a:pPr>
            <a:r>
              <a:rPr lang="en-US" sz="1200" dirty="0">
                <a:solidFill>
                  <a:srgbClr val="6E7681"/>
                </a:solidFill>
                <a:latin typeface="Calibri" pitchFamily="34" charset="0"/>
                <a:ea typeface="Calibri" pitchFamily="34" charset="-122"/>
                <a:cs typeface="Calibri" pitchFamily="34" charset="-120"/>
              </a:rPr>
              <a:t>185</a:t>
            </a:r>
            <a:pPr algn="ctr" indent="0" marL="0">
              <a:buNone/>
            </a:pPr>
            <a:r>
              <a:rPr lang="en-US" sz="1200" dirty="0">
                <a:solidFill>
                  <a:srgbClr val="6E7681"/>
                </a:solidFill>
                <a:latin typeface="Calibri" pitchFamily="34" charset="0"/>
                <a:ea typeface="Calibri" pitchFamily="34" charset="-122"/>
                <a:cs typeface="Calibri" pitchFamily="34" charset="-120"/>
              </a:rPr>
              <a:t>  →  </a:t>
            </a:r>
            <a:pPr algn="ctr" indent="0" marL="0">
              <a:buNone/>
            </a:pPr>
            <a:r>
              <a:rPr lang="en-US" sz="1200" b="1" dirty="0">
                <a:solidFill>
                  <a:srgbClr val="1C6E8C"/>
                </a:solidFill>
                <a:latin typeface="Calibri" pitchFamily="34" charset="0"/>
                <a:ea typeface="Calibri" pitchFamily="34" charset="-122"/>
                <a:cs typeface="Calibri" pitchFamily="34" charset="-120"/>
              </a:rPr>
              <a:t>88</a:t>
            </a:r>
            <a:endParaRPr lang="en-US" sz="1200" dirty="0"/>
          </a:p>
        </p:txBody>
      </p:sp>
      <p:sp>
        <p:nvSpPr>
          <p:cNvPr id="70" name="Text 68"/>
          <p:cNvSpPr/>
          <p:nvPr/>
        </p:nvSpPr>
        <p:spPr>
          <a:xfrm>
            <a:off x="2240280" y="4462272"/>
            <a:ext cx="1408176" cy="219456"/>
          </a:xfrm>
          <a:prstGeom prst="rect">
            <a:avLst/>
          </a:prstGeom>
          <a:noFill/>
          <a:ln/>
        </p:spPr>
        <p:txBody>
          <a:bodyPr wrap="square" lIns="0" tIns="0" rIns="0" bIns="0" rtlCol="0" anchor="ctr"/>
          <a:lstStyle/>
          <a:p>
            <a:pPr algn="ctr" indent="0" marL="0">
              <a:buNone/>
            </a:pPr>
            <a:r>
              <a:rPr lang="en-US" sz="900" dirty="0">
                <a:solidFill>
                  <a:srgbClr val="6E7681"/>
                </a:solidFill>
                <a:latin typeface="Calibri" pitchFamily="34" charset="0"/>
                <a:ea typeface="Calibri" pitchFamily="34" charset="-122"/>
                <a:cs typeface="Calibri" pitchFamily="34" charset="-120"/>
              </a:rPr>
              <a:t>251 Episoden</a:t>
            </a:r>
            <a:endParaRPr lang="en-US" sz="900" dirty="0"/>
          </a:p>
        </p:txBody>
      </p:sp>
      <p:sp>
        <p:nvSpPr>
          <p:cNvPr id="71" name="Shape 69"/>
          <p:cNvSpPr/>
          <p:nvPr/>
        </p:nvSpPr>
        <p:spPr>
          <a:xfrm>
            <a:off x="3703320" y="4059936"/>
            <a:ext cx="1408176" cy="658368"/>
          </a:xfrm>
          <a:prstGeom prst="rect">
            <a:avLst/>
          </a:prstGeom>
          <a:solidFill>
            <a:srgbClr val="E9F0F3"/>
          </a:solidFill>
          <a:ln w="19050">
            <a:solidFill>
              <a:srgbClr val="FFFFFF"/>
            </a:solidFill>
            <a:prstDash val="solid"/>
          </a:ln>
        </p:spPr>
      </p:sp>
      <p:sp>
        <p:nvSpPr>
          <p:cNvPr id="72" name="Text 70"/>
          <p:cNvSpPr/>
          <p:nvPr/>
        </p:nvSpPr>
        <p:spPr>
          <a:xfrm>
            <a:off x="3703320" y="4151376"/>
            <a:ext cx="1408176" cy="310896"/>
          </a:xfrm>
          <a:prstGeom prst="rect">
            <a:avLst/>
          </a:prstGeom>
          <a:noFill/>
          <a:ln/>
        </p:spPr>
        <p:txBody>
          <a:bodyPr wrap="square" lIns="0" tIns="0" rIns="0" bIns="0" rtlCol="0" anchor="ctr"/>
          <a:lstStyle/>
          <a:p>
            <a:pPr algn="ctr" indent="0" marL="0">
              <a:buNone/>
            </a:pPr>
            <a:r>
              <a:rPr lang="en-US" sz="1200" dirty="0">
                <a:solidFill>
                  <a:srgbClr val="6E7681"/>
                </a:solidFill>
                <a:latin typeface="Calibri" pitchFamily="34" charset="0"/>
                <a:ea typeface="Calibri" pitchFamily="34" charset="-122"/>
                <a:cs typeface="Calibri" pitchFamily="34" charset="-120"/>
              </a:rPr>
              <a:t>244</a:t>
            </a:r>
            <a:pPr algn="ctr" indent="0" marL="0">
              <a:buNone/>
            </a:pPr>
            <a:r>
              <a:rPr lang="en-US" sz="1200" dirty="0">
                <a:solidFill>
                  <a:srgbClr val="6E7681"/>
                </a:solidFill>
                <a:latin typeface="Calibri" pitchFamily="34" charset="0"/>
                <a:ea typeface="Calibri" pitchFamily="34" charset="-122"/>
                <a:cs typeface="Calibri" pitchFamily="34" charset="-120"/>
              </a:rPr>
              <a:t>  →  </a:t>
            </a:r>
            <a:pPr algn="ctr" indent="0" marL="0">
              <a:buNone/>
            </a:pPr>
            <a:r>
              <a:rPr lang="en-US" sz="1200" b="1" dirty="0">
                <a:solidFill>
                  <a:srgbClr val="1C6E8C"/>
                </a:solidFill>
                <a:latin typeface="Calibri" pitchFamily="34" charset="0"/>
                <a:ea typeface="Calibri" pitchFamily="34" charset="-122"/>
                <a:cs typeface="Calibri" pitchFamily="34" charset="-120"/>
              </a:rPr>
              <a:t>71</a:t>
            </a:r>
            <a:endParaRPr lang="en-US" sz="1200" dirty="0"/>
          </a:p>
        </p:txBody>
      </p:sp>
      <p:sp>
        <p:nvSpPr>
          <p:cNvPr id="73" name="Text 71"/>
          <p:cNvSpPr/>
          <p:nvPr/>
        </p:nvSpPr>
        <p:spPr>
          <a:xfrm>
            <a:off x="3703320" y="4462272"/>
            <a:ext cx="1408176" cy="219456"/>
          </a:xfrm>
          <a:prstGeom prst="rect">
            <a:avLst/>
          </a:prstGeom>
          <a:noFill/>
          <a:ln/>
        </p:spPr>
        <p:txBody>
          <a:bodyPr wrap="square" lIns="0" tIns="0" rIns="0" bIns="0" rtlCol="0" anchor="ctr"/>
          <a:lstStyle/>
          <a:p>
            <a:pPr algn="ctr" indent="0" marL="0">
              <a:buNone/>
            </a:pPr>
            <a:r>
              <a:rPr lang="en-US" sz="900" dirty="0">
                <a:solidFill>
                  <a:srgbClr val="6E7681"/>
                </a:solidFill>
                <a:latin typeface="Calibri" pitchFamily="34" charset="0"/>
                <a:ea typeface="Calibri" pitchFamily="34" charset="-122"/>
                <a:cs typeface="Calibri" pitchFamily="34" charset="-120"/>
              </a:rPr>
              <a:t>251 Episoden</a:t>
            </a:r>
            <a:endParaRPr lang="en-US" sz="900" dirty="0"/>
          </a:p>
        </p:txBody>
      </p:sp>
      <p:sp>
        <p:nvSpPr>
          <p:cNvPr id="74" name="Shape 72"/>
          <p:cNvSpPr/>
          <p:nvPr/>
        </p:nvSpPr>
        <p:spPr>
          <a:xfrm>
            <a:off x="5166360" y="4059936"/>
            <a:ext cx="1408176" cy="658368"/>
          </a:xfrm>
          <a:prstGeom prst="rect">
            <a:avLst/>
          </a:prstGeom>
          <a:solidFill>
            <a:srgbClr val="E9F0F3"/>
          </a:solidFill>
          <a:ln w="19050">
            <a:solidFill>
              <a:srgbClr val="FFFFFF"/>
            </a:solidFill>
            <a:prstDash val="solid"/>
          </a:ln>
        </p:spPr>
      </p:sp>
      <p:sp>
        <p:nvSpPr>
          <p:cNvPr id="75" name="Text 73"/>
          <p:cNvSpPr/>
          <p:nvPr/>
        </p:nvSpPr>
        <p:spPr>
          <a:xfrm>
            <a:off x="5166360" y="4151376"/>
            <a:ext cx="1408176" cy="310896"/>
          </a:xfrm>
          <a:prstGeom prst="rect">
            <a:avLst/>
          </a:prstGeom>
          <a:noFill/>
          <a:ln/>
        </p:spPr>
        <p:txBody>
          <a:bodyPr wrap="square" lIns="0" tIns="0" rIns="0" bIns="0" rtlCol="0" anchor="ctr"/>
          <a:lstStyle/>
          <a:p>
            <a:pPr algn="ctr" indent="0" marL="0">
              <a:buNone/>
            </a:pPr>
            <a:r>
              <a:rPr lang="en-US" sz="1200" dirty="0">
                <a:solidFill>
                  <a:srgbClr val="6E7681"/>
                </a:solidFill>
                <a:latin typeface="Calibri" pitchFamily="34" charset="0"/>
                <a:ea typeface="Calibri" pitchFamily="34" charset="-122"/>
                <a:cs typeface="Calibri" pitchFamily="34" charset="-120"/>
              </a:rPr>
              <a:t>195</a:t>
            </a:r>
            <a:pPr algn="ctr" indent="0" marL="0">
              <a:buNone/>
            </a:pPr>
            <a:r>
              <a:rPr lang="en-US" sz="1200" dirty="0">
                <a:solidFill>
                  <a:srgbClr val="6E7681"/>
                </a:solidFill>
                <a:latin typeface="Calibri" pitchFamily="34" charset="0"/>
                <a:ea typeface="Calibri" pitchFamily="34" charset="-122"/>
                <a:cs typeface="Calibri" pitchFamily="34" charset="-120"/>
              </a:rPr>
              <a:t>  →  </a:t>
            </a:r>
            <a:pPr algn="ctr" indent="0" marL="0">
              <a:buNone/>
            </a:pPr>
            <a:r>
              <a:rPr lang="en-US" sz="1200" b="1" dirty="0">
                <a:solidFill>
                  <a:srgbClr val="1C6E8C"/>
                </a:solidFill>
                <a:latin typeface="Calibri" pitchFamily="34" charset="0"/>
                <a:ea typeface="Calibri" pitchFamily="34" charset="-122"/>
                <a:cs typeface="Calibri" pitchFamily="34" charset="-120"/>
              </a:rPr>
              <a:t>67</a:t>
            </a:r>
            <a:endParaRPr lang="en-US" sz="1200" dirty="0"/>
          </a:p>
        </p:txBody>
      </p:sp>
      <p:sp>
        <p:nvSpPr>
          <p:cNvPr id="76" name="Text 74"/>
          <p:cNvSpPr/>
          <p:nvPr/>
        </p:nvSpPr>
        <p:spPr>
          <a:xfrm>
            <a:off x="5166360" y="4462272"/>
            <a:ext cx="1408176" cy="219456"/>
          </a:xfrm>
          <a:prstGeom prst="rect">
            <a:avLst/>
          </a:prstGeom>
          <a:noFill/>
          <a:ln/>
        </p:spPr>
        <p:txBody>
          <a:bodyPr wrap="square" lIns="0" tIns="0" rIns="0" bIns="0" rtlCol="0" anchor="ctr"/>
          <a:lstStyle/>
          <a:p>
            <a:pPr algn="ctr" indent="0" marL="0">
              <a:buNone/>
            </a:pPr>
            <a:r>
              <a:rPr lang="en-US" sz="900" dirty="0">
                <a:solidFill>
                  <a:srgbClr val="6E7681"/>
                </a:solidFill>
                <a:latin typeface="Calibri" pitchFamily="34" charset="0"/>
                <a:ea typeface="Calibri" pitchFamily="34" charset="-122"/>
                <a:cs typeface="Calibri" pitchFamily="34" charset="-120"/>
              </a:rPr>
              <a:t>251 Episoden</a:t>
            </a:r>
            <a:endParaRPr lang="en-US" sz="900" dirty="0"/>
          </a:p>
        </p:txBody>
      </p:sp>
      <p:sp>
        <p:nvSpPr>
          <p:cNvPr id="77" name="Shape 75"/>
          <p:cNvSpPr/>
          <p:nvPr/>
        </p:nvSpPr>
        <p:spPr>
          <a:xfrm>
            <a:off x="6629400" y="4059936"/>
            <a:ext cx="1408176" cy="658368"/>
          </a:xfrm>
          <a:prstGeom prst="rect">
            <a:avLst/>
          </a:prstGeom>
          <a:solidFill>
            <a:srgbClr val="E9F0F3"/>
          </a:solidFill>
          <a:ln w="19050">
            <a:solidFill>
              <a:srgbClr val="FFFFFF"/>
            </a:solidFill>
            <a:prstDash val="solid"/>
          </a:ln>
        </p:spPr>
      </p:sp>
      <p:sp>
        <p:nvSpPr>
          <p:cNvPr id="78" name="Text 76"/>
          <p:cNvSpPr/>
          <p:nvPr/>
        </p:nvSpPr>
        <p:spPr>
          <a:xfrm>
            <a:off x="6629400" y="4151376"/>
            <a:ext cx="1408176" cy="310896"/>
          </a:xfrm>
          <a:prstGeom prst="rect">
            <a:avLst/>
          </a:prstGeom>
          <a:noFill/>
          <a:ln/>
        </p:spPr>
        <p:txBody>
          <a:bodyPr wrap="square" lIns="0" tIns="0" rIns="0" bIns="0" rtlCol="0" anchor="ctr"/>
          <a:lstStyle/>
          <a:p>
            <a:pPr algn="ctr" indent="0" marL="0">
              <a:buNone/>
            </a:pPr>
            <a:r>
              <a:rPr lang="en-US" sz="1200" dirty="0">
                <a:solidFill>
                  <a:srgbClr val="6E7681"/>
                </a:solidFill>
                <a:latin typeface="Calibri" pitchFamily="34" charset="0"/>
                <a:ea typeface="Calibri" pitchFamily="34" charset="-122"/>
                <a:cs typeface="Calibri" pitchFamily="34" charset="-120"/>
              </a:rPr>
              <a:t>70</a:t>
            </a:r>
            <a:pPr algn="ctr" indent="0" marL="0">
              <a:buNone/>
            </a:pPr>
            <a:r>
              <a:rPr lang="en-US" sz="1200" dirty="0">
                <a:solidFill>
                  <a:srgbClr val="6E7681"/>
                </a:solidFill>
                <a:latin typeface="Calibri" pitchFamily="34" charset="0"/>
                <a:ea typeface="Calibri" pitchFamily="34" charset="-122"/>
                <a:cs typeface="Calibri" pitchFamily="34" charset="-120"/>
              </a:rPr>
              <a:t>  →  </a:t>
            </a:r>
            <a:pPr algn="ctr" indent="0" marL="0">
              <a:buNone/>
            </a:pPr>
            <a:r>
              <a:rPr lang="en-US" sz="1200" b="1" dirty="0">
                <a:solidFill>
                  <a:srgbClr val="1C6E8C"/>
                </a:solidFill>
                <a:latin typeface="Calibri" pitchFamily="34" charset="0"/>
                <a:ea typeface="Calibri" pitchFamily="34" charset="-122"/>
                <a:cs typeface="Calibri" pitchFamily="34" charset="-120"/>
              </a:rPr>
              <a:t>50</a:t>
            </a:r>
            <a:endParaRPr lang="en-US" sz="1200" dirty="0"/>
          </a:p>
        </p:txBody>
      </p:sp>
      <p:sp>
        <p:nvSpPr>
          <p:cNvPr id="79" name="Text 77"/>
          <p:cNvSpPr/>
          <p:nvPr/>
        </p:nvSpPr>
        <p:spPr>
          <a:xfrm>
            <a:off x="6629400" y="4462272"/>
            <a:ext cx="1408176" cy="219456"/>
          </a:xfrm>
          <a:prstGeom prst="rect">
            <a:avLst/>
          </a:prstGeom>
          <a:noFill/>
          <a:ln/>
        </p:spPr>
        <p:txBody>
          <a:bodyPr wrap="square" lIns="0" tIns="0" rIns="0" bIns="0" rtlCol="0" anchor="ctr"/>
          <a:lstStyle/>
          <a:p>
            <a:pPr algn="ctr" indent="0" marL="0">
              <a:buNone/>
            </a:pPr>
            <a:r>
              <a:rPr lang="en-US" sz="900" dirty="0">
                <a:solidFill>
                  <a:srgbClr val="6E7681"/>
                </a:solidFill>
                <a:latin typeface="Calibri" pitchFamily="34" charset="0"/>
                <a:ea typeface="Calibri" pitchFamily="34" charset="-122"/>
                <a:cs typeface="Calibri" pitchFamily="34" charset="-120"/>
              </a:rPr>
              <a:t>251 Episoden</a:t>
            </a:r>
            <a:endParaRPr lang="en-US" sz="900" dirty="0"/>
          </a:p>
        </p:txBody>
      </p:sp>
      <p:sp>
        <p:nvSpPr>
          <p:cNvPr id="80" name="Shape 78"/>
          <p:cNvSpPr/>
          <p:nvPr/>
        </p:nvSpPr>
        <p:spPr>
          <a:xfrm>
            <a:off x="8092440" y="4059936"/>
            <a:ext cx="1408176" cy="658368"/>
          </a:xfrm>
          <a:prstGeom prst="rect">
            <a:avLst/>
          </a:prstGeom>
          <a:solidFill>
            <a:srgbClr val="E9F0F3"/>
          </a:solidFill>
          <a:ln w="19050">
            <a:solidFill>
              <a:srgbClr val="FFFFFF"/>
            </a:solidFill>
            <a:prstDash val="solid"/>
          </a:ln>
        </p:spPr>
      </p:sp>
      <p:sp>
        <p:nvSpPr>
          <p:cNvPr id="81" name="Text 79"/>
          <p:cNvSpPr/>
          <p:nvPr/>
        </p:nvSpPr>
        <p:spPr>
          <a:xfrm>
            <a:off x="8092440" y="4151376"/>
            <a:ext cx="1408176" cy="310896"/>
          </a:xfrm>
          <a:prstGeom prst="rect">
            <a:avLst/>
          </a:prstGeom>
          <a:noFill/>
          <a:ln/>
        </p:spPr>
        <p:txBody>
          <a:bodyPr wrap="square" lIns="0" tIns="0" rIns="0" bIns="0" rtlCol="0" anchor="ctr"/>
          <a:lstStyle/>
          <a:p>
            <a:pPr algn="ctr" indent="0" marL="0">
              <a:buNone/>
            </a:pPr>
            <a:r>
              <a:rPr lang="en-US" sz="1200" dirty="0">
                <a:solidFill>
                  <a:srgbClr val="6E7681"/>
                </a:solidFill>
                <a:latin typeface="Calibri" pitchFamily="34" charset="0"/>
                <a:ea typeface="Calibri" pitchFamily="34" charset="-122"/>
                <a:cs typeface="Calibri" pitchFamily="34" charset="-120"/>
              </a:rPr>
              <a:t>651</a:t>
            </a:r>
            <a:pPr algn="ctr" indent="0" marL="0">
              <a:buNone/>
            </a:pPr>
            <a:r>
              <a:rPr lang="en-US" sz="1200" dirty="0">
                <a:solidFill>
                  <a:srgbClr val="6E7681"/>
                </a:solidFill>
                <a:latin typeface="Calibri" pitchFamily="34" charset="0"/>
                <a:ea typeface="Calibri" pitchFamily="34" charset="-122"/>
                <a:cs typeface="Calibri" pitchFamily="34" charset="-120"/>
              </a:rPr>
              <a:t>  →  </a:t>
            </a:r>
            <a:pPr algn="ctr" indent="0" marL="0">
              <a:buNone/>
            </a:pPr>
            <a:r>
              <a:rPr lang="en-US" sz="1200" b="1" dirty="0">
                <a:solidFill>
                  <a:srgbClr val="1C6E8C"/>
                </a:solidFill>
                <a:latin typeface="Calibri" pitchFamily="34" charset="0"/>
                <a:ea typeface="Calibri" pitchFamily="34" charset="-122"/>
                <a:cs typeface="Calibri" pitchFamily="34" charset="-120"/>
              </a:rPr>
              <a:t>21</a:t>
            </a:r>
            <a:endParaRPr lang="en-US" sz="1200" dirty="0"/>
          </a:p>
        </p:txBody>
      </p:sp>
      <p:sp>
        <p:nvSpPr>
          <p:cNvPr id="82" name="Text 80"/>
          <p:cNvSpPr/>
          <p:nvPr/>
        </p:nvSpPr>
        <p:spPr>
          <a:xfrm>
            <a:off x="8092440" y="4462272"/>
            <a:ext cx="1408176" cy="219456"/>
          </a:xfrm>
          <a:prstGeom prst="rect">
            <a:avLst/>
          </a:prstGeom>
          <a:noFill/>
          <a:ln/>
        </p:spPr>
        <p:txBody>
          <a:bodyPr wrap="square" lIns="0" tIns="0" rIns="0" bIns="0" rtlCol="0" anchor="ctr"/>
          <a:lstStyle/>
          <a:p>
            <a:pPr algn="ctr" indent="0" marL="0">
              <a:buNone/>
            </a:pPr>
            <a:r>
              <a:rPr lang="en-US" sz="900" dirty="0">
                <a:solidFill>
                  <a:srgbClr val="6E7681"/>
                </a:solidFill>
                <a:latin typeface="Calibri" pitchFamily="34" charset="0"/>
                <a:ea typeface="Calibri" pitchFamily="34" charset="-122"/>
                <a:cs typeface="Calibri" pitchFamily="34" charset="-120"/>
              </a:rPr>
              <a:t>251 Episoden</a:t>
            </a:r>
            <a:endParaRPr lang="en-US" sz="900" dirty="0"/>
          </a:p>
        </p:txBody>
      </p:sp>
      <p:sp>
        <p:nvSpPr>
          <p:cNvPr id="83" name="Shape 81"/>
          <p:cNvSpPr/>
          <p:nvPr/>
        </p:nvSpPr>
        <p:spPr>
          <a:xfrm>
            <a:off x="9555480" y="4059936"/>
            <a:ext cx="1408176" cy="658368"/>
          </a:xfrm>
          <a:prstGeom prst="rect">
            <a:avLst/>
          </a:prstGeom>
          <a:solidFill>
            <a:srgbClr val="E9F0F3"/>
          </a:solidFill>
          <a:ln w="19050">
            <a:solidFill>
              <a:srgbClr val="FFFFFF"/>
            </a:solidFill>
            <a:prstDash val="solid"/>
          </a:ln>
        </p:spPr>
      </p:sp>
      <p:sp>
        <p:nvSpPr>
          <p:cNvPr id="84" name="Text 82"/>
          <p:cNvSpPr/>
          <p:nvPr/>
        </p:nvSpPr>
        <p:spPr>
          <a:xfrm>
            <a:off x="9555480" y="4151376"/>
            <a:ext cx="1408176" cy="310896"/>
          </a:xfrm>
          <a:prstGeom prst="rect">
            <a:avLst/>
          </a:prstGeom>
          <a:noFill/>
          <a:ln/>
        </p:spPr>
        <p:txBody>
          <a:bodyPr wrap="square" lIns="0" tIns="0" rIns="0" bIns="0" rtlCol="0" anchor="ctr"/>
          <a:lstStyle/>
          <a:p>
            <a:pPr algn="ctr" indent="0" marL="0">
              <a:buNone/>
            </a:pPr>
            <a:r>
              <a:rPr lang="en-US" sz="1200" dirty="0">
                <a:solidFill>
                  <a:srgbClr val="6E7681"/>
                </a:solidFill>
                <a:latin typeface="Calibri" pitchFamily="34" charset="0"/>
                <a:ea typeface="Calibri" pitchFamily="34" charset="-122"/>
                <a:cs typeface="Calibri" pitchFamily="34" charset="-120"/>
              </a:rPr>
              <a:t>495</a:t>
            </a:r>
            <a:pPr algn="ctr" indent="0" marL="0">
              <a:buNone/>
            </a:pPr>
            <a:r>
              <a:rPr lang="en-US" sz="1200" dirty="0">
                <a:solidFill>
                  <a:srgbClr val="6E7681"/>
                </a:solidFill>
                <a:latin typeface="Calibri" pitchFamily="34" charset="0"/>
                <a:ea typeface="Calibri" pitchFamily="34" charset="-122"/>
                <a:cs typeface="Calibri" pitchFamily="34" charset="-120"/>
              </a:rPr>
              <a:t>  →  </a:t>
            </a:r>
            <a:pPr algn="ctr" indent="0" marL="0">
              <a:buNone/>
            </a:pPr>
            <a:r>
              <a:rPr lang="en-US" sz="1200" b="1" dirty="0">
                <a:solidFill>
                  <a:srgbClr val="1C6E8C"/>
                </a:solidFill>
                <a:latin typeface="Calibri" pitchFamily="34" charset="0"/>
                <a:ea typeface="Calibri" pitchFamily="34" charset="-122"/>
                <a:cs typeface="Calibri" pitchFamily="34" charset="-120"/>
              </a:rPr>
              <a:t>84</a:t>
            </a:r>
            <a:endParaRPr lang="en-US" sz="1200" dirty="0"/>
          </a:p>
        </p:txBody>
      </p:sp>
      <p:sp>
        <p:nvSpPr>
          <p:cNvPr id="85" name="Text 83"/>
          <p:cNvSpPr/>
          <p:nvPr/>
        </p:nvSpPr>
        <p:spPr>
          <a:xfrm>
            <a:off x="9555480" y="4462272"/>
            <a:ext cx="1408176" cy="219456"/>
          </a:xfrm>
          <a:prstGeom prst="rect">
            <a:avLst/>
          </a:prstGeom>
          <a:noFill/>
          <a:ln/>
        </p:spPr>
        <p:txBody>
          <a:bodyPr wrap="square" lIns="0" tIns="0" rIns="0" bIns="0" rtlCol="0" anchor="ctr"/>
          <a:lstStyle/>
          <a:p>
            <a:pPr algn="ctr" indent="0" marL="0">
              <a:buNone/>
            </a:pPr>
            <a:r>
              <a:rPr lang="en-US" sz="900" dirty="0">
                <a:solidFill>
                  <a:srgbClr val="6E7681"/>
                </a:solidFill>
                <a:latin typeface="Calibri" pitchFamily="34" charset="0"/>
                <a:ea typeface="Calibri" pitchFamily="34" charset="-122"/>
                <a:cs typeface="Calibri" pitchFamily="34" charset="-120"/>
              </a:rPr>
              <a:t>251 Episoden</a:t>
            </a:r>
            <a:endParaRPr lang="en-US" sz="900" dirty="0"/>
          </a:p>
        </p:txBody>
      </p:sp>
      <p:sp>
        <p:nvSpPr>
          <p:cNvPr id="86" name="Text 84"/>
          <p:cNvSpPr/>
          <p:nvPr/>
        </p:nvSpPr>
        <p:spPr>
          <a:xfrm>
            <a:off x="640080" y="5029200"/>
            <a:ext cx="10881360" cy="320040"/>
          </a:xfrm>
          <a:prstGeom prst="rect">
            <a:avLst/>
          </a:prstGeom>
          <a:noFill/>
          <a:ln/>
        </p:spPr>
        <p:txBody>
          <a:bodyPr wrap="square" lIns="0" tIns="0" rIns="0" bIns="0" rtlCol="0" anchor="ctr"/>
          <a:lstStyle/>
          <a:p>
            <a:pPr indent="0" marL="0">
              <a:buNone/>
            </a:pPr>
            <a:r>
              <a:rPr lang="en-US" sz="1300" dirty="0">
                <a:solidFill>
                  <a:srgbClr val="23282F"/>
                </a:solidFill>
                <a:latin typeface="Calibri" pitchFamily="34" charset="0"/>
                <a:ea typeface="Calibri" pitchFamily="34" charset="-122"/>
                <a:cs typeface="Calibri" pitchFamily="34" charset="-120"/>
              </a:rPr>
              <a:t>Blau = der Angreifer verliert im Lauf des Trainings an Boden. Rot = er hält sein Niveau oder verbessert sich.</a:t>
            </a:r>
            <a:endParaRPr lang="en-US" sz="1300" dirty="0"/>
          </a:p>
        </p:txBody>
      </p:sp>
      <p:sp>
        <p:nvSpPr>
          <p:cNvPr id="87" name="Text 85"/>
          <p:cNvSpPr/>
          <p:nvPr/>
        </p:nvSpPr>
        <p:spPr>
          <a:xfrm>
            <a:off x="640080" y="5349240"/>
            <a:ext cx="10881360" cy="640080"/>
          </a:xfrm>
          <a:prstGeom prst="rect">
            <a:avLst/>
          </a:prstGeom>
          <a:noFill/>
          <a:ln/>
        </p:spPr>
        <p:txBody>
          <a:bodyPr wrap="square" lIns="0" tIns="0" rIns="0" bIns="0" rtlCol="0" anchor="ctr"/>
          <a:lstStyle/>
          <a:p>
            <a:pPr indent="0" marL="0">
              <a:buNone/>
            </a:pPr>
            <a:r>
              <a:rPr lang="en-US" sz="1200" dirty="0">
                <a:solidFill>
                  <a:srgbClr val="6E7681"/>
                </a:solidFill>
                <a:latin typeface="Calibri" pitchFamily="34" charset="0"/>
                <a:ea typeface="Calibri" pitchFamily="34" charset="-122"/>
                <a:cs typeface="Calibri" pitchFamily="34" charset="-120"/>
              </a:rPr>
              <a:t>Über die Zero-Sum-Kopplung nahezu spiegelbildlich zur Verteidigerfolie: Wo der Verteidiger stark gewinnt, verliert der Angreifer entsprechend. Die stärksten Rückgänge liegen wieder auf der Diagonalen der schwierigen Fälle, allen voran Flat und Hub &amp; Spoke gegen den eigenen Angreifer.</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640080" y="384048"/>
            <a:ext cx="10881360" cy="566928"/>
          </a:xfrm>
          <a:prstGeom prst="rect">
            <a:avLst/>
          </a:prstGeom>
          <a:noFill/>
          <a:ln/>
        </p:spPr>
        <p:txBody>
          <a:bodyPr wrap="square" lIns="0" tIns="0" rIns="0" bIns="0" rtlCol="0" anchor="ctr"/>
          <a:lstStyle/>
          <a:p>
            <a:pPr indent="0" marL="0">
              <a:buNone/>
            </a:pPr>
            <a:r>
              <a:rPr lang="en-US" sz="3400" b="1" dirty="0">
                <a:solidFill>
                  <a:srgbClr val="23282F"/>
                </a:solidFill>
                <a:latin typeface="Cambria" pitchFamily="34" charset="0"/>
                <a:ea typeface="Cambria" pitchFamily="34" charset="-122"/>
                <a:cs typeface="Cambria" pitchFamily="34" charset="-120"/>
              </a:rPr>
              <a:t>Wie weit kommt der Angreifer?</a:t>
            </a:r>
            <a:endParaRPr lang="en-US" sz="3400" dirty="0"/>
          </a:p>
        </p:txBody>
      </p:sp>
      <p:sp>
        <p:nvSpPr>
          <p:cNvPr id="3" name="Text 1"/>
          <p:cNvSpPr/>
          <p:nvPr/>
        </p:nvSpPr>
        <p:spPr>
          <a:xfrm>
            <a:off x="640080" y="969264"/>
            <a:ext cx="10881360" cy="493776"/>
          </a:xfrm>
          <a:prstGeom prst="rect">
            <a:avLst/>
          </a:prstGeom>
          <a:noFill/>
          <a:ln/>
        </p:spPr>
        <p:txBody>
          <a:bodyPr wrap="square" lIns="0" tIns="0" rIns="0" bIns="0" rtlCol="0" anchor="ctr"/>
          <a:lstStyle/>
          <a:p>
            <a:pPr indent="0" marL="0">
              <a:buNone/>
            </a:pPr>
            <a:r>
              <a:rPr lang="en-US" sz="1400" dirty="0">
                <a:solidFill>
                  <a:srgbClr val="6E7681"/>
                </a:solidFill>
                <a:latin typeface="Calibri" pitchFamily="34" charset="0"/>
                <a:ea typeface="Calibri" pitchFamily="34" charset="-122"/>
                <a:cs typeface="Calibri" pitchFamily="34" charset="-120"/>
              </a:rPr>
              <a:t>Anteil der Episoden mit erreichtem Crown Jewel, je Matchup</a:t>
            </a:r>
            <a:endParaRPr lang="en-US" sz="1400" dirty="0"/>
          </a:p>
        </p:txBody>
      </p:sp>
      <p:graphicFrame>
        <p:nvGraphicFramePr>
          <p:cNvPr id="4" name="Chart 0" descr=""/>
          <p:cNvGraphicFramePr/>
          <p:nvPr/>
        </p:nvGraphicFramePr>
        <p:xfrm>
          <a:off x="640080" y="1645920"/>
          <a:ext cx="10881360" cy="3657600"/>
        </p:xfrm>
        <a:graphic xmlns:a="http://schemas.openxmlformats.org/drawingml/2006/main">
          <a:graphicData uri="http://schemas.openxmlformats.org/drawingml/2006/chart">
            <c:chart xmlns:c="http://schemas.openxmlformats.org/drawingml/2006/chart" r:id="rId1"/>
          </a:graphicData>
        </a:graphic>
      </p:graphicFrame>
      <p:sp>
        <p:nvSpPr>
          <p:cNvPr id="5" name="Text 2"/>
          <p:cNvSpPr/>
          <p:nvPr/>
        </p:nvSpPr>
        <p:spPr>
          <a:xfrm>
            <a:off x="640080" y="6291072"/>
            <a:ext cx="10881360" cy="274320"/>
          </a:xfrm>
          <a:prstGeom prst="rect">
            <a:avLst/>
          </a:prstGeom>
          <a:noFill/>
          <a:ln/>
        </p:spPr>
        <p:txBody>
          <a:bodyPr wrap="square" lIns="0" tIns="0" rIns="0" bIns="0" rtlCol="0" anchor="ctr"/>
          <a:lstStyle/>
          <a:p>
            <a:pPr indent="0" marL="0">
              <a:buNone/>
            </a:pPr>
            <a:r>
              <a:rPr lang="en-US" sz="1000" i="1" dirty="0">
                <a:solidFill>
                  <a:srgbClr val="6E7681"/>
                </a:solidFill>
                <a:latin typeface="Calibri" pitchFamily="34" charset="0"/>
                <a:ea typeface="Calibri" pitchFamily="34" charset="-122"/>
                <a:cs typeface="Calibri" pitchFamily="34" charset="-120"/>
              </a:rPr>
              <a:t>Flat gegen den eigenen Angreifer: 99,9 %. Micro-Segmentation gegen DMZ dagegen 0,0 %, der DMZ-Angreifer findet dort keinen Weg zum Ziel.</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640080" y="384048"/>
            <a:ext cx="10881360" cy="566928"/>
          </a:xfrm>
          <a:prstGeom prst="rect">
            <a:avLst/>
          </a:prstGeom>
          <a:noFill/>
          <a:ln/>
        </p:spPr>
        <p:txBody>
          <a:bodyPr wrap="square" lIns="0" tIns="0" rIns="0" bIns="0" rtlCol="0" anchor="ctr"/>
          <a:lstStyle/>
          <a:p>
            <a:pPr indent="0" marL="0">
              <a:buNone/>
            </a:pPr>
            <a:r>
              <a:rPr lang="en-US" sz="3400" b="1" dirty="0">
                <a:solidFill>
                  <a:srgbClr val="23282F"/>
                </a:solidFill>
                <a:latin typeface="Cambria" pitchFamily="34" charset="0"/>
                <a:ea typeface="Cambria" pitchFamily="34" charset="-122"/>
                <a:cs typeface="Cambria" pitchFamily="34" charset="-120"/>
              </a:rPr>
              <a:t>Wie viele Knoten hält der Angreifer?</a:t>
            </a:r>
            <a:endParaRPr lang="en-US" sz="3400" dirty="0"/>
          </a:p>
        </p:txBody>
      </p:sp>
      <p:sp>
        <p:nvSpPr>
          <p:cNvPr id="3" name="Text 1"/>
          <p:cNvSpPr/>
          <p:nvPr/>
        </p:nvSpPr>
        <p:spPr>
          <a:xfrm>
            <a:off x="640080" y="969264"/>
            <a:ext cx="10881360" cy="493776"/>
          </a:xfrm>
          <a:prstGeom prst="rect">
            <a:avLst/>
          </a:prstGeom>
          <a:noFill/>
          <a:ln/>
        </p:spPr>
        <p:txBody>
          <a:bodyPr wrap="square" lIns="0" tIns="0" rIns="0" bIns="0" rtlCol="0" anchor="ctr"/>
          <a:lstStyle/>
          <a:p>
            <a:pPr indent="0" marL="0">
              <a:buNone/>
            </a:pPr>
            <a:r>
              <a:rPr lang="en-US" sz="1400" dirty="0">
                <a:solidFill>
                  <a:srgbClr val="6E7681"/>
                </a:solidFill>
                <a:latin typeface="Calibri" pitchFamily="34" charset="0"/>
                <a:ea typeface="Calibri" pitchFamily="34" charset="-122"/>
                <a:cs typeface="Calibri" pitchFamily="34" charset="-120"/>
              </a:rPr>
              <a:t>Mittel je Matchup, von zehn Knoten im Netz, Zeile = verteidigte Topologie, Spalte = Angreifer</a:t>
            </a:r>
            <a:endParaRPr lang="en-US" sz="1400" dirty="0"/>
          </a:p>
        </p:txBody>
      </p:sp>
      <p:sp>
        <p:nvSpPr>
          <p:cNvPr id="4" name="Text 2"/>
          <p:cNvSpPr/>
          <p:nvPr/>
        </p:nvSpPr>
        <p:spPr>
          <a:xfrm>
            <a:off x="2240280" y="1399032"/>
            <a:ext cx="1371600" cy="329184"/>
          </a:xfrm>
          <a:prstGeom prst="rect">
            <a:avLst/>
          </a:prstGeom>
          <a:noFill/>
          <a:ln/>
        </p:spPr>
        <p:txBody>
          <a:bodyPr wrap="square" lIns="0" tIns="0" rIns="0" bIns="0" rtlCol="0" anchor="ctr"/>
          <a:lstStyle/>
          <a:p>
            <a:pPr algn="ctr" indent="0" marL="0">
              <a:buNone/>
            </a:pPr>
            <a:r>
              <a:rPr lang="en-US" sz="1200" b="1" dirty="0">
                <a:solidFill>
                  <a:srgbClr val="6E7681"/>
                </a:solidFill>
                <a:latin typeface="Calibri" pitchFamily="34" charset="0"/>
                <a:ea typeface="Calibri" pitchFamily="34" charset="-122"/>
                <a:cs typeface="Calibri" pitchFamily="34" charset="-120"/>
              </a:rPr>
              <a:t>Chain</a:t>
            </a:r>
            <a:endParaRPr lang="en-US" sz="1200" dirty="0"/>
          </a:p>
        </p:txBody>
      </p:sp>
      <p:sp>
        <p:nvSpPr>
          <p:cNvPr id="5" name="Text 3"/>
          <p:cNvSpPr/>
          <p:nvPr/>
        </p:nvSpPr>
        <p:spPr>
          <a:xfrm>
            <a:off x="3611880" y="1399032"/>
            <a:ext cx="1371600" cy="329184"/>
          </a:xfrm>
          <a:prstGeom prst="rect">
            <a:avLst/>
          </a:prstGeom>
          <a:noFill/>
          <a:ln/>
        </p:spPr>
        <p:txBody>
          <a:bodyPr wrap="square" lIns="0" tIns="0" rIns="0" bIns="0" rtlCol="0" anchor="ctr"/>
          <a:lstStyle/>
          <a:p>
            <a:pPr algn="ctr" indent="0" marL="0">
              <a:buNone/>
            </a:pPr>
            <a:r>
              <a:rPr lang="en-US" sz="1200" b="1" dirty="0">
                <a:solidFill>
                  <a:srgbClr val="6E7681"/>
                </a:solidFill>
                <a:latin typeface="Calibri" pitchFamily="34" charset="0"/>
                <a:ea typeface="Calibri" pitchFamily="34" charset="-122"/>
                <a:cs typeface="Calibri" pitchFamily="34" charset="-120"/>
              </a:rPr>
              <a:t>Flat</a:t>
            </a:r>
            <a:endParaRPr lang="en-US" sz="1200" dirty="0"/>
          </a:p>
        </p:txBody>
      </p:sp>
      <p:sp>
        <p:nvSpPr>
          <p:cNvPr id="6" name="Text 4"/>
          <p:cNvSpPr/>
          <p:nvPr/>
        </p:nvSpPr>
        <p:spPr>
          <a:xfrm>
            <a:off x="4983480" y="1399032"/>
            <a:ext cx="1371600" cy="329184"/>
          </a:xfrm>
          <a:prstGeom prst="rect">
            <a:avLst/>
          </a:prstGeom>
          <a:noFill/>
          <a:ln/>
        </p:spPr>
        <p:txBody>
          <a:bodyPr wrap="square" lIns="0" tIns="0" rIns="0" bIns="0" rtlCol="0" anchor="ctr"/>
          <a:lstStyle/>
          <a:p>
            <a:pPr algn="ctr" indent="0" marL="0">
              <a:buNone/>
            </a:pPr>
            <a:r>
              <a:rPr lang="en-US" sz="1200" b="1" dirty="0">
                <a:solidFill>
                  <a:srgbClr val="6E7681"/>
                </a:solidFill>
                <a:latin typeface="Calibri" pitchFamily="34" charset="0"/>
                <a:ea typeface="Calibri" pitchFamily="34" charset="-122"/>
                <a:cs typeface="Calibri" pitchFamily="34" charset="-120"/>
              </a:rPr>
              <a:t>Hub &amp; Spoke</a:t>
            </a:r>
            <a:endParaRPr lang="en-US" sz="1200" dirty="0"/>
          </a:p>
        </p:txBody>
      </p:sp>
      <p:sp>
        <p:nvSpPr>
          <p:cNvPr id="7" name="Text 5"/>
          <p:cNvSpPr/>
          <p:nvPr/>
        </p:nvSpPr>
        <p:spPr>
          <a:xfrm>
            <a:off x="6355080" y="1399032"/>
            <a:ext cx="1371600" cy="329184"/>
          </a:xfrm>
          <a:prstGeom prst="rect">
            <a:avLst/>
          </a:prstGeom>
          <a:noFill/>
          <a:ln/>
        </p:spPr>
        <p:txBody>
          <a:bodyPr wrap="square" lIns="0" tIns="0" rIns="0" bIns="0" rtlCol="0" anchor="ctr"/>
          <a:lstStyle/>
          <a:p>
            <a:pPr algn="ctr" indent="0" marL="0">
              <a:buNone/>
            </a:pPr>
            <a:r>
              <a:rPr lang="en-US" sz="1200" b="1" dirty="0">
                <a:solidFill>
                  <a:srgbClr val="6E7681"/>
                </a:solidFill>
                <a:latin typeface="Calibri" pitchFamily="34" charset="0"/>
                <a:ea typeface="Calibri" pitchFamily="34" charset="-122"/>
                <a:cs typeface="Calibri" pitchFamily="34" charset="-120"/>
              </a:rPr>
              <a:t>DMZ</a:t>
            </a:r>
            <a:endParaRPr lang="en-US" sz="1200" dirty="0"/>
          </a:p>
        </p:txBody>
      </p:sp>
      <p:sp>
        <p:nvSpPr>
          <p:cNvPr id="8" name="Text 6"/>
          <p:cNvSpPr/>
          <p:nvPr/>
        </p:nvSpPr>
        <p:spPr>
          <a:xfrm>
            <a:off x="7726680" y="1399032"/>
            <a:ext cx="1371600" cy="329184"/>
          </a:xfrm>
          <a:prstGeom prst="rect">
            <a:avLst/>
          </a:prstGeom>
          <a:noFill/>
          <a:ln/>
        </p:spPr>
        <p:txBody>
          <a:bodyPr wrap="square" lIns="0" tIns="0" rIns="0" bIns="0" rtlCol="0" anchor="ctr"/>
          <a:lstStyle/>
          <a:p>
            <a:pPr algn="ctr" indent="0" marL="0">
              <a:buNone/>
            </a:pPr>
            <a:r>
              <a:rPr lang="en-US" sz="1200" b="1" dirty="0">
                <a:solidFill>
                  <a:srgbClr val="6E7681"/>
                </a:solidFill>
                <a:latin typeface="Calibri" pitchFamily="34" charset="0"/>
                <a:ea typeface="Calibri" pitchFamily="34" charset="-122"/>
                <a:cs typeface="Calibri" pitchFamily="34" charset="-120"/>
              </a:rPr>
              <a:t>Micro-Seg.</a:t>
            </a:r>
            <a:endParaRPr lang="en-US" sz="1200" dirty="0"/>
          </a:p>
        </p:txBody>
      </p:sp>
      <p:sp>
        <p:nvSpPr>
          <p:cNvPr id="9" name="Text 7"/>
          <p:cNvSpPr/>
          <p:nvPr/>
        </p:nvSpPr>
        <p:spPr>
          <a:xfrm>
            <a:off x="9098280" y="1399032"/>
            <a:ext cx="1371600" cy="329184"/>
          </a:xfrm>
          <a:prstGeom prst="rect">
            <a:avLst/>
          </a:prstGeom>
          <a:noFill/>
          <a:ln/>
        </p:spPr>
        <p:txBody>
          <a:bodyPr wrap="square" lIns="0" tIns="0" rIns="0" bIns="0" rtlCol="0" anchor="ctr"/>
          <a:lstStyle/>
          <a:p>
            <a:pPr algn="ctr" indent="0" marL="0">
              <a:buNone/>
            </a:pPr>
            <a:r>
              <a:rPr lang="en-US" sz="1200" b="1" dirty="0">
                <a:solidFill>
                  <a:srgbClr val="6E7681"/>
                </a:solidFill>
                <a:latin typeface="Calibri" pitchFamily="34" charset="0"/>
                <a:ea typeface="Calibri" pitchFamily="34" charset="-122"/>
                <a:cs typeface="Calibri" pitchFamily="34" charset="-120"/>
              </a:rPr>
              <a:t>Super</a:t>
            </a:r>
            <a:endParaRPr lang="en-US" sz="1200" dirty="0"/>
          </a:p>
        </p:txBody>
      </p:sp>
      <p:sp>
        <p:nvSpPr>
          <p:cNvPr id="10" name="Text 8"/>
          <p:cNvSpPr/>
          <p:nvPr/>
        </p:nvSpPr>
        <p:spPr>
          <a:xfrm>
            <a:off x="640080" y="1783080"/>
            <a:ext cx="1508760" cy="658368"/>
          </a:xfrm>
          <a:prstGeom prst="rect">
            <a:avLst/>
          </a:prstGeom>
          <a:noFill/>
          <a:ln/>
        </p:spPr>
        <p:txBody>
          <a:bodyPr wrap="square" lIns="0" tIns="0" rIns="0" bIns="0" rtlCol="0" anchor="ctr"/>
          <a:lstStyle/>
          <a:p>
            <a:pPr algn="r" indent="0" marL="0">
              <a:buNone/>
            </a:pPr>
            <a:r>
              <a:rPr lang="en-US" sz="1300" b="1" dirty="0">
                <a:solidFill>
                  <a:srgbClr val="23282F"/>
                </a:solidFill>
                <a:latin typeface="Calibri" pitchFamily="34" charset="0"/>
                <a:ea typeface="Calibri" pitchFamily="34" charset="-122"/>
                <a:cs typeface="Calibri" pitchFamily="34" charset="-120"/>
              </a:rPr>
              <a:t>Flat</a:t>
            </a:r>
            <a:endParaRPr lang="en-US" sz="1300" dirty="0"/>
          </a:p>
        </p:txBody>
      </p:sp>
      <p:sp>
        <p:nvSpPr>
          <p:cNvPr id="11" name="Shape 9"/>
          <p:cNvSpPr/>
          <p:nvPr/>
        </p:nvSpPr>
        <p:spPr>
          <a:xfrm>
            <a:off x="2240280" y="1783080"/>
            <a:ext cx="1316736" cy="603504"/>
          </a:xfrm>
          <a:prstGeom prst="rect">
            <a:avLst/>
          </a:prstGeom>
          <a:solidFill>
            <a:srgbClr val="FBEDEA"/>
          </a:solidFill>
          <a:ln w="19050">
            <a:solidFill>
              <a:srgbClr val="FFFFFF"/>
            </a:solidFill>
            <a:prstDash val="solid"/>
          </a:ln>
        </p:spPr>
      </p:sp>
      <p:sp>
        <p:nvSpPr>
          <p:cNvPr id="12" name="Text 10"/>
          <p:cNvSpPr/>
          <p:nvPr/>
        </p:nvSpPr>
        <p:spPr>
          <a:xfrm>
            <a:off x="2240280" y="1837944"/>
            <a:ext cx="1316736" cy="310896"/>
          </a:xfrm>
          <a:prstGeom prst="rect">
            <a:avLst/>
          </a:prstGeom>
          <a:noFill/>
          <a:ln/>
        </p:spPr>
        <p:txBody>
          <a:bodyPr wrap="square" lIns="0" tIns="0" rIns="0" bIns="0" rtlCol="0" anchor="ctr"/>
          <a:lstStyle/>
          <a:p>
            <a:pPr algn="ctr" indent="0" marL="0">
              <a:buNone/>
            </a:pPr>
            <a:r>
              <a:rPr lang="en-US" sz="1500" b="1" dirty="0">
                <a:solidFill>
                  <a:srgbClr val="23282F"/>
                </a:solidFill>
                <a:latin typeface="Calibri" pitchFamily="34" charset="0"/>
                <a:ea typeface="Calibri" pitchFamily="34" charset="-122"/>
                <a:cs typeface="Calibri" pitchFamily="34" charset="-120"/>
              </a:rPr>
              <a:t>2.4</a:t>
            </a:r>
            <a:endParaRPr lang="en-US" sz="1500" dirty="0"/>
          </a:p>
        </p:txBody>
      </p:sp>
      <p:sp>
        <p:nvSpPr>
          <p:cNvPr id="13" name="Text 11"/>
          <p:cNvSpPr/>
          <p:nvPr/>
        </p:nvSpPr>
        <p:spPr>
          <a:xfrm>
            <a:off x="2240280" y="2130552"/>
            <a:ext cx="1316736" cy="237744"/>
          </a:xfrm>
          <a:prstGeom prst="rect">
            <a:avLst/>
          </a:prstGeom>
          <a:noFill/>
          <a:ln/>
        </p:spPr>
        <p:txBody>
          <a:bodyPr wrap="square" lIns="0" tIns="0" rIns="0" bIns="0" rtlCol="0" anchor="ctr"/>
          <a:lstStyle/>
          <a:p>
            <a:pPr algn="ctr" indent="0" marL="0">
              <a:buNone/>
            </a:pPr>
            <a:r>
              <a:rPr lang="en-US" sz="1000" dirty="0">
                <a:solidFill>
                  <a:srgbClr val="6E7681"/>
                </a:solidFill>
                <a:latin typeface="Calibri" pitchFamily="34" charset="0"/>
                <a:ea typeface="Calibri" pitchFamily="34" charset="-122"/>
                <a:cs typeface="Calibri" pitchFamily="34" charset="-120"/>
              </a:rPr>
              <a:t>CJ 72 %</a:t>
            </a:r>
            <a:endParaRPr lang="en-US" sz="1000" dirty="0"/>
          </a:p>
        </p:txBody>
      </p:sp>
      <p:sp>
        <p:nvSpPr>
          <p:cNvPr id="14" name="Shape 12"/>
          <p:cNvSpPr/>
          <p:nvPr/>
        </p:nvSpPr>
        <p:spPr>
          <a:xfrm>
            <a:off x="3611880" y="1783080"/>
            <a:ext cx="1316736" cy="603504"/>
          </a:xfrm>
          <a:prstGeom prst="rect">
            <a:avLst/>
          </a:prstGeom>
          <a:solidFill>
            <a:srgbClr val="D07C6E"/>
          </a:solidFill>
          <a:ln w="19050">
            <a:solidFill>
              <a:srgbClr val="FFFFFF"/>
            </a:solidFill>
            <a:prstDash val="solid"/>
          </a:ln>
        </p:spPr>
      </p:sp>
      <p:sp>
        <p:nvSpPr>
          <p:cNvPr id="15" name="Text 13"/>
          <p:cNvSpPr/>
          <p:nvPr/>
        </p:nvSpPr>
        <p:spPr>
          <a:xfrm>
            <a:off x="3611880" y="1837944"/>
            <a:ext cx="1316736" cy="310896"/>
          </a:xfrm>
          <a:prstGeom prst="rect">
            <a:avLst/>
          </a:prstGeom>
          <a:noFill/>
          <a:ln/>
        </p:spPr>
        <p:txBody>
          <a:bodyPr wrap="square" lIns="0" tIns="0" rIns="0" bIns="0" rtlCol="0" anchor="ctr"/>
          <a:lstStyle/>
          <a:p>
            <a:pPr algn="ctr" indent="0" marL="0">
              <a:buNone/>
            </a:pPr>
            <a:r>
              <a:rPr lang="en-US" sz="1500" b="1" dirty="0">
                <a:solidFill>
                  <a:srgbClr val="23282F"/>
                </a:solidFill>
                <a:latin typeface="Calibri" pitchFamily="34" charset="0"/>
                <a:ea typeface="Calibri" pitchFamily="34" charset="-122"/>
                <a:cs typeface="Calibri" pitchFamily="34" charset="-120"/>
              </a:rPr>
              <a:t>8.1</a:t>
            </a:r>
            <a:endParaRPr lang="en-US" sz="1500" dirty="0"/>
          </a:p>
        </p:txBody>
      </p:sp>
      <p:sp>
        <p:nvSpPr>
          <p:cNvPr id="16" name="Text 14"/>
          <p:cNvSpPr/>
          <p:nvPr/>
        </p:nvSpPr>
        <p:spPr>
          <a:xfrm>
            <a:off x="3611880" y="2130552"/>
            <a:ext cx="1316736" cy="237744"/>
          </a:xfrm>
          <a:prstGeom prst="rect">
            <a:avLst/>
          </a:prstGeom>
          <a:noFill/>
          <a:ln/>
        </p:spPr>
        <p:txBody>
          <a:bodyPr wrap="square" lIns="0" tIns="0" rIns="0" bIns="0" rtlCol="0" anchor="ctr"/>
          <a:lstStyle/>
          <a:p>
            <a:pPr algn="ctr" indent="0" marL="0">
              <a:buNone/>
            </a:pPr>
            <a:r>
              <a:rPr lang="en-US" sz="1000" dirty="0">
                <a:solidFill>
                  <a:srgbClr val="6E7681"/>
                </a:solidFill>
                <a:latin typeface="Calibri" pitchFamily="34" charset="0"/>
                <a:ea typeface="Calibri" pitchFamily="34" charset="-122"/>
                <a:cs typeface="Calibri" pitchFamily="34" charset="-120"/>
              </a:rPr>
              <a:t>CJ 100 %</a:t>
            </a:r>
            <a:endParaRPr lang="en-US" sz="1000" dirty="0"/>
          </a:p>
        </p:txBody>
      </p:sp>
      <p:sp>
        <p:nvSpPr>
          <p:cNvPr id="17" name="Shape 15"/>
          <p:cNvSpPr/>
          <p:nvPr/>
        </p:nvSpPr>
        <p:spPr>
          <a:xfrm>
            <a:off x="4983480" y="1783080"/>
            <a:ext cx="1316736" cy="603504"/>
          </a:xfrm>
          <a:prstGeom prst="rect">
            <a:avLst/>
          </a:prstGeom>
          <a:solidFill>
            <a:srgbClr val="FBEDEA"/>
          </a:solidFill>
          <a:ln w="19050">
            <a:solidFill>
              <a:srgbClr val="FFFFFF"/>
            </a:solidFill>
            <a:prstDash val="solid"/>
          </a:ln>
        </p:spPr>
      </p:sp>
      <p:sp>
        <p:nvSpPr>
          <p:cNvPr id="18" name="Text 16"/>
          <p:cNvSpPr/>
          <p:nvPr/>
        </p:nvSpPr>
        <p:spPr>
          <a:xfrm>
            <a:off x="4983480" y="1837944"/>
            <a:ext cx="1316736" cy="310896"/>
          </a:xfrm>
          <a:prstGeom prst="rect">
            <a:avLst/>
          </a:prstGeom>
          <a:noFill/>
          <a:ln/>
        </p:spPr>
        <p:txBody>
          <a:bodyPr wrap="square" lIns="0" tIns="0" rIns="0" bIns="0" rtlCol="0" anchor="ctr"/>
          <a:lstStyle/>
          <a:p>
            <a:pPr algn="ctr" indent="0" marL="0">
              <a:buNone/>
            </a:pPr>
            <a:r>
              <a:rPr lang="en-US" sz="1500" b="1" dirty="0">
                <a:solidFill>
                  <a:srgbClr val="23282F"/>
                </a:solidFill>
                <a:latin typeface="Calibri" pitchFamily="34" charset="0"/>
                <a:ea typeface="Calibri" pitchFamily="34" charset="-122"/>
                <a:cs typeface="Calibri" pitchFamily="34" charset="-120"/>
              </a:rPr>
              <a:t>2.7</a:t>
            </a:r>
            <a:endParaRPr lang="en-US" sz="1500" dirty="0"/>
          </a:p>
        </p:txBody>
      </p:sp>
      <p:sp>
        <p:nvSpPr>
          <p:cNvPr id="19" name="Text 17"/>
          <p:cNvSpPr/>
          <p:nvPr/>
        </p:nvSpPr>
        <p:spPr>
          <a:xfrm>
            <a:off x="4983480" y="2130552"/>
            <a:ext cx="1316736" cy="237744"/>
          </a:xfrm>
          <a:prstGeom prst="rect">
            <a:avLst/>
          </a:prstGeom>
          <a:noFill/>
          <a:ln/>
        </p:spPr>
        <p:txBody>
          <a:bodyPr wrap="square" lIns="0" tIns="0" rIns="0" bIns="0" rtlCol="0" anchor="ctr"/>
          <a:lstStyle/>
          <a:p>
            <a:pPr algn="ctr" indent="0" marL="0">
              <a:buNone/>
            </a:pPr>
            <a:r>
              <a:rPr lang="en-US" sz="1000" dirty="0">
                <a:solidFill>
                  <a:srgbClr val="6E7681"/>
                </a:solidFill>
                <a:latin typeface="Calibri" pitchFamily="34" charset="0"/>
                <a:ea typeface="Calibri" pitchFamily="34" charset="-122"/>
                <a:cs typeface="Calibri" pitchFamily="34" charset="-120"/>
              </a:rPr>
              <a:t>CJ 67 %</a:t>
            </a:r>
            <a:endParaRPr lang="en-US" sz="1000" dirty="0"/>
          </a:p>
        </p:txBody>
      </p:sp>
      <p:sp>
        <p:nvSpPr>
          <p:cNvPr id="20" name="Shape 18"/>
          <p:cNvSpPr/>
          <p:nvPr/>
        </p:nvSpPr>
        <p:spPr>
          <a:xfrm>
            <a:off x="6355080" y="1783080"/>
            <a:ext cx="1316736" cy="603504"/>
          </a:xfrm>
          <a:prstGeom prst="rect">
            <a:avLst/>
          </a:prstGeom>
          <a:solidFill>
            <a:srgbClr val="FBEDEA"/>
          </a:solidFill>
          <a:ln w="19050">
            <a:solidFill>
              <a:srgbClr val="FFFFFF"/>
            </a:solidFill>
            <a:prstDash val="solid"/>
          </a:ln>
        </p:spPr>
      </p:sp>
      <p:sp>
        <p:nvSpPr>
          <p:cNvPr id="21" name="Text 19"/>
          <p:cNvSpPr/>
          <p:nvPr/>
        </p:nvSpPr>
        <p:spPr>
          <a:xfrm>
            <a:off x="6355080" y="1837944"/>
            <a:ext cx="1316736" cy="310896"/>
          </a:xfrm>
          <a:prstGeom prst="rect">
            <a:avLst/>
          </a:prstGeom>
          <a:noFill/>
          <a:ln/>
        </p:spPr>
        <p:txBody>
          <a:bodyPr wrap="square" lIns="0" tIns="0" rIns="0" bIns="0" rtlCol="0" anchor="ctr"/>
          <a:lstStyle/>
          <a:p>
            <a:pPr algn="ctr" indent="0" marL="0">
              <a:buNone/>
            </a:pPr>
            <a:r>
              <a:rPr lang="en-US" sz="1500" b="1" dirty="0">
                <a:solidFill>
                  <a:srgbClr val="23282F"/>
                </a:solidFill>
                <a:latin typeface="Calibri" pitchFamily="34" charset="0"/>
                <a:ea typeface="Calibri" pitchFamily="34" charset="-122"/>
                <a:cs typeface="Calibri" pitchFamily="34" charset="-120"/>
              </a:rPr>
              <a:t>2.0</a:t>
            </a:r>
            <a:endParaRPr lang="en-US" sz="1500" dirty="0"/>
          </a:p>
        </p:txBody>
      </p:sp>
      <p:sp>
        <p:nvSpPr>
          <p:cNvPr id="22" name="Text 20"/>
          <p:cNvSpPr/>
          <p:nvPr/>
        </p:nvSpPr>
        <p:spPr>
          <a:xfrm>
            <a:off x="6355080" y="2130552"/>
            <a:ext cx="1316736" cy="237744"/>
          </a:xfrm>
          <a:prstGeom prst="rect">
            <a:avLst/>
          </a:prstGeom>
          <a:noFill/>
          <a:ln/>
        </p:spPr>
        <p:txBody>
          <a:bodyPr wrap="square" lIns="0" tIns="0" rIns="0" bIns="0" rtlCol="0" anchor="ctr"/>
          <a:lstStyle/>
          <a:p>
            <a:pPr algn="ctr" indent="0" marL="0">
              <a:buNone/>
            </a:pPr>
            <a:r>
              <a:rPr lang="en-US" sz="1000" dirty="0">
                <a:solidFill>
                  <a:srgbClr val="6E7681"/>
                </a:solidFill>
                <a:latin typeface="Calibri" pitchFamily="34" charset="0"/>
                <a:ea typeface="Calibri" pitchFamily="34" charset="-122"/>
                <a:cs typeface="Calibri" pitchFamily="34" charset="-120"/>
              </a:rPr>
              <a:t>CJ 46 %</a:t>
            </a:r>
            <a:endParaRPr lang="en-US" sz="1000" dirty="0"/>
          </a:p>
        </p:txBody>
      </p:sp>
      <p:sp>
        <p:nvSpPr>
          <p:cNvPr id="23" name="Shape 21"/>
          <p:cNvSpPr/>
          <p:nvPr/>
        </p:nvSpPr>
        <p:spPr>
          <a:xfrm>
            <a:off x="7726680" y="1783080"/>
            <a:ext cx="1316736" cy="603504"/>
          </a:xfrm>
          <a:prstGeom prst="rect">
            <a:avLst/>
          </a:prstGeom>
          <a:solidFill>
            <a:srgbClr val="FBEDEA"/>
          </a:solidFill>
          <a:ln w="19050">
            <a:solidFill>
              <a:srgbClr val="FFFFFF"/>
            </a:solidFill>
            <a:prstDash val="solid"/>
          </a:ln>
        </p:spPr>
      </p:sp>
      <p:sp>
        <p:nvSpPr>
          <p:cNvPr id="24" name="Text 22"/>
          <p:cNvSpPr/>
          <p:nvPr/>
        </p:nvSpPr>
        <p:spPr>
          <a:xfrm>
            <a:off x="7726680" y="1837944"/>
            <a:ext cx="1316736" cy="310896"/>
          </a:xfrm>
          <a:prstGeom prst="rect">
            <a:avLst/>
          </a:prstGeom>
          <a:noFill/>
          <a:ln/>
        </p:spPr>
        <p:txBody>
          <a:bodyPr wrap="square" lIns="0" tIns="0" rIns="0" bIns="0" rtlCol="0" anchor="ctr"/>
          <a:lstStyle/>
          <a:p>
            <a:pPr algn="ctr" indent="0" marL="0">
              <a:buNone/>
            </a:pPr>
            <a:r>
              <a:rPr lang="en-US" sz="1500" b="1" dirty="0">
                <a:solidFill>
                  <a:srgbClr val="23282F"/>
                </a:solidFill>
                <a:latin typeface="Calibri" pitchFamily="34" charset="0"/>
                <a:ea typeface="Calibri" pitchFamily="34" charset="-122"/>
                <a:cs typeface="Calibri" pitchFamily="34" charset="-120"/>
              </a:rPr>
              <a:t>2.6</a:t>
            </a:r>
            <a:endParaRPr lang="en-US" sz="1500" dirty="0"/>
          </a:p>
        </p:txBody>
      </p:sp>
      <p:sp>
        <p:nvSpPr>
          <p:cNvPr id="25" name="Text 23"/>
          <p:cNvSpPr/>
          <p:nvPr/>
        </p:nvSpPr>
        <p:spPr>
          <a:xfrm>
            <a:off x="7726680" y="2130552"/>
            <a:ext cx="1316736" cy="237744"/>
          </a:xfrm>
          <a:prstGeom prst="rect">
            <a:avLst/>
          </a:prstGeom>
          <a:noFill/>
          <a:ln/>
        </p:spPr>
        <p:txBody>
          <a:bodyPr wrap="square" lIns="0" tIns="0" rIns="0" bIns="0" rtlCol="0" anchor="ctr"/>
          <a:lstStyle/>
          <a:p>
            <a:pPr algn="ctr" indent="0" marL="0">
              <a:buNone/>
            </a:pPr>
            <a:r>
              <a:rPr lang="en-US" sz="1000" dirty="0">
                <a:solidFill>
                  <a:srgbClr val="6E7681"/>
                </a:solidFill>
                <a:latin typeface="Calibri" pitchFamily="34" charset="0"/>
                <a:ea typeface="Calibri" pitchFamily="34" charset="-122"/>
                <a:cs typeface="Calibri" pitchFamily="34" charset="-120"/>
              </a:rPr>
              <a:t>CJ 74 %</a:t>
            </a:r>
            <a:endParaRPr lang="en-US" sz="1000" dirty="0"/>
          </a:p>
        </p:txBody>
      </p:sp>
      <p:sp>
        <p:nvSpPr>
          <p:cNvPr id="26" name="Shape 24"/>
          <p:cNvSpPr/>
          <p:nvPr/>
        </p:nvSpPr>
        <p:spPr>
          <a:xfrm>
            <a:off x="9098280" y="1783080"/>
            <a:ext cx="1316736" cy="603504"/>
          </a:xfrm>
          <a:prstGeom prst="rect">
            <a:avLst/>
          </a:prstGeom>
          <a:solidFill>
            <a:srgbClr val="F6D9D3"/>
          </a:solidFill>
          <a:ln w="19050">
            <a:solidFill>
              <a:srgbClr val="FFFFFF"/>
            </a:solidFill>
            <a:prstDash val="solid"/>
          </a:ln>
        </p:spPr>
      </p:sp>
      <p:sp>
        <p:nvSpPr>
          <p:cNvPr id="27" name="Text 25"/>
          <p:cNvSpPr/>
          <p:nvPr/>
        </p:nvSpPr>
        <p:spPr>
          <a:xfrm>
            <a:off x="9098280" y="1837944"/>
            <a:ext cx="1316736" cy="310896"/>
          </a:xfrm>
          <a:prstGeom prst="rect">
            <a:avLst/>
          </a:prstGeom>
          <a:noFill/>
          <a:ln/>
        </p:spPr>
        <p:txBody>
          <a:bodyPr wrap="square" lIns="0" tIns="0" rIns="0" bIns="0" rtlCol="0" anchor="ctr"/>
          <a:lstStyle/>
          <a:p>
            <a:pPr algn="ctr" indent="0" marL="0">
              <a:buNone/>
            </a:pPr>
            <a:r>
              <a:rPr lang="en-US" sz="1500" b="1" dirty="0">
                <a:solidFill>
                  <a:srgbClr val="23282F"/>
                </a:solidFill>
                <a:latin typeface="Calibri" pitchFamily="34" charset="0"/>
                <a:ea typeface="Calibri" pitchFamily="34" charset="-122"/>
                <a:cs typeface="Calibri" pitchFamily="34" charset="-120"/>
              </a:rPr>
              <a:t>3.4</a:t>
            </a:r>
            <a:endParaRPr lang="en-US" sz="1500" dirty="0"/>
          </a:p>
        </p:txBody>
      </p:sp>
      <p:sp>
        <p:nvSpPr>
          <p:cNvPr id="28" name="Text 26"/>
          <p:cNvSpPr/>
          <p:nvPr/>
        </p:nvSpPr>
        <p:spPr>
          <a:xfrm>
            <a:off x="9098280" y="2130552"/>
            <a:ext cx="1316736" cy="237744"/>
          </a:xfrm>
          <a:prstGeom prst="rect">
            <a:avLst/>
          </a:prstGeom>
          <a:noFill/>
          <a:ln/>
        </p:spPr>
        <p:txBody>
          <a:bodyPr wrap="square" lIns="0" tIns="0" rIns="0" bIns="0" rtlCol="0" anchor="ctr"/>
          <a:lstStyle/>
          <a:p>
            <a:pPr algn="ctr" indent="0" marL="0">
              <a:buNone/>
            </a:pPr>
            <a:r>
              <a:rPr lang="en-US" sz="1000" dirty="0">
                <a:solidFill>
                  <a:srgbClr val="6E7681"/>
                </a:solidFill>
                <a:latin typeface="Calibri" pitchFamily="34" charset="0"/>
                <a:ea typeface="Calibri" pitchFamily="34" charset="-122"/>
                <a:cs typeface="Calibri" pitchFamily="34" charset="-120"/>
              </a:rPr>
              <a:t>CJ 91 %</a:t>
            </a:r>
            <a:endParaRPr lang="en-US" sz="1000" dirty="0"/>
          </a:p>
        </p:txBody>
      </p:sp>
      <p:sp>
        <p:nvSpPr>
          <p:cNvPr id="29" name="Text 27"/>
          <p:cNvSpPr/>
          <p:nvPr/>
        </p:nvSpPr>
        <p:spPr>
          <a:xfrm>
            <a:off x="640080" y="2441448"/>
            <a:ext cx="1508760" cy="658368"/>
          </a:xfrm>
          <a:prstGeom prst="rect">
            <a:avLst/>
          </a:prstGeom>
          <a:noFill/>
          <a:ln/>
        </p:spPr>
        <p:txBody>
          <a:bodyPr wrap="square" lIns="0" tIns="0" rIns="0" bIns="0" rtlCol="0" anchor="ctr"/>
          <a:lstStyle/>
          <a:p>
            <a:pPr algn="r" indent="0" marL="0">
              <a:buNone/>
            </a:pPr>
            <a:r>
              <a:rPr lang="en-US" sz="1300" b="1" dirty="0">
                <a:solidFill>
                  <a:srgbClr val="23282F"/>
                </a:solidFill>
                <a:latin typeface="Calibri" pitchFamily="34" charset="0"/>
                <a:ea typeface="Calibri" pitchFamily="34" charset="-122"/>
                <a:cs typeface="Calibri" pitchFamily="34" charset="-120"/>
              </a:rPr>
              <a:t>Hub &amp; Spoke</a:t>
            </a:r>
            <a:endParaRPr lang="en-US" sz="1300" dirty="0"/>
          </a:p>
        </p:txBody>
      </p:sp>
      <p:sp>
        <p:nvSpPr>
          <p:cNvPr id="30" name="Shape 28"/>
          <p:cNvSpPr/>
          <p:nvPr/>
        </p:nvSpPr>
        <p:spPr>
          <a:xfrm>
            <a:off x="2240280" y="2441448"/>
            <a:ext cx="1316736" cy="603504"/>
          </a:xfrm>
          <a:prstGeom prst="rect">
            <a:avLst/>
          </a:prstGeom>
          <a:solidFill>
            <a:srgbClr val="FBEDEA"/>
          </a:solidFill>
          <a:ln w="19050">
            <a:solidFill>
              <a:srgbClr val="FFFFFF"/>
            </a:solidFill>
            <a:prstDash val="solid"/>
          </a:ln>
        </p:spPr>
      </p:sp>
      <p:sp>
        <p:nvSpPr>
          <p:cNvPr id="31" name="Text 29"/>
          <p:cNvSpPr/>
          <p:nvPr/>
        </p:nvSpPr>
        <p:spPr>
          <a:xfrm>
            <a:off x="2240280" y="2496312"/>
            <a:ext cx="1316736" cy="310896"/>
          </a:xfrm>
          <a:prstGeom prst="rect">
            <a:avLst/>
          </a:prstGeom>
          <a:noFill/>
          <a:ln/>
        </p:spPr>
        <p:txBody>
          <a:bodyPr wrap="square" lIns="0" tIns="0" rIns="0" bIns="0" rtlCol="0" anchor="ctr"/>
          <a:lstStyle/>
          <a:p>
            <a:pPr algn="ctr" indent="0" marL="0">
              <a:buNone/>
            </a:pPr>
            <a:r>
              <a:rPr lang="en-US" sz="1500" b="1" dirty="0">
                <a:solidFill>
                  <a:srgbClr val="23282F"/>
                </a:solidFill>
                <a:latin typeface="Calibri" pitchFamily="34" charset="0"/>
                <a:ea typeface="Calibri" pitchFamily="34" charset="-122"/>
                <a:cs typeface="Calibri" pitchFamily="34" charset="-120"/>
              </a:rPr>
              <a:t>2.2</a:t>
            </a:r>
            <a:endParaRPr lang="en-US" sz="1500" dirty="0"/>
          </a:p>
        </p:txBody>
      </p:sp>
      <p:sp>
        <p:nvSpPr>
          <p:cNvPr id="32" name="Text 30"/>
          <p:cNvSpPr/>
          <p:nvPr/>
        </p:nvSpPr>
        <p:spPr>
          <a:xfrm>
            <a:off x="2240280" y="2788920"/>
            <a:ext cx="1316736" cy="237744"/>
          </a:xfrm>
          <a:prstGeom prst="rect">
            <a:avLst/>
          </a:prstGeom>
          <a:noFill/>
          <a:ln/>
        </p:spPr>
        <p:txBody>
          <a:bodyPr wrap="square" lIns="0" tIns="0" rIns="0" bIns="0" rtlCol="0" anchor="ctr"/>
          <a:lstStyle/>
          <a:p>
            <a:pPr algn="ctr" indent="0" marL="0">
              <a:buNone/>
            </a:pPr>
            <a:r>
              <a:rPr lang="en-US" sz="1000" dirty="0">
                <a:solidFill>
                  <a:srgbClr val="6E7681"/>
                </a:solidFill>
                <a:latin typeface="Calibri" pitchFamily="34" charset="0"/>
                <a:ea typeface="Calibri" pitchFamily="34" charset="-122"/>
                <a:cs typeface="Calibri" pitchFamily="34" charset="-120"/>
              </a:rPr>
              <a:t>CJ 12 %</a:t>
            </a:r>
            <a:endParaRPr lang="en-US" sz="1000" dirty="0"/>
          </a:p>
        </p:txBody>
      </p:sp>
      <p:sp>
        <p:nvSpPr>
          <p:cNvPr id="33" name="Shape 31"/>
          <p:cNvSpPr/>
          <p:nvPr/>
        </p:nvSpPr>
        <p:spPr>
          <a:xfrm>
            <a:off x="3611880" y="2441448"/>
            <a:ext cx="1316736" cy="603504"/>
          </a:xfrm>
          <a:prstGeom prst="rect">
            <a:avLst/>
          </a:prstGeom>
          <a:solidFill>
            <a:srgbClr val="FBEDEA"/>
          </a:solidFill>
          <a:ln w="19050">
            <a:solidFill>
              <a:srgbClr val="FFFFFF"/>
            </a:solidFill>
            <a:prstDash val="solid"/>
          </a:ln>
        </p:spPr>
      </p:sp>
      <p:sp>
        <p:nvSpPr>
          <p:cNvPr id="34" name="Text 32"/>
          <p:cNvSpPr/>
          <p:nvPr/>
        </p:nvSpPr>
        <p:spPr>
          <a:xfrm>
            <a:off x="3611880" y="2496312"/>
            <a:ext cx="1316736" cy="310896"/>
          </a:xfrm>
          <a:prstGeom prst="rect">
            <a:avLst/>
          </a:prstGeom>
          <a:noFill/>
          <a:ln/>
        </p:spPr>
        <p:txBody>
          <a:bodyPr wrap="square" lIns="0" tIns="0" rIns="0" bIns="0" rtlCol="0" anchor="ctr"/>
          <a:lstStyle/>
          <a:p>
            <a:pPr algn="ctr" indent="0" marL="0">
              <a:buNone/>
            </a:pPr>
            <a:r>
              <a:rPr lang="en-US" sz="1500" b="1" dirty="0">
                <a:solidFill>
                  <a:srgbClr val="23282F"/>
                </a:solidFill>
                <a:latin typeface="Calibri" pitchFamily="34" charset="0"/>
                <a:ea typeface="Calibri" pitchFamily="34" charset="-122"/>
                <a:cs typeface="Calibri" pitchFamily="34" charset="-120"/>
              </a:rPr>
              <a:t>2.2</a:t>
            </a:r>
            <a:endParaRPr lang="en-US" sz="1500" dirty="0"/>
          </a:p>
        </p:txBody>
      </p:sp>
      <p:sp>
        <p:nvSpPr>
          <p:cNvPr id="35" name="Text 33"/>
          <p:cNvSpPr/>
          <p:nvPr/>
        </p:nvSpPr>
        <p:spPr>
          <a:xfrm>
            <a:off x="3611880" y="2788920"/>
            <a:ext cx="1316736" cy="237744"/>
          </a:xfrm>
          <a:prstGeom prst="rect">
            <a:avLst/>
          </a:prstGeom>
          <a:noFill/>
          <a:ln/>
        </p:spPr>
        <p:txBody>
          <a:bodyPr wrap="square" lIns="0" tIns="0" rIns="0" bIns="0" rtlCol="0" anchor="ctr"/>
          <a:lstStyle/>
          <a:p>
            <a:pPr algn="ctr" indent="0" marL="0">
              <a:buNone/>
            </a:pPr>
            <a:r>
              <a:rPr lang="en-US" sz="1000" dirty="0">
                <a:solidFill>
                  <a:srgbClr val="6E7681"/>
                </a:solidFill>
                <a:latin typeface="Calibri" pitchFamily="34" charset="0"/>
                <a:ea typeface="Calibri" pitchFamily="34" charset="-122"/>
                <a:cs typeface="Calibri" pitchFamily="34" charset="-120"/>
              </a:rPr>
              <a:t>CJ 9 %</a:t>
            </a:r>
            <a:endParaRPr lang="en-US" sz="1000" dirty="0"/>
          </a:p>
        </p:txBody>
      </p:sp>
      <p:sp>
        <p:nvSpPr>
          <p:cNvPr id="36" name="Shape 34"/>
          <p:cNvSpPr/>
          <p:nvPr/>
        </p:nvSpPr>
        <p:spPr>
          <a:xfrm>
            <a:off x="4983480" y="2441448"/>
            <a:ext cx="1316736" cy="603504"/>
          </a:xfrm>
          <a:prstGeom prst="rect">
            <a:avLst/>
          </a:prstGeom>
          <a:solidFill>
            <a:srgbClr val="EDB9AF"/>
          </a:solidFill>
          <a:ln w="19050">
            <a:solidFill>
              <a:srgbClr val="FFFFFF"/>
            </a:solidFill>
            <a:prstDash val="solid"/>
          </a:ln>
        </p:spPr>
      </p:sp>
      <p:sp>
        <p:nvSpPr>
          <p:cNvPr id="37" name="Text 35"/>
          <p:cNvSpPr/>
          <p:nvPr/>
        </p:nvSpPr>
        <p:spPr>
          <a:xfrm>
            <a:off x="4983480" y="2496312"/>
            <a:ext cx="1316736" cy="310896"/>
          </a:xfrm>
          <a:prstGeom prst="rect">
            <a:avLst/>
          </a:prstGeom>
          <a:noFill/>
          <a:ln/>
        </p:spPr>
        <p:txBody>
          <a:bodyPr wrap="square" lIns="0" tIns="0" rIns="0" bIns="0" rtlCol="0" anchor="ctr"/>
          <a:lstStyle/>
          <a:p>
            <a:pPr algn="ctr" indent="0" marL="0">
              <a:buNone/>
            </a:pPr>
            <a:r>
              <a:rPr lang="en-US" sz="1500" b="1" dirty="0">
                <a:solidFill>
                  <a:srgbClr val="23282F"/>
                </a:solidFill>
                <a:latin typeface="Calibri" pitchFamily="34" charset="0"/>
                <a:ea typeface="Calibri" pitchFamily="34" charset="-122"/>
                <a:cs typeface="Calibri" pitchFamily="34" charset="-120"/>
              </a:rPr>
              <a:t>4.2</a:t>
            </a:r>
            <a:endParaRPr lang="en-US" sz="1500" dirty="0"/>
          </a:p>
        </p:txBody>
      </p:sp>
      <p:sp>
        <p:nvSpPr>
          <p:cNvPr id="38" name="Text 36"/>
          <p:cNvSpPr/>
          <p:nvPr/>
        </p:nvSpPr>
        <p:spPr>
          <a:xfrm>
            <a:off x="4983480" y="2788920"/>
            <a:ext cx="1316736" cy="237744"/>
          </a:xfrm>
          <a:prstGeom prst="rect">
            <a:avLst/>
          </a:prstGeom>
          <a:noFill/>
          <a:ln/>
        </p:spPr>
        <p:txBody>
          <a:bodyPr wrap="square" lIns="0" tIns="0" rIns="0" bIns="0" rtlCol="0" anchor="ctr"/>
          <a:lstStyle/>
          <a:p>
            <a:pPr algn="ctr" indent="0" marL="0">
              <a:buNone/>
            </a:pPr>
            <a:r>
              <a:rPr lang="en-US" sz="1000" dirty="0">
                <a:solidFill>
                  <a:srgbClr val="6E7681"/>
                </a:solidFill>
                <a:latin typeface="Calibri" pitchFamily="34" charset="0"/>
                <a:ea typeface="Calibri" pitchFamily="34" charset="-122"/>
                <a:cs typeface="Calibri" pitchFamily="34" charset="-120"/>
              </a:rPr>
              <a:t>CJ 61 %</a:t>
            </a:r>
            <a:endParaRPr lang="en-US" sz="1000" dirty="0"/>
          </a:p>
        </p:txBody>
      </p:sp>
      <p:sp>
        <p:nvSpPr>
          <p:cNvPr id="39" name="Shape 37"/>
          <p:cNvSpPr/>
          <p:nvPr/>
        </p:nvSpPr>
        <p:spPr>
          <a:xfrm>
            <a:off x="6355080" y="2441448"/>
            <a:ext cx="1316736" cy="603504"/>
          </a:xfrm>
          <a:prstGeom prst="rect">
            <a:avLst/>
          </a:prstGeom>
          <a:solidFill>
            <a:srgbClr val="FBEDEA"/>
          </a:solidFill>
          <a:ln w="19050">
            <a:solidFill>
              <a:srgbClr val="FFFFFF"/>
            </a:solidFill>
            <a:prstDash val="solid"/>
          </a:ln>
        </p:spPr>
      </p:sp>
      <p:sp>
        <p:nvSpPr>
          <p:cNvPr id="40" name="Text 38"/>
          <p:cNvSpPr/>
          <p:nvPr/>
        </p:nvSpPr>
        <p:spPr>
          <a:xfrm>
            <a:off x="6355080" y="2496312"/>
            <a:ext cx="1316736" cy="310896"/>
          </a:xfrm>
          <a:prstGeom prst="rect">
            <a:avLst/>
          </a:prstGeom>
          <a:noFill/>
          <a:ln/>
        </p:spPr>
        <p:txBody>
          <a:bodyPr wrap="square" lIns="0" tIns="0" rIns="0" bIns="0" rtlCol="0" anchor="ctr"/>
          <a:lstStyle/>
          <a:p>
            <a:pPr algn="ctr" indent="0" marL="0">
              <a:buNone/>
            </a:pPr>
            <a:r>
              <a:rPr lang="en-US" sz="1500" b="1" dirty="0">
                <a:solidFill>
                  <a:srgbClr val="23282F"/>
                </a:solidFill>
                <a:latin typeface="Calibri" pitchFamily="34" charset="0"/>
                <a:ea typeface="Calibri" pitchFamily="34" charset="-122"/>
                <a:cs typeface="Calibri" pitchFamily="34" charset="-120"/>
              </a:rPr>
              <a:t>2.2</a:t>
            </a:r>
            <a:endParaRPr lang="en-US" sz="1500" dirty="0"/>
          </a:p>
        </p:txBody>
      </p:sp>
      <p:sp>
        <p:nvSpPr>
          <p:cNvPr id="41" name="Text 39"/>
          <p:cNvSpPr/>
          <p:nvPr/>
        </p:nvSpPr>
        <p:spPr>
          <a:xfrm>
            <a:off x="6355080" y="2788920"/>
            <a:ext cx="1316736" cy="237744"/>
          </a:xfrm>
          <a:prstGeom prst="rect">
            <a:avLst/>
          </a:prstGeom>
          <a:noFill/>
          <a:ln/>
        </p:spPr>
        <p:txBody>
          <a:bodyPr wrap="square" lIns="0" tIns="0" rIns="0" bIns="0" rtlCol="0" anchor="ctr"/>
          <a:lstStyle/>
          <a:p>
            <a:pPr algn="ctr" indent="0" marL="0">
              <a:buNone/>
            </a:pPr>
            <a:r>
              <a:rPr lang="en-US" sz="1000" dirty="0">
                <a:solidFill>
                  <a:srgbClr val="6E7681"/>
                </a:solidFill>
                <a:latin typeface="Calibri" pitchFamily="34" charset="0"/>
                <a:ea typeface="Calibri" pitchFamily="34" charset="-122"/>
                <a:cs typeface="Calibri" pitchFamily="34" charset="-120"/>
              </a:rPr>
              <a:t>CJ 6 %</a:t>
            </a:r>
            <a:endParaRPr lang="en-US" sz="1000" dirty="0"/>
          </a:p>
        </p:txBody>
      </p:sp>
      <p:sp>
        <p:nvSpPr>
          <p:cNvPr id="42" name="Shape 40"/>
          <p:cNvSpPr/>
          <p:nvPr/>
        </p:nvSpPr>
        <p:spPr>
          <a:xfrm>
            <a:off x="7726680" y="2441448"/>
            <a:ext cx="1316736" cy="603504"/>
          </a:xfrm>
          <a:prstGeom prst="rect">
            <a:avLst/>
          </a:prstGeom>
          <a:solidFill>
            <a:srgbClr val="FBEDEA"/>
          </a:solidFill>
          <a:ln w="19050">
            <a:solidFill>
              <a:srgbClr val="FFFFFF"/>
            </a:solidFill>
            <a:prstDash val="solid"/>
          </a:ln>
        </p:spPr>
      </p:sp>
      <p:sp>
        <p:nvSpPr>
          <p:cNvPr id="43" name="Text 41"/>
          <p:cNvSpPr/>
          <p:nvPr/>
        </p:nvSpPr>
        <p:spPr>
          <a:xfrm>
            <a:off x="7726680" y="2496312"/>
            <a:ext cx="1316736" cy="310896"/>
          </a:xfrm>
          <a:prstGeom prst="rect">
            <a:avLst/>
          </a:prstGeom>
          <a:noFill/>
          <a:ln/>
        </p:spPr>
        <p:txBody>
          <a:bodyPr wrap="square" lIns="0" tIns="0" rIns="0" bIns="0" rtlCol="0" anchor="ctr"/>
          <a:lstStyle/>
          <a:p>
            <a:pPr algn="ctr" indent="0" marL="0">
              <a:buNone/>
            </a:pPr>
            <a:r>
              <a:rPr lang="en-US" sz="1500" b="1" dirty="0">
                <a:solidFill>
                  <a:srgbClr val="23282F"/>
                </a:solidFill>
                <a:latin typeface="Calibri" pitchFamily="34" charset="0"/>
                <a:ea typeface="Calibri" pitchFamily="34" charset="-122"/>
                <a:cs typeface="Calibri" pitchFamily="34" charset="-120"/>
              </a:rPr>
              <a:t>2.3</a:t>
            </a:r>
            <a:endParaRPr lang="en-US" sz="1500" dirty="0"/>
          </a:p>
        </p:txBody>
      </p:sp>
      <p:sp>
        <p:nvSpPr>
          <p:cNvPr id="44" name="Text 42"/>
          <p:cNvSpPr/>
          <p:nvPr/>
        </p:nvSpPr>
        <p:spPr>
          <a:xfrm>
            <a:off x="7726680" y="2788920"/>
            <a:ext cx="1316736" cy="237744"/>
          </a:xfrm>
          <a:prstGeom prst="rect">
            <a:avLst/>
          </a:prstGeom>
          <a:noFill/>
          <a:ln/>
        </p:spPr>
        <p:txBody>
          <a:bodyPr wrap="square" lIns="0" tIns="0" rIns="0" bIns="0" rtlCol="0" anchor="ctr"/>
          <a:lstStyle/>
          <a:p>
            <a:pPr algn="ctr" indent="0" marL="0">
              <a:buNone/>
            </a:pPr>
            <a:r>
              <a:rPr lang="en-US" sz="1000" dirty="0">
                <a:solidFill>
                  <a:srgbClr val="6E7681"/>
                </a:solidFill>
                <a:latin typeface="Calibri" pitchFamily="34" charset="0"/>
                <a:ea typeface="Calibri" pitchFamily="34" charset="-122"/>
                <a:cs typeface="Calibri" pitchFamily="34" charset="-120"/>
              </a:rPr>
              <a:t>CJ 21 %</a:t>
            </a:r>
            <a:endParaRPr lang="en-US" sz="1000" dirty="0"/>
          </a:p>
        </p:txBody>
      </p:sp>
      <p:sp>
        <p:nvSpPr>
          <p:cNvPr id="45" name="Shape 43"/>
          <p:cNvSpPr/>
          <p:nvPr/>
        </p:nvSpPr>
        <p:spPr>
          <a:xfrm>
            <a:off x="9098280" y="2441448"/>
            <a:ext cx="1316736" cy="603504"/>
          </a:xfrm>
          <a:prstGeom prst="rect">
            <a:avLst/>
          </a:prstGeom>
          <a:solidFill>
            <a:srgbClr val="FBEDEA"/>
          </a:solidFill>
          <a:ln w="19050">
            <a:solidFill>
              <a:srgbClr val="FFFFFF"/>
            </a:solidFill>
            <a:prstDash val="solid"/>
          </a:ln>
        </p:spPr>
      </p:sp>
      <p:sp>
        <p:nvSpPr>
          <p:cNvPr id="46" name="Text 44"/>
          <p:cNvSpPr/>
          <p:nvPr/>
        </p:nvSpPr>
        <p:spPr>
          <a:xfrm>
            <a:off x="9098280" y="2496312"/>
            <a:ext cx="1316736" cy="310896"/>
          </a:xfrm>
          <a:prstGeom prst="rect">
            <a:avLst/>
          </a:prstGeom>
          <a:noFill/>
          <a:ln/>
        </p:spPr>
        <p:txBody>
          <a:bodyPr wrap="square" lIns="0" tIns="0" rIns="0" bIns="0" rtlCol="0" anchor="ctr"/>
          <a:lstStyle/>
          <a:p>
            <a:pPr algn="ctr" indent="0" marL="0">
              <a:buNone/>
            </a:pPr>
            <a:r>
              <a:rPr lang="en-US" sz="1500" b="1" dirty="0">
                <a:solidFill>
                  <a:srgbClr val="23282F"/>
                </a:solidFill>
                <a:latin typeface="Calibri" pitchFamily="34" charset="0"/>
                <a:ea typeface="Calibri" pitchFamily="34" charset="-122"/>
                <a:cs typeface="Calibri" pitchFamily="34" charset="-120"/>
              </a:rPr>
              <a:t>2.6</a:t>
            </a:r>
            <a:endParaRPr lang="en-US" sz="1500" dirty="0"/>
          </a:p>
        </p:txBody>
      </p:sp>
      <p:sp>
        <p:nvSpPr>
          <p:cNvPr id="47" name="Text 45"/>
          <p:cNvSpPr/>
          <p:nvPr/>
        </p:nvSpPr>
        <p:spPr>
          <a:xfrm>
            <a:off x="9098280" y="2788920"/>
            <a:ext cx="1316736" cy="237744"/>
          </a:xfrm>
          <a:prstGeom prst="rect">
            <a:avLst/>
          </a:prstGeom>
          <a:noFill/>
          <a:ln/>
        </p:spPr>
        <p:txBody>
          <a:bodyPr wrap="square" lIns="0" tIns="0" rIns="0" bIns="0" rtlCol="0" anchor="ctr"/>
          <a:lstStyle/>
          <a:p>
            <a:pPr algn="ctr" indent="0" marL="0">
              <a:buNone/>
            </a:pPr>
            <a:r>
              <a:rPr lang="en-US" sz="1000" dirty="0">
                <a:solidFill>
                  <a:srgbClr val="6E7681"/>
                </a:solidFill>
                <a:latin typeface="Calibri" pitchFamily="34" charset="0"/>
                <a:ea typeface="Calibri" pitchFamily="34" charset="-122"/>
                <a:cs typeface="Calibri" pitchFamily="34" charset="-120"/>
              </a:rPr>
              <a:t>CJ 12 %</a:t>
            </a:r>
            <a:endParaRPr lang="en-US" sz="1000" dirty="0"/>
          </a:p>
        </p:txBody>
      </p:sp>
      <p:sp>
        <p:nvSpPr>
          <p:cNvPr id="48" name="Text 46"/>
          <p:cNvSpPr/>
          <p:nvPr/>
        </p:nvSpPr>
        <p:spPr>
          <a:xfrm>
            <a:off x="640080" y="3099816"/>
            <a:ext cx="1508760" cy="658368"/>
          </a:xfrm>
          <a:prstGeom prst="rect">
            <a:avLst/>
          </a:prstGeom>
          <a:noFill/>
          <a:ln/>
        </p:spPr>
        <p:txBody>
          <a:bodyPr wrap="square" lIns="0" tIns="0" rIns="0" bIns="0" rtlCol="0" anchor="ctr"/>
          <a:lstStyle/>
          <a:p>
            <a:pPr algn="r" indent="0" marL="0">
              <a:buNone/>
            </a:pPr>
            <a:r>
              <a:rPr lang="en-US" sz="1300" b="1" dirty="0">
                <a:solidFill>
                  <a:srgbClr val="23282F"/>
                </a:solidFill>
                <a:latin typeface="Calibri" pitchFamily="34" charset="0"/>
                <a:ea typeface="Calibri" pitchFamily="34" charset="-122"/>
                <a:cs typeface="Calibri" pitchFamily="34" charset="-120"/>
              </a:rPr>
              <a:t>DMZ</a:t>
            </a:r>
            <a:endParaRPr lang="en-US" sz="1300" dirty="0"/>
          </a:p>
        </p:txBody>
      </p:sp>
      <p:sp>
        <p:nvSpPr>
          <p:cNvPr id="49" name="Shape 47"/>
          <p:cNvSpPr/>
          <p:nvPr/>
        </p:nvSpPr>
        <p:spPr>
          <a:xfrm>
            <a:off x="2240280" y="3099816"/>
            <a:ext cx="1316736" cy="603504"/>
          </a:xfrm>
          <a:prstGeom prst="rect">
            <a:avLst/>
          </a:prstGeom>
          <a:solidFill>
            <a:srgbClr val="FBEDEA"/>
          </a:solidFill>
          <a:ln w="19050">
            <a:solidFill>
              <a:srgbClr val="FFFFFF"/>
            </a:solidFill>
            <a:prstDash val="solid"/>
          </a:ln>
        </p:spPr>
      </p:sp>
      <p:sp>
        <p:nvSpPr>
          <p:cNvPr id="50" name="Text 48"/>
          <p:cNvSpPr/>
          <p:nvPr/>
        </p:nvSpPr>
        <p:spPr>
          <a:xfrm>
            <a:off x="2240280" y="3154680"/>
            <a:ext cx="1316736" cy="310896"/>
          </a:xfrm>
          <a:prstGeom prst="rect">
            <a:avLst/>
          </a:prstGeom>
          <a:noFill/>
          <a:ln/>
        </p:spPr>
        <p:txBody>
          <a:bodyPr wrap="square" lIns="0" tIns="0" rIns="0" bIns="0" rtlCol="0" anchor="ctr"/>
          <a:lstStyle/>
          <a:p>
            <a:pPr algn="ctr" indent="0" marL="0">
              <a:buNone/>
            </a:pPr>
            <a:r>
              <a:rPr lang="en-US" sz="1500" b="1" dirty="0">
                <a:solidFill>
                  <a:srgbClr val="23282F"/>
                </a:solidFill>
                <a:latin typeface="Calibri" pitchFamily="34" charset="0"/>
                <a:ea typeface="Calibri" pitchFamily="34" charset="-122"/>
                <a:cs typeface="Calibri" pitchFamily="34" charset="-120"/>
              </a:rPr>
              <a:t>2.3</a:t>
            </a:r>
            <a:endParaRPr lang="en-US" sz="1500" dirty="0"/>
          </a:p>
        </p:txBody>
      </p:sp>
      <p:sp>
        <p:nvSpPr>
          <p:cNvPr id="51" name="Text 49"/>
          <p:cNvSpPr/>
          <p:nvPr/>
        </p:nvSpPr>
        <p:spPr>
          <a:xfrm>
            <a:off x="2240280" y="3447288"/>
            <a:ext cx="1316736" cy="237744"/>
          </a:xfrm>
          <a:prstGeom prst="rect">
            <a:avLst/>
          </a:prstGeom>
          <a:noFill/>
          <a:ln/>
        </p:spPr>
        <p:txBody>
          <a:bodyPr wrap="square" lIns="0" tIns="0" rIns="0" bIns="0" rtlCol="0" anchor="ctr"/>
          <a:lstStyle/>
          <a:p>
            <a:pPr algn="ctr" indent="0" marL="0">
              <a:buNone/>
            </a:pPr>
            <a:r>
              <a:rPr lang="en-US" sz="1000" dirty="0">
                <a:solidFill>
                  <a:srgbClr val="6E7681"/>
                </a:solidFill>
                <a:latin typeface="Calibri" pitchFamily="34" charset="0"/>
                <a:ea typeface="Calibri" pitchFamily="34" charset="-122"/>
                <a:cs typeface="Calibri" pitchFamily="34" charset="-120"/>
              </a:rPr>
              <a:t>CJ 9 %</a:t>
            </a:r>
            <a:endParaRPr lang="en-US" sz="1000" dirty="0"/>
          </a:p>
        </p:txBody>
      </p:sp>
      <p:sp>
        <p:nvSpPr>
          <p:cNvPr id="52" name="Shape 50"/>
          <p:cNvSpPr/>
          <p:nvPr/>
        </p:nvSpPr>
        <p:spPr>
          <a:xfrm>
            <a:off x="3611880" y="3099816"/>
            <a:ext cx="1316736" cy="603504"/>
          </a:xfrm>
          <a:prstGeom prst="rect">
            <a:avLst/>
          </a:prstGeom>
          <a:solidFill>
            <a:srgbClr val="FBEDEA"/>
          </a:solidFill>
          <a:ln w="19050">
            <a:solidFill>
              <a:srgbClr val="FFFFFF"/>
            </a:solidFill>
            <a:prstDash val="solid"/>
          </a:ln>
        </p:spPr>
      </p:sp>
      <p:sp>
        <p:nvSpPr>
          <p:cNvPr id="53" name="Text 51"/>
          <p:cNvSpPr/>
          <p:nvPr/>
        </p:nvSpPr>
        <p:spPr>
          <a:xfrm>
            <a:off x="3611880" y="3154680"/>
            <a:ext cx="1316736" cy="310896"/>
          </a:xfrm>
          <a:prstGeom prst="rect">
            <a:avLst/>
          </a:prstGeom>
          <a:noFill/>
          <a:ln/>
        </p:spPr>
        <p:txBody>
          <a:bodyPr wrap="square" lIns="0" tIns="0" rIns="0" bIns="0" rtlCol="0" anchor="ctr"/>
          <a:lstStyle/>
          <a:p>
            <a:pPr algn="ctr" indent="0" marL="0">
              <a:buNone/>
            </a:pPr>
            <a:r>
              <a:rPr lang="en-US" sz="1500" b="1" dirty="0">
                <a:solidFill>
                  <a:srgbClr val="23282F"/>
                </a:solidFill>
                <a:latin typeface="Calibri" pitchFamily="34" charset="0"/>
                <a:ea typeface="Calibri" pitchFamily="34" charset="-122"/>
                <a:cs typeface="Calibri" pitchFamily="34" charset="-120"/>
              </a:rPr>
              <a:t>2.2</a:t>
            </a:r>
            <a:endParaRPr lang="en-US" sz="1500" dirty="0"/>
          </a:p>
        </p:txBody>
      </p:sp>
      <p:sp>
        <p:nvSpPr>
          <p:cNvPr id="54" name="Text 52"/>
          <p:cNvSpPr/>
          <p:nvPr/>
        </p:nvSpPr>
        <p:spPr>
          <a:xfrm>
            <a:off x="3611880" y="3447288"/>
            <a:ext cx="1316736" cy="237744"/>
          </a:xfrm>
          <a:prstGeom prst="rect">
            <a:avLst/>
          </a:prstGeom>
          <a:noFill/>
          <a:ln/>
        </p:spPr>
        <p:txBody>
          <a:bodyPr wrap="square" lIns="0" tIns="0" rIns="0" bIns="0" rtlCol="0" anchor="ctr"/>
          <a:lstStyle/>
          <a:p>
            <a:pPr algn="ctr" indent="0" marL="0">
              <a:buNone/>
            </a:pPr>
            <a:r>
              <a:rPr lang="en-US" sz="1000" dirty="0">
                <a:solidFill>
                  <a:srgbClr val="6E7681"/>
                </a:solidFill>
                <a:latin typeface="Calibri" pitchFamily="34" charset="0"/>
                <a:ea typeface="Calibri" pitchFamily="34" charset="-122"/>
                <a:cs typeface="Calibri" pitchFamily="34" charset="-120"/>
              </a:rPr>
              <a:t>CJ 5 %</a:t>
            </a:r>
            <a:endParaRPr lang="en-US" sz="1000" dirty="0"/>
          </a:p>
        </p:txBody>
      </p:sp>
      <p:sp>
        <p:nvSpPr>
          <p:cNvPr id="55" name="Shape 53"/>
          <p:cNvSpPr/>
          <p:nvPr/>
        </p:nvSpPr>
        <p:spPr>
          <a:xfrm>
            <a:off x="4983480" y="3099816"/>
            <a:ext cx="1316736" cy="603504"/>
          </a:xfrm>
          <a:prstGeom prst="rect">
            <a:avLst/>
          </a:prstGeom>
          <a:solidFill>
            <a:srgbClr val="FBEDEA"/>
          </a:solidFill>
          <a:ln w="19050">
            <a:solidFill>
              <a:srgbClr val="FFFFFF"/>
            </a:solidFill>
            <a:prstDash val="solid"/>
          </a:ln>
        </p:spPr>
      </p:sp>
      <p:sp>
        <p:nvSpPr>
          <p:cNvPr id="56" name="Text 54"/>
          <p:cNvSpPr/>
          <p:nvPr/>
        </p:nvSpPr>
        <p:spPr>
          <a:xfrm>
            <a:off x="4983480" y="3154680"/>
            <a:ext cx="1316736" cy="310896"/>
          </a:xfrm>
          <a:prstGeom prst="rect">
            <a:avLst/>
          </a:prstGeom>
          <a:noFill/>
          <a:ln/>
        </p:spPr>
        <p:txBody>
          <a:bodyPr wrap="square" lIns="0" tIns="0" rIns="0" bIns="0" rtlCol="0" anchor="ctr"/>
          <a:lstStyle/>
          <a:p>
            <a:pPr algn="ctr" indent="0" marL="0">
              <a:buNone/>
            </a:pPr>
            <a:r>
              <a:rPr lang="en-US" sz="1500" b="1" dirty="0">
                <a:solidFill>
                  <a:srgbClr val="23282F"/>
                </a:solidFill>
                <a:latin typeface="Calibri" pitchFamily="34" charset="0"/>
                <a:ea typeface="Calibri" pitchFamily="34" charset="-122"/>
                <a:cs typeface="Calibri" pitchFamily="34" charset="-120"/>
              </a:rPr>
              <a:t>2.7</a:t>
            </a:r>
            <a:endParaRPr lang="en-US" sz="1500" dirty="0"/>
          </a:p>
        </p:txBody>
      </p:sp>
      <p:sp>
        <p:nvSpPr>
          <p:cNvPr id="57" name="Text 55"/>
          <p:cNvSpPr/>
          <p:nvPr/>
        </p:nvSpPr>
        <p:spPr>
          <a:xfrm>
            <a:off x="4983480" y="3447288"/>
            <a:ext cx="1316736" cy="237744"/>
          </a:xfrm>
          <a:prstGeom prst="rect">
            <a:avLst/>
          </a:prstGeom>
          <a:noFill/>
          <a:ln/>
        </p:spPr>
        <p:txBody>
          <a:bodyPr wrap="square" lIns="0" tIns="0" rIns="0" bIns="0" rtlCol="0" anchor="ctr"/>
          <a:lstStyle/>
          <a:p>
            <a:pPr algn="ctr" indent="0" marL="0">
              <a:buNone/>
            </a:pPr>
            <a:r>
              <a:rPr lang="en-US" sz="1000" dirty="0">
                <a:solidFill>
                  <a:srgbClr val="6E7681"/>
                </a:solidFill>
                <a:latin typeface="Calibri" pitchFamily="34" charset="0"/>
                <a:ea typeface="Calibri" pitchFamily="34" charset="-122"/>
                <a:cs typeface="Calibri" pitchFamily="34" charset="-120"/>
              </a:rPr>
              <a:t>CJ 10 %</a:t>
            </a:r>
            <a:endParaRPr lang="en-US" sz="1000" dirty="0"/>
          </a:p>
        </p:txBody>
      </p:sp>
      <p:sp>
        <p:nvSpPr>
          <p:cNvPr id="58" name="Shape 56"/>
          <p:cNvSpPr/>
          <p:nvPr/>
        </p:nvSpPr>
        <p:spPr>
          <a:xfrm>
            <a:off x="6355080" y="3099816"/>
            <a:ext cx="1316736" cy="603504"/>
          </a:xfrm>
          <a:prstGeom prst="rect">
            <a:avLst/>
          </a:prstGeom>
          <a:solidFill>
            <a:srgbClr val="E0968A"/>
          </a:solidFill>
          <a:ln w="19050">
            <a:solidFill>
              <a:srgbClr val="FFFFFF"/>
            </a:solidFill>
            <a:prstDash val="solid"/>
          </a:ln>
        </p:spPr>
      </p:sp>
      <p:sp>
        <p:nvSpPr>
          <p:cNvPr id="59" name="Text 57"/>
          <p:cNvSpPr/>
          <p:nvPr/>
        </p:nvSpPr>
        <p:spPr>
          <a:xfrm>
            <a:off x="6355080" y="3154680"/>
            <a:ext cx="1316736" cy="310896"/>
          </a:xfrm>
          <a:prstGeom prst="rect">
            <a:avLst/>
          </a:prstGeom>
          <a:noFill/>
          <a:ln/>
        </p:spPr>
        <p:txBody>
          <a:bodyPr wrap="square" lIns="0" tIns="0" rIns="0" bIns="0" rtlCol="0" anchor="ctr"/>
          <a:lstStyle/>
          <a:p>
            <a:pPr algn="ctr" indent="0" marL="0">
              <a:buNone/>
            </a:pPr>
            <a:r>
              <a:rPr lang="en-US" sz="1500" b="1" dirty="0">
                <a:solidFill>
                  <a:srgbClr val="23282F"/>
                </a:solidFill>
                <a:latin typeface="Calibri" pitchFamily="34" charset="0"/>
                <a:ea typeface="Calibri" pitchFamily="34" charset="-122"/>
                <a:cs typeface="Calibri" pitchFamily="34" charset="-120"/>
              </a:rPr>
              <a:t>5.6</a:t>
            </a:r>
            <a:endParaRPr lang="en-US" sz="1500" dirty="0"/>
          </a:p>
        </p:txBody>
      </p:sp>
      <p:sp>
        <p:nvSpPr>
          <p:cNvPr id="60" name="Text 58"/>
          <p:cNvSpPr/>
          <p:nvPr/>
        </p:nvSpPr>
        <p:spPr>
          <a:xfrm>
            <a:off x="6355080" y="3447288"/>
            <a:ext cx="1316736" cy="237744"/>
          </a:xfrm>
          <a:prstGeom prst="rect">
            <a:avLst/>
          </a:prstGeom>
          <a:noFill/>
          <a:ln/>
        </p:spPr>
        <p:txBody>
          <a:bodyPr wrap="square" lIns="0" tIns="0" rIns="0" bIns="0" rtlCol="0" anchor="ctr"/>
          <a:lstStyle/>
          <a:p>
            <a:pPr algn="ctr" indent="0" marL="0">
              <a:buNone/>
            </a:pPr>
            <a:r>
              <a:rPr lang="en-US" sz="1000" dirty="0">
                <a:solidFill>
                  <a:srgbClr val="6E7681"/>
                </a:solidFill>
                <a:latin typeface="Calibri" pitchFamily="34" charset="0"/>
                <a:ea typeface="Calibri" pitchFamily="34" charset="-122"/>
                <a:cs typeface="Calibri" pitchFamily="34" charset="-120"/>
              </a:rPr>
              <a:t>CJ 67 %</a:t>
            </a:r>
            <a:endParaRPr lang="en-US" sz="1000" dirty="0"/>
          </a:p>
        </p:txBody>
      </p:sp>
      <p:sp>
        <p:nvSpPr>
          <p:cNvPr id="61" name="Shape 59"/>
          <p:cNvSpPr/>
          <p:nvPr/>
        </p:nvSpPr>
        <p:spPr>
          <a:xfrm>
            <a:off x="7726680" y="3099816"/>
            <a:ext cx="1316736" cy="603504"/>
          </a:xfrm>
          <a:prstGeom prst="rect">
            <a:avLst/>
          </a:prstGeom>
          <a:solidFill>
            <a:srgbClr val="FBEDEA"/>
          </a:solidFill>
          <a:ln w="19050">
            <a:solidFill>
              <a:srgbClr val="FFFFFF"/>
            </a:solidFill>
            <a:prstDash val="solid"/>
          </a:ln>
        </p:spPr>
      </p:sp>
      <p:sp>
        <p:nvSpPr>
          <p:cNvPr id="62" name="Text 60"/>
          <p:cNvSpPr/>
          <p:nvPr/>
        </p:nvSpPr>
        <p:spPr>
          <a:xfrm>
            <a:off x="7726680" y="3154680"/>
            <a:ext cx="1316736" cy="310896"/>
          </a:xfrm>
          <a:prstGeom prst="rect">
            <a:avLst/>
          </a:prstGeom>
          <a:noFill/>
          <a:ln/>
        </p:spPr>
        <p:txBody>
          <a:bodyPr wrap="square" lIns="0" tIns="0" rIns="0" bIns="0" rtlCol="0" anchor="ctr"/>
          <a:lstStyle/>
          <a:p>
            <a:pPr algn="ctr" indent="0" marL="0">
              <a:buNone/>
            </a:pPr>
            <a:r>
              <a:rPr lang="en-US" sz="1500" b="1" dirty="0">
                <a:solidFill>
                  <a:srgbClr val="23282F"/>
                </a:solidFill>
                <a:latin typeface="Calibri" pitchFamily="34" charset="0"/>
                <a:ea typeface="Calibri" pitchFamily="34" charset="-122"/>
                <a:cs typeface="Calibri" pitchFamily="34" charset="-120"/>
              </a:rPr>
              <a:t>2.0</a:t>
            </a:r>
            <a:endParaRPr lang="en-US" sz="1500" dirty="0"/>
          </a:p>
        </p:txBody>
      </p:sp>
      <p:sp>
        <p:nvSpPr>
          <p:cNvPr id="63" name="Text 61"/>
          <p:cNvSpPr/>
          <p:nvPr/>
        </p:nvSpPr>
        <p:spPr>
          <a:xfrm>
            <a:off x="7726680" y="3447288"/>
            <a:ext cx="1316736" cy="237744"/>
          </a:xfrm>
          <a:prstGeom prst="rect">
            <a:avLst/>
          </a:prstGeom>
          <a:noFill/>
          <a:ln/>
        </p:spPr>
        <p:txBody>
          <a:bodyPr wrap="square" lIns="0" tIns="0" rIns="0" bIns="0" rtlCol="0" anchor="ctr"/>
          <a:lstStyle/>
          <a:p>
            <a:pPr algn="ctr" indent="0" marL="0">
              <a:buNone/>
            </a:pPr>
            <a:r>
              <a:rPr lang="en-US" sz="1000" dirty="0">
                <a:solidFill>
                  <a:srgbClr val="6E7681"/>
                </a:solidFill>
                <a:latin typeface="Calibri" pitchFamily="34" charset="0"/>
                <a:ea typeface="Calibri" pitchFamily="34" charset="-122"/>
                <a:cs typeface="Calibri" pitchFamily="34" charset="-120"/>
              </a:rPr>
              <a:t>CJ 5 %</a:t>
            </a:r>
            <a:endParaRPr lang="en-US" sz="1000" dirty="0"/>
          </a:p>
        </p:txBody>
      </p:sp>
      <p:sp>
        <p:nvSpPr>
          <p:cNvPr id="64" name="Shape 62"/>
          <p:cNvSpPr/>
          <p:nvPr/>
        </p:nvSpPr>
        <p:spPr>
          <a:xfrm>
            <a:off x="9098280" y="3099816"/>
            <a:ext cx="1316736" cy="603504"/>
          </a:xfrm>
          <a:prstGeom prst="rect">
            <a:avLst/>
          </a:prstGeom>
          <a:solidFill>
            <a:srgbClr val="FBEDEA"/>
          </a:solidFill>
          <a:ln w="19050">
            <a:solidFill>
              <a:srgbClr val="FFFFFF"/>
            </a:solidFill>
            <a:prstDash val="solid"/>
          </a:ln>
        </p:spPr>
      </p:sp>
      <p:sp>
        <p:nvSpPr>
          <p:cNvPr id="65" name="Text 63"/>
          <p:cNvSpPr/>
          <p:nvPr/>
        </p:nvSpPr>
        <p:spPr>
          <a:xfrm>
            <a:off x="9098280" y="3154680"/>
            <a:ext cx="1316736" cy="310896"/>
          </a:xfrm>
          <a:prstGeom prst="rect">
            <a:avLst/>
          </a:prstGeom>
          <a:noFill/>
          <a:ln/>
        </p:spPr>
        <p:txBody>
          <a:bodyPr wrap="square" lIns="0" tIns="0" rIns="0" bIns="0" rtlCol="0" anchor="ctr"/>
          <a:lstStyle/>
          <a:p>
            <a:pPr algn="ctr" indent="0" marL="0">
              <a:buNone/>
            </a:pPr>
            <a:r>
              <a:rPr lang="en-US" sz="1500" b="1" dirty="0">
                <a:solidFill>
                  <a:srgbClr val="23282F"/>
                </a:solidFill>
                <a:latin typeface="Calibri" pitchFamily="34" charset="0"/>
                <a:ea typeface="Calibri" pitchFamily="34" charset="-122"/>
                <a:cs typeface="Calibri" pitchFamily="34" charset="-120"/>
              </a:rPr>
              <a:t>2.2</a:t>
            </a:r>
            <a:endParaRPr lang="en-US" sz="1500" dirty="0"/>
          </a:p>
        </p:txBody>
      </p:sp>
      <p:sp>
        <p:nvSpPr>
          <p:cNvPr id="66" name="Text 64"/>
          <p:cNvSpPr/>
          <p:nvPr/>
        </p:nvSpPr>
        <p:spPr>
          <a:xfrm>
            <a:off x="9098280" y="3447288"/>
            <a:ext cx="1316736" cy="237744"/>
          </a:xfrm>
          <a:prstGeom prst="rect">
            <a:avLst/>
          </a:prstGeom>
          <a:noFill/>
          <a:ln/>
        </p:spPr>
        <p:txBody>
          <a:bodyPr wrap="square" lIns="0" tIns="0" rIns="0" bIns="0" rtlCol="0" anchor="ctr"/>
          <a:lstStyle/>
          <a:p>
            <a:pPr algn="ctr" indent="0" marL="0">
              <a:buNone/>
            </a:pPr>
            <a:r>
              <a:rPr lang="en-US" sz="1000" dirty="0">
                <a:solidFill>
                  <a:srgbClr val="6E7681"/>
                </a:solidFill>
                <a:latin typeface="Calibri" pitchFamily="34" charset="0"/>
                <a:ea typeface="Calibri" pitchFamily="34" charset="-122"/>
                <a:cs typeface="Calibri" pitchFamily="34" charset="-120"/>
              </a:rPr>
              <a:t>CJ 5 %</a:t>
            </a:r>
            <a:endParaRPr lang="en-US" sz="1000" dirty="0"/>
          </a:p>
        </p:txBody>
      </p:sp>
      <p:sp>
        <p:nvSpPr>
          <p:cNvPr id="67" name="Text 65"/>
          <p:cNvSpPr/>
          <p:nvPr/>
        </p:nvSpPr>
        <p:spPr>
          <a:xfrm>
            <a:off x="640080" y="3758184"/>
            <a:ext cx="1508760" cy="658368"/>
          </a:xfrm>
          <a:prstGeom prst="rect">
            <a:avLst/>
          </a:prstGeom>
          <a:noFill/>
          <a:ln/>
        </p:spPr>
        <p:txBody>
          <a:bodyPr wrap="square" lIns="0" tIns="0" rIns="0" bIns="0" rtlCol="0" anchor="ctr"/>
          <a:lstStyle/>
          <a:p>
            <a:pPr algn="r" indent="0" marL="0">
              <a:buNone/>
            </a:pPr>
            <a:r>
              <a:rPr lang="en-US" sz="1300" b="1" dirty="0">
                <a:solidFill>
                  <a:srgbClr val="23282F"/>
                </a:solidFill>
                <a:latin typeface="Calibri" pitchFamily="34" charset="0"/>
                <a:ea typeface="Calibri" pitchFamily="34" charset="-122"/>
                <a:cs typeface="Calibri" pitchFamily="34" charset="-120"/>
              </a:rPr>
              <a:t>Micro-Seg.</a:t>
            </a:r>
            <a:endParaRPr lang="en-US" sz="1300" dirty="0"/>
          </a:p>
        </p:txBody>
      </p:sp>
      <p:sp>
        <p:nvSpPr>
          <p:cNvPr id="68" name="Shape 66"/>
          <p:cNvSpPr/>
          <p:nvPr/>
        </p:nvSpPr>
        <p:spPr>
          <a:xfrm>
            <a:off x="2240280" y="3758184"/>
            <a:ext cx="1316736" cy="603504"/>
          </a:xfrm>
          <a:prstGeom prst="rect">
            <a:avLst/>
          </a:prstGeom>
          <a:solidFill>
            <a:srgbClr val="FBEDEA"/>
          </a:solidFill>
          <a:ln w="19050">
            <a:solidFill>
              <a:srgbClr val="FFFFFF"/>
            </a:solidFill>
            <a:prstDash val="solid"/>
          </a:ln>
        </p:spPr>
      </p:sp>
      <p:sp>
        <p:nvSpPr>
          <p:cNvPr id="69" name="Text 67"/>
          <p:cNvSpPr/>
          <p:nvPr/>
        </p:nvSpPr>
        <p:spPr>
          <a:xfrm>
            <a:off x="2240280" y="3813048"/>
            <a:ext cx="1316736" cy="310896"/>
          </a:xfrm>
          <a:prstGeom prst="rect">
            <a:avLst/>
          </a:prstGeom>
          <a:noFill/>
          <a:ln/>
        </p:spPr>
        <p:txBody>
          <a:bodyPr wrap="square" lIns="0" tIns="0" rIns="0" bIns="0" rtlCol="0" anchor="ctr"/>
          <a:lstStyle/>
          <a:p>
            <a:pPr algn="ctr" indent="0" marL="0">
              <a:buNone/>
            </a:pPr>
            <a:r>
              <a:rPr lang="en-US" sz="1500" b="1" dirty="0">
                <a:solidFill>
                  <a:srgbClr val="23282F"/>
                </a:solidFill>
                <a:latin typeface="Calibri" pitchFamily="34" charset="0"/>
                <a:ea typeface="Calibri" pitchFamily="34" charset="-122"/>
                <a:cs typeface="Calibri" pitchFamily="34" charset="-120"/>
              </a:rPr>
              <a:t>2.2</a:t>
            </a:r>
            <a:endParaRPr lang="en-US" sz="1500" dirty="0"/>
          </a:p>
        </p:txBody>
      </p:sp>
      <p:sp>
        <p:nvSpPr>
          <p:cNvPr id="70" name="Text 68"/>
          <p:cNvSpPr/>
          <p:nvPr/>
        </p:nvSpPr>
        <p:spPr>
          <a:xfrm>
            <a:off x="2240280" y="4105656"/>
            <a:ext cx="1316736" cy="237744"/>
          </a:xfrm>
          <a:prstGeom prst="rect">
            <a:avLst/>
          </a:prstGeom>
          <a:noFill/>
          <a:ln/>
        </p:spPr>
        <p:txBody>
          <a:bodyPr wrap="square" lIns="0" tIns="0" rIns="0" bIns="0" rtlCol="0" anchor="ctr"/>
          <a:lstStyle/>
          <a:p>
            <a:pPr algn="ctr" indent="0" marL="0">
              <a:buNone/>
            </a:pPr>
            <a:r>
              <a:rPr lang="en-US" sz="1000" dirty="0">
                <a:solidFill>
                  <a:srgbClr val="6E7681"/>
                </a:solidFill>
                <a:latin typeface="Calibri" pitchFamily="34" charset="0"/>
                <a:ea typeface="Calibri" pitchFamily="34" charset="-122"/>
                <a:cs typeface="Calibri" pitchFamily="34" charset="-120"/>
              </a:rPr>
              <a:t>CJ 5 %</a:t>
            </a:r>
            <a:endParaRPr lang="en-US" sz="1000" dirty="0"/>
          </a:p>
        </p:txBody>
      </p:sp>
      <p:sp>
        <p:nvSpPr>
          <p:cNvPr id="71" name="Shape 69"/>
          <p:cNvSpPr/>
          <p:nvPr/>
        </p:nvSpPr>
        <p:spPr>
          <a:xfrm>
            <a:off x="3611880" y="3758184"/>
            <a:ext cx="1316736" cy="603504"/>
          </a:xfrm>
          <a:prstGeom prst="rect">
            <a:avLst/>
          </a:prstGeom>
          <a:solidFill>
            <a:srgbClr val="FBEDEA"/>
          </a:solidFill>
          <a:ln w="19050">
            <a:solidFill>
              <a:srgbClr val="FFFFFF"/>
            </a:solidFill>
            <a:prstDash val="solid"/>
          </a:ln>
        </p:spPr>
      </p:sp>
      <p:sp>
        <p:nvSpPr>
          <p:cNvPr id="72" name="Text 70"/>
          <p:cNvSpPr/>
          <p:nvPr/>
        </p:nvSpPr>
        <p:spPr>
          <a:xfrm>
            <a:off x="3611880" y="3813048"/>
            <a:ext cx="1316736" cy="310896"/>
          </a:xfrm>
          <a:prstGeom prst="rect">
            <a:avLst/>
          </a:prstGeom>
          <a:noFill/>
          <a:ln/>
        </p:spPr>
        <p:txBody>
          <a:bodyPr wrap="square" lIns="0" tIns="0" rIns="0" bIns="0" rtlCol="0" anchor="ctr"/>
          <a:lstStyle/>
          <a:p>
            <a:pPr algn="ctr" indent="0" marL="0">
              <a:buNone/>
            </a:pPr>
            <a:r>
              <a:rPr lang="en-US" sz="1500" b="1" dirty="0">
                <a:solidFill>
                  <a:srgbClr val="23282F"/>
                </a:solidFill>
                <a:latin typeface="Calibri" pitchFamily="34" charset="0"/>
                <a:ea typeface="Calibri" pitchFamily="34" charset="-122"/>
                <a:cs typeface="Calibri" pitchFamily="34" charset="-120"/>
              </a:rPr>
              <a:t>2.4</a:t>
            </a:r>
            <a:endParaRPr lang="en-US" sz="1500" dirty="0"/>
          </a:p>
        </p:txBody>
      </p:sp>
      <p:sp>
        <p:nvSpPr>
          <p:cNvPr id="73" name="Text 71"/>
          <p:cNvSpPr/>
          <p:nvPr/>
        </p:nvSpPr>
        <p:spPr>
          <a:xfrm>
            <a:off x="3611880" y="4105656"/>
            <a:ext cx="1316736" cy="237744"/>
          </a:xfrm>
          <a:prstGeom prst="rect">
            <a:avLst/>
          </a:prstGeom>
          <a:noFill/>
          <a:ln/>
        </p:spPr>
        <p:txBody>
          <a:bodyPr wrap="square" lIns="0" tIns="0" rIns="0" bIns="0" rtlCol="0" anchor="ctr"/>
          <a:lstStyle/>
          <a:p>
            <a:pPr algn="ctr" indent="0" marL="0">
              <a:buNone/>
            </a:pPr>
            <a:r>
              <a:rPr lang="en-US" sz="1000" dirty="0">
                <a:solidFill>
                  <a:srgbClr val="6E7681"/>
                </a:solidFill>
                <a:latin typeface="Calibri" pitchFamily="34" charset="0"/>
                <a:ea typeface="Calibri" pitchFamily="34" charset="-122"/>
                <a:cs typeface="Calibri" pitchFamily="34" charset="-120"/>
              </a:rPr>
              <a:t>CJ 6 %</a:t>
            </a:r>
            <a:endParaRPr lang="en-US" sz="1000" dirty="0"/>
          </a:p>
        </p:txBody>
      </p:sp>
      <p:sp>
        <p:nvSpPr>
          <p:cNvPr id="74" name="Shape 72"/>
          <p:cNvSpPr/>
          <p:nvPr/>
        </p:nvSpPr>
        <p:spPr>
          <a:xfrm>
            <a:off x="4983480" y="3758184"/>
            <a:ext cx="1316736" cy="603504"/>
          </a:xfrm>
          <a:prstGeom prst="rect">
            <a:avLst/>
          </a:prstGeom>
          <a:solidFill>
            <a:srgbClr val="FBEDEA"/>
          </a:solidFill>
          <a:ln w="19050">
            <a:solidFill>
              <a:srgbClr val="FFFFFF"/>
            </a:solidFill>
            <a:prstDash val="solid"/>
          </a:ln>
        </p:spPr>
      </p:sp>
      <p:sp>
        <p:nvSpPr>
          <p:cNvPr id="75" name="Text 73"/>
          <p:cNvSpPr/>
          <p:nvPr/>
        </p:nvSpPr>
        <p:spPr>
          <a:xfrm>
            <a:off x="4983480" y="3813048"/>
            <a:ext cx="1316736" cy="310896"/>
          </a:xfrm>
          <a:prstGeom prst="rect">
            <a:avLst/>
          </a:prstGeom>
          <a:noFill/>
          <a:ln/>
        </p:spPr>
        <p:txBody>
          <a:bodyPr wrap="square" lIns="0" tIns="0" rIns="0" bIns="0" rtlCol="0" anchor="ctr"/>
          <a:lstStyle/>
          <a:p>
            <a:pPr algn="ctr" indent="0" marL="0">
              <a:buNone/>
            </a:pPr>
            <a:r>
              <a:rPr lang="en-US" sz="1500" b="1" dirty="0">
                <a:solidFill>
                  <a:srgbClr val="23282F"/>
                </a:solidFill>
                <a:latin typeface="Calibri" pitchFamily="34" charset="0"/>
                <a:ea typeface="Calibri" pitchFamily="34" charset="-122"/>
                <a:cs typeface="Calibri" pitchFamily="34" charset="-120"/>
              </a:rPr>
              <a:t>2.3</a:t>
            </a:r>
            <a:endParaRPr lang="en-US" sz="1500" dirty="0"/>
          </a:p>
        </p:txBody>
      </p:sp>
      <p:sp>
        <p:nvSpPr>
          <p:cNvPr id="76" name="Text 74"/>
          <p:cNvSpPr/>
          <p:nvPr/>
        </p:nvSpPr>
        <p:spPr>
          <a:xfrm>
            <a:off x="4983480" y="4105656"/>
            <a:ext cx="1316736" cy="237744"/>
          </a:xfrm>
          <a:prstGeom prst="rect">
            <a:avLst/>
          </a:prstGeom>
          <a:noFill/>
          <a:ln/>
        </p:spPr>
        <p:txBody>
          <a:bodyPr wrap="square" lIns="0" tIns="0" rIns="0" bIns="0" rtlCol="0" anchor="ctr"/>
          <a:lstStyle/>
          <a:p>
            <a:pPr algn="ctr" indent="0" marL="0">
              <a:buNone/>
            </a:pPr>
            <a:r>
              <a:rPr lang="en-US" sz="1000" dirty="0">
                <a:solidFill>
                  <a:srgbClr val="6E7681"/>
                </a:solidFill>
                <a:latin typeface="Calibri" pitchFamily="34" charset="0"/>
                <a:ea typeface="Calibri" pitchFamily="34" charset="-122"/>
                <a:cs typeface="Calibri" pitchFamily="34" charset="-120"/>
              </a:rPr>
              <a:t>CJ 1 %</a:t>
            </a:r>
            <a:endParaRPr lang="en-US" sz="1000" dirty="0"/>
          </a:p>
        </p:txBody>
      </p:sp>
      <p:sp>
        <p:nvSpPr>
          <p:cNvPr id="77" name="Shape 75"/>
          <p:cNvSpPr/>
          <p:nvPr/>
        </p:nvSpPr>
        <p:spPr>
          <a:xfrm>
            <a:off x="6355080" y="3758184"/>
            <a:ext cx="1316736" cy="603504"/>
          </a:xfrm>
          <a:prstGeom prst="rect">
            <a:avLst/>
          </a:prstGeom>
          <a:solidFill>
            <a:srgbClr val="FBEDEA"/>
          </a:solidFill>
          <a:ln w="19050">
            <a:solidFill>
              <a:srgbClr val="FFFFFF"/>
            </a:solidFill>
            <a:prstDash val="solid"/>
          </a:ln>
        </p:spPr>
      </p:sp>
      <p:sp>
        <p:nvSpPr>
          <p:cNvPr id="78" name="Text 76"/>
          <p:cNvSpPr/>
          <p:nvPr/>
        </p:nvSpPr>
        <p:spPr>
          <a:xfrm>
            <a:off x="6355080" y="3813048"/>
            <a:ext cx="1316736" cy="310896"/>
          </a:xfrm>
          <a:prstGeom prst="rect">
            <a:avLst/>
          </a:prstGeom>
          <a:noFill/>
          <a:ln/>
        </p:spPr>
        <p:txBody>
          <a:bodyPr wrap="square" lIns="0" tIns="0" rIns="0" bIns="0" rtlCol="0" anchor="ctr"/>
          <a:lstStyle/>
          <a:p>
            <a:pPr algn="ctr" indent="0" marL="0">
              <a:buNone/>
            </a:pPr>
            <a:r>
              <a:rPr lang="en-US" sz="1500" b="1" dirty="0">
                <a:solidFill>
                  <a:srgbClr val="23282F"/>
                </a:solidFill>
                <a:latin typeface="Calibri" pitchFamily="34" charset="0"/>
                <a:ea typeface="Calibri" pitchFamily="34" charset="-122"/>
                <a:cs typeface="Calibri" pitchFamily="34" charset="-120"/>
              </a:rPr>
              <a:t>2.0</a:t>
            </a:r>
            <a:endParaRPr lang="en-US" sz="1500" dirty="0"/>
          </a:p>
        </p:txBody>
      </p:sp>
      <p:sp>
        <p:nvSpPr>
          <p:cNvPr id="79" name="Text 77"/>
          <p:cNvSpPr/>
          <p:nvPr/>
        </p:nvSpPr>
        <p:spPr>
          <a:xfrm>
            <a:off x="6355080" y="4105656"/>
            <a:ext cx="1316736" cy="237744"/>
          </a:xfrm>
          <a:prstGeom prst="rect">
            <a:avLst/>
          </a:prstGeom>
          <a:noFill/>
          <a:ln/>
        </p:spPr>
        <p:txBody>
          <a:bodyPr wrap="square" lIns="0" tIns="0" rIns="0" bIns="0" rtlCol="0" anchor="ctr"/>
          <a:lstStyle/>
          <a:p>
            <a:pPr algn="ctr" indent="0" marL="0">
              <a:buNone/>
            </a:pPr>
            <a:r>
              <a:rPr lang="en-US" sz="1000" dirty="0">
                <a:solidFill>
                  <a:srgbClr val="6E7681"/>
                </a:solidFill>
                <a:latin typeface="Calibri" pitchFamily="34" charset="0"/>
                <a:ea typeface="Calibri" pitchFamily="34" charset="-122"/>
                <a:cs typeface="Calibri" pitchFamily="34" charset="-120"/>
              </a:rPr>
              <a:t>CJ 0 %</a:t>
            </a:r>
            <a:endParaRPr lang="en-US" sz="1000" dirty="0"/>
          </a:p>
        </p:txBody>
      </p:sp>
      <p:sp>
        <p:nvSpPr>
          <p:cNvPr id="80" name="Shape 78"/>
          <p:cNvSpPr/>
          <p:nvPr/>
        </p:nvSpPr>
        <p:spPr>
          <a:xfrm>
            <a:off x="7726680" y="3758184"/>
            <a:ext cx="1316736" cy="603504"/>
          </a:xfrm>
          <a:prstGeom prst="rect">
            <a:avLst/>
          </a:prstGeom>
          <a:solidFill>
            <a:srgbClr val="F6D9D3"/>
          </a:solidFill>
          <a:ln w="19050">
            <a:solidFill>
              <a:srgbClr val="FFFFFF"/>
            </a:solidFill>
            <a:prstDash val="solid"/>
          </a:ln>
        </p:spPr>
      </p:sp>
      <p:sp>
        <p:nvSpPr>
          <p:cNvPr id="81" name="Text 79"/>
          <p:cNvSpPr/>
          <p:nvPr/>
        </p:nvSpPr>
        <p:spPr>
          <a:xfrm>
            <a:off x="7726680" y="3813048"/>
            <a:ext cx="1316736" cy="310896"/>
          </a:xfrm>
          <a:prstGeom prst="rect">
            <a:avLst/>
          </a:prstGeom>
          <a:noFill/>
          <a:ln/>
        </p:spPr>
        <p:txBody>
          <a:bodyPr wrap="square" lIns="0" tIns="0" rIns="0" bIns="0" rtlCol="0" anchor="ctr"/>
          <a:lstStyle/>
          <a:p>
            <a:pPr algn="ctr" indent="0" marL="0">
              <a:buNone/>
            </a:pPr>
            <a:r>
              <a:rPr lang="en-US" sz="1500" b="1" dirty="0">
                <a:solidFill>
                  <a:srgbClr val="23282F"/>
                </a:solidFill>
                <a:latin typeface="Calibri" pitchFamily="34" charset="0"/>
                <a:ea typeface="Calibri" pitchFamily="34" charset="-122"/>
                <a:cs typeface="Calibri" pitchFamily="34" charset="-120"/>
              </a:rPr>
              <a:t>3.0</a:t>
            </a:r>
            <a:endParaRPr lang="en-US" sz="1500" dirty="0"/>
          </a:p>
        </p:txBody>
      </p:sp>
      <p:sp>
        <p:nvSpPr>
          <p:cNvPr id="82" name="Text 80"/>
          <p:cNvSpPr/>
          <p:nvPr/>
        </p:nvSpPr>
        <p:spPr>
          <a:xfrm>
            <a:off x="7726680" y="4105656"/>
            <a:ext cx="1316736" cy="237744"/>
          </a:xfrm>
          <a:prstGeom prst="rect">
            <a:avLst/>
          </a:prstGeom>
          <a:noFill/>
          <a:ln/>
        </p:spPr>
        <p:txBody>
          <a:bodyPr wrap="square" lIns="0" tIns="0" rIns="0" bIns="0" rtlCol="0" anchor="ctr"/>
          <a:lstStyle/>
          <a:p>
            <a:pPr algn="ctr" indent="0" marL="0">
              <a:buNone/>
            </a:pPr>
            <a:r>
              <a:rPr lang="en-US" sz="1000" dirty="0">
                <a:solidFill>
                  <a:srgbClr val="6E7681"/>
                </a:solidFill>
                <a:latin typeface="Calibri" pitchFamily="34" charset="0"/>
                <a:ea typeface="Calibri" pitchFamily="34" charset="-122"/>
                <a:cs typeface="Calibri" pitchFamily="34" charset="-120"/>
              </a:rPr>
              <a:t>CJ 57 %</a:t>
            </a:r>
            <a:endParaRPr lang="en-US" sz="1000" dirty="0"/>
          </a:p>
        </p:txBody>
      </p:sp>
      <p:sp>
        <p:nvSpPr>
          <p:cNvPr id="83" name="Shape 81"/>
          <p:cNvSpPr/>
          <p:nvPr/>
        </p:nvSpPr>
        <p:spPr>
          <a:xfrm>
            <a:off x="9098280" y="3758184"/>
            <a:ext cx="1316736" cy="603504"/>
          </a:xfrm>
          <a:prstGeom prst="rect">
            <a:avLst/>
          </a:prstGeom>
          <a:solidFill>
            <a:srgbClr val="F6D9D3"/>
          </a:solidFill>
          <a:ln w="19050">
            <a:solidFill>
              <a:srgbClr val="FFFFFF"/>
            </a:solidFill>
            <a:prstDash val="solid"/>
          </a:ln>
        </p:spPr>
      </p:sp>
      <p:sp>
        <p:nvSpPr>
          <p:cNvPr id="84" name="Text 82"/>
          <p:cNvSpPr/>
          <p:nvPr/>
        </p:nvSpPr>
        <p:spPr>
          <a:xfrm>
            <a:off x="9098280" y="3813048"/>
            <a:ext cx="1316736" cy="310896"/>
          </a:xfrm>
          <a:prstGeom prst="rect">
            <a:avLst/>
          </a:prstGeom>
          <a:noFill/>
          <a:ln/>
        </p:spPr>
        <p:txBody>
          <a:bodyPr wrap="square" lIns="0" tIns="0" rIns="0" bIns="0" rtlCol="0" anchor="ctr"/>
          <a:lstStyle/>
          <a:p>
            <a:pPr algn="ctr" indent="0" marL="0">
              <a:buNone/>
            </a:pPr>
            <a:r>
              <a:rPr lang="en-US" sz="1500" b="1" dirty="0">
                <a:solidFill>
                  <a:srgbClr val="23282F"/>
                </a:solidFill>
                <a:latin typeface="Calibri" pitchFamily="34" charset="0"/>
                <a:ea typeface="Calibri" pitchFamily="34" charset="-122"/>
                <a:cs typeface="Calibri" pitchFamily="34" charset="-120"/>
              </a:rPr>
              <a:t>3.0</a:t>
            </a:r>
            <a:endParaRPr lang="en-US" sz="1500" dirty="0"/>
          </a:p>
        </p:txBody>
      </p:sp>
      <p:sp>
        <p:nvSpPr>
          <p:cNvPr id="85" name="Text 83"/>
          <p:cNvSpPr/>
          <p:nvPr/>
        </p:nvSpPr>
        <p:spPr>
          <a:xfrm>
            <a:off x="9098280" y="4105656"/>
            <a:ext cx="1316736" cy="237744"/>
          </a:xfrm>
          <a:prstGeom prst="rect">
            <a:avLst/>
          </a:prstGeom>
          <a:noFill/>
          <a:ln/>
        </p:spPr>
        <p:txBody>
          <a:bodyPr wrap="square" lIns="0" tIns="0" rIns="0" bIns="0" rtlCol="0" anchor="ctr"/>
          <a:lstStyle/>
          <a:p>
            <a:pPr algn="ctr" indent="0" marL="0">
              <a:buNone/>
            </a:pPr>
            <a:r>
              <a:rPr lang="en-US" sz="1000" dirty="0">
                <a:solidFill>
                  <a:srgbClr val="6E7681"/>
                </a:solidFill>
                <a:latin typeface="Calibri" pitchFamily="34" charset="0"/>
                <a:ea typeface="Calibri" pitchFamily="34" charset="-122"/>
                <a:cs typeface="Calibri" pitchFamily="34" charset="-120"/>
              </a:rPr>
              <a:t>CJ 56 %</a:t>
            </a:r>
            <a:endParaRPr lang="en-US" sz="1000" dirty="0"/>
          </a:p>
        </p:txBody>
      </p:sp>
      <p:sp>
        <p:nvSpPr>
          <p:cNvPr id="86" name="Text 84"/>
          <p:cNvSpPr/>
          <p:nvPr/>
        </p:nvSpPr>
        <p:spPr>
          <a:xfrm>
            <a:off x="640080" y="4709160"/>
            <a:ext cx="10881360" cy="548640"/>
          </a:xfrm>
          <a:prstGeom prst="rect">
            <a:avLst/>
          </a:prstGeom>
          <a:noFill/>
          <a:ln/>
        </p:spPr>
        <p:txBody>
          <a:bodyPr wrap="square" lIns="0" tIns="0" rIns="0" bIns="0" rtlCol="0" anchor="ctr"/>
          <a:lstStyle/>
          <a:p>
            <a:pPr indent="0" marL="0">
              <a:buNone/>
            </a:pPr>
            <a:r>
              <a:rPr lang="en-US" sz="1400" b="1" dirty="0">
                <a:solidFill>
                  <a:srgbClr val="B3382C"/>
                </a:solidFill>
                <a:latin typeface="Calibri" pitchFamily="34" charset="0"/>
                <a:ea typeface="Calibri" pitchFamily="34" charset="-122"/>
                <a:cs typeface="Calibri" pitchFamily="34" charset="-120"/>
              </a:rPr>
              <a:t>Flat gegen sich selbst hält der Angreifer im Mittel 8,1 von 10 Knoten, DMZ gegen sich selbst 5,6. Am wenigsten kommt er dort weiter, wo er auf eine fremde, stärker segmentierte Struktur trifft: 2,0 Knoten in mehreren Zellen mit Micro-Segmentation oder DMZ als Ziel.</a:t>
            </a:r>
            <a:endParaRPr lang="en-US" sz="1400" dirty="0"/>
          </a:p>
        </p:txBody>
      </p:sp>
      <p:sp>
        <p:nvSpPr>
          <p:cNvPr id="87" name="Text 85"/>
          <p:cNvSpPr/>
          <p:nvPr/>
        </p:nvSpPr>
        <p:spPr>
          <a:xfrm>
            <a:off x="640080" y="6291072"/>
            <a:ext cx="10881360" cy="274320"/>
          </a:xfrm>
          <a:prstGeom prst="rect">
            <a:avLst/>
          </a:prstGeom>
          <a:noFill/>
          <a:ln/>
        </p:spPr>
        <p:txBody>
          <a:bodyPr wrap="square" lIns="0" tIns="0" rIns="0" bIns="0" rtlCol="0" anchor="ctr"/>
          <a:lstStyle/>
          <a:p>
            <a:pPr indent="0" marL="0">
              <a:buNone/>
            </a:pPr>
            <a:r>
              <a:rPr lang="en-US" sz="1000" i="1" dirty="0">
                <a:solidFill>
                  <a:srgbClr val="6E7681"/>
                </a:solidFill>
                <a:latin typeface="Calibri" pitchFamily="34" charset="0"/>
                <a:ea typeface="Calibri" pitchFamily="34" charset="-122"/>
                <a:cs typeface="Calibri" pitchFamily="34" charset="-120"/>
              </a:rPr>
              <a:t>Mittel über alle Episoden aller fünf Seeds. Der Einstiegsknoten WebServer ist von Beginn an übernommen und zählt mit. Zweite Zeile je Feld: Crown-Jewel-Quote.</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B1F26"/>
        </a:solidFill>
      </p:bgPr>
    </p:bg>
    <p:spTree>
      <p:nvGrpSpPr>
        <p:cNvPr id="1" name=""/>
        <p:cNvGrpSpPr/>
        <p:nvPr/>
      </p:nvGrpSpPr>
      <p:grpSpPr>
        <a:xfrm>
          <a:off x="0" y="0"/>
          <a:ext cx="0" cy="0"/>
          <a:chOff x="0" y="0"/>
          <a:chExt cx="0" cy="0"/>
        </a:xfrm>
      </p:grpSpPr>
      <p:pic>
        <p:nvPicPr>
          <p:cNvPr id="2" name="Image 0" descr="experiments\20260820_005936\deck\verlauf_flat.png">    </p:cNvPr>
          <p:cNvPicPr>
            <a:picLocks noChangeAspect="1"/>
          </p:cNvPicPr>
          <p:nvPr/>
        </p:nvPicPr>
        <p:blipFill>
          <a:blip r:embed="rId1"/>
          <a:stretch>
            <a:fillRect/>
          </a:stretch>
        </p:blipFill>
        <p:spPr>
          <a:xfrm>
            <a:off x="164592" y="146304"/>
            <a:ext cx="11832336" cy="6565392"/>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B1F26"/>
        </a:solidFill>
      </p:bgPr>
    </p:bg>
    <p:spTree>
      <p:nvGrpSpPr>
        <p:cNvPr id="1" name=""/>
        <p:cNvGrpSpPr/>
        <p:nvPr/>
      </p:nvGrpSpPr>
      <p:grpSpPr>
        <a:xfrm>
          <a:off x="0" y="0"/>
          <a:ext cx="0" cy="0"/>
          <a:chOff x="0" y="0"/>
          <a:chExt cx="0" cy="0"/>
        </a:xfrm>
      </p:grpSpPr>
      <p:pic>
        <p:nvPicPr>
          <p:cNvPr id="2" name="Image 0" descr="experiments\20260820_005936\deck\verlauf_hub_and_spoke.png">    </p:cNvPr>
          <p:cNvPicPr>
            <a:picLocks noChangeAspect="1"/>
          </p:cNvPicPr>
          <p:nvPr/>
        </p:nvPicPr>
        <p:blipFill>
          <a:blip r:embed="rId1"/>
          <a:stretch>
            <a:fillRect/>
          </a:stretch>
        </p:blipFill>
        <p:spPr>
          <a:xfrm>
            <a:off x="164592" y="146304"/>
            <a:ext cx="11832336" cy="6565392"/>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B1F26"/>
        </a:solidFill>
      </p:bgPr>
    </p:bg>
    <p:spTree>
      <p:nvGrpSpPr>
        <p:cNvPr id="1" name=""/>
        <p:cNvGrpSpPr/>
        <p:nvPr/>
      </p:nvGrpSpPr>
      <p:grpSpPr>
        <a:xfrm>
          <a:off x="0" y="0"/>
          <a:ext cx="0" cy="0"/>
          <a:chOff x="0" y="0"/>
          <a:chExt cx="0" cy="0"/>
        </a:xfrm>
      </p:grpSpPr>
      <p:pic>
        <p:nvPicPr>
          <p:cNvPr id="2" name="Image 0" descr="experiments\20260820_005936\deck\verlauf_dmz.png">    </p:cNvPr>
          <p:cNvPicPr>
            <a:picLocks noChangeAspect="1"/>
          </p:cNvPicPr>
          <p:nvPr/>
        </p:nvPicPr>
        <p:blipFill>
          <a:blip r:embed="rId1"/>
          <a:stretch>
            <a:fillRect/>
          </a:stretch>
        </p:blipFill>
        <p:spPr>
          <a:xfrm>
            <a:off x="164592" y="146304"/>
            <a:ext cx="11832336" cy="6565392"/>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B1F26"/>
        </a:solidFill>
      </p:bgPr>
    </p:bg>
    <p:spTree>
      <p:nvGrpSpPr>
        <p:cNvPr id="1" name=""/>
        <p:cNvGrpSpPr/>
        <p:nvPr/>
      </p:nvGrpSpPr>
      <p:grpSpPr>
        <a:xfrm>
          <a:off x="0" y="0"/>
          <a:ext cx="0" cy="0"/>
          <a:chOff x="0" y="0"/>
          <a:chExt cx="0" cy="0"/>
        </a:xfrm>
      </p:grpSpPr>
      <p:pic>
        <p:nvPicPr>
          <p:cNvPr id="2" name="Image 0" descr="experiments\20260820_005936\deck\verlauf_micro_segmented.png">    </p:cNvPr>
          <p:cNvPicPr>
            <a:picLocks noChangeAspect="1"/>
          </p:cNvPicPr>
          <p:nvPr/>
        </p:nvPicPr>
        <p:blipFill>
          <a:blip r:embed="rId1"/>
          <a:stretch>
            <a:fillRect/>
          </a:stretch>
        </p:blipFill>
        <p:spPr>
          <a:xfrm>
            <a:off x="164592" y="146304"/>
            <a:ext cx="11832336" cy="6565392"/>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B1F26"/>
        </a:solidFill>
      </p:bgPr>
    </p:bg>
    <p:spTree>
      <p:nvGrpSpPr>
        <p:cNvPr id="1" name=""/>
        <p:cNvGrpSpPr/>
        <p:nvPr/>
      </p:nvGrpSpPr>
      <p:grpSpPr>
        <a:xfrm>
          <a:off x="0" y="0"/>
          <a:ext cx="0" cy="0"/>
          <a:chOff x="0" y="0"/>
          <a:chExt cx="0" cy="0"/>
        </a:xfrm>
      </p:grpSpPr>
      <p:pic>
        <p:nvPicPr>
          <p:cNvPr id="2" name="Image 0" descr="experiments\20260820_005936\deck\abwehrbonus_verlauf.png">    </p:cNvPr>
          <p:cNvPicPr>
            <a:picLocks noChangeAspect="1"/>
          </p:cNvPicPr>
          <p:nvPr/>
        </p:nvPicPr>
        <p:blipFill>
          <a:blip r:embed="rId1"/>
          <a:stretch>
            <a:fillRect/>
          </a:stretch>
        </p:blipFill>
        <p:spPr>
          <a:xfrm>
            <a:off x="164592" y="146304"/>
            <a:ext cx="11832336" cy="6565392"/>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B1F26"/>
        </a:solidFill>
      </p:bgPr>
    </p:bg>
    <p:spTree>
      <p:nvGrpSpPr>
        <p:cNvPr id="1" name=""/>
        <p:cNvGrpSpPr/>
        <p:nvPr/>
      </p:nvGrpSpPr>
      <p:grpSpPr>
        <a:xfrm>
          <a:off x="0" y="0"/>
          <a:ext cx="0" cy="0"/>
          <a:chOff x="0" y="0"/>
          <a:chExt cx="0" cy="0"/>
        </a:xfrm>
      </p:grpSpPr>
      <p:pic>
        <p:nvPicPr>
          <p:cNvPr id="2" name="Image 0" descr="experiments\20260820_005936\deck\cj_verlauf_flat.png">    </p:cNvPr>
          <p:cNvPicPr>
            <a:picLocks noChangeAspect="1"/>
          </p:cNvPicPr>
          <p:nvPr/>
        </p:nvPicPr>
        <p:blipFill>
          <a:blip r:embed="rId1"/>
          <a:stretch>
            <a:fillRect/>
          </a:stretch>
        </p:blipFill>
        <p:spPr>
          <a:xfrm>
            <a:off x="164592" y="146304"/>
            <a:ext cx="11832336" cy="6565392"/>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B1F26"/>
        </a:solidFill>
      </p:bgPr>
    </p:bg>
    <p:spTree>
      <p:nvGrpSpPr>
        <p:cNvPr id="1" name=""/>
        <p:cNvGrpSpPr/>
        <p:nvPr/>
      </p:nvGrpSpPr>
      <p:grpSpPr>
        <a:xfrm>
          <a:off x="0" y="0"/>
          <a:ext cx="0" cy="0"/>
          <a:chOff x="0" y="0"/>
          <a:chExt cx="0" cy="0"/>
        </a:xfrm>
      </p:grpSpPr>
      <p:pic>
        <p:nvPicPr>
          <p:cNvPr id="2" name="Image 0" descr="experiments\20260820_005936\deck\cj_verlauf_hub_and_spoke.png">    </p:cNvPr>
          <p:cNvPicPr>
            <a:picLocks noChangeAspect="1"/>
          </p:cNvPicPr>
          <p:nvPr/>
        </p:nvPicPr>
        <p:blipFill>
          <a:blip r:embed="rId1"/>
          <a:stretch>
            <a:fillRect/>
          </a:stretch>
        </p:blipFill>
        <p:spPr>
          <a:xfrm>
            <a:off x="164592" y="146304"/>
            <a:ext cx="11832336" cy="6565392"/>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1B1F26"/>
        </a:solidFill>
      </p:bgPr>
    </p:bg>
    <p:spTree>
      <p:nvGrpSpPr>
        <p:cNvPr id="1" name=""/>
        <p:cNvGrpSpPr/>
        <p:nvPr/>
      </p:nvGrpSpPr>
      <p:grpSpPr>
        <a:xfrm>
          <a:off x="0" y="0"/>
          <a:ext cx="0" cy="0"/>
          <a:chOff x="0" y="0"/>
          <a:chExt cx="0" cy="0"/>
        </a:xfrm>
      </p:grpSpPr>
      <p:pic>
        <p:nvPicPr>
          <p:cNvPr id="2" name="Image 0" descr="experiments\20260820_005936\deck\cj_verlauf_dmz.png">    </p:cNvPr>
          <p:cNvPicPr>
            <a:picLocks noChangeAspect="1"/>
          </p:cNvPicPr>
          <p:nvPr/>
        </p:nvPicPr>
        <p:blipFill>
          <a:blip r:embed="rId1"/>
          <a:stretch>
            <a:fillRect/>
          </a:stretch>
        </p:blipFill>
        <p:spPr>
          <a:xfrm>
            <a:off x="164592" y="146304"/>
            <a:ext cx="11832336" cy="6565392"/>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1B1F26"/>
        </a:solidFill>
      </p:bgPr>
    </p:bg>
    <p:spTree>
      <p:nvGrpSpPr>
        <p:cNvPr id="1" name=""/>
        <p:cNvGrpSpPr/>
        <p:nvPr/>
      </p:nvGrpSpPr>
      <p:grpSpPr>
        <a:xfrm>
          <a:off x="0" y="0"/>
          <a:ext cx="0" cy="0"/>
          <a:chOff x="0" y="0"/>
          <a:chExt cx="0" cy="0"/>
        </a:xfrm>
      </p:grpSpPr>
      <p:pic>
        <p:nvPicPr>
          <p:cNvPr id="2" name="Image 0" descr="experiments\20260820_005936\deck\cj_verlauf_micro_segmented.png">    </p:cNvPr>
          <p:cNvPicPr>
            <a:picLocks noChangeAspect="1"/>
          </p:cNvPicPr>
          <p:nvPr/>
        </p:nvPicPr>
        <p:blipFill>
          <a:blip r:embed="rId1"/>
          <a:stretch>
            <a:fillRect/>
          </a:stretch>
        </p:blipFill>
        <p:spPr>
          <a:xfrm>
            <a:off x="164592" y="146304"/>
            <a:ext cx="11832336" cy="6565392"/>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640080" y="384048"/>
            <a:ext cx="10881360" cy="566928"/>
          </a:xfrm>
          <a:prstGeom prst="rect">
            <a:avLst/>
          </a:prstGeom>
          <a:noFill/>
          <a:ln/>
        </p:spPr>
        <p:txBody>
          <a:bodyPr wrap="square" lIns="0" tIns="0" rIns="0" bIns="0" rtlCol="0" anchor="ctr"/>
          <a:lstStyle/>
          <a:p>
            <a:pPr indent="0" marL="0">
              <a:buNone/>
            </a:pPr>
            <a:r>
              <a:rPr lang="en-US" sz="3400" b="1" dirty="0">
                <a:solidFill>
                  <a:srgbClr val="23282F"/>
                </a:solidFill>
                <a:latin typeface="Cambria" pitchFamily="34" charset="0"/>
                <a:ea typeface="Cambria" pitchFamily="34" charset="-122"/>
                <a:cs typeface="Cambria" pitchFamily="34" charset="-120"/>
              </a:rPr>
              <a:t>Sperren wird früh gelernt, dann größtenteils wieder aufgegeben</a:t>
            </a:r>
            <a:endParaRPr lang="en-US" sz="3400" dirty="0"/>
          </a:p>
        </p:txBody>
      </p:sp>
      <p:sp>
        <p:nvSpPr>
          <p:cNvPr id="3" name="Text 1"/>
          <p:cNvSpPr/>
          <p:nvPr/>
        </p:nvSpPr>
        <p:spPr>
          <a:xfrm>
            <a:off x="640080" y="969264"/>
            <a:ext cx="10881360" cy="493776"/>
          </a:xfrm>
          <a:prstGeom prst="rect">
            <a:avLst/>
          </a:prstGeom>
          <a:noFill/>
          <a:ln/>
        </p:spPr>
        <p:txBody>
          <a:bodyPr wrap="square" lIns="0" tIns="0" rIns="0" bIns="0" rtlCol="0" anchor="ctr"/>
          <a:lstStyle/>
          <a:p>
            <a:pPr indent="0" marL="0">
              <a:buNone/>
            </a:pPr>
            <a:r>
              <a:rPr lang="en-US" sz="1400" dirty="0">
                <a:solidFill>
                  <a:srgbClr val="6E7681"/>
                </a:solidFill>
                <a:latin typeface="Calibri" pitchFamily="34" charset="0"/>
                <a:ea typeface="Calibri" pitchFamily="34" charset="-122"/>
                <a:cs typeface="Calibri" pitchFamily="34" charset="-120"/>
              </a:rPr>
              <a:t>Anteil der Schritte je Aktionsart, über alle 120 Läufe gemittelt</a:t>
            </a:r>
            <a:endParaRPr lang="en-US" sz="1400" dirty="0"/>
          </a:p>
        </p:txBody>
      </p:sp>
      <p:sp>
        <p:nvSpPr>
          <p:cNvPr id="4" name="Shape 2"/>
          <p:cNvSpPr/>
          <p:nvPr/>
        </p:nvSpPr>
        <p:spPr>
          <a:xfrm>
            <a:off x="640080" y="1828800"/>
            <a:ext cx="3383280" cy="3017520"/>
          </a:xfrm>
          <a:prstGeom prst="roundRect">
            <a:avLst>
              <a:gd name="adj" fmla="val 3030"/>
            </a:avLst>
          </a:prstGeom>
          <a:solidFill>
            <a:srgbClr val="F4F6F8"/>
          </a:solidFill>
          <a:ln w="12700">
            <a:solidFill>
              <a:srgbClr val="DDE1E6"/>
            </a:solidFill>
            <a:prstDash val="solid"/>
          </a:ln>
        </p:spPr>
      </p:sp>
      <p:sp>
        <p:nvSpPr>
          <p:cNvPr id="5" name="Text 3"/>
          <p:cNvSpPr/>
          <p:nvPr/>
        </p:nvSpPr>
        <p:spPr>
          <a:xfrm>
            <a:off x="914400" y="2057400"/>
            <a:ext cx="2834640" cy="548640"/>
          </a:xfrm>
          <a:prstGeom prst="rect">
            <a:avLst/>
          </a:prstGeom>
          <a:noFill/>
          <a:ln/>
        </p:spPr>
        <p:txBody>
          <a:bodyPr wrap="square" lIns="0" tIns="0" rIns="0" bIns="0" rtlCol="0" anchor="ctr"/>
          <a:lstStyle/>
          <a:p>
            <a:pPr indent="0" marL="0">
              <a:buNone/>
            </a:pPr>
            <a:r>
              <a:rPr lang="en-US" sz="2600" b="1" dirty="0">
                <a:solidFill>
                  <a:srgbClr val="1C6E8C"/>
                </a:solidFill>
                <a:latin typeface="Cambria" pitchFamily="34" charset="0"/>
                <a:ea typeface="Cambria" pitchFamily="34" charset="-122"/>
                <a:cs typeface="Cambria" pitchFamily="34" charset="-120"/>
              </a:rPr>
              <a:t>16 % → 2 %</a:t>
            </a:r>
            <a:endParaRPr lang="en-US" sz="2600" dirty="0"/>
          </a:p>
        </p:txBody>
      </p:sp>
      <p:sp>
        <p:nvSpPr>
          <p:cNvPr id="6" name="Text 4"/>
          <p:cNvSpPr/>
          <p:nvPr/>
        </p:nvSpPr>
        <p:spPr>
          <a:xfrm>
            <a:off x="914400" y="2651760"/>
            <a:ext cx="2834640" cy="329184"/>
          </a:xfrm>
          <a:prstGeom prst="rect">
            <a:avLst/>
          </a:prstGeom>
          <a:noFill/>
          <a:ln/>
        </p:spPr>
        <p:txBody>
          <a:bodyPr wrap="square" lIns="0" tIns="0" rIns="0" bIns="0" rtlCol="0" anchor="ctr"/>
          <a:lstStyle/>
          <a:p>
            <a:pPr indent="0" marL="0">
              <a:buNone/>
            </a:pPr>
            <a:r>
              <a:rPr lang="en-US" sz="1500" b="1" dirty="0">
                <a:solidFill>
                  <a:srgbClr val="23282F"/>
                </a:solidFill>
                <a:latin typeface="Calibri" pitchFamily="34" charset="0"/>
                <a:ea typeface="Calibri" pitchFamily="34" charset="-122"/>
                <a:cs typeface="Calibri" pitchFamily="34" charset="-120"/>
              </a:rPr>
              <a:t>Sperren (Episode 1–25 gegen ab 101)</a:t>
            </a:r>
            <a:endParaRPr lang="en-US" sz="1500" dirty="0"/>
          </a:p>
        </p:txBody>
      </p:sp>
      <p:sp>
        <p:nvSpPr>
          <p:cNvPr id="7" name="Text 5"/>
          <p:cNvSpPr/>
          <p:nvPr/>
        </p:nvSpPr>
        <p:spPr>
          <a:xfrm>
            <a:off x="914400" y="3063240"/>
            <a:ext cx="2834640" cy="1554480"/>
          </a:xfrm>
          <a:prstGeom prst="rect">
            <a:avLst/>
          </a:prstGeom>
          <a:noFill/>
          <a:ln/>
        </p:spPr>
        <p:txBody>
          <a:bodyPr wrap="square" lIns="0" tIns="0" rIns="0" bIns="0" rtlCol="0" anchor="ctr"/>
          <a:lstStyle/>
          <a:p>
            <a:pPr indent="0" marL="0">
              <a:buNone/>
            </a:pPr>
            <a:r>
              <a:rPr lang="en-US" sz="1200" dirty="0">
                <a:solidFill>
                  <a:srgbClr val="6E7681"/>
                </a:solidFill>
                <a:latin typeface="Calibri" pitchFamily="34" charset="0"/>
                <a:ea typeface="Calibri" pitchFamily="34" charset="-122"/>
                <a:cs typeface="Calibri" pitchFamily="34" charset="-120"/>
              </a:rPr>
              <a:t>Zu Beginn sperrt der Verteidiger noch häufig. Über das Training sinkt der Anteil auf ein Achtel, konsistent mit dem Befund, dass Sperren nur in bestimmten Topologien dauerhaft lohnt (Folie 5).</a:t>
            </a:r>
            <a:endParaRPr lang="en-US" sz="1200" dirty="0"/>
          </a:p>
        </p:txBody>
      </p:sp>
      <p:sp>
        <p:nvSpPr>
          <p:cNvPr id="8" name="Shape 6"/>
          <p:cNvSpPr/>
          <p:nvPr/>
        </p:nvSpPr>
        <p:spPr>
          <a:xfrm>
            <a:off x="4389120" y="1828800"/>
            <a:ext cx="3383280" cy="3017520"/>
          </a:xfrm>
          <a:prstGeom prst="roundRect">
            <a:avLst>
              <a:gd name="adj" fmla="val 3030"/>
            </a:avLst>
          </a:prstGeom>
          <a:solidFill>
            <a:srgbClr val="F4F6F8"/>
          </a:solidFill>
          <a:ln w="12700">
            <a:solidFill>
              <a:srgbClr val="DDE1E6"/>
            </a:solidFill>
            <a:prstDash val="solid"/>
          </a:ln>
        </p:spPr>
      </p:sp>
      <p:sp>
        <p:nvSpPr>
          <p:cNvPr id="9" name="Text 7"/>
          <p:cNvSpPr/>
          <p:nvPr/>
        </p:nvSpPr>
        <p:spPr>
          <a:xfrm>
            <a:off x="4663440" y="2057400"/>
            <a:ext cx="2834640" cy="548640"/>
          </a:xfrm>
          <a:prstGeom prst="rect">
            <a:avLst/>
          </a:prstGeom>
          <a:noFill/>
          <a:ln/>
        </p:spPr>
        <p:txBody>
          <a:bodyPr wrap="square" lIns="0" tIns="0" rIns="0" bIns="0" rtlCol="0" anchor="ctr"/>
          <a:lstStyle/>
          <a:p>
            <a:pPr indent="0" marL="0">
              <a:buNone/>
            </a:pPr>
            <a:r>
              <a:rPr lang="en-US" sz="2600" b="1" dirty="0">
                <a:solidFill>
                  <a:srgbClr val="1C6E8C"/>
                </a:solidFill>
                <a:latin typeface="Cambria" pitchFamily="34" charset="0"/>
                <a:ea typeface="Cambria" pitchFamily="34" charset="-122"/>
                <a:cs typeface="Cambria" pitchFamily="34" charset="-120"/>
              </a:rPr>
              <a:t>38 % → 62 %</a:t>
            </a:r>
            <a:endParaRPr lang="en-US" sz="2600" dirty="0"/>
          </a:p>
        </p:txBody>
      </p:sp>
      <p:sp>
        <p:nvSpPr>
          <p:cNvPr id="10" name="Text 8"/>
          <p:cNvSpPr/>
          <p:nvPr/>
        </p:nvSpPr>
        <p:spPr>
          <a:xfrm>
            <a:off x="4663440" y="2651760"/>
            <a:ext cx="2834640" cy="329184"/>
          </a:xfrm>
          <a:prstGeom prst="rect">
            <a:avLst/>
          </a:prstGeom>
          <a:noFill/>
          <a:ln/>
        </p:spPr>
        <p:txBody>
          <a:bodyPr wrap="square" lIns="0" tIns="0" rIns="0" bIns="0" rtlCol="0" anchor="ctr"/>
          <a:lstStyle/>
          <a:p>
            <a:pPr indent="0" marL="0">
              <a:buNone/>
            </a:pPr>
            <a:r>
              <a:rPr lang="en-US" sz="1500" b="1" dirty="0">
                <a:solidFill>
                  <a:srgbClr val="23282F"/>
                </a:solidFill>
                <a:latin typeface="Calibri" pitchFamily="34" charset="0"/>
                <a:ea typeface="Calibri" pitchFamily="34" charset="-122"/>
                <a:cs typeface="Calibri" pitchFamily="34" charset="-120"/>
              </a:rPr>
              <a:t>Ungültige Aktionen</a:t>
            </a:r>
            <a:endParaRPr lang="en-US" sz="1500" dirty="0"/>
          </a:p>
        </p:txBody>
      </p:sp>
      <p:sp>
        <p:nvSpPr>
          <p:cNvPr id="11" name="Text 9"/>
          <p:cNvSpPr/>
          <p:nvPr/>
        </p:nvSpPr>
        <p:spPr>
          <a:xfrm>
            <a:off x="4663440" y="3063240"/>
            <a:ext cx="2834640" cy="1554480"/>
          </a:xfrm>
          <a:prstGeom prst="rect">
            <a:avLst/>
          </a:prstGeom>
          <a:noFill/>
          <a:ln/>
        </p:spPr>
        <p:txBody>
          <a:bodyPr wrap="square" lIns="0" tIns="0" rIns="0" bIns="0" rtlCol="0" anchor="ctr"/>
          <a:lstStyle/>
          <a:p>
            <a:pPr indent="0" marL="0">
              <a:buNone/>
            </a:pPr>
            <a:r>
              <a:rPr lang="en-US" sz="1200" dirty="0">
                <a:solidFill>
                  <a:srgbClr val="6E7681"/>
                </a:solidFill>
                <a:latin typeface="Calibri" pitchFamily="34" charset="0"/>
                <a:ea typeface="Calibri" pitchFamily="34" charset="-122"/>
                <a:cs typeface="Calibri" pitchFamily="34" charset="-120"/>
              </a:rPr>
              <a:t>Steigt über das Training deutlich, wie schon im alten Aktionsraum. Eine ungültige Aktion kostet nichts und überspringt den Zug, der günstigste Weg, nichts zu tun.</a:t>
            </a:r>
            <a:endParaRPr lang="en-US" sz="1200" dirty="0"/>
          </a:p>
        </p:txBody>
      </p:sp>
      <p:sp>
        <p:nvSpPr>
          <p:cNvPr id="12" name="Shape 10"/>
          <p:cNvSpPr/>
          <p:nvPr/>
        </p:nvSpPr>
        <p:spPr>
          <a:xfrm>
            <a:off x="8138160" y="1828800"/>
            <a:ext cx="3383280" cy="3017520"/>
          </a:xfrm>
          <a:prstGeom prst="roundRect">
            <a:avLst>
              <a:gd name="adj" fmla="val 3030"/>
            </a:avLst>
          </a:prstGeom>
          <a:solidFill>
            <a:srgbClr val="F4F6F8"/>
          </a:solidFill>
          <a:ln w="12700">
            <a:solidFill>
              <a:srgbClr val="DDE1E6"/>
            </a:solidFill>
            <a:prstDash val="solid"/>
          </a:ln>
        </p:spPr>
      </p:sp>
      <p:sp>
        <p:nvSpPr>
          <p:cNvPr id="13" name="Text 11"/>
          <p:cNvSpPr/>
          <p:nvPr/>
        </p:nvSpPr>
        <p:spPr>
          <a:xfrm>
            <a:off x="8412480" y="2057400"/>
            <a:ext cx="2834640" cy="548640"/>
          </a:xfrm>
          <a:prstGeom prst="rect">
            <a:avLst/>
          </a:prstGeom>
          <a:noFill/>
          <a:ln/>
        </p:spPr>
        <p:txBody>
          <a:bodyPr wrap="square" lIns="0" tIns="0" rIns="0" bIns="0" rtlCol="0" anchor="ctr"/>
          <a:lstStyle/>
          <a:p>
            <a:pPr indent="0" marL="0">
              <a:buNone/>
            </a:pPr>
            <a:r>
              <a:rPr lang="en-US" sz="2600" b="1" dirty="0">
                <a:solidFill>
                  <a:srgbClr val="D99A2B"/>
                </a:solidFill>
                <a:latin typeface="Cambria" pitchFamily="34" charset="0"/>
                <a:ea typeface="Cambria" pitchFamily="34" charset="-122"/>
                <a:cs typeface="Cambria" pitchFamily="34" charset="-120"/>
              </a:rPr>
              <a:t>88,1 %</a:t>
            </a:r>
            <a:endParaRPr lang="en-US" sz="2600" dirty="0"/>
          </a:p>
        </p:txBody>
      </p:sp>
      <p:sp>
        <p:nvSpPr>
          <p:cNvPr id="14" name="Text 12"/>
          <p:cNvSpPr/>
          <p:nvPr/>
        </p:nvSpPr>
        <p:spPr>
          <a:xfrm>
            <a:off x="8412480" y="2651760"/>
            <a:ext cx="2834640" cy="329184"/>
          </a:xfrm>
          <a:prstGeom prst="rect">
            <a:avLst/>
          </a:prstGeom>
          <a:noFill/>
          <a:ln/>
        </p:spPr>
        <p:txBody>
          <a:bodyPr wrap="square" lIns="0" tIns="0" rIns="0" bIns="0" rtlCol="0" anchor="ctr"/>
          <a:lstStyle/>
          <a:p>
            <a:pPr indent="0" marL="0">
              <a:buNone/>
            </a:pPr>
            <a:r>
              <a:rPr lang="en-US" sz="1500" b="1" dirty="0">
                <a:solidFill>
                  <a:srgbClr val="23282F"/>
                </a:solidFill>
                <a:latin typeface="Calibri" pitchFamily="34" charset="0"/>
                <a:ea typeface="Calibri" pitchFamily="34" charset="-122"/>
                <a:cs typeface="Calibri" pitchFamily="34" charset="-120"/>
              </a:rPr>
              <a:t>Episoden mit mindestens einer aktiven Sperre</a:t>
            </a:r>
            <a:endParaRPr lang="en-US" sz="1500" dirty="0"/>
          </a:p>
        </p:txBody>
      </p:sp>
      <p:sp>
        <p:nvSpPr>
          <p:cNvPr id="15" name="Text 13"/>
          <p:cNvSpPr/>
          <p:nvPr/>
        </p:nvSpPr>
        <p:spPr>
          <a:xfrm>
            <a:off x="8412480" y="3063240"/>
            <a:ext cx="2834640" cy="1554480"/>
          </a:xfrm>
          <a:prstGeom prst="rect">
            <a:avLst/>
          </a:prstGeom>
          <a:noFill/>
          <a:ln/>
        </p:spPr>
        <p:txBody>
          <a:bodyPr wrap="square" lIns="0" tIns="0" rIns="0" bIns="0" rtlCol="0" anchor="ctr"/>
          <a:lstStyle/>
          <a:p>
            <a:pPr indent="0" marL="0">
              <a:buNone/>
            </a:pPr>
            <a:r>
              <a:rPr lang="en-US" sz="1200" dirty="0">
                <a:solidFill>
                  <a:srgbClr val="6E7681"/>
                </a:solidFill>
                <a:latin typeface="Calibri" pitchFamily="34" charset="0"/>
                <a:ea typeface="Calibri" pitchFamily="34" charset="-122"/>
                <a:cs typeface="Calibri" pitchFamily="34" charset="-120"/>
              </a:rPr>
              <a:t>Trotz des Rückgangs bleibt Sperren kein Randphänomen: In der großen Mehrheit der Episoden ist zu jedem Zeitpunkt mindestens ein Knoten aktiv abgeschirmt.</a:t>
            </a:r>
            <a:endParaRPr lang="en-US" sz="1200" dirty="0"/>
          </a:p>
        </p:txBody>
      </p:sp>
      <p:sp>
        <p:nvSpPr>
          <p:cNvPr id="16" name="Text 14"/>
          <p:cNvSpPr/>
          <p:nvPr/>
        </p:nvSpPr>
        <p:spPr>
          <a:xfrm>
            <a:off x="640080" y="5029200"/>
            <a:ext cx="10881360" cy="868680"/>
          </a:xfrm>
          <a:prstGeom prst="rect">
            <a:avLst/>
          </a:prstGeom>
          <a:noFill/>
          <a:ln/>
        </p:spPr>
        <p:txBody>
          <a:bodyPr wrap="square" lIns="0" tIns="0" rIns="0" bIns="0" rtlCol="0" anchor="ctr"/>
          <a:lstStyle/>
          <a:p>
            <a:pPr indent="0" marL="0">
              <a:buNone/>
            </a:pPr>
            <a:r>
              <a:rPr lang="en-US" sz="1200" dirty="0">
                <a:solidFill>
                  <a:srgbClr val="6E7681"/>
                </a:solidFill>
                <a:latin typeface="Calibri" pitchFamily="34" charset="0"/>
                <a:ea typeface="Calibri" pitchFamily="34" charset="-122"/>
                <a:cs typeface="Calibri" pitchFamily="34" charset="-120"/>
              </a:rPr>
              <a:t>Der neue Aktionsraum hat nur noch drei Arten (Reimage, Sperren, Freigeben) statt vormals fünf. „Freigeben“ dominiert mit 36,8 % über alle Läufe, ein neues Muster gegenüber dem alten Aktionsraum, plausibel als Reaktion auf eigene frühere Sperren, aber nicht weiter aufgeschlüsselt in diesem Durchgang.</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1B1F26"/>
        </a:solidFill>
      </p:bgPr>
    </p:bg>
    <p:spTree>
      <p:nvGrpSpPr>
        <p:cNvPr id="1" name=""/>
        <p:cNvGrpSpPr/>
        <p:nvPr/>
      </p:nvGrpSpPr>
      <p:grpSpPr>
        <a:xfrm>
          <a:off x="0" y="0"/>
          <a:ext cx="0" cy="0"/>
          <a:chOff x="0" y="0"/>
          <a:chExt cx="0" cy="0"/>
        </a:xfrm>
      </p:grpSpPr>
      <p:pic>
        <p:nvPicPr>
          <p:cNvPr id="2" name="Image 0" descr="experiments\20260820_005936\deck\aktionen_flat.png">    </p:cNvPr>
          <p:cNvPicPr>
            <a:picLocks noChangeAspect="1"/>
          </p:cNvPicPr>
          <p:nvPr/>
        </p:nvPicPr>
        <p:blipFill>
          <a:blip r:embed="rId1"/>
          <a:stretch>
            <a:fillRect/>
          </a:stretch>
        </p:blipFill>
        <p:spPr>
          <a:xfrm>
            <a:off x="164592" y="146304"/>
            <a:ext cx="11832336" cy="6565392"/>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1B1F26"/>
        </a:solidFill>
      </p:bgPr>
    </p:bg>
    <p:spTree>
      <p:nvGrpSpPr>
        <p:cNvPr id="1" name=""/>
        <p:cNvGrpSpPr/>
        <p:nvPr/>
      </p:nvGrpSpPr>
      <p:grpSpPr>
        <a:xfrm>
          <a:off x="0" y="0"/>
          <a:ext cx="0" cy="0"/>
          <a:chOff x="0" y="0"/>
          <a:chExt cx="0" cy="0"/>
        </a:xfrm>
      </p:grpSpPr>
      <p:pic>
        <p:nvPicPr>
          <p:cNvPr id="2" name="Image 0" descr="experiments\20260820_005936\deck\aktionen_hub_and_spoke.png">    </p:cNvPr>
          <p:cNvPicPr>
            <a:picLocks noChangeAspect="1"/>
          </p:cNvPicPr>
          <p:nvPr/>
        </p:nvPicPr>
        <p:blipFill>
          <a:blip r:embed="rId1"/>
          <a:stretch>
            <a:fillRect/>
          </a:stretch>
        </p:blipFill>
        <p:spPr>
          <a:xfrm>
            <a:off x="164592" y="146304"/>
            <a:ext cx="11832336" cy="6565392"/>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1B1F26"/>
        </a:solidFill>
      </p:bgPr>
    </p:bg>
    <p:spTree>
      <p:nvGrpSpPr>
        <p:cNvPr id="1" name=""/>
        <p:cNvGrpSpPr/>
        <p:nvPr/>
      </p:nvGrpSpPr>
      <p:grpSpPr>
        <a:xfrm>
          <a:off x="0" y="0"/>
          <a:ext cx="0" cy="0"/>
          <a:chOff x="0" y="0"/>
          <a:chExt cx="0" cy="0"/>
        </a:xfrm>
      </p:grpSpPr>
      <p:pic>
        <p:nvPicPr>
          <p:cNvPr id="2" name="Image 0" descr="experiments\20260820_005936\deck\aktionen_dmz.png">    </p:cNvPr>
          <p:cNvPicPr>
            <a:picLocks noChangeAspect="1"/>
          </p:cNvPicPr>
          <p:nvPr/>
        </p:nvPicPr>
        <p:blipFill>
          <a:blip r:embed="rId1"/>
          <a:stretch>
            <a:fillRect/>
          </a:stretch>
        </p:blipFill>
        <p:spPr>
          <a:xfrm>
            <a:off x="164592" y="146304"/>
            <a:ext cx="11832336" cy="6565392"/>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1B1F26"/>
        </a:solidFill>
      </p:bgPr>
    </p:bg>
    <p:spTree>
      <p:nvGrpSpPr>
        <p:cNvPr id="1" name=""/>
        <p:cNvGrpSpPr/>
        <p:nvPr/>
      </p:nvGrpSpPr>
      <p:grpSpPr>
        <a:xfrm>
          <a:off x="0" y="0"/>
          <a:ext cx="0" cy="0"/>
          <a:chOff x="0" y="0"/>
          <a:chExt cx="0" cy="0"/>
        </a:xfrm>
      </p:grpSpPr>
      <p:pic>
        <p:nvPicPr>
          <p:cNvPr id="2" name="Image 0" descr="experiments\20260820_005936\deck\aktionen_micro_segmented.png">    </p:cNvPr>
          <p:cNvPicPr>
            <a:picLocks noChangeAspect="1"/>
          </p:cNvPicPr>
          <p:nvPr/>
        </p:nvPicPr>
        <p:blipFill>
          <a:blip r:embed="rId1"/>
          <a:stretch>
            <a:fillRect/>
          </a:stretch>
        </p:blipFill>
        <p:spPr>
          <a:xfrm>
            <a:off x="164592" y="146304"/>
            <a:ext cx="11832336" cy="6565392"/>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1B1F26"/>
        </a:solidFill>
      </p:bgPr>
    </p:bg>
    <p:spTree>
      <p:nvGrpSpPr>
        <p:cNvPr id="1" name=""/>
        <p:cNvGrpSpPr/>
        <p:nvPr/>
      </p:nvGrpSpPr>
      <p:grpSpPr>
        <a:xfrm>
          <a:off x="0" y="0"/>
          <a:ext cx="0" cy="0"/>
          <a:chOff x="0" y="0"/>
          <a:chExt cx="0" cy="0"/>
        </a:xfrm>
      </p:grpSpPr>
      <p:pic>
        <p:nvPicPr>
          <p:cNvPr id="2" name="Image 0" descr="experiments\20260820_005936\deck\sla_matrix.png">    </p:cNvPr>
          <p:cNvPicPr>
            <a:picLocks noChangeAspect="1"/>
          </p:cNvPicPr>
          <p:nvPr/>
        </p:nvPicPr>
        <p:blipFill>
          <a:blip r:embed="rId1"/>
          <a:stretch>
            <a:fillRect/>
          </a:stretch>
        </p:blipFill>
        <p:spPr>
          <a:xfrm>
            <a:off x="164592" y="146304"/>
            <a:ext cx="11832336" cy="6565392"/>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1B1F26"/>
        </a:solidFill>
      </p:bgPr>
    </p:bg>
    <p:spTree>
      <p:nvGrpSpPr>
        <p:cNvPr id="1" name=""/>
        <p:cNvGrpSpPr/>
        <p:nvPr/>
      </p:nvGrpSpPr>
      <p:grpSpPr>
        <a:xfrm>
          <a:off x="0" y="0"/>
          <a:ext cx="0" cy="0"/>
          <a:chOff x="0" y="0"/>
          <a:chExt cx="0" cy="0"/>
        </a:xfrm>
      </p:grpSpPr>
      <p:sp>
        <p:nvSpPr>
          <p:cNvPr id="2" name="Text 0"/>
          <p:cNvSpPr/>
          <p:nvPr/>
        </p:nvSpPr>
        <p:spPr>
          <a:xfrm>
            <a:off x="640080" y="777240"/>
            <a:ext cx="10881360" cy="685800"/>
          </a:xfrm>
          <a:prstGeom prst="rect">
            <a:avLst/>
          </a:prstGeom>
          <a:noFill/>
          <a:ln/>
        </p:spPr>
        <p:txBody>
          <a:bodyPr wrap="square" lIns="0" tIns="0" rIns="0" bIns="0" rtlCol="0" anchor="ctr"/>
          <a:lstStyle/>
          <a:p>
            <a:pPr indent="0" marL="0">
              <a:buNone/>
            </a:pPr>
            <a:r>
              <a:rPr lang="en-US" sz="3600" b="1" dirty="0">
                <a:solidFill>
                  <a:srgbClr val="FFFFFF"/>
                </a:solidFill>
                <a:latin typeface="Cambria" pitchFamily="34" charset="0"/>
                <a:ea typeface="Cambria" pitchFamily="34" charset="-122"/>
                <a:cs typeface="Cambria" pitchFamily="34" charset="-120"/>
              </a:rPr>
              <a:t>Ab hier: Evaluation</a:t>
            </a:r>
            <a:endParaRPr lang="en-US" sz="3600" dirty="0"/>
          </a:p>
        </p:txBody>
      </p:sp>
      <p:sp>
        <p:nvSpPr>
          <p:cNvPr id="3" name="Text 1"/>
          <p:cNvSpPr/>
          <p:nvPr/>
        </p:nvSpPr>
        <p:spPr>
          <a:xfrm>
            <a:off x="640080" y="1481328"/>
            <a:ext cx="10881360" cy="457200"/>
          </a:xfrm>
          <a:prstGeom prst="rect">
            <a:avLst/>
          </a:prstGeom>
          <a:noFill/>
          <a:ln/>
        </p:spPr>
        <p:txBody>
          <a:bodyPr wrap="square" lIns="0" tIns="0" rIns="0" bIns="0" rtlCol="0" anchor="ctr"/>
          <a:lstStyle/>
          <a:p>
            <a:pPr indent="0" marL="0">
              <a:buNone/>
            </a:pPr>
            <a:r>
              <a:rPr lang="en-US" sz="1500" dirty="0">
                <a:solidFill>
                  <a:srgbClr val="B8C0C9"/>
                </a:solidFill>
                <a:latin typeface="Calibri" pitchFamily="34" charset="0"/>
                <a:ea typeface="Calibri" pitchFamily="34" charset="-122"/>
                <a:cs typeface="Calibri" pitchFamily="34" charset="-120"/>
              </a:rPr>
              <a:t>Die bisherigen Folien zeigen, wie der Reward sich im Training entwickelt. Die folgenden zeigen, ob die fertig gelernte Politik etwas nützt.</a:t>
            </a:r>
            <a:endParaRPr lang="en-US" sz="1500" dirty="0"/>
          </a:p>
        </p:txBody>
      </p:sp>
      <p:sp>
        <p:nvSpPr>
          <p:cNvPr id="4" name="Shape 2"/>
          <p:cNvSpPr/>
          <p:nvPr/>
        </p:nvSpPr>
        <p:spPr>
          <a:xfrm>
            <a:off x="640080" y="2240280"/>
            <a:ext cx="3383280" cy="2377440"/>
          </a:xfrm>
          <a:prstGeom prst="roundRect">
            <a:avLst>
              <a:gd name="adj" fmla="val 3846"/>
            </a:avLst>
          </a:prstGeom>
          <a:solidFill>
            <a:srgbClr val="252A33"/>
          </a:solidFill>
          <a:ln w="12700">
            <a:solidFill>
              <a:srgbClr val="3A414C"/>
            </a:solidFill>
            <a:prstDash val="solid"/>
          </a:ln>
        </p:spPr>
      </p:sp>
      <p:sp>
        <p:nvSpPr>
          <p:cNvPr id="5" name="Text 3"/>
          <p:cNvSpPr/>
          <p:nvPr/>
        </p:nvSpPr>
        <p:spPr>
          <a:xfrm>
            <a:off x="914400" y="2468880"/>
            <a:ext cx="2834640" cy="411480"/>
          </a:xfrm>
          <a:prstGeom prst="rect">
            <a:avLst/>
          </a:prstGeom>
          <a:noFill/>
          <a:ln/>
        </p:spPr>
        <p:txBody>
          <a:bodyPr wrap="square" lIns="0" tIns="0" rIns="0" bIns="0" rtlCol="0" anchor="ctr"/>
          <a:lstStyle/>
          <a:p>
            <a:pPr indent="0" marL="0">
              <a:buNone/>
            </a:pPr>
            <a:r>
              <a:rPr lang="en-US" sz="1600" b="1" dirty="0">
                <a:solidFill>
                  <a:srgbClr val="D99A2B"/>
                </a:solidFill>
                <a:latin typeface="Cambria" pitchFamily="34" charset="0"/>
                <a:ea typeface="Cambria" pitchFamily="34" charset="-122"/>
                <a:cs typeface="Cambria" pitchFamily="34" charset="-120"/>
              </a:rPr>
              <a:t>Beide Agenten eingefroren</a:t>
            </a:r>
            <a:endParaRPr lang="en-US" sz="1600" dirty="0"/>
          </a:p>
        </p:txBody>
      </p:sp>
      <p:sp>
        <p:nvSpPr>
          <p:cNvPr id="6" name="Text 4"/>
          <p:cNvSpPr/>
          <p:nvPr/>
        </p:nvSpPr>
        <p:spPr>
          <a:xfrm>
            <a:off x="914400" y="2926080"/>
            <a:ext cx="2834640" cy="1508760"/>
          </a:xfrm>
          <a:prstGeom prst="rect">
            <a:avLst/>
          </a:prstGeom>
          <a:noFill/>
          <a:ln/>
        </p:spPr>
        <p:txBody>
          <a:bodyPr wrap="square" lIns="0" tIns="0" rIns="0" bIns="0" rtlCol="0" anchor="ctr"/>
          <a:lstStyle/>
          <a:p>
            <a:pPr indent="0" marL="0">
              <a:buNone/>
            </a:pPr>
            <a:r>
              <a:rPr lang="en-US" sz="1200" dirty="0">
                <a:solidFill>
                  <a:srgbClr val="B8C0C9"/>
                </a:solidFill>
                <a:latin typeface="Calibri" pitchFamily="34" charset="0"/>
                <a:ea typeface="Calibri" pitchFamily="34" charset="-122"/>
                <a:cs typeface="Calibri" pitchFamily="34" charset="-120"/>
              </a:rPr>
              <a:t>Es wird nichts mehr gelernt, nur noch gespielt. Gemessen wird die fertige Politik, nicht ihr Zustandekommen.</a:t>
            </a:r>
            <a:endParaRPr lang="en-US" sz="1200" dirty="0"/>
          </a:p>
        </p:txBody>
      </p:sp>
      <p:sp>
        <p:nvSpPr>
          <p:cNvPr id="7" name="Shape 5"/>
          <p:cNvSpPr/>
          <p:nvPr/>
        </p:nvSpPr>
        <p:spPr>
          <a:xfrm>
            <a:off x="4389120" y="2240280"/>
            <a:ext cx="3383280" cy="2377440"/>
          </a:xfrm>
          <a:prstGeom prst="roundRect">
            <a:avLst>
              <a:gd name="adj" fmla="val 3846"/>
            </a:avLst>
          </a:prstGeom>
          <a:solidFill>
            <a:srgbClr val="252A33"/>
          </a:solidFill>
          <a:ln w="12700">
            <a:solidFill>
              <a:srgbClr val="3A414C"/>
            </a:solidFill>
            <a:prstDash val="solid"/>
          </a:ln>
        </p:spPr>
      </p:sp>
      <p:sp>
        <p:nvSpPr>
          <p:cNvPr id="8" name="Text 6"/>
          <p:cNvSpPr/>
          <p:nvPr/>
        </p:nvSpPr>
        <p:spPr>
          <a:xfrm>
            <a:off x="4663440" y="2468880"/>
            <a:ext cx="2834640" cy="411480"/>
          </a:xfrm>
          <a:prstGeom prst="rect">
            <a:avLst/>
          </a:prstGeom>
          <a:noFill/>
          <a:ln/>
        </p:spPr>
        <p:txBody>
          <a:bodyPr wrap="square" lIns="0" tIns="0" rIns="0" bIns="0" rtlCol="0" anchor="ctr"/>
          <a:lstStyle/>
          <a:p>
            <a:pPr indent="0" marL="0">
              <a:buNone/>
            </a:pPr>
            <a:r>
              <a:rPr lang="en-US" sz="1600" b="1" dirty="0">
                <a:solidFill>
                  <a:srgbClr val="D99A2B"/>
                </a:solidFill>
                <a:latin typeface="Cambria" pitchFamily="34" charset="0"/>
                <a:ea typeface="Cambria" pitchFamily="34" charset="-122"/>
                <a:cs typeface="Cambria" pitchFamily="34" charset="-120"/>
              </a:rPr>
              <a:t>Drei Stufen je Lauf</a:t>
            </a:r>
            <a:endParaRPr lang="en-US" sz="1600" dirty="0"/>
          </a:p>
        </p:txBody>
      </p:sp>
      <p:sp>
        <p:nvSpPr>
          <p:cNvPr id="9" name="Text 7"/>
          <p:cNvSpPr/>
          <p:nvPr/>
        </p:nvSpPr>
        <p:spPr>
          <a:xfrm>
            <a:off x="4663440" y="2926080"/>
            <a:ext cx="2834640" cy="1508760"/>
          </a:xfrm>
          <a:prstGeom prst="rect">
            <a:avLst/>
          </a:prstGeom>
          <a:noFill/>
          <a:ln/>
        </p:spPr>
        <p:txBody>
          <a:bodyPr wrap="square" lIns="0" tIns="0" rIns="0" bIns="0" rtlCol="0" anchor="ctr"/>
          <a:lstStyle/>
          <a:p>
            <a:pPr indent="0" marL="0">
              <a:buNone/>
            </a:pPr>
            <a:r>
              <a:rPr lang="en-US" sz="1200" dirty="0">
                <a:solidFill>
                  <a:srgbClr val="B8C0C9"/>
                </a:solidFill>
                <a:latin typeface="Calibri" pitchFamily="34" charset="0"/>
                <a:ea typeface="Calibri" pitchFamily="34" charset="-122"/>
                <a:cs typeface="Calibri" pitchFamily="34" charset="-120"/>
              </a:rPr>
              <a:t>Kein Verteidiger als Obergrenze, ein Zufallsagent als Vergleich, das trainierte Modell. Der Angreifer ist in allen drei Stufen derselbe und stammt aus demselben Lauf-Ordner.</a:t>
            </a:r>
            <a:endParaRPr lang="en-US" sz="1200" dirty="0"/>
          </a:p>
        </p:txBody>
      </p:sp>
      <p:sp>
        <p:nvSpPr>
          <p:cNvPr id="10" name="Shape 8"/>
          <p:cNvSpPr/>
          <p:nvPr/>
        </p:nvSpPr>
        <p:spPr>
          <a:xfrm>
            <a:off x="8138160" y="2240280"/>
            <a:ext cx="3383280" cy="2377440"/>
          </a:xfrm>
          <a:prstGeom prst="roundRect">
            <a:avLst>
              <a:gd name="adj" fmla="val 3846"/>
            </a:avLst>
          </a:prstGeom>
          <a:solidFill>
            <a:srgbClr val="252A33"/>
          </a:solidFill>
          <a:ln w="12700">
            <a:solidFill>
              <a:srgbClr val="3A414C"/>
            </a:solidFill>
            <a:prstDash val="solid"/>
          </a:ln>
        </p:spPr>
      </p:sp>
      <p:sp>
        <p:nvSpPr>
          <p:cNvPr id="11" name="Text 9"/>
          <p:cNvSpPr/>
          <p:nvPr/>
        </p:nvSpPr>
        <p:spPr>
          <a:xfrm>
            <a:off x="8412480" y="2468880"/>
            <a:ext cx="2834640" cy="411480"/>
          </a:xfrm>
          <a:prstGeom prst="rect">
            <a:avLst/>
          </a:prstGeom>
          <a:noFill/>
          <a:ln/>
        </p:spPr>
        <p:txBody>
          <a:bodyPr wrap="square" lIns="0" tIns="0" rIns="0" bIns="0" rtlCol="0" anchor="ctr"/>
          <a:lstStyle/>
          <a:p>
            <a:pPr indent="0" marL="0">
              <a:buNone/>
            </a:pPr>
            <a:r>
              <a:rPr lang="en-US" sz="1600" b="1" dirty="0">
                <a:solidFill>
                  <a:srgbClr val="D99A2B"/>
                </a:solidFill>
                <a:latin typeface="Cambria" pitchFamily="34" charset="0"/>
                <a:ea typeface="Cambria" pitchFamily="34" charset="-122"/>
                <a:cs typeface="Cambria" pitchFamily="34" charset="-120"/>
              </a:rPr>
              <a:t>Umfang</a:t>
            </a:r>
            <a:endParaRPr lang="en-US" sz="1600" dirty="0"/>
          </a:p>
        </p:txBody>
      </p:sp>
      <p:sp>
        <p:nvSpPr>
          <p:cNvPr id="12" name="Text 10"/>
          <p:cNvSpPr/>
          <p:nvPr/>
        </p:nvSpPr>
        <p:spPr>
          <a:xfrm>
            <a:off x="8412480" y="2926080"/>
            <a:ext cx="2834640" cy="1508760"/>
          </a:xfrm>
          <a:prstGeom prst="rect">
            <a:avLst/>
          </a:prstGeom>
          <a:noFill/>
          <a:ln/>
        </p:spPr>
        <p:txBody>
          <a:bodyPr wrap="square" lIns="0" tIns="0" rIns="0" bIns="0" rtlCol="0" anchor="ctr"/>
          <a:lstStyle/>
          <a:p>
            <a:pPr indent="0" marL="0">
              <a:buNone/>
            </a:pPr>
            <a:r>
              <a:rPr lang="en-US" sz="1200" dirty="0">
                <a:solidFill>
                  <a:srgbClr val="B8C0C9"/>
                </a:solidFill>
                <a:latin typeface="Calibri" pitchFamily="34" charset="0"/>
                <a:ea typeface="Calibri" pitchFamily="34" charset="-122"/>
                <a:cs typeface="Calibri" pitchFamily="34" charset="-120"/>
              </a:rPr>
              <a:t>4 Topologien × 6 Angreifer × 5 Seeds × 3 Stufen = 360 Zellen, je 25 Episoden mit höchstens 2000 Schritten. Insgesamt 9000 Episoden, auf zwei Maschinen parallel gerechnet.</a:t>
            </a:r>
            <a:endParaRPr lang="en-US" sz="1200" dirty="0"/>
          </a:p>
        </p:txBody>
      </p:sp>
      <p:sp>
        <p:nvSpPr>
          <p:cNvPr id="13" name="Text 11"/>
          <p:cNvSpPr/>
          <p:nvPr/>
        </p:nvSpPr>
        <p:spPr>
          <a:xfrm>
            <a:off x="640080" y="4846320"/>
            <a:ext cx="10881360" cy="548640"/>
          </a:xfrm>
          <a:prstGeom prst="rect">
            <a:avLst/>
          </a:prstGeom>
          <a:noFill/>
          <a:ln/>
        </p:spPr>
        <p:txBody>
          <a:bodyPr wrap="square" lIns="0" tIns="0" rIns="0" bIns="0" rtlCol="0" anchor="ctr"/>
          <a:lstStyle/>
          <a:p>
            <a:pPr indent="0" marL="0">
              <a:buNone/>
            </a:pPr>
            <a:r>
              <a:rPr lang="en-US" sz="1300" i="1" dirty="0">
                <a:solidFill>
                  <a:srgbClr val="8B94A0"/>
                </a:solidFill>
                <a:latin typeface="Calibri" pitchFamily="34" charset="0"/>
                <a:ea typeface="Calibri" pitchFamily="34" charset="-122"/>
                <a:cs typeface="Calibri" pitchFamily="34" charset="-120"/>
              </a:rPr>
              <a:t>Warum das nötig ist: Ein gutes Reward-Niveau am Ende des Trainings sagt nicht automatisch, dass die Politik den Angreifer auch wirksam bremst. Dafür muss man beide Seiten einfrieren und einfach nur noch gegeneinander spielen lassen.</a:t>
            </a:r>
            <a:endParaRPr lang="en-US" sz="13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640080" y="384048"/>
            <a:ext cx="10881360" cy="566928"/>
          </a:xfrm>
          <a:prstGeom prst="rect">
            <a:avLst/>
          </a:prstGeom>
          <a:noFill/>
          <a:ln/>
        </p:spPr>
        <p:txBody>
          <a:bodyPr wrap="square" lIns="0" tIns="0" rIns="0" bIns="0" rtlCol="0" anchor="ctr"/>
          <a:lstStyle/>
          <a:p>
            <a:pPr indent="0" marL="0">
              <a:buNone/>
            </a:pPr>
            <a:r>
              <a:rPr lang="en-US" sz="3400" b="1" dirty="0">
                <a:solidFill>
                  <a:srgbClr val="23282F"/>
                </a:solidFill>
                <a:latin typeface="Cambria" pitchFamily="34" charset="0"/>
                <a:ea typeface="Cambria" pitchFamily="34" charset="-122"/>
                <a:cs typeface="Cambria" pitchFamily="34" charset="-120"/>
              </a:rPr>
              <a:t>Bringt der Verteidiger etwas? Angreifer-Reward</a:t>
            </a:r>
            <a:endParaRPr lang="en-US" sz="3400" dirty="0"/>
          </a:p>
        </p:txBody>
      </p:sp>
      <p:sp>
        <p:nvSpPr>
          <p:cNvPr id="3" name="Text 1"/>
          <p:cNvSpPr/>
          <p:nvPr/>
        </p:nvSpPr>
        <p:spPr>
          <a:xfrm>
            <a:off x="640080" y="969264"/>
            <a:ext cx="10881360" cy="493776"/>
          </a:xfrm>
          <a:prstGeom prst="rect">
            <a:avLst/>
          </a:prstGeom>
          <a:noFill/>
          <a:ln/>
        </p:spPr>
        <p:txBody>
          <a:bodyPr wrap="square" lIns="0" tIns="0" rIns="0" bIns="0" rtlCol="0" anchor="ctr"/>
          <a:lstStyle/>
          <a:p>
            <a:pPr indent="0" marL="0">
              <a:buNone/>
            </a:pPr>
            <a:r>
              <a:rPr lang="en-US" sz="1400" dirty="0">
                <a:solidFill>
                  <a:srgbClr val="6E7681"/>
                </a:solidFill>
                <a:latin typeface="Calibri" pitchFamily="34" charset="0"/>
                <a:ea typeface="Calibri" pitchFamily="34" charset="-122"/>
                <a:cs typeface="Calibri" pitchFamily="34" charset="-120"/>
              </a:rPr>
              <a:t>Restanteil je Matchup: welchen Anteil seines Rewards der Angreifer gegen den Verteidiger noch erreicht, gemessen am ungeschützten Netz</a:t>
            </a:r>
            <a:endParaRPr lang="en-US" sz="1400" dirty="0"/>
          </a:p>
        </p:txBody>
      </p:sp>
      <p:sp>
        <p:nvSpPr>
          <p:cNvPr id="4" name="Text 2"/>
          <p:cNvSpPr/>
          <p:nvPr/>
        </p:nvSpPr>
        <p:spPr>
          <a:xfrm>
            <a:off x="2240280" y="1399032"/>
            <a:ext cx="1371600" cy="329184"/>
          </a:xfrm>
          <a:prstGeom prst="rect">
            <a:avLst/>
          </a:prstGeom>
          <a:noFill/>
          <a:ln/>
        </p:spPr>
        <p:txBody>
          <a:bodyPr wrap="square" lIns="0" tIns="0" rIns="0" bIns="0" rtlCol="0" anchor="ctr"/>
          <a:lstStyle/>
          <a:p>
            <a:pPr algn="ctr" indent="0" marL="0">
              <a:buNone/>
            </a:pPr>
            <a:r>
              <a:rPr lang="en-US" sz="1200" b="1" dirty="0">
                <a:solidFill>
                  <a:srgbClr val="6E7681"/>
                </a:solidFill>
                <a:latin typeface="Calibri" pitchFamily="34" charset="0"/>
                <a:ea typeface="Calibri" pitchFamily="34" charset="-122"/>
                <a:cs typeface="Calibri" pitchFamily="34" charset="-120"/>
              </a:rPr>
              <a:t>Chain</a:t>
            </a:r>
            <a:endParaRPr lang="en-US" sz="1200" dirty="0"/>
          </a:p>
        </p:txBody>
      </p:sp>
      <p:sp>
        <p:nvSpPr>
          <p:cNvPr id="5" name="Text 3"/>
          <p:cNvSpPr/>
          <p:nvPr/>
        </p:nvSpPr>
        <p:spPr>
          <a:xfrm>
            <a:off x="3611880" y="1399032"/>
            <a:ext cx="1371600" cy="329184"/>
          </a:xfrm>
          <a:prstGeom prst="rect">
            <a:avLst/>
          </a:prstGeom>
          <a:noFill/>
          <a:ln/>
        </p:spPr>
        <p:txBody>
          <a:bodyPr wrap="square" lIns="0" tIns="0" rIns="0" bIns="0" rtlCol="0" anchor="ctr"/>
          <a:lstStyle/>
          <a:p>
            <a:pPr algn="ctr" indent="0" marL="0">
              <a:buNone/>
            </a:pPr>
            <a:r>
              <a:rPr lang="en-US" sz="1200" b="1" dirty="0">
                <a:solidFill>
                  <a:srgbClr val="6E7681"/>
                </a:solidFill>
                <a:latin typeface="Calibri" pitchFamily="34" charset="0"/>
                <a:ea typeface="Calibri" pitchFamily="34" charset="-122"/>
                <a:cs typeface="Calibri" pitchFamily="34" charset="-120"/>
              </a:rPr>
              <a:t>Flat</a:t>
            </a:r>
            <a:endParaRPr lang="en-US" sz="1200" dirty="0"/>
          </a:p>
        </p:txBody>
      </p:sp>
      <p:sp>
        <p:nvSpPr>
          <p:cNvPr id="6" name="Text 4"/>
          <p:cNvSpPr/>
          <p:nvPr/>
        </p:nvSpPr>
        <p:spPr>
          <a:xfrm>
            <a:off x="4983480" y="1399032"/>
            <a:ext cx="1371600" cy="329184"/>
          </a:xfrm>
          <a:prstGeom prst="rect">
            <a:avLst/>
          </a:prstGeom>
          <a:noFill/>
          <a:ln/>
        </p:spPr>
        <p:txBody>
          <a:bodyPr wrap="square" lIns="0" tIns="0" rIns="0" bIns="0" rtlCol="0" anchor="ctr"/>
          <a:lstStyle/>
          <a:p>
            <a:pPr algn="ctr" indent="0" marL="0">
              <a:buNone/>
            </a:pPr>
            <a:r>
              <a:rPr lang="en-US" sz="1200" b="1" dirty="0">
                <a:solidFill>
                  <a:srgbClr val="6E7681"/>
                </a:solidFill>
                <a:latin typeface="Calibri" pitchFamily="34" charset="0"/>
                <a:ea typeface="Calibri" pitchFamily="34" charset="-122"/>
                <a:cs typeface="Calibri" pitchFamily="34" charset="-120"/>
              </a:rPr>
              <a:t>Hub &amp; Spoke</a:t>
            </a:r>
            <a:endParaRPr lang="en-US" sz="1200" dirty="0"/>
          </a:p>
        </p:txBody>
      </p:sp>
      <p:sp>
        <p:nvSpPr>
          <p:cNvPr id="7" name="Text 5"/>
          <p:cNvSpPr/>
          <p:nvPr/>
        </p:nvSpPr>
        <p:spPr>
          <a:xfrm>
            <a:off x="6355080" y="1399032"/>
            <a:ext cx="1371600" cy="329184"/>
          </a:xfrm>
          <a:prstGeom prst="rect">
            <a:avLst/>
          </a:prstGeom>
          <a:noFill/>
          <a:ln/>
        </p:spPr>
        <p:txBody>
          <a:bodyPr wrap="square" lIns="0" tIns="0" rIns="0" bIns="0" rtlCol="0" anchor="ctr"/>
          <a:lstStyle/>
          <a:p>
            <a:pPr algn="ctr" indent="0" marL="0">
              <a:buNone/>
            </a:pPr>
            <a:r>
              <a:rPr lang="en-US" sz="1200" b="1" dirty="0">
                <a:solidFill>
                  <a:srgbClr val="6E7681"/>
                </a:solidFill>
                <a:latin typeface="Calibri" pitchFamily="34" charset="0"/>
                <a:ea typeface="Calibri" pitchFamily="34" charset="-122"/>
                <a:cs typeface="Calibri" pitchFamily="34" charset="-120"/>
              </a:rPr>
              <a:t>DMZ</a:t>
            </a:r>
            <a:endParaRPr lang="en-US" sz="1200" dirty="0"/>
          </a:p>
        </p:txBody>
      </p:sp>
      <p:sp>
        <p:nvSpPr>
          <p:cNvPr id="8" name="Text 6"/>
          <p:cNvSpPr/>
          <p:nvPr/>
        </p:nvSpPr>
        <p:spPr>
          <a:xfrm>
            <a:off x="7726680" y="1399032"/>
            <a:ext cx="1371600" cy="329184"/>
          </a:xfrm>
          <a:prstGeom prst="rect">
            <a:avLst/>
          </a:prstGeom>
          <a:noFill/>
          <a:ln/>
        </p:spPr>
        <p:txBody>
          <a:bodyPr wrap="square" lIns="0" tIns="0" rIns="0" bIns="0" rtlCol="0" anchor="ctr"/>
          <a:lstStyle/>
          <a:p>
            <a:pPr algn="ctr" indent="0" marL="0">
              <a:buNone/>
            </a:pPr>
            <a:r>
              <a:rPr lang="en-US" sz="1200" b="1" dirty="0">
                <a:solidFill>
                  <a:srgbClr val="6E7681"/>
                </a:solidFill>
                <a:latin typeface="Calibri" pitchFamily="34" charset="0"/>
                <a:ea typeface="Calibri" pitchFamily="34" charset="-122"/>
                <a:cs typeface="Calibri" pitchFamily="34" charset="-120"/>
              </a:rPr>
              <a:t>Micro-Seg.</a:t>
            </a:r>
            <a:endParaRPr lang="en-US" sz="1200" dirty="0"/>
          </a:p>
        </p:txBody>
      </p:sp>
      <p:sp>
        <p:nvSpPr>
          <p:cNvPr id="9" name="Text 7"/>
          <p:cNvSpPr/>
          <p:nvPr/>
        </p:nvSpPr>
        <p:spPr>
          <a:xfrm>
            <a:off x="9098280" y="1399032"/>
            <a:ext cx="1371600" cy="329184"/>
          </a:xfrm>
          <a:prstGeom prst="rect">
            <a:avLst/>
          </a:prstGeom>
          <a:noFill/>
          <a:ln/>
        </p:spPr>
        <p:txBody>
          <a:bodyPr wrap="square" lIns="0" tIns="0" rIns="0" bIns="0" rtlCol="0" anchor="ctr"/>
          <a:lstStyle/>
          <a:p>
            <a:pPr algn="ctr" indent="0" marL="0">
              <a:buNone/>
            </a:pPr>
            <a:r>
              <a:rPr lang="en-US" sz="1200" b="1" dirty="0">
                <a:solidFill>
                  <a:srgbClr val="6E7681"/>
                </a:solidFill>
                <a:latin typeface="Calibri" pitchFamily="34" charset="0"/>
                <a:ea typeface="Calibri" pitchFamily="34" charset="-122"/>
                <a:cs typeface="Calibri" pitchFamily="34" charset="-120"/>
              </a:rPr>
              <a:t>Super</a:t>
            </a:r>
            <a:endParaRPr lang="en-US" sz="1200" dirty="0"/>
          </a:p>
        </p:txBody>
      </p:sp>
      <p:sp>
        <p:nvSpPr>
          <p:cNvPr id="10" name="Text 8"/>
          <p:cNvSpPr/>
          <p:nvPr/>
        </p:nvSpPr>
        <p:spPr>
          <a:xfrm>
            <a:off x="640080" y="1783080"/>
            <a:ext cx="1508760" cy="658368"/>
          </a:xfrm>
          <a:prstGeom prst="rect">
            <a:avLst/>
          </a:prstGeom>
          <a:noFill/>
          <a:ln/>
        </p:spPr>
        <p:txBody>
          <a:bodyPr wrap="square" lIns="0" tIns="0" rIns="0" bIns="0" rtlCol="0" anchor="ctr"/>
          <a:lstStyle/>
          <a:p>
            <a:pPr algn="r" indent="0" marL="0">
              <a:buNone/>
            </a:pPr>
            <a:r>
              <a:rPr lang="en-US" sz="1300" b="1" dirty="0">
                <a:solidFill>
                  <a:srgbClr val="23282F"/>
                </a:solidFill>
                <a:latin typeface="Calibri" pitchFamily="34" charset="0"/>
                <a:ea typeface="Calibri" pitchFamily="34" charset="-122"/>
                <a:cs typeface="Calibri" pitchFamily="34" charset="-120"/>
              </a:rPr>
              <a:t>Flat</a:t>
            </a:r>
            <a:endParaRPr lang="en-US" sz="1300" dirty="0"/>
          </a:p>
        </p:txBody>
      </p:sp>
      <p:sp>
        <p:nvSpPr>
          <p:cNvPr id="11" name="Shape 9"/>
          <p:cNvSpPr/>
          <p:nvPr/>
        </p:nvSpPr>
        <p:spPr>
          <a:xfrm>
            <a:off x="2240280" y="1783080"/>
            <a:ext cx="1316736" cy="603504"/>
          </a:xfrm>
          <a:prstGeom prst="rect">
            <a:avLst/>
          </a:prstGeom>
          <a:solidFill>
            <a:srgbClr val="DDEAF1"/>
          </a:solidFill>
          <a:ln w="19050">
            <a:solidFill>
              <a:srgbClr val="FFFFFF"/>
            </a:solidFill>
            <a:prstDash val="solid"/>
          </a:ln>
        </p:spPr>
      </p:sp>
      <p:sp>
        <p:nvSpPr>
          <p:cNvPr id="12" name="Text 10"/>
          <p:cNvSpPr/>
          <p:nvPr/>
        </p:nvSpPr>
        <p:spPr>
          <a:xfrm>
            <a:off x="2240280" y="1837944"/>
            <a:ext cx="1316736" cy="310896"/>
          </a:xfrm>
          <a:prstGeom prst="rect">
            <a:avLst/>
          </a:prstGeom>
          <a:noFill/>
          <a:ln/>
        </p:spPr>
        <p:txBody>
          <a:bodyPr wrap="square" lIns="0" tIns="0" rIns="0" bIns="0" rtlCol="0" anchor="ctr"/>
          <a:lstStyle/>
          <a:p>
            <a:pPr algn="ctr" indent="0" marL="0">
              <a:buNone/>
            </a:pPr>
            <a:r>
              <a:rPr lang="en-US" sz="1500" b="1" dirty="0">
                <a:solidFill>
                  <a:srgbClr val="23282F"/>
                </a:solidFill>
                <a:latin typeface="Calibri" pitchFamily="34" charset="0"/>
                <a:ea typeface="Calibri" pitchFamily="34" charset="-122"/>
                <a:cs typeface="Calibri" pitchFamily="34" charset="-120"/>
              </a:rPr>
              <a:t>8.8 %</a:t>
            </a:r>
            <a:endParaRPr lang="en-US" sz="1500" dirty="0"/>
          </a:p>
        </p:txBody>
      </p:sp>
      <p:sp>
        <p:nvSpPr>
          <p:cNvPr id="13" name="Text 11"/>
          <p:cNvSpPr/>
          <p:nvPr/>
        </p:nvSpPr>
        <p:spPr>
          <a:xfrm>
            <a:off x="2240280" y="2130552"/>
            <a:ext cx="1316736" cy="237744"/>
          </a:xfrm>
          <a:prstGeom prst="rect">
            <a:avLst/>
          </a:prstGeom>
          <a:noFill/>
          <a:ln/>
        </p:spPr>
        <p:txBody>
          <a:bodyPr wrap="square" lIns="0" tIns="0" rIns="0" bIns="0" rtlCol="0" anchor="ctr"/>
          <a:lstStyle/>
          <a:p>
            <a:pPr algn="ctr" indent="0" marL="0">
              <a:buNone/>
            </a:pPr>
            <a:r>
              <a:rPr lang="en-US" sz="1000" dirty="0">
                <a:solidFill>
                  <a:srgbClr val="6E7681"/>
                </a:solidFill>
                <a:latin typeface="Calibri" pitchFamily="34" charset="0"/>
                <a:ea typeface="Calibri" pitchFamily="34" charset="-122"/>
                <a:cs typeface="Calibri" pitchFamily="34" charset="-120"/>
              </a:rPr>
              <a:t>Zufall 14 %</a:t>
            </a:r>
            <a:endParaRPr lang="en-US" sz="1000" dirty="0"/>
          </a:p>
        </p:txBody>
      </p:sp>
      <p:sp>
        <p:nvSpPr>
          <p:cNvPr id="14" name="Shape 12"/>
          <p:cNvSpPr/>
          <p:nvPr/>
        </p:nvSpPr>
        <p:spPr>
          <a:xfrm>
            <a:off x="3611880" y="1783080"/>
            <a:ext cx="1316736" cy="603504"/>
          </a:xfrm>
          <a:prstGeom prst="rect">
            <a:avLst/>
          </a:prstGeom>
          <a:solidFill>
            <a:srgbClr val="EDF2F5"/>
          </a:solidFill>
          <a:ln w="19050">
            <a:solidFill>
              <a:srgbClr val="FFFFFF"/>
            </a:solidFill>
            <a:prstDash val="solid"/>
          </a:ln>
        </p:spPr>
      </p:sp>
      <p:sp>
        <p:nvSpPr>
          <p:cNvPr id="15" name="Text 13"/>
          <p:cNvSpPr/>
          <p:nvPr/>
        </p:nvSpPr>
        <p:spPr>
          <a:xfrm>
            <a:off x="3611880" y="1837944"/>
            <a:ext cx="1316736" cy="310896"/>
          </a:xfrm>
          <a:prstGeom prst="rect">
            <a:avLst/>
          </a:prstGeom>
          <a:noFill/>
          <a:ln/>
        </p:spPr>
        <p:txBody>
          <a:bodyPr wrap="square" lIns="0" tIns="0" rIns="0" bIns="0" rtlCol="0" anchor="ctr"/>
          <a:lstStyle/>
          <a:p>
            <a:pPr algn="ctr" indent="0" marL="0">
              <a:buNone/>
            </a:pPr>
            <a:r>
              <a:rPr lang="en-US" sz="1500" b="1" dirty="0">
                <a:solidFill>
                  <a:srgbClr val="23282F"/>
                </a:solidFill>
                <a:latin typeface="Calibri" pitchFamily="34" charset="0"/>
                <a:ea typeface="Calibri" pitchFamily="34" charset="-122"/>
                <a:cs typeface="Calibri" pitchFamily="34" charset="-120"/>
              </a:rPr>
              <a:t>12.1 %</a:t>
            </a:r>
            <a:endParaRPr lang="en-US" sz="1500" dirty="0"/>
          </a:p>
        </p:txBody>
      </p:sp>
      <p:sp>
        <p:nvSpPr>
          <p:cNvPr id="16" name="Text 14"/>
          <p:cNvSpPr/>
          <p:nvPr/>
        </p:nvSpPr>
        <p:spPr>
          <a:xfrm>
            <a:off x="3611880" y="2130552"/>
            <a:ext cx="1316736" cy="237744"/>
          </a:xfrm>
          <a:prstGeom prst="rect">
            <a:avLst/>
          </a:prstGeom>
          <a:noFill/>
          <a:ln/>
        </p:spPr>
        <p:txBody>
          <a:bodyPr wrap="square" lIns="0" tIns="0" rIns="0" bIns="0" rtlCol="0" anchor="ctr"/>
          <a:lstStyle/>
          <a:p>
            <a:pPr algn="ctr" indent="0" marL="0">
              <a:buNone/>
            </a:pPr>
            <a:r>
              <a:rPr lang="en-US" sz="1000" dirty="0">
                <a:solidFill>
                  <a:srgbClr val="6E7681"/>
                </a:solidFill>
                <a:latin typeface="Calibri" pitchFamily="34" charset="0"/>
                <a:ea typeface="Calibri" pitchFamily="34" charset="-122"/>
                <a:cs typeface="Calibri" pitchFamily="34" charset="-120"/>
              </a:rPr>
              <a:t>Zufall 19 %</a:t>
            </a:r>
            <a:endParaRPr lang="en-US" sz="1000" dirty="0"/>
          </a:p>
        </p:txBody>
      </p:sp>
      <p:sp>
        <p:nvSpPr>
          <p:cNvPr id="17" name="Shape 15"/>
          <p:cNvSpPr/>
          <p:nvPr/>
        </p:nvSpPr>
        <p:spPr>
          <a:xfrm>
            <a:off x="4983480" y="1783080"/>
            <a:ext cx="1316736" cy="603504"/>
          </a:xfrm>
          <a:prstGeom prst="rect">
            <a:avLst/>
          </a:prstGeom>
          <a:solidFill>
            <a:srgbClr val="DDEAF1"/>
          </a:solidFill>
          <a:ln w="19050">
            <a:solidFill>
              <a:srgbClr val="FFFFFF"/>
            </a:solidFill>
            <a:prstDash val="solid"/>
          </a:ln>
        </p:spPr>
      </p:sp>
      <p:sp>
        <p:nvSpPr>
          <p:cNvPr id="18" name="Text 16"/>
          <p:cNvSpPr/>
          <p:nvPr/>
        </p:nvSpPr>
        <p:spPr>
          <a:xfrm>
            <a:off x="4983480" y="1837944"/>
            <a:ext cx="1316736" cy="310896"/>
          </a:xfrm>
          <a:prstGeom prst="rect">
            <a:avLst/>
          </a:prstGeom>
          <a:noFill/>
          <a:ln/>
        </p:spPr>
        <p:txBody>
          <a:bodyPr wrap="square" lIns="0" tIns="0" rIns="0" bIns="0" rtlCol="0" anchor="ctr"/>
          <a:lstStyle/>
          <a:p>
            <a:pPr algn="ctr" indent="0" marL="0">
              <a:buNone/>
            </a:pPr>
            <a:r>
              <a:rPr lang="en-US" sz="1500" b="1" dirty="0">
                <a:solidFill>
                  <a:srgbClr val="23282F"/>
                </a:solidFill>
                <a:latin typeface="Calibri" pitchFamily="34" charset="0"/>
                <a:ea typeface="Calibri" pitchFamily="34" charset="-122"/>
                <a:cs typeface="Calibri" pitchFamily="34" charset="-120"/>
              </a:rPr>
              <a:t>9.0 %</a:t>
            </a:r>
            <a:endParaRPr lang="en-US" sz="1500" dirty="0"/>
          </a:p>
        </p:txBody>
      </p:sp>
      <p:sp>
        <p:nvSpPr>
          <p:cNvPr id="19" name="Text 17"/>
          <p:cNvSpPr/>
          <p:nvPr/>
        </p:nvSpPr>
        <p:spPr>
          <a:xfrm>
            <a:off x="4983480" y="2130552"/>
            <a:ext cx="1316736" cy="237744"/>
          </a:xfrm>
          <a:prstGeom prst="rect">
            <a:avLst/>
          </a:prstGeom>
          <a:noFill/>
          <a:ln/>
        </p:spPr>
        <p:txBody>
          <a:bodyPr wrap="square" lIns="0" tIns="0" rIns="0" bIns="0" rtlCol="0" anchor="ctr"/>
          <a:lstStyle/>
          <a:p>
            <a:pPr algn="ctr" indent="0" marL="0">
              <a:buNone/>
            </a:pPr>
            <a:r>
              <a:rPr lang="en-US" sz="1000" dirty="0">
                <a:solidFill>
                  <a:srgbClr val="6E7681"/>
                </a:solidFill>
                <a:latin typeface="Calibri" pitchFamily="34" charset="0"/>
                <a:ea typeface="Calibri" pitchFamily="34" charset="-122"/>
                <a:cs typeface="Calibri" pitchFamily="34" charset="-120"/>
              </a:rPr>
              <a:t>Zufall 16 %</a:t>
            </a:r>
            <a:endParaRPr lang="en-US" sz="1000" dirty="0"/>
          </a:p>
        </p:txBody>
      </p:sp>
      <p:sp>
        <p:nvSpPr>
          <p:cNvPr id="20" name="Shape 18"/>
          <p:cNvSpPr/>
          <p:nvPr/>
        </p:nvSpPr>
        <p:spPr>
          <a:xfrm>
            <a:off x="6355080" y="1783080"/>
            <a:ext cx="1316736" cy="603504"/>
          </a:xfrm>
          <a:prstGeom prst="rect">
            <a:avLst/>
          </a:prstGeom>
          <a:solidFill>
            <a:srgbClr val="DDEAF1"/>
          </a:solidFill>
          <a:ln w="19050">
            <a:solidFill>
              <a:srgbClr val="FFFFFF"/>
            </a:solidFill>
            <a:prstDash val="solid"/>
          </a:ln>
        </p:spPr>
      </p:sp>
      <p:sp>
        <p:nvSpPr>
          <p:cNvPr id="21" name="Text 19"/>
          <p:cNvSpPr/>
          <p:nvPr/>
        </p:nvSpPr>
        <p:spPr>
          <a:xfrm>
            <a:off x="6355080" y="1837944"/>
            <a:ext cx="1316736" cy="310896"/>
          </a:xfrm>
          <a:prstGeom prst="rect">
            <a:avLst/>
          </a:prstGeom>
          <a:noFill/>
          <a:ln/>
        </p:spPr>
        <p:txBody>
          <a:bodyPr wrap="square" lIns="0" tIns="0" rIns="0" bIns="0" rtlCol="0" anchor="ctr"/>
          <a:lstStyle/>
          <a:p>
            <a:pPr algn="ctr" indent="0" marL="0">
              <a:buNone/>
            </a:pPr>
            <a:r>
              <a:rPr lang="en-US" sz="1500" b="1" dirty="0">
                <a:solidFill>
                  <a:srgbClr val="23282F"/>
                </a:solidFill>
                <a:latin typeface="Calibri" pitchFamily="34" charset="0"/>
                <a:ea typeface="Calibri" pitchFamily="34" charset="-122"/>
                <a:cs typeface="Calibri" pitchFamily="34" charset="-120"/>
              </a:rPr>
              <a:t>7.6 %</a:t>
            </a:r>
            <a:endParaRPr lang="en-US" sz="1500" dirty="0"/>
          </a:p>
        </p:txBody>
      </p:sp>
      <p:sp>
        <p:nvSpPr>
          <p:cNvPr id="22" name="Text 20"/>
          <p:cNvSpPr/>
          <p:nvPr/>
        </p:nvSpPr>
        <p:spPr>
          <a:xfrm>
            <a:off x="6355080" y="2130552"/>
            <a:ext cx="1316736" cy="237744"/>
          </a:xfrm>
          <a:prstGeom prst="rect">
            <a:avLst/>
          </a:prstGeom>
          <a:noFill/>
          <a:ln/>
        </p:spPr>
        <p:txBody>
          <a:bodyPr wrap="square" lIns="0" tIns="0" rIns="0" bIns="0" rtlCol="0" anchor="ctr"/>
          <a:lstStyle/>
          <a:p>
            <a:pPr algn="ctr" indent="0" marL="0">
              <a:buNone/>
            </a:pPr>
            <a:r>
              <a:rPr lang="en-US" sz="1000" dirty="0">
                <a:solidFill>
                  <a:srgbClr val="6E7681"/>
                </a:solidFill>
                <a:latin typeface="Calibri" pitchFamily="34" charset="0"/>
                <a:ea typeface="Calibri" pitchFamily="34" charset="-122"/>
                <a:cs typeface="Calibri" pitchFamily="34" charset="-120"/>
              </a:rPr>
              <a:t>Zufall 12 %</a:t>
            </a:r>
            <a:endParaRPr lang="en-US" sz="1000" dirty="0"/>
          </a:p>
        </p:txBody>
      </p:sp>
      <p:sp>
        <p:nvSpPr>
          <p:cNvPr id="23" name="Shape 21"/>
          <p:cNvSpPr/>
          <p:nvPr/>
        </p:nvSpPr>
        <p:spPr>
          <a:xfrm>
            <a:off x="7726680" y="1783080"/>
            <a:ext cx="1316736" cy="603504"/>
          </a:xfrm>
          <a:prstGeom prst="rect">
            <a:avLst/>
          </a:prstGeom>
          <a:solidFill>
            <a:srgbClr val="DDEAF1"/>
          </a:solidFill>
          <a:ln w="19050">
            <a:solidFill>
              <a:srgbClr val="FFFFFF"/>
            </a:solidFill>
            <a:prstDash val="solid"/>
          </a:ln>
        </p:spPr>
      </p:sp>
      <p:sp>
        <p:nvSpPr>
          <p:cNvPr id="24" name="Text 22"/>
          <p:cNvSpPr/>
          <p:nvPr/>
        </p:nvSpPr>
        <p:spPr>
          <a:xfrm>
            <a:off x="7726680" y="1837944"/>
            <a:ext cx="1316736" cy="310896"/>
          </a:xfrm>
          <a:prstGeom prst="rect">
            <a:avLst/>
          </a:prstGeom>
          <a:noFill/>
          <a:ln/>
        </p:spPr>
        <p:txBody>
          <a:bodyPr wrap="square" lIns="0" tIns="0" rIns="0" bIns="0" rtlCol="0" anchor="ctr"/>
          <a:lstStyle/>
          <a:p>
            <a:pPr algn="ctr" indent="0" marL="0">
              <a:buNone/>
            </a:pPr>
            <a:r>
              <a:rPr lang="en-US" sz="1500" b="1" dirty="0">
                <a:solidFill>
                  <a:srgbClr val="23282F"/>
                </a:solidFill>
                <a:latin typeface="Calibri" pitchFamily="34" charset="0"/>
                <a:ea typeface="Calibri" pitchFamily="34" charset="-122"/>
                <a:cs typeface="Calibri" pitchFamily="34" charset="-120"/>
              </a:rPr>
              <a:t>8.7 %</a:t>
            </a:r>
            <a:endParaRPr lang="en-US" sz="1500" dirty="0"/>
          </a:p>
        </p:txBody>
      </p:sp>
      <p:sp>
        <p:nvSpPr>
          <p:cNvPr id="25" name="Text 23"/>
          <p:cNvSpPr/>
          <p:nvPr/>
        </p:nvSpPr>
        <p:spPr>
          <a:xfrm>
            <a:off x="7726680" y="2130552"/>
            <a:ext cx="1316736" cy="237744"/>
          </a:xfrm>
          <a:prstGeom prst="rect">
            <a:avLst/>
          </a:prstGeom>
          <a:noFill/>
          <a:ln/>
        </p:spPr>
        <p:txBody>
          <a:bodyPr wrap="square" lIns="0" tIns="0" rIns="0" bIns="0" rtlCol="0" anchor="ctr"/>
          <a:lstStyle/>
          <a:p>
            <a:pPr algn="ctr" indent="0" marL="0">
              <a:buNone/>
            </a:pPr>
            <a:r>
              <a:rPr lang="en-US" sz="1000" dirty="0">
                <a:solidFill>
                  <a:srgbClr val="6E7681"/>
                </a:solidFill>
                <a:latin typeface="Calibri" pitchFamily="34" charset="0"/>
                <a:ea typeface="Calibri" pitchFamily="34" charset="-122"/>
                <a:cs typeface="Calibri" pitchFamily="34" charset="-120"/>
              </a:rPr>
              <a:t>Zufall 15 %</a:t>
            </a:r>
            <a:endParaRPr lang="en-US" sz="1000" dirty="0"/>
          </a:p>
        </p:txBody>
      </p:sp>
      <p:sp>
        <p:nvSpPr>
          <p:cNvPr id="26" name="Shape 24"/>
          <p:cNvSpPr/>
          <p:nvPr/>
        </p:nvSpPr>
        <p:spPr>
          <a:xfrm>
            <a:off x="9098280" y="1783080"/>
            <a:ext cx="1316736" cy="603504"/>
          </a:xfrm>
          <a:prstGeom prst="rect">
            <a:avLst/>
          </a:prstGeom>
          <a:solidFill>
            <a:srgbClr val="CFE3EC"/>
          </a:solidFill>
          <a:ln w="19050">
            <a:solidFill>
              <a:srgbClr val="FFFFFF"/>
            </a:solidFill>
            <a:prstDash val="solid"/>
          </a:ln>
        </p:spPr>
      </p:sp>
      <p:sp>
        <p:nvSpPr>
          <p:cNvPr id="27" name="Text 25"/>
          <p:cNvSpPr/>
          <p:nvPr/>
        </p:nvSpPr>
        <p:spPr>
          <a:xfrm>
            <a:off x="9098280" y="1837944"/>
            <a:ext cx="1316736" cy="310896"/>
          </a:xfrm>
          <a:prstGeom prst="rect">
            <a:avLst/>
          </a:prstGeom>
          <a:noFill/>
          <a:ln/>
        </p:spPr>
        <p:txBody>
          <a:bodyPr wrap="square" lIns="0" tIns="0" rIns="0" bIns="0" rtlCol="0" anchor="ctr"/>
          <a:lstStyle/>
          <a:p>
            <a:pPr algn="ctr" indent="0" marL="0">
              <a:buNone/>
            </a:pPr>
            <a:r>
              <a:rPr lang="en-US" sz="1500" b="1" dirty="0">
                <a:solidFill>
                  <a:srgbClr val="23282F"/>
                </a:solidFill>
                <a:latin typeface="Calibri" pitchFamily="34" charset="0"/>
                <a:ea typeface="Calibri" pitchFamily="34" charset="-122"/>
                <a:cs typeface="Calibri" pitchFamily="34" charset="-120"/>
              </a:rPr>
              <a:t>3.0 %</a:t>
            </a:r>
            <a:endParaRPr lang="en-US" sz="1500" dirty="0"/>
          </a:p>
        </p:txBody>
      </p:sp>
      <p:sp>
        <p:nvSpPr>
          <p:cNvPr id="28" name="Text 26"/>
          <p:cNvSpPr/>
          <p:nvPr/>
        </p:nvSpPr>
        <p:spPr>
          <a:xfrm>
            <a:off x="9098280" y="2130552"/>
            <a:ext cx="1316736" cy="237744"/>
          </a:xfrm>
          <a:prstGeom prst="rect">
            <a:avLst/>
          </a:prstGeom>
          <a:noFill/>
          <a:ln/>
        </p:spPr>
        <p:txBody>
          <a:bodyPr wrap="square" lIns="0" tIns="0" rIns="0" bIns="0" rtlCol="0" anchor="ctr"/>
          <a:lstStyle/>
          <a:p>
            <a:pPr algn="ctr" indent="0" marL="0">
              <a:buNone/>
            </a:pPr>
            <a:r>
              <a:rPr lang="en-US" sz="1000" dirty="0">
                <a:solidFill>
                  <a:srgbClr val="6E7681"/>
                </a:solidFill>
                <a:latin typeface="Calibri" pitchFamily="34" charset="0"/>
                <a:ea typeface="Calibri" pitchFamily="34" charset="-122"/>
                <a:cs typeface="Calibri" pitchFamily="34" charset="-120"/>
              </a:rPr>
              <a:t>Zufall 9 %</a:t>
            </a:r>
            <a:endParaRPr lang="en-US" sz="1000" dirty="0"/>
          </a:p>
        </p:txBody>
      </p:sp>
      <p:sp>
        <p:nvSpPr>
          <p:cNvPr id="29" name="Text 27"/>
          <p:cNvSpPr/>
          <p:nvPr/>
        </p:nvSpPr>
        <p:spPr>
          <a:xfrm>
            <a:off x="640080" y="2441448"/>
            <a:ext cx="1508760" cy="658368"/>
          </a:xfrm>
          <a:prstGeom prst="rect">
            <a:avLst/>
          </a:prstGeom>
          <a:noFill/>
          <a:ln/>
        </p:spPr>
        <p:txBody>
          <a:bodyPr wrap="square" lIns="0" tIns="0" rIns="0" bIns="0" rtlCol="0" anchor="ctr"/>
          <a:lstStyle/>
          <a:p>
            <a:pPr algn="r" indent="0" marL="0">
              <a:buNone/>
            </a:pPr>
            <a:r>
              <a:rPr lang="en-US" sz="1300" b="1" dirty="0">
                <a:solidFill>
                  <a:srgbClr val="23282F"/>
                </a:solidFill>
                <a:latin typeface="Calibri" pitchFamily="34" charset="0"/>
                <a:ea typeface="Calibri" pitchFamily="34" charset="-122"/>
                <a:cs typeface="Calibri" pitchFamily="34" charset="-120"/>
              </a:rPr>
              <a:t>Hub &amp; Spoke</a:t>
            </a:r>
            <a:endParaRPr lang="en-US" sz="1300" dirty="0"/>
          </a:p>
        </p:txBody>
      </p:sp>
      <p:sp>
        <p:nvSpPr>
          <p:cNvPr id="30" name="Shape 28"/>
          <p:cNvSpPr/>
          <p:nvPr/>
        </p:nvSpPr>
        <p:spPr>
          <a:xfrm>
            <a:off x="2240280" y="2441448"/>
            <a:ext cx="1316736" cy="603504"/>
          </a:xfrm>
          <a:prstGeom prst="rect">
            <a:avLst/>
          </a:prstGeom>
          <a:solidFill>
            <a:srgbClr val="DDEAF1"/>
          </a:solidFill>
          <a:ln w="19050">
            <a:solidFill>
              <a:srgbClr val="FFFFFF"/>
            </a:solidFill>
            <a:prstDash val="solid"/>
          </a:ln>
        </p:spPr>
      </p:sp>
      <p:sp>
        <p:nvSpPr>
          <p:cNvPr id="31" name="Text 29"/>
          <p:cNvSpPr/>
          <p:nvPr/>
        </p:nvSpPr>
        <p:spPr>
          <a:xfrm>
            <a:off x="2240280" y="2496312"/>
            <a:ext cx="1316736" cy="310896"/>
          </a:xfrm>
          <a:prstGeom prst="rect">
            <a:avLst/>
          </a:prstGeom>
          <a:noFill/>
          <a:ln/>
        </p:spPr>
        <p:txBody>
          <a:bodyPr wrap="square" lIns="0" tIns="0" rIns="0" bIns="0" rtlCol="0" anchor="ctr"/>
          <a:lstStyle/>
          <a:p>
            <a:pPr algn="ctr" indent="0" marL="0">
              <a:buNone/>
            </a:pPr>
            <a:r>
              <a:rPr lang="en-US" sz="1500" b="1" dirty="0">
                <a:solidFill>
                  <a:srgbClr val="23282F"/>
                </a:solidFill>
                <a:latin typeface="Calibri" pitchFamily="34" charset="0"/>
                <a:ea typeface="Calibri" pitchFamily="34" charset="-122"/>
                <a:cs typeface="Calibri" pitchFamily="34" charset="-120"/>
              </a:rPr>
              <a:t>5.5 %</a:t>
            </a:r>
            <a:endParaRPr lang="en-US" sz="1500" dirty="0"/>
          </a:p>
        </p:txBody>
      </p:sp>
      <p:sp>
        <p:nvSpPr>
          <p:cNvPr id="32" name="Text 30"/>
          <p:cNvSpPr/>
          <p:nvPr/>
        </p:nvSpPr>
        <p:spPr>
          <a:xfrm>
            <a:off x="2240280" y="2788920"/>
            <a:ext cx="1316736" cy="237744"/>
          </a:xfrm>
          <a:prstGeom prst="rect">
            <a:avLst/>
          </a:prstGeom>
          <a:noFill/>
          <a:ln/>
        </p:spPr>
        <p:txBody>
          <a:bodyPr wrap="square" lIns="0" tIns="0" rIns="0" bIns="0" rtlCol="0" anchor="ctr"/>
          <a:lstStyle/>
          <a:p>
            <a:pPr algn="ctr" indent="0" marL="0">
              <a:buNone/>
            </a:pPr>
            <a:r>
              <a:rPr lang="en-US" sz="1000" dirty="0">
                <a:solidFill>
                  <a:srgbClr val="6E7681"/>
                </a:solidFill>
                <a:latin typeface="Calibri" pitchFamily="34" charset="0"/>
                <a:ea typeface="Calibri" pitchFamily="34" charset="-122"/>
                <a:cs typeface="Calibri" pitchFamily="34" charset="-120"/>
              </a:rPr>
              <a:t>Zufall 11 %</a:t>
            </a:r>
            <a:endParaRPr lang="en-US" sz="1000" dirty="0"/>
          </a:p>
        </p:txBody>
      </p:sp>
      <p:sp>
        <p:nvSpPr>
          <p:cNvPr id="33" name="Shape 31"/>
          <p:cNvSpPr/>
          <p:nvPr/>
        </p:nvSpPr>
        <p:spPr>
          <a:xfrm>
            <a:off x="3611880" y="2441448"/>
            <a:ext cx="1316736" cy="603504"/>
          </a:xfrm>
          <a:prstGeom prst="rect">
            <a:avLst/>
          </a:prstGeom>
          <a:solidFill>
            <a:srgbClr val="DDEAF1"/>
          </a:solidFill>
          <a:ln w="19050">
            <a:solidFill>
              <a:srgbClr val="FFFFFF"/>
            </a:solidFill>
            <a:prstDash val="solid"/>
          </a:ln>
        </p:spPr>
      </p:sp>
      <p:sp>
        <p:nvSpPr>
          <p:cNvPr id="34" name="Text 32"/>
          <p:cNvSpPr/>
          <p:nvPr/>
        </p:nvSpPr>
        <p:spPr>
          <a:xfrm>
            <a:off x="3611880" y="2496312"/>
            <a:ext cx="1316736" cy="310896"/>
          </a:xfrm>
          <a:prstGeom prst="rect">
            <a:avLst/>
          </a:prstGeom>
          <a:noFill/>
          <a:ln/>
        </p:spPr>
        <p:txBody>
          <a:bodyPr wrap="square" lIns="0" tIns="0" rIns="0" bIns="0" rtlCol="0" anchor="ctr"/>
          <a:lstStyle/>
          <a:p>
            <a:pPr algn="ctr" indent="0" marL="0">
              <a:buNone/>
            </a:pPr>
            <a:r>
              <a:rPr lang="en-US" sz="1500" b="1" dirty="0">
                <a:solidFill>
                  <a:srgbClr val="23282F"/>
                </a:solidFill>
                <a:latin typeface="Calibri" pitchFamily="34" charset="0"/>
                <a:ea typeface="Calibri" pitchFamily="34" charset="-122"/>
                <a:cs typeface="Calibri" pitchFamily="34" charset="-120"/>
              </a:rPr>
              <a:t>6.4 %</a:t>
            </a:r>
            <a:endParaRPr lang="en-US" sz="1500" dirty="0"/>
          </a:p>
        </p:txBody>
      </p:sp>
      <p:sp>
        <p:nvSpPr>
          <p:cNvPr id="35" name="Text 33"/>
          <p:cNvSpPr/>
          <p:nvPr/>
        </p:nvSpPr>
        <p:spPr>
          <a:xfrm>
            <a:off x="3611880" y="2788920"/>
            <a:ext cx="1316736" cy="237744"/>
          </a:xfrm>
          <a:prstGeom prst="rect">
            <a:avLst/>
          </a:prstGeom>
          <a:noFill/>
          <a:ln/>
        </p:spPr>
        <p:txBody>
          <a:bodyPr wrap="square" lIns="0" tIns="0" rIns="0" bIns="0" rtlCol="0" anchor="ctr"/>
          <a:lstStyle/>
          <a:p>
            <a:pPr algn="ctr" indent="0" marL="0">
              <a:buNone/>
            </a:pPr>
            <a:r>
              <a:rPr lang="en-US" sz="1000" dirty="0">
                <a:solidFill>
                  <a:srgbClr val="6E7681"/>
                </a:solidFill>
                <a:latin typeface="Calibri" pitchFamily="34" charset="0"/>
                <a:ea typeface="Calibri" pitchFamily="34" charset="-122"/>
                <a:cs typeface="Calibri" pitchFamily="34" charset="-120"/>
              </a:rPr>
              <a:t>Zufall 15 %</a:t>
            </a:r>
            <a:endParaRPr lang="en-US" sz="1000" dirty="0"/>
          </a:p>
        </p:txBody>
      </p:sp>
      <p:sp>
        <p:nvSpPr>
          <p:cNvPr id="36" name="Shape 34"/>
          <p:cNvSpPr/>
          <p:nvPr/>
        </p:nvSpPr>
        <p:spPr>
          <a:xfrm>
            <a:off x="4983480" y="2441448"/>
            <a:ext cx="1316736" cy="603504"/>
          </a:xfrm>
          <a:prstGeom prst="rect">
            <a:avLst/>
          </a:prstGeom>
          <a:solidFill>
            <a:srgbClr val="CFE3EC"/>
          </a:solidFill>
          <a:ln w="19050">
            <a:solidFill>
              <a:srgbClr val="FFFFFF"/>
            </a:solidFill>
            <a:prstDash val="solid"/>
          </a:ln>
        </p:spPr>
      </p:sp>
      <p:sp>
        <p:nvSpPr>
          <p:cNvPr id="37" name="Text 35"/>
          <p:cNvSpPr/>
          <p:nvPr/>
        </p:nvSpPr>
        <p:spPr>
          <a:xfrm>
            <a:off x="4983480" y="2496312"/>
            <a:ext cx="1316736" cy="310896"/>
          </a:xfrm>
          <a:prstGeom prst="rect">
            <a:avLst/>
          </a:prstGeom>
          <a:noFill/>
          <a:ln/>
        </p:spPr>
        <p:txBody>
          <a:bodyPr wrap="square" lIns="0" tIns="0" rIns="0" bIns="0" rtlCol="0" anchor="ctr"/>
          <a:lstStyle/>
          <a:p>
            <a:pPr algn="ctr" indent="0" marL="0">
              <a:buNone/>
            </a:pPr>
            <a:r>
              <a:rPr lang="en-US" sz="1500" b="1" dirty="0">
                <a:solidFill>
                  <a:srgbClr val="23282F"/>
                </a:solidFill>
                <a:latin typeface="Calibri" pitchFamily="34" charset="0"/>
                <a:ea typeface="Calibri" pitchFamily="34" charset="-122"/>
                <a:cs typeface="Calibri" pitchFamily="34" charset="-120"/>
              </a:rPr>
              <a:t>0.5 %</a:t>
            </a:r>
            <a:endParaRPr lang="en-US" sz="1500" dirty="0"/>
          </a:p>
        </p:txBody>
      </p:sp>
      <p:sp>
        <p:nvSpPr>
          <p:cNvPr id="38" name="Text 36"/>
          <p:cNvSpPr/>
          <p:nvPr/>
        </p:nvSpPr>
        <p:spPr>
          <a:xfrm>
            <a:off x="4983480" y="2788920"/>
            <a:ext cx="1316736" cy="237744"/>
          </a:xfrm>
          <a:prstGeom prst="rect">
            <a:avLst/>
          </a:prstGeom>
          <a:noFill/>
          <a:ln/>
        </p:spPr>
        <p:txBody>
          <a:bodyPr wrap="square" lIns="0" tIns="0" rIns="0" bIns="0" rtlCol="0" anchor="ctr"/>
          <a:lstStyle/>
          <a:p>
            <a:pPr algn="ctr" indent="0" marL="0">
              <a:buNone/>
            </a:pPr>
            <a:r>
              <a:rPr lang="en-US" sz="1000" dirty="0">
                <a:solidFill>
                  <a:srgbClr val="6E7681"/>
                </a:solidFill>
                <a:latin typeface="Calibri" pitchFamily="34" charset="0"/>
                <a:ea typeface="Calibri" pitchFamily="34" charset="-122"/>
                <a:cs typeface="Calibri" pitchFamily="34" charset="-120"/>
              </a:rPr>
              <a:t>Zufall 10 %</a:t>
            </a:r>
            <a:endParaRPr lang="en-US" sz="1000" dirty="0"/>
          </a:p>
        </p:txBody>
      </p:sp>
      <p:sp>
        <p:nvSpPr>
          <p:cNvPr id="39" name="Shape 37"/>
          <p:cNvSpPr/>
          <p:nvPr/>
        </p:nvSpPr>
        <p:spPr>
          <a:xfrm>
            <a:off x="6355080" y="2441448"/>
            <a:ext cx="1316736" cy="603504"/>
          </a:xfrm>
          <a:prstGeom prst="rect">
            <a:avLst/>
          </a:prstGeom>
          <a:solidFill>
            <a:srgbClr val="CFE3EC"/>
          </a:solidFill>
          <a:ln w="19050">
            <a:solidFill>
              <a:srgbClr val="FFFFFF"/>
            </a:solidFill>
            <a:prstDash val="solid"/>
          </a:ln>
        </p:spPr>
      </p:sp>
      <p:sp>
        <p:nvSpPr>
          <p:cNvPr id="40" name="Text 38"/>
          <p:cNvSpPr/>
          <p:nvPr/>
        </p:nvSpPr>
        <p:spPr>
          <a:xfrm>
            <a:off x="6355080" y="2496312"/>
            <a:ext cx="1316736" cy="310896"/>
          </a:xfrm>
          <a:prstGeom prst="rect">
            <a:avLst/>
          </a:prstGeom>
          <a:noFill/>
          <a:ln/>
        </p:spPr>
        <p:txBody>
          <a:bodyPr wrap="square" lIns="0" tIns="0" rIns="0" bIns="0" rtlCol="0" anchor="ctr"/>
          <a:lstStyle/>
          <a:p>
            <a:pPr algn="ctr" indent="0" marL="0">
              <a:buNone/>
            </a:pPr>
            <a:r>
              <a:rPr lang="en-US" sz="1500" b="1" dirty="0">
                <a:solidFill>
                  <a:srgbClr val="23282F"/>
                </a:solidFill>
                <a:latin typeface="Calibri" pitchFamily="34" charset="0"/>
                <a:ea typeface="Calibri" pitchFamily="34" charset="-122"/>
                <a:cs typeface="Calibri" pitchFamily="34" charset="-120"/>
              </a:rPr>
              <a:t>3.9 %</a:t>
            </a:r>
            <a:endParaRPr lang="en-US" sz="1500" dirty="0"/>
          </a:p>
        </p:txBody>
      </p:sp>
      <p:sp>
        <p:nvSpPr>
          <p:cNvPr id="41" name="Text 39"/>
          <p:cNvSpPr/>
          <p:nvPr/>
        </p:nvSpPr>
        <p:spPr>
          <a:xfrm>
            <a:off x="6355080" y="2788920"/>
            <a:ext cx="1316736" cy="237744"/>
          </a:xfrm>
          <a:prstGeom prst="rect">
            <a:avLst/>
          </a:prstGeom>
          <a:noFill/>
          <a:ln/>
        </p:spPr>
        <p:txBody>
          <a:bodyPr wrap="square" lIns="0" tIns="0" rIns="0" bIns="0" rtlCol="0" anchor="ctr"/>
          <a:lstStyle/>
          <a:p>
            <a:pPr algn="ctr" indent="0" marL="0">
              <a:buNone/>
            </a:pPr>
            <a:r>
              <a:rPr lang="en-US" sz="1000" dirty="0">
                <a:solidFill>
                  <a:srgbClr val="6E7681"/>
                </a:solidFill>
                <a:latin typeface="Calibri" pitchFamily="34" charset="0"/>
                <a:ea typeface="Calibri" pitchFamily="34" charset="-122"/>
                <a:cs typeface="Calibri" pitchFamily="34" charset="-120"/>
              </a:rPr>
              <a:t>Zufall 6 %</a:t>
            </a:r>
            <a:endParaRPr lang="en-US" sz="1000" dirty="0"/>
          </a:p>
        </p:txBody>
      </p:sp>
      <p:sp>
        <p:nvSpPr>
          <p:cNvPr id="42" name="Shape 40"/>
          <p:cNvSpPr/>
          <p:nvPr/>
        </p:nvSpPr>
        <p:spPr>
          <a:xfrm>
            <a:off x="7726680" y="2441448"/>
            <a:ext cx="1316736" cy="603504"/>
          </a:xfrm>
          <a:prstGeom prst="rect">
            <a:avLst/>
          </a:prstGeom>
          <a:solidFill>
            <a:srgbClr val="DDEAF1"/>
          </a:solidFill>
          <a:ln w="19050">
            <a:solidFill>
              <a:srgbClr val="FFFFFF"/>
            </a:solidFill>
            <a:prstDash val="solid"/>
          </a:ln>
        </p:spPr>
      </p:sp>
      <p:sp>
        <p:nvSpPr>
          <p:cNvPr id="43" name="Text 41"/>
          <p:cNvSpPr/>
          <p:nvPr/>
        </p:nvSpPr>
        <p:spPr>
          <a:xfrm>
            <a:off x="7726680" y="2496312"/>
            <a:ext cx="1316736" cy="310896"/>
          </a:xfrm>
          <a:prstGeom prst="rect">
            <a:avLst/>
          </a:prstGeom>
          <a:noFill/>
          <a:ln/>
        </p:spPr>
        <p:txBody>
          <a:bodyPr wrap="square" lIns="0" tIns="0" rIns="0" bIns="0" rtlCol="0" anchor="ctr"/>
          <a:lstStyle/>
          <a:p>
            <a:pPr algn="ctr" indent="0" marL="0">
              <a:buNone/>
            </a:pPr>
            <a:r>
              <a:rPr lang="en-US" sz="1500" b="1" dirty="0">
                <a:solidFill>
                  <a:srgbClr val="23282F"/>
                </a:solidFill>
                <a:latin typeface="Calibri" pitchFamily="34" charset="0"/>
                <a:ea typeface="Calibri" pitchFamily="34" charset="-122"/>
                <a:cs typeface="Calibri" pitchFamily="34" charset="-120"/>
              </a:rPr>
              <a:t>9.8 %</a:t>
            </a:r>
            <a:endParaRPr lang="en-US" sz="1500" dirty="0"/>
          </a:p>
        </p:txBody>
      </p:sp>
      <p:sp>
        <p:nvSpPr>
          <p:cNvPr id="44" name="Text 42"/>
          <p:cNvSpPr/>
          <p:nvPr/>
        </p:nvSpPr>
        <p:spPr>
          <a:xfrm>
            <a:off x="7726680" y="2788920"/>
            <a:ext cx="1316736" cy="237744"/>
          </a:xfrm>
          <a:prstGeom prst="rect">
            <a:avLst/>
          </a:prstGeom>
          <a:noFill/>
          <a:ln/>
        </p:spPr>
        <p:txBody>
          <a:bodyPr wrap="square" lIns="0" tIns="0" rIns="0" bIns="0" rtlCol="0" anchor="ctr"/>
          <a:lstStyle/>
          <a:p>
            <a:pPr algn="ctr" indent="0" marL="0">
              <a:buNone/>
            </a:pPr>
            <a:r>
              <a:rPr lang="en-US" sz="1000" dirty="0">
                <a:solidFill>
                  <a:srgbClr val="6E7681"/>
                </a:solidFill>
                <a:latin typeface="Calibri" pitchFamily="34" charset="0"/>
                <a:ea typeface="Calibri" pitchFamily="34" charset="-122"/>
                <a:cs typeface="Calibri" pitchFamily="34" charset="-120"/>
              </a:rPr>
              <a:t>Zufall 19 %</a:t>
            </a:r>
            <a:endParaRPr lang="en-US" sz="1000" dirty="0"/>
          </a:p>
        </p:txBody>
      </p:sp>
      <p:sp>
        <p:nvSpPr>
          <p:cNvPr id="45" name="Shape 43"/>
          <p:cNvSpPr/>
          <p:nvPr/>
        </p:nvSpPr>
        <p:spPr>
          <a:xfrm>
            <a:off x="9098280" y="2441448"/>
            <a:ext cx="1316736" cy="603504"/>
          </a:xfrm>
          <a:prstGeom prst="rect">
            <a:avLst/>
          </a:prstGeom>
          <a:solidFill>
            <a:srgbClr val="CFE3EC"/>
          </a:solidFill>
          <a:ln w="19050">
            <a:solidFill>
              <a:srgbClr val="FFFFFF"/>
            </a:solidFill>
            <a:prstDash val="solid"/>
          </a:ln>
        </p:spPr>
      </p:sp>
      <p:sp>
        <p:nvSpPr>
          <p:cNvPr id="46" name="Text 44"/>
          <p:cNvSpPr/>
          <p:nvPr/>
        </p:nvSpPr>
        <p:spPr>
          <a:xfrm>
            <a:off x="9098280" y="2496312"/>
            <a:ext cx="1316736" cy="310896"/>
          </a:xfrm>
          <a:prstGeom prst="rect">
            <a:avLst/>
          </a:prstGeom>
          <a:noFill/>
          <a:ln/>
        </p:spPr>
        <p:txBody>
          <a:bodyPr wrap="square" lIns="0" tIns="0" rIns="0" bIns="0" rtlCol="0" anchor="ctr"/>
          <a:lstStyle/>
          <a:p>
            <a:pPr algn="ctr" indent="0" marL="0">
              <a:buNone/>
            </a:pPr>
            <a:r>
              <a:rPr lang="en-US" sz="1500" b="1" dirty="0">
                <a:solidFill>
                  <a:srgbClr val="23282F"/>
                </a:solidFill>
                <a:latin typeface="Calibri" pitchFamily="34" charset="0"/>
                <a:ea typeface="Calibri" pitchFamily="34" charset="-122"/>
                <a:cs typeface="Calibri" pitchFamily="34" charset="-120"/>
              </a:rPr>
              <a:t>0.4 %</a:t>
            </a:r>
            <a:endParaRPr lang="en-US" sz="1500" dirty="0"/>
          </a:p>
        </p:txBody>
      </p:sp>
      <p:sp>
        <p:nvSpPr>
          <p:cNvPr id="47" name="Text 45"/>
          <p:cNvSpPr/>
          <p:nvPr/>
        </p:nvSpPr>
        <p:spPr>
          <a:xfrm>
            <a:off x="9098280" y="2788920"/>
            <a:ext cx="1316736" cy="237744"/>
          </a:xfrm>
          <a:prstGeom prst="rect">
            <a:avLst/>
          </a:prstGeom>
          <a:noFill/>
          <a:ln/>
        </p:spPr>
        <p:txBody>
          <a:bodyPr wrap="square" lIns="0" tIns="0" rIns="0" bIns="0" rtlCol="0" anchor="ctr"/>
          <a:lstStyle/>
          <a:p>
            <a:pPr algn="ctr" indent="0" marL="0">
              <a:buNone/>
            </a:pPr>
            <a:r>
              <a:rPr lang="en-US" sz="1000" dirty="0">
                <a:solidFill>
                  <a:srgbClr val="6E7681"/>
                </a:solidFill>
                <a:latin typeface="Calibri" pitchFamily="34" charset="0"/>
                <a:ea typeface="Calibri" pitchFamily="34" charset="-122"/>
                <a:cs typeface="Calibri" pitchFamily="34" charset="-120"/>
              </a:rPr>
              <a:t>Zufall 5 %</a:t>
            </a:r>
            <a:endParaRPr lang="en-US" sz="1000" dirty="0"/>
          </a:p>
        </p:txBody>
      </p:sp>
      <p:sp>
        <p:nvSpPr>
          <p:cNvPr id="48" name="Text 46"/>
          <p:cNvSpPr/>
          <p:nvPr/>
        </p:nvSpPr>
        <p:spPr>
          <a:xfrm>
            <a:off x="640080" y="3099816"/>
            <a:ext cx="1508760" cy="658368"/>
          </a:xfrm>
          <a:prstGeom prst="rect">
            <a:avLst/>
          </a:prstGeom>
          <a:noFill/>
          <a:ln/>
        </p:spPr>
        <p:txBody>
          <a:bodyPr wrap="square" lIns="0" tIns="0" rIns="0" bIns="0" rtlCol="0" anchor="ctr"/>
          <a:lstStyle/>
          <a:p>
            <a:pPr algn="r" indent="0" marL="0">
              <a:buNone/>
            </a:pPr>
            <a:r>
              <a:rPr lang="en-US" sz="1300" b="1" dirty="0">
                <a:solidFill>
                  <a:srgbClr val="23282F"/>
                </a:solidFill>
                <a:latin typeface="Calibri" pitchFamily="34" charset="0"/>
                <a:ea typeface="Calibri" pitchFamily="34" charset="-122"/>
                <a:cs typeface="Calibri" pitchFamily="34" charset="-120"/>
              </a:rPr>
              <a:t>DMZ</a:t>
            </a:r>
            <a:endParaRPr lang="en-US" sz="1300" dirty="0"/>
          </a:p>
        </p:txBody>
      </p:sp>
      <p:sp>
        <p:nvSpPr>
          <p:cNvPr id="49" name="Shape 47"/>
          <p:cNvSpPr/>
          <p:nvPr/>
        </p:nvSpPr>
        <p:spPr>
          <a:xfrm>
            <a:off x="2240280" y="3099816"/>
            <a:ext cx="1316736" cy="603504"/>
          </a:xfrm>
          <a:prstGeom prst="rect">
            <a:avLst/>
          </a:prstGeom>
          <a:solidFill>
            <a:srgbClr val="CFE3EC"/>
          </a:solidFill>
          <a:ln w="19050">
            <a:solidFill>
              <a:srgbClr val="FFFFFF"/>
            </a:solidFill>
            <a:prstDash val="solid"/>
          </a:ln>
        </p:spPr>
      </p:sp>
      <p:sp>
        <p:nvSpPr>
          <p:cNvPr id="50" name="Text 48"/>
          <p:cNvSpPr/>
          <p:nvPr/>
        </p:nvSpPr>
        <p:spPr>
          <a:xfrm>
            <a:off x="2240280" y="3154680"/>
            <a:ext cx="1316736" cy="310896"/>
          </a:xfrm>
          <a:prstGeom prst="rect">
            <a:avLst/>
          </a:prstGeom>
          <a:noFill/>
          <a:ln/>
        </p:spPr>
        <p:txBody>
          <a:bodyPr wrap="square" lIns="0" tIns="0" rIns="0" bIns="0" rtlCol="0" anchor="ctr"/>
          <a:lstStyle/>
          <a:p>
            <a:pPr algn="ctr" indent="0" marL="0">
              <a:buNone/>
            </a:pPr>
            <a:r>
              <a:rPr lang="en-US" sz="1500" b="1" dirty="0">
                <a:solidFill>
                  <a:srgbClr val="23282F"/>
                </a:solidFill>
                <a:latin typeface="Calibri" pitchFamily="34" charset="0"/>
                <a:ea typeface="Calibri" pitchFamily="34" charset="-122"/>
                <a:cs typeface="Calibri" pitchFamily="34" charset="-120"/>
              </a:rPr>
              <a:t>4.1 %</a:t>
            </a:r>
            <a:endParaRPr lang="en-US" sz="1500" dirty="0"/>
          </a:p>
        </p:txBody>
      </p:sp>
      <p:sp>
        <p:nvSpPr>
          <p:cNvPr id="51" name="Text 49"/>
          <p:cNvSpPr/>
          <p:nvPr/>
        </p:nvSpPr>
        <p:spPr>
          <a:xfrm>
            <a:off x="2240280" y="3447288"/>
            <a:ext cx="1316736" cy="237744"/>
          </a:xfrm>
          <a:prstGeom prst="rect">
            <a:avLst/>
          </a:prstGeom>
          <a:noFill/>
          <a:ln/>
        </p:spPr>
        <p:txBody>
          <a:bodyPr wrap="square" lIns="0" tIns="0" rIns="0" bIns="0" rtlCol="0" anchor="ctr"/>
          <a:lstStyle/>
          <a:p>
            <a:pPr algn="ctr" indent="0" marL="0">
              <a:buNone/>
            </a:pPr>
            <a:r>
              <a:rPr lang="en-US" sz="1000" dirty="0">
                <a:solidFill>
                  <a:srgbClr val="6E7681"/>
                </a:solidFill>
                <a:latin typeface="Calibri" pitchFamily="34" charset="0"/>
                <a:ea typeface="Calibri" pitchFamily="34" charset="-122"/>
                <a:cs typeface="Calibri" pitchFamily="34" charset="-120"/>
              </a:rPr>
              <a:t>Zufall 9 %</a:t>
            </a:r>
            <a:endParaRPr lang="en-US" sz="1000" dirty="0"/>
          </a:p>
        </p:txBody>
      </p:sp>
      <p:sp>
        <p:nvSpPr>
          <p:cNvPr id="52" name="Shape 50"/>
          <p:cNvSpPr/>
          <p:nvPr/>
        </p:nvSpPr>
        <p:spPr>
          <a:xfrm>
            <a:off x="3611880" y="3099816"/>
            <a:ext cx="1316736" cy="603504"/>
          </a:xfrm>
          <a:prstGeom prst="rect">
            <a:avLst/>
          </a:prstGeom>
          <a:solidFill>
            <a:srgbClr val="CFE3EC"/>
          </a:solidFill>
          <a:ln w="19050">
            <a:solidFill>
              <a:srgbClr val="FFFFFF"/>
            </a:solidFill>
            <a:prstDash val="solid"/>
          </a:ln>
        </p:spPr>
      </p:sp>
      <p:sp>
        <p:nvSpPr>
          <p:cNvPr id="53" name="Text 51"/>
          <p:cNvSpPr/>
          <p:nvPr/>
        </p:nvSpPr>
        <p:spPr>
          <a:xfrm>
            <a:off x="3611880" y="3154680"/>
            <a:ext cx="1316736" cy="310896"/>
          </a:xfrm>
          <a:prstGeom prst="rect">
            <a:avLst/>
          </a:prstGeom>
          <a:noFill/>
          <a:ln/>
        </p:spPr>
        <p:txBody>
          <a:bodyPr wrap="square" lIns="0" tIns="0" rIns="0" bIns="0" rtlCol="0" anchor="ctr"/>
          <a:lstStyle/>
          <a:p>
            <a:pPr algn="ctr" indent="0" marL="0">
              <a:buNone/>
            </a:pPr>
            <a:r>
              <a:rPr lang="en-US" sz="1500" b="1" dirty="0">
                <a:solidFill>
                  <a:srgbClr val="23282F"/>
                </a:solidFill>
                <a:latin typeface="Calibri" pitchFamily="34" charset="0"/>
                <a:ea typeface="Calibri" pitchFamily="34" charset="-122"/>
                <a:cs typeface="Calibri" pitchFamily="34" charset="-120"/>
              </a:rPr>
              <a:t>3.1 %</a:t>
            </a:r>
            <a:endParaRPr lang="en-US" sz="1500" dirty="0"/>
          </a:p>
        </p:txBody>
      </p:sp>
      <p:sp>
        <p:nvSpPr>
          <p:cNvPr id="54" name="Text 52"/>
          <p:cNvSpPr/>
          <p:nvPr/>
        </p:nvSpPr>
        <p:spPr>
          <a:xfrm>
            <a:off x="3611880" y="3447288"/>
            <a:ext cx="1316736" cy="237744"/>
          </a:xfrm>
          <a:prstGeom prst="rect">
            <a:avLst/>
          </a:prstGeom>
          <a:noFill/>
          <a:ln/>
        </p:spPr>
        <p:txBody>
          <a:bodyPr wrap="square" lIns="0" tIns="0" rIns="0" bIns="0" rtlCol="0" anchor="ctr"/>
          <a:lstStyle/>
          <a:p>
            <a:pPr algn="ctr" indent="0" marL="0">
              <a:buNone/>
            </a:pPr>
            <a:r>
              <a:rPr lang="en-US" sz="1000" dirty="0">
                <a:solidFill>
                  <a:srgbClr val="6E7681"/>
                </a:solidFill>
                <a:latin typeface="Calibri" pitchFamily="34" charset="0"/>
                <a:ea typeface="Calibri" pitchFamily="34" charset="-122"/>
                <a:cs typeface="Calibri" pitchFamily="34" charset="-120"/>
              </a:rPr>
              <a:t>Zufall 7 %</a:t>
            </a:r>
            <a:endParaRPr lang="en-US" sz="1000" dirty="0"/>
          </a:p>
        </p:txBody>
      </p:sp>
      <p:sp>
        <p:nvSpPr>
          <p:cNvPr id="55" name="Shape 53"/>
          <p:cNvSpPr/>
          <p:nvPr/>
        </p:nvSpPr>
        <p:spPr>
          <a:xfrm>
            <a:off x="4983480" y="3099816"/>
            <a:ext cx="1316736" cy="603504"/>
          </a:xfrm>
          <a:prstGeom prst="rect">
            <a:avLst/>
          </a:prstGeom>
          <a:solidFill>
            <a:srgbClr val="CFE3EC"/>
          </a:solidFill>
          <a:ln w="19050">
            <a:solidFill>
              <a:srgbClr val="FFFFFF"/>
            </a:solidFill>
            <a:prstDash val="solid"/>
          </a:ln>
        </p:spPr>
      </p:sp>
      <p:sp>
        <p:nvSpPr>
          <p:cNvPr id="56" name="Text 54"/>
          <p:cNvSpPr/>
          <p:nvPr/>
        </p:nvSpPr>
        <p:spPr>
          <a:xfrm>
            <a:off x="4983480" y="3154680"/>
            <a:ext cx="1316736" cy="310896"/>
          </a:xfrm>
          <a:prstGeom prst="rect">
            <a:avLst/>
          </a:prstGeom>
          <a:noFill/>
          <a:ln/>
        </p:spPr>
        <p:txBody>
          <a:bodyPr wrap="square" lIns="0" tIns="0" rIns="0" bIns="0" rtlCol="0" anchor="ctr"/>
          <a:lstStyle/>
          <a:p>
            <a:pPr algn="ctr" indent="0" marL="0">
              <a:buNone/>
            </a:pPr>
            <a:r>
              <a:rPr lang="en-US" sz="1500" b="1" dirty="0">
                <a:solidFill>
                  <a:srgbClr val="23282F"/>
                </a:solidFill>
                <a:latin typeface="Calibri" pitchFamily="34" charset="0"/>
                <a:ea typeface="Calibri" pitchFamily="34" charset="-122"/>
                <a:cs typeface="Calibri" pitchFamily="34" charset="-120"/>
              </a:rPr>
              <a:t>3.8 %</a:t>
            </a:r>
            <a:endParaRPr lang="en-US" sz="1500" dirty="0"/>
          </a:p>
        </p:txBody>
      </p:sp>
      <p:sp>
        <p:nvSpPr>
          <p:cNvPr id="57" name="Text 55"/>
          <p:cNvSpPr/>
          <p:nvPr/>
        </p:nvSpPr>
        <p:spPr>
          <a:xfrm>
            <a:off x="4983480" y="3447288"/>
            <a:ext cx="1316736" cy="237744"/>
          </a:xfrm>
          <a:prstGeom prst="rect">
            <a:avLst/>
          </a:prstGeom>
          <a:noFill/>
          <a:ln/>
        </p:spPr>
        <p:txBody>
          <a:bodyPr wrap="square" lIns="0" tIns="0" rIns="0" bIns="0" rtlCol="0" anchor="ctr"/>
          <a:lstStyle/>
          <a:p>
            <a:pPr algn="ctr" indent="0" marL="0">
              <a:buNone/>
            </a:pPr>
            <a:r>
              <a:rPr lang="en-US" sz="1000" dirty="0">
                <a:solidFill>
                  <a:srgbClr val="6E7681"/>
                </a:solidFill>
                <a:latin typeface="Calibri" pitchFamily="34" charset="0"/>
                <a:ea typeface="Calibri" pitchFamily="34" charset="-122"/>
                <a:cs typeface="Calibri" pitchFamily="34" charset="-120"/>
              </a:rPr>
              <a:t>Zufall 10 %</a:t>
            </a:r>
            <a:endParaRPr lang="en-US" sz="1000" dirty="0"/>
          </a:p>
        </p:txBody>
      </p:sp>
      <p:sp>
        <p:nvSpPr>
          <p:cNvPr id="58" name="Shape 56"/>
          <p:cNvSpPr/>
          <p:nvPr/>
        </p:nvSpPr>
        <p:spPr>
          <a:xfrm>
            <a:off x="6355080" y="3099816"/>
            <a:ext cx="1316736" cy="603504"/>
          </a:xfrm>
          <a:prstGeom prst="rect">
            <a:avLst/>
          </a:prstGeom>
          <a:solidFill>
            <a:srgbClr val="CFE3EC"/>
          </a:solidFill>
          <a:ln w="19050">
            <a:solidFill>
              <a:srgbClr val="FFFFFF"/>
            </a:solidFill>
            <a:prstDash val="solid"/>
          </a:ln>
        </p:spPr>
      </p:sp>
      <p:sp>
        <p:nvSpPr>
          <p:cNvPr id="59" name="Text 57"/>
          <p:cNvSpPr/>
          <p:nvPr/>
        </p:nvSpPr>
        <p:spPr>
          <a:xfrm>
            <a:off x="6355080" y="3154680"/>
            <a:ext cx="1316736" cy="310896"/>
          </a:xfrm>
          <a:prstGeom prst="rect">
            <a:avLst/>
          </a:prstGeom>
          <a:noFill/>
          <a:ln/>
        </p:spPr>
        <p:txBody>
          <a:bodyPr wrap="square" lIns="0" tIns="0" rIns="0" bIns="0" rtlCol="0" anchor="ctr"/>
          <a:lstStyle/>
          <a:p>
            <a:pPr algn="ctr" indent="0" marL="0">
              <a:buNone/>
            </a:pPr>
            <a:r>
              <a:rPr lang="en-US" sz="1500" b="1" dirty="0">
                <a:solidFill>
                  <a:srgbClr val="23282F"/>
                </a:solidFill>
                <a:latin typeface="Calibri" pitchFamily="34" charset="0"/>
                <a:ea typeface="Calibri" pitchFamily="34" charset="-122"/>
                <a:cs typeface="Calibri" pitchFamily="34" charset="-120"/>
              </a:rPr>
              <a:t>2.4 %</a:t>
            </a:r>
            <a:endParaRPr lang="en-US" sz="1500" dirty="0"/>
          </a:p>
        </p:txBody>
      </p:sp>
      <p:sp>
        <p:nvSpPr>
          <p:cNvPr id="60" name="Text 58"/>
          <p:cNvSpPr/>
          <p:nvPr/>
        </p:nvSpPr>
        <p:spPr>
          <a:xfrm>
            <a:off x="6355080" y="3447288"/>
            <a:ext cx="1316736" cy="237744"/>
          </a:xfrm>
          <a:prstGeom prst="rect">
            <a:avLst/>
          </a:prstGeom>
          <a:noFill/>
          <a:ln/>
        </p:spPr>
        <p:txBody>
          <a:bodyPr wrap="square" lIns="0" tIns="0" rIns="0" bIns="0" rtlCol="0" anchor="ctr"/>
          <a:lstStyle/>
          <a:p>
            <a:pPr algn="ctr" indent="0" marL="0">
              <a:buNone/>
            </a:pPr>
            <a:r>
              <a:rPr lang="en-US" sz="1000" dirty="0">
                <a:solidFill>
                  <a:srgbClr val="6E7681"/>
                </a:solidFill>
                <a:latin typeface="Calibri" pitchFamily="34" charset="0"/>
                <a:ea typeface="Calibri" pitchFamily="34" charset="-122"/>
                <a:cs typeface="Calibri" pitchFamily="34" charset="-120"/>
              </a:rPr>
              <a:t>Zufall 10 %</a:t>
            </a:r>
            <a:endParaRPr lang="en-US" sz="1000" dirty="0"/>
          </a:p>
        </p:txBody>
      </p:sp>
      <p:sp>
        <p:nvSpPr>
          <p:cNvPr id="61" name="Shape 59"/>
          <p:cNvSpPr/>
          <p:nvPr/>
        </p:nvSpPr>
        <p:spPr>
          <a:xfrm>
            <a:off x="7726680" y="3099816"/>
            <a:ext cx="1316736" cy="603504"/>
          </a:xfrm>
          <a:prstGeom prst="rect">
            <a:avLst/>
          </a:prstGeom>
          <a:solidFill>
            <a:srgbClr val="CFE3EC"/>
          </a:solidFill>
          <a:ln w="19050">
            <a:solidFill>
              <a:srgbClr val="FFFFFF"/>
            </a:solidFill>
            <a:prstDash val="solid"/>
          </a:ln>
        </p:spPr>
      </p:sp>
      <p:sp>
        <p:nvSpPr>
          <p:cNvPr id="62" name="Text 60"/>
          <p:cNvSpPr/>
          <p:nvPr/>
        </p:nvSpPr>
        <p:spPr>
          <a:xfrm>
            <a:off x="7726680" y="3154680"/>
            <a:ext cx="1316736" cy="310896"/>
          </a:xfrm>
          <a:prstGeom prst="rect">
            <a:avLst/>
          </a:prstGeom>
          <a:noFill/>
          <a:ln/>
        </p:spPr>
        <p:txBody>
          <a:bodyPr wrap="square" lIns="0" tIns="0" rIns="0" bIns="0" rtlCol="0" anchor="ctr"/>
          <a:lstStyle/>
          <a:p>
            <a:pPr algn="ctr" indent="0" marL="0">
              <a:buNone/>
            </a:pPr>
            <a:r>
              <a:rPr lang="en-US" sz="1500" b="1" dirty="0">
                <a:solidFill>
                  <a:srgbClr val="23282F"/>
                </a:solidFill>
                <a:latin typeface="Calibri" pitchFamily="34" charset="0"/>
                <a:ea typeface="Calibri" pitchFamily="34" charset="-122"/>
                <a:cs typeface="Calibri" pitchFamily="34" charset="-120"/>
              </a:rPr>
              <a:t>4.7 %</a:t>
            </a:r>
            <a:endParaRPr lang="en-US" sz="1500" dirty="0"/>
          </a:p>
        </p:txBody>
      </p:sp>
      <p:sp>
        <p:nvSpPr>
          <p:cNvPr id="63" name="Text 61"/>
          <p:cNvSpPr/>
          <p:nvPr/>
        </p:nvSpPr>
        <p:spPr>
          <a:xfrm>
            <a:off x="7726680" y="3447288"/>
            <a:ext cx="1316736" cy="237744"/>
          </a:xfrm>
          <a:prstGeom prst="rect">
            <a:avLst/>
          </a:prstGeom>
          <a:noFill/>
          <a:ln/>
        </p:spPr>
        <p:txBody>
          <a:bodyPr wrap="square" lIns="0" tIns="0" rIns="0" bIns="0" rtlCol="0" anchor="ctr"/>
          <a:lstStyle/>
          <a:p>
            <a:pPr algn="ctr" indent="0" marL="0">
              <a:buNone/>
            </a:pPr>
            <a:r>
              <a:rPr lang="en-US" sz="1000" dirty="0">
                <a:solidFill>
                  <a:srgbClr val="6E7681"/>
                </a:solidFill>
                <a:latin typeface="Calibri" pitchFamily="34" charset="0"/>
                <a:ea typeface="Calibri" pitchFamily="34" charset="-122"/>
                <a:cs typeface="Calibri" pitchFamily="34" charset="-120"/>
              </a:rPr>
              <a:t>Zufall 9 %</a:t>
            </a:r>
            <a:endParaRPr lang="en-US" sz="1000" dirty="0"/>
          </a:p>
        </p:txBody>
      </p:sp>
      <p:sp>
        <p:nvSpPr>
          <p:cNvPr id="64" name="Shape 62"/>
          <p:cNvSpPr/>
          <p:nvPr/>
        </p:nvSpPr>
        <p:spPr>
          <a:xfrm>
            <a:off x="9098280" y="3099816"/>
            <a:ext cx="1316736" cy="603504"/>
          </a:xfrm>
          <a:prstGeom prst="rect">
            <a:avLst/>
          </a:prstGeom>
          <a:solidFill>
            <a:srgbClr val="CFE3EC"/>
          </a:solidFill>
          <a:ln w="19050">
            <a:solidFill>
              <a:srgbClr val="FFFFFF"/>
            </a:solidFill>
            <a:prstDash val="solid"/>
          </a:ln>
        </p:spPr>
      </p:sp>
      <p:sp>
        <p:nvSpPr>
          <p:cNvPr id="65" name="Text 63"/>
          <p:cNvSpPr/>
          <p:nvPr/>
        </p:nvSpPr>
        <p:spPr>
          <a:xfrm>
            <a:off x="9098280" y="3154680"/>
            <a:ext cx="1316736" cy="310896"/>
          </a:xfrm>
          <a:prstGeom prst="rect">
            <a:avLst/>
          </a:prstGeom>
          <a:noFill/>
          <a:ln/>
        </p:spPr>
        <p:txBody>
          <a:bodyPr wrap="square" lIns="0" tIns="0" rIns="0" bIns="0" rtlCol="0" anchor="ctr"/>
          <a:lstStyle/>
          <a:p>
            <a:pPr algn="ctr" indent="0" marL="0">
              <a:buNone/>
            </a:pPr>
            <a:r>
              <a:rPr lang="en-US" sz="1500" b="1" dirty="0">
                <a:solidFill>
                  <a:srgbClr val="23282F"/>
                </a:solidFill>
                <a:latin typeface="Calibri" pitchFamily="34" charset="0"/>
                <a:ea typeface="Calibri" pitchFamily="34" charset="-122"/>
                <a:cs typeface="Calibri" pitchFamily="34" charset="-120"/>
              </a:rPr>
              <a:t>3.6 %</a:t>
            </a:r>
            <a:endParaRPr lang="en-US" sz="1500" dirty="0"/>
          </a:p>
        </p:txBody>
      </p:sp>
      <p:sp>
        <p:nvSpPr>
          <p:cNvPr id="66" name="Text 64"/>
          <p:cNvSpPr/>
          <p:nvPr/>
        </p:nvSpPr>
        <p:spPr>
          <a:xfrm>
            <a:off x="9098280" y="3447288"/>
            <a:ext cx="1316736" cy="237744"/>
          </a:xfrm>
          <a:prstGeom prst="rect">
            <a:avLst/>
          </a:prstGeom>
          <a:noFill/>
          <a:ln/>
        </p:spPr>
        <p:txBody>
          <a:bodyPr wrap="square" lIns="0" tIns="0" rIns="0" bIns="0" rtlCol="0" anchor="ctr"/>
          <a:lstStyle/>
          <a:p>
            <a:pPr algn="ctr" indent="0" marL="0">
              <a:buNone/>
            </a:pPr>
            <a:r>
              <a:rPr lang="en-US" sz="1000" dirty="0">
                <a:solidFill>
                  <a:srgbClr val="6E7681"/>
                </a:solidFill>
                <a:latin typeface="Calibri" pitchFamily="34" charset="0"/>
                <a:ea typeface="Calibri" pitchFamily="34" charset="-122"/>
                <a:cs typeface="Calibri" pitchFamily="34" charset="-120"/>
              </a:rPr>
              <a:t>Zufall 7 %</a:t>
            </a:r>
            <a:endParaRPr lang="en-US" sz="1000" dirty="0"/>
          </a:p>
        </p:txBody>
      </p:sp>
      <p:sp>
        <p:nvSpPr>
          <p:cNvPr id="67" name="Text 65"/>
          <p:cNvSpPr/>
          <p:nvPr/>
        </p:nvSpPr>
        <p:spPr>
          <a:xfrm>
            <a:off x="640080" y="3758184"/>
            <a:ext cx="1508760" cy="658368"/>
          </a:xfrm>
          <a:prstGeom prst="rect">
            <a:avLst/>
          </a:prstGeom>
          <a:noFill/>
          <a:ln/>
        </p:spPr>
        <p:txBody>
          <a:bodyPr wrap="square" lIns="0" tIns="0" rIns="0" bIns="0" rtlCol="0" anchor="ctr"/>
          <a:lstStyle/>
          <a:p>
            <a:pPr algn="r" indent="0" marL="0">
              <a:buNone/>
            </a:pPr>
            <a:r>
              <a:rPr lang="en-US" sz="1300" b="1" dirty="0">
                <a:solidFill>
                  <a:srgbClr val="23282F"/>
                </a:solidFill>
                <a:latin typeface="Calibri" pitchFamily="34" charset="0"/>
                <a:ea typeface="Calibri" pitchFamily="34" charset="-122"/>
                <a:cs typeface="Calibri" pitchFamily="34" charset="-120"/>
              </a:rPr>
              <a:t>Micro-Seg.</a:t>
            </a:r>
            <a:endParaRPr lang="en-US" sz="1300" dirty="0"/>
          </a:p>
        </p:txBody>
      </p:sp>
      <p:sp>
        <p:nvSpPr>
          <p:cNvPr id="68" name="Shape 66"/>
          <p:cNvSpPr/>
          <p:nvPr/>
        </p:nvSpPr>
        <p:spPr>
          <a:xfrm>
            <a:off x="2240280" y="3758184"/>
            <a:ext cx="1316736" cy="603504"/>
          </a:xfrm>
          <a:prstGeom prst="rect">
            <a:avLst/>
          </a:prstGeom>
          <a:solidFill>
            <a:srgbClr val="CFE3EC"/>
          </a:solidFill>
          <a:ln w="19050">
            <a:solidFill>
              <a:srgbClr val="FFFFFF"/>
            </a:solidFill>
            <a:prstDash val="solid"/>
          </a:ln>
        </p:spPr>
      </p:sp>
      <p:sp>
        <p:nvSpPr>
          <p:cNvPr id="69" name="Text 67"/>
          <p:cNvSpPr/>
          <p:nvPr/>
        </p:nvSpPr>
        <p:spPr>
          <a:xfrm>
            <a:off x="2240280" y="3813048"/>
            <a:ext cx="1316736" cy="310896"/>
          </a:xfrm>
          <a:prstGeom prst="rect">
            <a:avLst/>
          </a:prstGeom>
          <a:noFill/>
          <a:ln/>
        </p:spPr>
        <p:txBody>
          <a:bodyPr wrap="square" lIns="0" tIns="0" rIns="0" bIns="0" rtlCol="0" anchor="ctr"/>
          <a:lstStyle/>
          <a:p>
            <a:pPr algn="ctr" indent="0" marL="0">
              <a:buNone/>
            </a:pPr>
            <a:r>
              <a:rPr lang="en-US" sz="1500" b="1" dirty="0">
                <a:solidFill>
                  <a:srgbClr val="23282F"/>
                </a:solidFill>
                <a:latin typeface="Calibri" pitchFamily="34" charset="0"/>
                <a:ea typeface="Calibri" pitchFamily="34" charset="-122"/>
                <a:cs typeface="Calibri" pitchFamily="34" charset="-120"/>
              </a:rPr>
              <a:t>4.3 %</a:t>
            </a:r>
            <a:endParaRPr lang="en-US" sz="1500" dirty="0"/>
          </a:p>
        </p:txBody>
      </p:sp>
      <p:sp>
        <p:nvSpPr>
          <p:cNvPr id="70" name="Text 68"/>
          <p:cNvSpPr/>
          <p:nvPr/>
        </p:nvSpPr>
        <p:spPr>
          <a:xfrm>
            <a:off x="2240280" y="4105656"/>
            <a:ext cx="1316736" cy="237744"/>
          </a:xfrm>
          <a:prstGeom prst="rect">
            <a:avLst/>
          </a:prstGeom>
          <a:noFill/>
          <a:ln/>
        </p:spPr>
        <p:txBody>
          <a:bodyPr wrap="square" lIns="0" tIns="0" rIns="0" bIns="0" rtlCol="0" anchor="ctr"/>
          <a:lstStyle/>
          <a:p>
            <a:pPr algn="ctr" indent="0" marL="0">
              <a:buNone/>
            </a:pPr>
            <a:r>
              <a:rPr lang="en-US" sz="1000" dirty="0">
                <a:solidFill>
                  <a:srgbClr val="6E7681"/>
                </a:solidFill>
                <a:latin typeface="Calibri" pitchFamily="34" charset="0"/>
                <a:ea typeface="Calibri" pitchFamily="34" charset="-122"/>
                <a:cs typeface="Calibri" pitchFamily="34" charset="-120"/>
              </a:rPr>
              <a:t>Zufall 11 %</a:t>
            </a:r>
            <a:endParaRPr lang="en-US" sz="1000" dirty="0"/>
          </a:p>
        </p:txBody>
      </p:sp>
      <p:sp>
        <p:nvSpPr>
          <p:cNvPr id="71" name="Shape 69"/>
          <p:cNvSpPr/>
          <p:nvPr/>
        </p:nvSpPr>
        <p:spPr>
          <a:xfrm>
            <a:off x="3611880" y="3758184"/>
            <a:ext cx="1316736" cy="603504"/>
          </a:xfrm>
          <a:prstGeom prst="rect">
            <a:avLst/>
          </a:prstGeom>
          <a:solidFill>
            <a:srgbClr val="CFE3EC"/>
          </a:solidFill>
          <a:ln w="19050">
            <a:solidFill>
              <a:srgbClr val="FFFFFF"/>
            </a:solidFill>
            <a:prstDash val="solid"/>
          </a:ln>
        </p:spPr>
      </p:sp>
      <p:sp>
        <p:nvSpPr>
          <p:cNvPr id="72" name="Text 70"/>
          <p:cNvSpPr/>
          <p:nvPr/>
        </p:nvSpPr>
        <p:spPr>
          <a:xfrm>
            <a:off x="3611880" y="3813048"/>
            <a:ext cx="1316736" cy="310896"/>
          </a:xfrm>
          <a:prstGeom prst="rect">
            <a:avLst/>
          </a:prstGeom>
          <a:noFill/>
          <a:ln/>
        </p:spPr>
        <p:txBody>
          <a:bodyPr wrap="square" lIns="0" tIns="0" rIns="0" bIns="0" rtlCol="0" anchor="ctr"/>
          <a:lstStyle/>
          <a:p>
            <a:pPr algn="ctr" indent="0" marL="0">
              <a:buNone/>
            </a:pPr>
            <a:r>
              <a:rPr lang="en-US" sz="1500" b="1" dirty="0">
                <a:solidFill>
                  <a:srgbClr val="23282F"/>
                </a:solidFill>
                <a:latin typeface="Calibri" pitchFamily="34" charset="0"/>
                <a:ea typeface="Calibri" pitchFamily="34" charset="-122"/>
                <a:cs typeface="Calibri" pitchFamily="34" charset="-120"/>
              </a:rPr>
              <a:t>4.9 %</a:t>
            </a:r>
            <a:endParaRPr lang="en-US" sz="1500" dirty="0"/>
          </a:p>
        </p:txBody>
      </p:sp>
      <p:sp>
        <p:nvSpPr>
          <p:cNvPr id="73" name="Text 71"/>
          <p:cNvSpPr/>
          <p:nvPr/>
        </p:nvSpPr>
        <p:spPr>
          <a:xfrm>
            <a:off x="3611880" y="4105656"/>
            <a:ext cx="1316736" cy="237744"/>
          </a:xfrm>
          <a:prstGeom prst="rect">
            <a:avLst/>
          </a:prstGeom>
          <a:noFill/>
          <a:ln/>
        </p:spPr>
        <p:txBody>
          <a:bodyPr wrap="square" lIns="0" tIns="0" rIns="0" bIns="0" rtlCol="0" anchor="ctr"/>
          <a:lstStyle/>
          <a:p>
            <a:pPr algn="ctr" indent="0" marL="0">
              <a:buNone/>
            </a:pPr>
            <a:r>
              <a:rPr lang="en-US" sz="1000" dirty="0">
                <a:solidFill>
                  <a:srgbClr val="6E7681"/>
                </a:solidFill>
                <a:latin typeface="Calibri" pitchFamily="34" charset="0"/>
                <a:ea typeface="Calibri" pitchFamily="34" charset="-122"/>
                <a:cs typeface="Calibri" pitchFamily="34" charset="-120"/>
              </a:rPr>
              <a:t>Zufall 16 %</a:t>
            </a:r>
            <a:endParaRPr lang="en-US" sz="1000" dirty="0"/>
          </a:p>
        </p:txBody>
      </p:sp>
      <p:sp>
        <p:nvSpPr>
          <p:cNvPr id="74" name="Shape 72"/>
          <p:cNvSpPr/>
          <p:nvPr/>
        </p:nvSpPr>
        <p:spPr>
          <a:xfrm>
            <a:off x="4983480" y="3758184"/>
            <a:ext cx="1316736" cy="603504"/>
          </a:xfrm>
          <a:prstGeom prst="rect">
            <a:avLst/>
          </a:prstGeom>
          <a:solidFill>
            <a:srgbClr val="CFE3EC"/>
          </a:solidFill>
          <a:ln w="19050">
            <a:solidFill>
              <a:srgbClr val="FFFFFF"/>
            </a:solidFill>
            <a:prstDash val="solid"/>
          </a:ln>
        </p:spPr>
      </p:sp>
      <p:sp>
        <p:nvSpPr>
          <p:cNvPr id="75" name="Text 73"/>
          <p:cNvSpPr/>
          <p:nvPr/>
        </p:nvSpPr>
        <p:spPr>
          <a:xfrm>
            <a:off x="4983480" y="3813048"/>
            <a:ext cx="1316736" cy="310896"/>
          </a:xfrm>
          <a:prstGeom prst="rect">
            <a:avLst/>
          </a:prstGeom>
          <a:noFill/>
          <a:ln/>
        </p:spPr>
        <p:txBody>
          <a:bodyPr wrap="square" lIns="0" tIns="0" rIns="0" bIns="0" rtlCol="0" anchor="ctr"/>
          <a:lstStyle/>
          <a:p>
            <a:pPr algn="ctr" indent="0" marL="0">
              <a:buNone/>
            </a:pPr>
            <a:r>
              <a:rPr lang="en-US" sz="1500" b="1" dirty="0">
                <a:solidFill>
                  <a:srgbClr val="23282F"/>
                </a:solidFill>
                <a:latin typeface="Calibri" pitchFamily="34" charset="0"/>
                <a:ea typeface="Calibri" pitchFamily="34" charset="-122"/>
                <a:cs typeface="Calibri" pitchFamily="34" charset="-120"/>
              </a:rPr>
              <a:t>3.0 %</a:t>
            </a:r>
            <a:endParaRPr lang="en-US" sz="1500" dirty="0"/>
          </a:p>
        </p:txBody>
      </p:sp>
      <p:sp>
        <p:nvSpPr>
          <p:cNvPr id="76" name="Text 74"/>
          <p:cNvSpPr/>
          <p:nvPr/>
        </p:nvSpPr>
        <p:spPr>
          <a:xfrm>
            <a:off x="4983480" y="4105656"/>
            <a:ext cx="1316736" cy="237744"/>
          </a:xfrm>
          <a:prstGeom prst="rect">
            <a:avLst/>
          </a:prstGeom>
          <a:noFill/>
          <a:ln/>
        </p:spPr>
        <p:txBody>
          <a:bodyPr wrap="square" lIns="0" tIns="0" rIns="0" bIns="0" rtlCol="0" anchor="ctr"/>
          <a:lstStyle/>
          <a:p>
            <a:pPr algn="ctr" indent="0" marL="0">
              <a:buNone/>
            </a:pPr>
            <a:r>
              <a:rPr lang="en-US" sz="1000" dirty="0">
                <a:solidFill>
                  <a:srgbClr val="6E7681"/>
                </a:solidFill>
                <a:latin typeface="Calibri" pitchFamily="34" charset="0"/>
                <a:ea typeface="Calibri" pitchFamily="34" charset="-122"/>
                <a:cs typeface="Calibri" pitchFamily="34" charset="-120"/>
              </a:rPr>
              <a:t>Zufall 22 %</a:t>
            </a:r>
            <a:endParaRPr lang="en-US" sz="1000" dirty="0"/>
          </a:p>
        </p:txBody>
      </p:sp>
      <p:sp>
        <p:nvSpPr>
          <p:cNvPr id="77" name="Shape 75"/>
          <p:cNvSpPr/>
          <p:nvPr/>
        </p:nvSpPr>
        <p:spPr>
          <a:xfrm>
            <a:off x="6355080" y="3758184"/>
            <a:ext cx="1316736" cy="603504"/>
          </a:xfrm>
          <a:prstGeom prst="rect">
            <a:avLst/>
          </a:prstGeom>
          <a:solidFill>
            <a:srgbClr val="EDF2F5"/>
          </a:solidFill>
          <a:ln w="19050">
            <a:solidFill>
              <a:srgbClr val="FFFFFF"/>
            </a:solidFill>
            <a:prstDash val="solid"/>
          </a:ln>
        </p:spPr>
      </p:sp>
      <p:sp>
        <p:nvSpPr>
          <p:cNvPr id="78" name="Text 76"/>
          <p:cNvSpPr/>
          <p:nvPr/>
        </p:nvSpPr>
        <p:spPr>
          <a:xfrm>
            <a:off x="6355080" y="3813048"/>
            <a:ext cx="1316736" cy="310896"/>
          </a:xfrm>
          <a:prstGeom prst="rect">
            <a:avLst/>
          </a:prstGeom>
          <a:noFill/>
          <a:ln/>
        </p:spPr>
        <p:txBody>
          <a:bodyPr wrap="square" lIns="0" tIns="0" rIns="0" bIns="0" rtlCol="0" anchor="ctr"/>
          <a:lstStyle/>
          <a:p>
            <a:pPr algn="ctr" indent="0" marL="0">
              <a:buNone/>
            </a:pPr>
            <a:r>
              <a:rPr lang="en-US" sz="1500" b="1" dirty="0">
                <a:solidFill>
                  <a:srgbClr val="23282F"/>
                </a:solidFill>
                <a:latin typeface="Calibri" pitchFamily="34" charset="0"/>
                <a:ea typeface="Calibri" pitchFamily="34" charset="-122"/>
                <a:cs typeface="Calibri" pitchFamily="34" charset="-120"/>
              </a:rPr>
              <a:t>10.2 %</a:t>
            </a:r>
            <a:endParaRPr lang="en-US" sz="1500" dirty="0"/>
          </a:p>
        </p:txBody>
      </p:sp>
      <p:sp>
        <p:nvSpPr>
          <p:cNvPr id="79" name="Text 77"/>
          <p:cNvSpPr/>
          <p:nvPr/>
        </p:nvSpPr>
        <p:spPr>
          <a:xfrm>
            <a:off x="6355080" y="4105656"/>
            <a:ext cx="1316736" cy="237744"/>
          </a:xfrm>
          <a:prstGeom prst="rect">
            <a:avLst/>
          </a:prstGeom>
          <a:noFill/>
          <a:ln/>
        </p:spPr>
        <p:txBody>
          <a:bodyPr wrap="square" lIns="0" tIns="0" rIns="0" bIns="0" rtlCol="0" anchor="ctr"/>
          <a:lstStyle/>
          <a:p>
            <a:pPr algn="ctr" indent="0" marL="0">
              <a:buNone/>
            </a:pPr>
            <a:r>
              <a:rPr lang="en-US" sz="1000" dirty="0">
                <a:solidFill>
                  <a:srgbClr val="6E7681"/>
                </a:solidFill>
                <a:latin typeface="Calibri" pitchFamily="34" charset="0"/>
                <a:ea typeface="Calibri" pitchFamily="34" charset="-122"/>
                <a:cs typeface="Calibri" pitchFamily="34" charset="-120"/>
              </a:rPr>
              <a:t>Zufall 12 %</a:t>
            </a:r>
            <a:endParaRPr lang="en-US" sz="1000" dirty="0"/>
          </a:p>
        </p:txBody>
      </p:sp>
      <p:sp>
        <p:nvSpPr>
          <p:cNvPr id="80" name="Shape 78"/>
          <p:cNvSpPr/>
          <p:nvPr/>
        </p:nvSpPr>
        <p:spPr>
          <a:xfrm>
            <a:off x="7726680" y="3758184"/>
            <a:ext cx="1316736" cy="603504"/>
          </a:xfrm>
          <a:prstGeom prst="rect">
            <a:avLst/>
          </a:prstGeom>
          <a:solidFill>
            <a:srgbClr val="CFE3EC"/>
          </a:solidFill>
          <a:ln w="19050">
            <a:solidFill>
              <a:srgbClr val="FFFFFF"/>
            </a:solidFill>
            <a:prstDash val="solid"/>
          </a:ln>
        </p:spPr>
      </p:sp>
      <p:sp>
        <p:nvSpPr>
          <p:cNvPr id="81" name="Text 79"/>
          <p:cNvSpPr/>
          <p:nvPr/>
        </p:nvSpPr>
        <p:spPr>
          <a:xfrm>
            <a:off x="7726680" y="3813048"/>
            <a:ext cx="1316736" cy="310896"/>
          </a:xfrm>
          <a:prstGeom prst="rect">
            <a:avLst/>
          </a:prstGeom>
          <a:noFill/>
          <a:ln/>
        </p:spPr>
        <p:txBody>
          <a:bodyPr wrap="square" lIns="0" tIns="0" rIns="0" bIns="0" rtlCol="0" anchor="ctr"/>
          <a:lstStyle/>
          <a:p>
            <a:pPr algn="ctr" indent="0" marL="0">
              <a:buNone/>
            </a:pPr>
            <a:r>
              <a:rPr lang="en-US" sz="1500" b="1" dirty="0">
                <a:solidFill>
                  <a:srgbClr val="23282F"/>
                </a:solidFill>
                <a:latin typeface="Calibri" pitchFamily="34" charset="0"/>
                <a:ea typeface="Calibri" pitchFamily="34" charset="-122"/>
                <a:cs typeface="Calibri" pitchFamily="34" charset="-120"/>
              </a:rPr>
              <a:t>1.2 %</a:t>
            </a:r>
            <a:endParaRPr lang="en-US" sz="1500" dirty="0"/>
          </a:p>
        </p:txBody>
      </p:sp>
      <p:sp>
        <p:nvSpPr>
          <p:cNvPr id="82" name="Text 80"/>
          <p:cNvSpPr/>
          <p:nvPr/>
        </p:nvSpPr>
        <p:spPr>
          <a:xfrm>
            <a:off x="7726680" y="4105656"/>
            <a:ext cx="1316736" cy="237744"/>
          </a:xfrm>
          <a:prstGeom prst="rect">
            <a:avLst/>
          </a:prstGeom>
          <a:noFill/>
          <a:ln/>
        </p:spPr>
        <p:txBody>
          <a:bodyPr wrap="square" lIns="0" tIns="0" rIns="0" bIns="0" rtlCol="0" anchor="ctr"/>
          <a:lstStyle/>
          <a:p>
            <a:pPr algn="ctr" indent="0" marL="0">
              <a:buNone/>
            </a:pPr>
            <a:r>
              <a:rPr lang="en-US" sz="1000" dirty="0">
                <a:solidFill>
                  <a:srgbClr val="6E7681"/>
                </a:solidFill>
                <a:latin typeface="Calibri" pitchFamily="34" charset="0"/>
                <a:ea typeface="Calibri" pitchFamily="34" charset="-122"/>
                <a:cs typeface="Calibri" pitchFamily="34" charset="-120"/>
              </a:rPr>
              <a:t>Zufall 37 %</a:t>
            </a:r>
            <a:endParaRPr lang="en-US" sz="1000" dirty="0"/>
          </a:p>
        </p:txBody>
      </p:sp>
      <p:sp>
        <p:nvSpPr>
          <p:cNvPr id="83" name="Shape 81"/>
          <p:cNvSpPr/>
          <p:nvPr/>
        </p:nvSpPr>
        <p:spPr>
          <a:xfrm>
            <a:off x="9098280" y="3758184"/>
            <a:ext cx="1316736" cy="603504"/>
          </a:xfrm>
          <a:prstGeom prst="rect">
            <a:avLst/>
          </a:prstGeom>
          <a:solidFill>
            <a:srgbClr val="CFE3EC"/>
          </a:solidFill>
          <a:ln w="19050">
            <a:solidFill>
              <a:srgbClr val="FFFFFF"/>
            </a:solidFill>
            <a:prstDash val="solid"/>
          </a:ln>
        </p:spPr>
      </p:sp>
      <p:sp>
        <p:nvSpPr>
          <p:cNvPr id="84" name="Text 82"/>
          <p:cNvSpPr/>
          <p:nvPr/>
        </p:nvSpPr>
        <p:spPr>
          <a:xfrm>
            <a:off x="9098280" y="3813048"/>
            <a:ext cx="1316736" cy="310896"/>
          </a:xfrm>
          <a:prstGeom prst="rect">
            <a:avLst/>
          </a:prstGeom>
          <a:noFill/>
          <a:ln/>
        </p:spPr>
        <p:txBody>
          <a:bodyPr wrap="square" lIns="0" tIns="0" rIns="0" bIns="0" rtlCol="0" anchor="ctr"/>
          <a:lstStyle/>
          <a:p>
            <a:pPr algn="ctr" indent="0" marL="0">
              <a:buNone/>
            </a:pPr>
            <a:r>
              <a:rPr lang="en-US" sz="1500" b="1" dirty="0">
                <a:solidFill>
                  <a:srgbClr val="23282F"/>
                </a:solidFill>
                <a:latin typeface="Calibri" pitchFamily="34" charset="0"/>
                <a:ea typeface="Calibri" pitchFamily="34" charset="-122"/>
                <a:cs typeface="Calibri" pitchFamily="34" charset="-120"/>
              </a:rPr>
              <a:t>3.6 %</a:t>
            </a:r>
            <a:endParaRPr lang="en-US" sz="1500" dirty="0"/>
          </a:p>
        </p:txBody>
      </p:sp>
      <p:sp>
        <p:nvSpPr>
          <p:cNvPr id="85" name="Text 83"/>
          <p:cNvSpPr/>
          <p:nvPr/>
        </p:nvSpPr>
        <p:spPr>
          <a:xfrm>
            <a:off x="9098280" y="4105656"/>
            <a:ext cx="1316736" cy="237744"/>
          </a:xfrm>
          <a:prstGeom prst="rect">
            <a:avLst/>
          </a:prstGeom>
          <a:noFill/>
          <a:ln/>
        </p:spPr>
        <p:txBody>
          <a:bodyPr wrap="square" lIns="0" tIns="0" rIns="0" bIns="0" rtlCol="0" anchor="ctr"/>
          <a:lstStyle/>
          <a:p>
            <a:pPr algn="ctr" indent="0" marL="0">
              <a:buNone/>
            </a:pPr>
            <a:r>
              <a:rPr lang="en-US" sz="1000" dirty="0">
                <a:solidFill>
                  <a:srgbClr val="6E7681"/>
                </a:solidFill>
                <a:latin typeface="Calibri" pitchFamily="34" charset="0"/>
                <a:ea typeface="Calibri" pitchFamily="34" charset="-122"/>
                <a:cs typeface="Calibri" pitchFamily="34" charset="-120"/>
              </a:rPr>
              <a:t>Zufall 27 %</a:t>
            </a:r>
            <a:endParaRPr lang="en-US" sz="1000" dirty="0"/>
          </a:p>
        </p:txBody>
      </p:sp>
      <p:sp>
        <p:nvSpPr>
          <p:cNvPr id="86" name="Text 84"/>
          <p:cNvSpPr/>
          <p:nvPr/>
        </p:nvSpPr>
        <p:spPr>
          <a:xfrm>
            <a:off x="640080" y="4617720"/>
            <a:ext cx="10881360" cy="502920"/>
          </a:xfrm>
          <a:prstGeom prst="rect">
            <a:avLst/>
          </a:prstGeom>
          <a:noFill/>
          <a:ln/>
        </p:spPr>
        <p:txBody>
          <a:bodyPr wrap="square" lIns="0" tIns="0" rIns="0" bIns="0" rtlCol="0" anchor="ctr"/>
          <a:lstStyle/>
          <a:p>
            <a:pPr indent="0" marL="0">
              <a:buNone/>
            </a:pPr>
            <a:r>
              <a:rPr lang="en-US" sz="1450" b="1" dirty="0">
                <a:solidFill>
                  <a:srgbClr val="1C6E8C"/>
                </a:solidFill>
                <a:latin typeface="Calibri" pitchFamily="34" charset="0"/>
                <a:ea typeface="Calibri" pitchFamily="34" charset="-122"/>
                <a:cs typeface="Calibri" pitchFamily="34" charset="-120"/>
              </a:rPr>
              <a:t>Der trainierte Verteidiger drückt den Angreifer-Reward überall auf 0,5 bis 12 % des ungeschützten Werts, spürbar unter dem Zufallsagenten (9 bis 21 %). Am deutlichsten der Gewinn in Micro-Segmentation: +16,4 Prozentpunkte gegenüber Zufall, gemittelt über alle sechs Angreifer.</a:t>
            </a:r>
            <a:endParaRPr lang="en-US" sz="1450" dirty="0"/>
          </a:p>
        </p:txBody>
      </p:sp>
      <p:sp>
        <p:nvSpPr>
          <p:cNvPr id="87" name="Text 85"/>
          <p:cNvSpPr/>
          <p:nvPr/>
        </p:nvSpPr>
        <p:spPr>
          <a:xfrm>
            <a:off x="640080" y="5074920"/>
            <a:ext cx="10881360" cy="502920"/>
          </a:xfrm>
          <a:prstGeom prst="rect">
            <a:avLst/>
          </a:prstGeom>
          <a:noFill/>
          <a:ln/>
        </p:spPr>
        <p:txBody>
          <a:bodyPr wrap="square" lIns="0" tIns="0" rIns="0" bIns="0" rtlCol="0" anchor="ctr"/>
          <a:lstStyle/>
          <a:p>
            <a:pPr indent="0" marL="0">
              <a:buNone/>
            </a:pPr>
            <a:r>
              <a:rPr lang="en-US" sz="1150" dirty="0">
                <a:solidFill>
                  <a:srgbClr val="6E7681"/>
                </a:solidFill>
                <a:latin typeface="Calibri" pitchFamily="34" charset="0"/>
                <a:ea typeface="Calibri" pitchFamily="34" charset="-122"/>
                <a:cs typeface="Calibri" pitchFamily="34" charset="-120"/>
              </a:rPr>
              <a:t>Anders als im Referenzlauf vor dem Reward-Fix liegen trainiertes Modell und Zufallsagent hier nicht dicht beieinander: Der Restanteil des trainierten Modells ist in jeder der 24 Zellen niedriger als der des Zufallsagenten.</a:t>
            </a:r>
            <a:endParaRPr lang="en-US" sz="1150" dirty="0"/>
          </a:p>
        </p:txBody>
      </p:sp>
      <p:sp>
        <p:nvSpPr>
          <p:cNvPr id="88" name="Text 86"/>
          <p:cNvSpPr/>
          <p:nvPr/>
        </p:nvSpPr>
        <p:spPr>
          <a:xfrm>
            <a:off x="640080" y="6291072"/>
            <a:ext cx="10881360" cy="274320"/>
          </a:xfrm>
          <a:prstGeom prst="rect">
            <a:avLst/>
          </a:prstGeom>
          <a:noFill/>
          <a:ln/>
        </p:spPr>
        <p:txBody>
          <a:bodyPr wrap="square" lIns="0" tIns="0" rIns="0" bIns="0" rtlCol="0" anchor="ctr"/>
          <a:lstStyle/>
          <a:p>
            <a:pPr indent="0" marL="0">
              <a:buNone/>
            </a:pPr>
            <a:r>
              <a:rPr lang="en-US" sz="1000" i="1" dirty="0">
                <a:solidFill>
                  <a:srgbClr val="6E7681"/>
                </a:solidFill>
                <a:latin typeface="Calibri" pitchFamily="34" charset="0"/>
                <a:ea typeface="Calibri" pitchFamily="34" charset="-122"/>
                <a:cs typeface="Calibri" pitchFamily="34" charset="-120"/>
              </a:rPr>
              <a:t>Restanteil = Angreifer-Reward mit Verteidiger geteilt durch den ohne Verteidiger, Median über Episoden und über alle fünf Seeds. Beide Agenten sind eingefroren, 25 Episoden je Zelle.</a:t>
            </a:r>
            <a:endParaRPr lang="en-US" sz="10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640080" y="384048"/>
            <a:ext cx="10881360" cy="566928"/>
          </a:xfrm>
          <a:prstGeom prst="rect">
            <a:avLst/>
          </a:prstGeom>
          <a:noFill/>
          <a:ln/>
        </p:spPr>
        <p:txBody>
          <a:bodyPr wrap="square" lIns="0" tIns="0" rIns="0" bIns="0" rtlCol="0" anchor="ctr"/>
          <a:lstStyle/>
          <a:p>
            <a:pPr indent="0" marL="0">
              <a:buNone/>
            </a:pPr>
            <a:r>
              <a:rPr lang="en-US" sz="3400" b="1" dirty="0">
                <a:solidFill>
                  <a:srgbClr val="23282F"/>
                </a:solidFill>
                <a:latin typeface="Cambria" pitchFamily="34" charset="0"/>
                <a:ea typeface="Cambria" pitchFamily="34" charset="-122"/>
                <a:cs typeface="Cambria" pitchFamily="34" charset="-120"/>
              </a:rPr>
              <a:t>Bringt der Verteidiger etwas? Gehaltene Knoten</a:t>
            </a:r>
            <a:endParaRPr lang="en-US" sz="3400" dirty="0"/>
          </a:p>
        </p:txBody>
      </p:sp>
      <p:sp>
        <p:nvSpPr>
          <p:cNvPr id="3" name="Text 1"/>
          <p:cNvSpPr/>
          <p:nvPr/>
        </p:nvSpPr>
        <p:spPr>
          <a:xfrm>
            <a:off x="640080" y="969264"/>
            <a:ext cx="10881360" cy="493776"/>
          </a:xfrm>
          <a:prstGeom prst="rect">
            <a:avLst/>
          </a:prstGeom>
          <a:noFill/>
          <a:ln/>
        </p:spPr>
        <p:txBody>
          <a:bodyPr wrap="square" lIns="0" tIns="0" rIns="0" bIns="0" rtlCol="0" anchor="ctr"/>
          <a:lstStyle/>
          <a:p>
            <a:pPr indent="0" marL="0">
              <a:buNone/>
            </a:pPr>
            <a:r>
              <a:rPr lang="en-US" sz="1400" dirty="0">
                <a:solidFill>
                  <a:srgbClr val="6E7681"/>
                </a:solidFill>
                <a:latin typeface="Calibri" pitchFamily="34" charset="0"/>
                <a:ea typeface="Calibri" pitchFamily="34" charset="-122"/>
                <a:cs typeface="Calibri" pitchFamily="34" charset="-120"/>
              </a:rPr>
              <a:t>Vom Angreifer gehaltene Knoten je Matchup, von zehn im Netz, gegen das trainierte Modell, Zeile = verteidigte Topologie, Spalte = Angreifer</a:t>
            </a:r>
            <a:endParaRPr lang="en-US" sz="1400" dirty="0"/>
          </a:p>
        </p:txBody>
      </p:sp>
      <p:sp>
        <p:nvSpPr>
          <p:cNvPr id="4" name="Text 2"/>
          <p:cNvSpPr/>
          <p:nvPr/>
        </p:nvSpPr>
        <p:spPr>
          <a:xfrm>
            <a:off x="2240280" y="1399032"/>
            <a:ext cx="1371600" cy="329184"/>
          </a:xfrm>
          <a:prstGeom prst="rect">
            <a:avLst/>
          </a:prstGeom>
          <a:noFill/>
          <a:ln/>
        </p:spPr>
        <p:txBody>
          <a:bodyPr wrap="square" lIns="0" tIns="0" rIns="0" bIns="0" rtlCol="0" anchor="ctr"/>
          <a:lstStyle/>
          <a:p>
            <a:pPr algn="ctr" indent="0" marL="0">
              <a:buNone/>
            </a:pPr>
            <a:r>
              <a:rPr lang="en-US" sz="1200" b="1" dirty="0">
                <a:solidFill>
                  <a:srgbClr val="6E7681"/>
                </a:solidFill>
                <a:latin typeface="Calibri" pitchFamily="34" charset="0"/>
                <a:ea typeface="Calibri" pitchFamily="34" charset="-122"/>
                <a:cs typeface="Calibri" pitchFamily="34" charset="-120"/>
              </a:rPr>
              <a:t>Chain</a:t>
            </a:r>
            <a:endParaRPr lang="en-US" sz="1200" dirty="0"/>
          </a:p>
        </p:txBody>
      </p:sp>
      <p:sp>
        <p:nvSpPr>
          <p:cNvPr id="5" name="Text 3"/>
          <p:cNvSpPr/>
          <p:nvPr/>
        </p:nvSpPr>
        <p:spPr>
          <a:xfrm>
            <a:off x="3611880" y="1399032"/>
            <a:ext cx="1371600" cy="329184"/>
          </a:xfrm>
          <a:prstGeom prst="rect">
            <a:avLst/>
          </a:prstGeom>
          <a:noFill/>
          <a:ln/>
        </p:spPr>
        <p:txBody>
          <a:bodyPr wrap="square" lIns="0" tIns="0" rIns="0" bIns="0" rtlCol="0" anchor="ctr"/>
          <a:lstStyle/>
          <a:p>
            <a:pPr algn="ctr" indent="0" marL="0">
              <a:buNone/>
            </a:pPr>
            <a:r>
              <a:rPr lang="en-US" sz="1200" b="1" dirty="0">
                <a:solidFill>
                  <a:srgbClr val="6E7681"/>
                </a:solidFill>
                <a:latin typeface="Calibri" pitchFamily="34" charset="0"/>
                <a:ea typeface="Calibri" pitchFamily="34" charset="-122"/>
                <a:cs typeface="Calibri" pitchFamily="34" charset="-120"/>
              </a:rPr>
              <a:t>Flat</a:t>
            </a:r>
            <a:endParaRPr lang="en-US" sz="1200" dirty="0"/>
          </a:p>
        </p:txBody>
      </p:sp>
      <p:sp>
        <p:nvSpPr>
          <p:cNvPr id="6" name="Text 4"/>
          <p:cNvSpPr/>
          <p:nvPr/>
        </p:nvSpPr>
        <p:spPr>
          <a:xfrm>
            <a:off x="4983480" y="1399032"/>
            <a:ext cx="1371600" cy="329184"/>
          </a:xfrm>
          <a:prstGeom prst="rect">
            <a:avLst/>
          </a:prstGeom>
          <a:noFill/>
          <a:ln/>
        </p:spPr>
        <p:txBody>
          <a:bodyPr wrap="square" lIns="0" tIns="0" rIns="0" bIns="0" rtlCol="0" anchor="ctr"/>
          <a:lstStyle/>
          <a:p>
            <a:pPr algn="ctr" indent="0" marL="0">
              <a:buNone/>
            </a:pPr>
            <a:r>
              <a:rPr lang="en-US" sz="1200" b="1" dirty="0">
                <a:solidFill>
                  <a:srgbClr val="6E7681"/>
                </a:solidFill>
                <a:latin typeface="Calibri" pitchFamily="34" charset="0"/>
                <a:ea typeface="Calibri" pitchFamily="34" charset="-122"/>
                <a:cs typeface="Calibri" pitchFamily="34" charset="-120"/>
              </a:rPr>
              <a:t>Hub &amp; Spoke</a:t>
            </a:r>
            <a:endParaRPr lang="en-US" sz="1200" dirty="0"/>
          </a:p>
        </p:txBody>
      </p:sp>
      <p:sp>
        <p:nvSpPr>
          <p:cNvPr id="7" name="Text 5"/>
          <p:cNvSpPr/>
          <p:nvPr/>
        </p:nvSpPr>
        <p:spPr>
          <a:xfrm>
            <a:off x="6355080" y="1399032"/>
            <a:ext cx="1371600" cy="329184"/>
          </a:xfrm>
          <a:prstGeom prst="rect">
            <a:avLst/>
          </a:prstGeom>
          <a:noFill/>
          <a:ln/>
        </p:spPr>
        <p:txBody>
          <a:bodyPr wrap="square" lIns="0" tIns="0" rIns="0" bIns="0" rtlCol="0" anchor="ctr"/>
          <a:lstStyle/>
          <a:p>
            <a:pPr algn="ctr" indent="0" marL="0">
              <a:buNone/>
            </a:pPr>
            <a:r>
              <a:rPr lang="en-US" sz="1200" b="1" dirty="0">
                <a:solidFill>
                  <a:srgbClr val="6E7681"/>
                </a:solidFill>
                <a:latin typeface="Calibri" pitchFamily="34" charset="0"/>
                <a:ea typeface="Calibri" pitchFamily="34" charset="-122"/>
                <a:cs typeface="Calibri" pitchFamily="34" charset="-120"/>
              </a:rPr>
              <a:t>DMZ</a:t>
            </a:r>
            <a:endParaRPr lang="en-US" sz="1200" dirty="0"/>
          </a:p>
        </p:txBody>
      </p:sp>
      <p:sp>
        <p:nvSpPr>
          <p:cNvPr id="8" name="Text 6"/>
          <p:cNvSpPr/>
          <p:nvPr/>
        </p:nvSpPr>
        <p:spPr>
          <a:xfrm>
            <a:off x="7726680" y="1399032"/>
            <a:ext cx="1371600" cy="329184"/>
          </a:xfrm>
          <a:prstGeom prst="rect">
            <a:avLst/>
          </a:prstGeom>
          <a:noFill/>
          <a:ln/>
        </p:spPr>
        <p:txBody>
          <a:bodyPr wrap="square" lIns="0" tIns="0" rIns="0" bIns="0" rtlCol="0" anchor="ctr"/>
          <a:lstStyle/>
          <a:p>
            <a:pPr algn="ctr" indent="0" marL="0">
              <a:buNone/>
            </a:pPr>
            <a:r>
              <a:rPr lang="en-US" sz="1200" b="1" dirty="0">
                <a:solidFill>
                  <a:srgbClr val="6E7681"/>
                </a:solidFill>
                <a:latin typeface="Calibri" pitchFamily="34" charset="0"/>
                <a:ea typeface="Calibri" pitchFamily="34" charset="-122"/>
                <a:cs typeface="Calibri" pitchFamily="34" charset="-120"/>
              </a:rPr>
              <a:t>Micro-Seg.</a:t>
            </a:r>
            <a:endParaRPr lang="en-US" sz="1200" dirty="0"/>
          </a:p>
        </p:txBody>
      </p:sp>
      <p:sp>
        <p:nvSpPr>
          <p:cNvPr id="9" name="Text 7"/>
          <p:cNvSpPr/>
          <p:nvPr/>
        </p:nvSpPr>
        <p:spPr>
          <a:xfrm>
            <a:off x="9098280" y="1399032"/>
            <a:ext cx="1371600" cy="329184"/>
          </a:xfrm>
          <a:prstGeom prst="rect">
            <a:avLst/>
          </a:prstGeom>
          <a:noFill/>
          <a:ln/>
        </p:spPr>
        <p:txBody>
          <a:bodyPr wrap="square" lIns="0" tIns="0" rIns="0" bIns="0" rtlCol="0" anchor="ctr"/>
          <a:lstStyle/>
          <a:p>
            <a:pPr algn="ctr" indent="0" marL="0">
              <a:buNone/>
            </a:pPr>
            <a:r>
              <a:rPr lang="en-US" sz="1200" b="1" dirty="0">
                <a:solidFill>
                  <a:srgbClr val="6E7681"/>
                </a:solidFill>
                <a:latin typeface="Calibri" pitchFamily="34" charset="0"/>
                <a:ea typeface="Calibri" pitchFamily="34" charset="-122"/>
                <a:cs typeface="Calibri" pitchFamily="34" charset="-120"/>
              </a:rPr>
              <a:t>Super</a:t>
            </a:r>
            <a:endParaRPr lang="en-US" sz="1200" dirty="0"/>
          </a:p>
        </p:txBody>
      </p:sp>
      <p:sp>
        <p:nvSpPr>
          <p:cNvPr id="10" name="Text 8"/>
          <p:cNvSpPr/>
          <p:nvPr/>
        </p:nvSpPr>
        <p:spPr>
          <a:xfrm>
            <a:off x="640080" y="1783080"/>
            <a:ext cx="1508760" cy="713232"/>
          </a:xfrm>
          <a:prstGeom prst="rect">
            <a:avLst/>
          </a:prstGeom>
          <a:noFill/>
          <a:ln/>
        </p:spPr>
        <p:txBody>
          <a:bodyPr wrap="square" lIns="0" tIns="0" rIns="0" bIns="0" rtlCol="0" anchor="ctr"/>
          <a:lstStyle/>
          <a:p>
            <a:pPr algn="r" indent="0" marL="0">
              <a:buNone/>
            </a:pPr>
            <a:r>
              <a:rPr lang="en-US" sz="1300" b="1" dirty="0">
                <a:solidFill>
                  <a:srgbClr val="23282F"/>
                </a:solidFill>
                <a:latin typeface="Calibri" pitchFamily="34" charset="0"/>
                <a:ea typeface="Calibri" pitchFamily="34" charset="-122"/>
                <a:cs typeface="Calibri" pitchFamily="34" charset="-120"/>
              </a:rPr>
              <a:t>Flat</a:t>
            </a:r>
            <a:endParaRPr lang="en-US" sz="1300" dirty="0"/>
          </a:p>
        </p:txBody>
      </p:sp>
      <p:sp>
        <p:nvSpPr>
          <p:cNvPr id="11" name="Shape 9"/>
          <p:cNvSpPr/>
          <p:nvPr/>
        </p:nvSpPr>
        <p:spPr>
          <a:xfrm>
            <a:off x="2240280" y="1783080"/>
            <a:ext cx="1316736" cy="658368"/>
          </a:xfrm>
          <a:prstGeom prst="rect">
            <a:avLst/>
          </a:prstGeom>
          <a:solidFill>
            <a:srgbClr val="E9F1F5"/>
          </a:solidFill>
          <a:ln w="19050">
            <a:solidFill>
              <a:srgbClr val="FFFFFF"/>
            </a:solidFill>
            <a:prstDash val="solid"/>
          </a:ln>
        </p:spPr>
      </p:sp>
      <p:sp>
        <p:nvSpPr>
          <p:cNvPr id="12" name="Text 10"/>
          <p:cNvSpPr/>
          <p:nvPr/>
        </p:nvSpPr>
        <p:spPr>
          <a:xfrm>
            <a:off x="2240280" y="1837944"/>
            <a:ext cx="1316736" cy="329184"/>
          </a:xfrm>
          <a:prstGeom prst="rect">
            <a:avLst/>
          </a:prstGeom>
          <a:noFill/>
          <a:ln/>
        </p:spPr>
        <p:txBody>
          <a:bodyPr wrap="square" lIns="0" tIns="0" rIns="0" bIns="0" rtlCol="0" anchor="ctr"/>
          <a:lstStyle/>
          <a:p>
            <a:pPr algn="ctr" indent="0" marL="0">
              <a:buNone/>
            </a:pPr>
            <a:r>
              <a:rPr lang="en-US" sz="1500" b="1" dirty="0">
                <a:solidFill>
                  <a:srgbClr val="23282F"/>
                </a:solidFill>
                <a:latin typeface="Cambria" pitchFamily="34" charset="0"/>
                <a:ea typeface="Cambria" pitchFamily="34" charset="-122"/>
                <a:cs typeface="Cambria" pitchFamily="34" charset="-120"/>
              </a:rPr>
              <a:t>2.0</a:t>
            </a:r>
            <a:endParaRPr lang="en-US" sz="1500" dirty="0"/>
          </a:p>
        </p:txBody>
      </p:sp>
      <p:sp>
        <p:nvSpPr>
          <p:cNvPr id="13" name="Text 11"/>
          <p:cNvSpPr/>
          <p:nvPr/>
        </p:nvSpPr>
        <p:spPr>
          <a:xfrm>
            <a:off x="2240280" y="2167128"/>
            <a:ext cx="1316736" cy="274320"/>
          </a:xfrm>
          <a:prstGeom prst="rect">
            <a:avLst/>
          </a:prstGeom>
          <a:noFill/>
          <a:ln/>
        </p:spPr>
        <p:txBody>
          <a:bodyPr wrap="square" lIns="0" tIns="0" rIns="0" bIns="0" rtlCol="0" anchor="ctr"/>
          <a:lstStyle/>
          <a:p>
            <a:pPr algn="ctr" indent="0" marL="0">
              <a:buNone/>
            </a:pPr>
            <a:r>
              <a:rPr lang="en-US" sz="900" dirty="0">
                <a:solidFill>
                  <a:srgbClr val="6E7681"/>
                </a:solidFill>
                <a:latin typeface="Calibri" pitchFamily="34" charset="0"/>
                <a:ea typeface="Calibri" pitchFamily="34" charset="-122"/>
                <a:cs typeface="Calibri" pitchFamily="34" charset="-120"/>
              </a:rPr>
              <a:t>ohne 7 · Zuf 3</a:t>
            </a:r>
            <a:endParaRPr lang="en-US" sz="900" dirty="0"/>
          </a:p>
        </p:txBody>
      </p:sp>
      <p:sp>
        <p:nvSpPr>
          <p:cNvPr id="14" name="Shape 12"/>
          <p:cNvSpPr/>
          <p:nvPr/>
        </p:nvSpPr>
        <p:spPr>
          <a:xfrm>
            <a:off x="3611880" y="1783080"/>
            <a:ext cx="1316736" cy="658368"/>
          </a:xfrm>
          <a:prstGeom prst="rect">
            <a:avLst/>
          </a:prstGeom>
          <a:solidFill>
            <a:srgbClr val="F2D3CC"/>
          </a:solidFill>
          <a:ln w="19050">
            <a:solidFill>
              <a:srgbClr val="FFFFFF"/>
            </a:solidFill>
            <a:prstDash val="solid"/>
          </a:ln>
        </p:spPr>
      </p:sp>
      <p:sp>
        <p:nvSpPr>
          <p:cNvPr id="15" name="Text 13"/>
          <p:cNvSpPr/>
          <p:nvPr/>
        </p:nvSpPr>
        <p:spPr>
          <a:xfrm>
            <a:off x="3611880" y="1837944"/>
            <a:ext cx="1316736" cy="329184"/>
          </a:xfrm>
          <a:prstGeom prst="rect">
            <a:avLst/>
          </a:prstGeom>
          <a:noFill/>
          <a:ln/>
        </p:spPr>
        <p:txBody>
          <a:bodyPr wrap="square" lIns="0" tIns="0" rIns="0" bIns="0" rtlCol="0" anchor="ctr"/>
          <a:lstStyle/>
          <a:p>
            <a:pPr algn="ctr" indent="0" marL="0">
              <a:buNone/>
            </a:pPr>
            <a:r>
              <a:rPr lang="en-US" sz="1500" b="1" dirty="0">
                <a:solidFill>
                  <a:srgbClr val="23282F"/>
                </a:solidFill>
                <a:latin typeface="Cambria" pitchFamily="34" charset="0"/>
                <a:ea typeface="Cambria" pitchFamily="34" charset="-122"/>
                <a:cs typeface="Cambria" pitchFamily="34" charset="-120"/>
              </a:rPr>
              <a:t>7.0</a:t>
            </a:r>
            <a:endParaRPr lang="en-US" sz="1500" dirty="0"/>
          </a:p>
        </p:txBody>
      </p:sp>
      <p:sp>
        <p:nvSpPr>
          <p:cNvPr id="16" name="Text 14"/>
          <p:cNvSpPr/>
          <p:nvPr/>
        </p:nvSpPr>
        <p:spPr>
          <a:xfrm>
            <a:off x="3611880" y="2167128"/>
            <a:ext cx="1316736" cy="274320"/>
          </a:xfrm>
          <a:prstGeom prst="rect">
            <a:avLst/>
          </a:prstGeom>
          <a:noFill/>
          <a:ln/>
        </p:spPr>
        <p:txBody>
          <a:bodyPr wrap="square" lIns="0" tIns="0" rIns="0" bIns="0" rtlCol="0" anchor="ctr"/>
          <a:lstStyle/>
          <a:p>
            <a:pPr algn="ctr" indent="0" marL="0">
              <a:buNone/>
            </a:pPr>
            <a:r>
              <a:rPr lang="en-US" sz="900" dirty="0">
                <a:solidFill>
                  <a:srgbClr val="6E7681"/>
                </a:solidFill>
                <a:latin typeface="Calibri" pitchFamily="34" charset="0"/>
                <a:ea typeface="Calibri" pitchFamily="34" charset="-122"/>
                <a:cs typeface="Calibri" pitchFamily="34" charset="-120"/>
              </a:rPr>
              <a:t>ohne 10 · Zuf 7</a:t>
            </a:r>
            <a:endParaRPr lang="en-US" sz="900" dirty="0"/>
          </a:p>
        </p:txBody>
      </p:sp>
      <p:sp>
        <p:nvSpPr>
          <p:cNvPr id="17" name="Shape 15"/>
          <p:cNvSpPr/>
          <p:nvPr/>
        </p:nvSpPr>
        <p:spPr>
          <a:xfrm>
            <a:off x="4983480" y="1783080"/>
            <a:ext cx="1316736" cy="658368"/>
          </a:xfrm>
          <a:prstGeom prst="rect">
            <a:avLst/>
          </a:prstGeom>
          <a:solidFill>
            <a:srgbClr val="E9F1F5"/>
          </a:solidFill>
          <a:ln w="19050">
            <a:solidFill>
              <a:srgbClr val="FFFFFF"/>
            </a:solidFill>
            <a:prstDash val="solid"/>
          </a:ln>
        </p:spPr>
      </p:sp>
      <p:sp>
        <p:nvSpPr>
          <p:cNvPr id="18" name="Text 16"/>
          <p:cNvSpPr/>
          <p:nvPr/>
        </p:nvSpPr>
        <p:spPr>
          <a:xfrm>
            <a:off x="4983480" y="1837944"/>
            <a:ext cx="1316736" cy="329184"/>
          </a:xfrm>
          <a:prstGeom prst="rect">
            <a:avLst/>
          </a:prstGeom>
          <a:noFill/>
          <a:ln/>
        </p:spPr>
        <p:txBody>
          <a:bodyPr wrap="square" lIns="0" tIns="0" rIns="0" bIns="0" rtlCol="0" anchor="ctr"/>
          <a:lstStyle/>
          <a:p>
            <a:pPr algn="ctr" indent="0" marL="0">
              <a:buNone/>
            </a:pPr>
            <a:r>
              <a:rPr lang="en-US" sz="1500" b="1" dirty="0">
                <a:solidFill>
                  <a:srgbClr val="23282F"/>
                </a:solidFill>
                <a:latin typeface="Cambria" pitchFamily="34" charset="0"/>
                <a:ea typeface="Cambria" pitchFamily="34" charset="-122"/>
                <a:cs typeface="Cambria" pitchFamily="34" charset="-120"/>
              </a:rPr>
              <a:t>2.0</a:t>
            </a:r>
            <a:endParaRPr lang="en-US" sz="1500" dirty="0"/>
          </a:p>
        </p:txBody>
      </p:sp>
      <p:sp>
        <p:nvSpPr>
          <p:cNvPr id="19" name="Text 17"/>
          <p:cNvSpPr/>
          <p:nvPr/>
        </p:nvSpPr>
        <p:spPr>
          <a:xfrm>
            <a:off x="4983480" y="2167128"/>
            <a:ext cx="1316736" cy="274320"/>
          </a:xfrm>
          <a:prstGeom prst="rect">
            <a:avLst/>
          </a:prstGeom>
          <a:noFill/>
          <a:ln/>
        </p:spPr>
        <p:txBody>
          <a:bodyPr wrap="square" lIns="0" tIns="0" rIns="0" bIns="0" rtlCol="0" anchor="ctr"/>
          <a:lstStyle/>
          <a:p>
            <a:pPr algn="ctr" indent="0" marL="0">
              <a:buNone/>
            </a:pPr>
            <a:r>
              <a:rPr lang="en-US" sz="900" dirty="0">
                <a:solidFill>
                  <a:srgbClr val="6E7681"/>
                </a:solidFill>
                <a:latin typeface="Calibri" pitchFamily="34" charset="0"/>
                <a:ea typeface="Calibri" pitchFamily="34" charset="-122"/>
                <a:cs typeface="Calibri" pitchFamily="34" charset="-120"/>
              </a:rPr>
              <a:t>ohne 7 · Zuf 3</a:t>
            </a:r>
            <a:endParaRPr lang="en-US" sz="900" dirty="0"/>
          </a:p>
        </p:txBody>
      </p:sp>
      <p:sp>
        <p:nvSpPr>
          <p:cNvPr id="20" name="Shape 18"/>
          <p:cNvSpPr/>
          <p:nvPr/>
        </p:nvSpPr>
        <p:spPr>
          <a:xfrm>
            <a:off x="6355080" y="1783080"/>
            <a:ext cx="1316736" cy="658368"/>
          </a:xfrm>
          <a:prstGeom prst="rect">
            <a:avLst/>
          </a:prstGeom>
          <a:solidFill>
            <a:srgbClr val="E9F1F5"/>
          </a:solidFill>
          <a:ln w="19050">
            <a:solidFill>
              <a:srgbClr val="FFFFFF"/>
            </a:solidFill>
            <a:prstDash val="solid"/>
          </a:ln>
        </p:spPr>
      </p:sp>
      <p:sp>
        <p:nvSpPr>
          <p:cNvPr id="21" name="Text 19"/>
          <p:cNvSpPr/>
          <p:nvPr/>
        </p:nvSpPr>
        <p:spPr>
          <a:xfrm>
            <a:off x="6355080" y="1837944"/>
            <a:ext cx="1316736" cy="329184"/>
          </a:xfrm>
          <a:prstGeom prst="rect">
            <a:avLst/>
          </a:prstGeom>
          <a:noFill/>
          <a:ln/>
        </p:spPr>
        <p:txBody>
          <a:bodyPr wrap="square" lIns="0" tIns="0" rIns="0" bIns="0" rtlCol="0" anchor="ctr"/>
          <a:lstStyle/>
          <a:p>
            <a:pPr algn="ctr" indent="0" marL="0">
              <a:buNone/>
            </a:pPr>
            <a:r>
              <a:rPr lang="en-US" sz="1500" b="1" dirty="0">
                <a:solidFill>
                  <a:srgbClr val="23282F"/>
                </a:solidFill>
                <a:latin typeface="Cambria" pitchFamily="34" charset="0"/>
                <a:ea typeface="Cambria" pitchFamily="34" charset="-122"/>
                <a:cs typeface="Cambria" pitchFamily="34" charset="-120"/>
              </a:rPr>
              <a:t>2.0</a:t>
            </a:r>
            <a:endParaRPr lang="en-US" sz="1500" dirty="0"/>
          </a:p>
        </p:txBody>
      </p:sp>
      <p:sp>
        <p:nvSpPr>
          <p:cNvPr id="22" name="Text 20"/>
          <p:cNvSpPr/>
          <p:nvPr/>
        </p:nvSpPr>
        <p:spPr>
          <a:xfrm>
            <a:off x="6355080" y="2167128"/>
            <a:ext cx="1316736" cy="274320"/>
          </a:xfrm>
          <a:prstGeom prst="rect">
            <a:avLst/>
          </a:prstGeom>
          <a:noFill/>
          <a:ln/>
        </p:spPr>
        <p:txBody>
          <a:bodyPr wrap="square" lIns="0" tIns="0" rIns="0" bIns="0" rtlCol="0" anchor="ctr"/>
          <a:lstStyle/>
          <a:p>
            <a:pPr algn="ctr" indent="0" marL="0">
              <a:buNone/>
            </a:pPr>
            <a:r>
              <a:rPr lang="en-US" sz="900" dirty="0">
                <a:solidFill>
                  <a:srgbClr val="6E7681"/>
                </a:solidFill>
                <a:latin typeface="Calibri" pitchFamily="34" charset="0"/>
                <a:ea typeface="Calibri" pitchFamily="34" charset="-122"/>
                <a:cs typeface="Calibri" pitchFamily="34" charset="-120"/>
              </a:rPr>
              <a:t>ohne 9 · Zuf 3</a:t>
            </a:r>
            <a:endParaRPr lang="en-US" sz="900" dirty="0"/>
          </a:p>
        </p:txBody>
      </p:sp>
      <p:sp>
        <p:nvSpPr>
          <p:cNvPr id="23" name="Shape 21"/>
          <p:cNvSpPr/>
          <p:nvPr/>
        </p:nvSpPr>
        <p:spPr>
          <a:xfrm>
            <a:off x="7726680" y="1783080"/>
            <a:ext cx="1316736" cy="658368"/>
          </a:xfrm>
          <a:prstGeom prst="rect">
            <a:avLst/>
          </a:prstGeom>
          <a:solidFill>
            <a:srgbClr val="E9F1F5"/>
          </a:solidFill>
          <a:ln w="19050">
            <a:solidFill>
              <a:srgbClr val="FFFFFF"/>
            </a:solidFill>
            <a:prstDash val="solid"/>
          </a:ln>
        </p:spPr>
      </p:sp>
      <p:sp>
        <p:nvSpPr>
          <p:cNvPr id="24" name="Text 22"/>
          <p:cNvSpPr/>
          <p:nvPr/>
        </p:nvSpPr>
        <p:spPr>
          <a:xfrm>
            <a:off x="7726680" y="1837944"/>
            <a:ext cx="1316736" cy="329184"/>
          </a:xfrm>
          <a:prstGeom prst="rect">
            <a:avLst/>
          </a:prstGeom>
          <a:noFill/>
          <a:ln/>
        </p:spPr>
        <p:txBody>
          <a:bodyPr wrap="square" lIns="0" tIns="0" rIns="0" bIns="0" rtlCol="0" anchor="ctr"/>
          <a:lstStyle/>
          <a:p>
            <a:pPr algn="ctr" indent="0" marL="0">
              <a:buNone/>
            </a:pPr>
            <a:r>
              <a:rPr lang="en-US" sz="1500" b="1" dirty="0">
                <a:solidFill>
                  <a:srgbClr val="23282F"/>
                </a:solidFill>
                <a:latin typeface="Cambria" pitchFamily="34" charset="0"/>
                <a:ea typeface="Cambria" pitchFamily="34" charset="-122"/>
                <a:cs typeface="Cambria" pitchFamily="34" charset="-120"/>
              </a:rPr>
              <a:t>2.0</a:t>
            </a:r>
            <a:endParaRPr lang="en-US" sz="1500" dirty="0"/>
          </a:p>
        </p:txBody>
      </p:sp>
      <p:sp>
        <p:nvSpPr>
          <p:cNvPr id="25" name="Text 23"/>
          <p:cNvSpPr/>
          <p:nvPr/>
        </p:nvSpPr>
        <p:spPr>
          <a:xfrm>
            <a:off x="7726680" y="2167128"/>
            <a:ext cx="1316736" cy="274320"/>
          </a:xfrm>
          <a:prstGeom prst="rect">
            <a:avLst/>
          </a:prstGeom>
          <a:noFill/>
          <a:ln/>
        </p:spPr>
        <p:txBody>
          <a:bodyPr wrap="square" lIns="0" tIns="0" rIns="0" bIns="0" rtlCol="0" anchor="ctr"/>
          <a:lstStyle/>
          <a:p>
            <a:pPr algn="ctr" indent="0" marL="0">
              <a:buNone/>
            </a:pPr>
            <a:r>
              <a:rPr lang="en-US" sz="900" dirty="0">
                <a:solidFill>
                  <a:srgbClr val="6E7681"/>
                </a:solidFill>
                <a:latin typeface="Calibri" pitchFamily="34" charset="0"/>
                <a:ea typeface="Calibri" pitchFamily="34" charset="-122"/>
                <a:cs typeface="Calibri" pitchFamily="34" charset="-120"/>
              </a:rPr>
              <a:t>ohne 8 · Zuf 3</a:t>
            </a:r>
            <a:endParaRPr lang="en-US" sz="900" dirty="0"/>
          </a:p>
        </p:txBody>
      </p:sp>
      <p:sp>
        <p:nvSpPr>
          <p:cNvPr id="26" name="Shape 24"/>
          <p:cNvSpPr/>
          <p:nvPr/>
        </p:nvSpPr>
        <p:spPr>
          <a:xfrm>
            <a:off x="9098280" y="1783080"/>
            <a:ext cx="1316736" cy="658368"/>
          </a:xfrm>
          <a:prstGeom prst="rect">
            <a:avLst/>
          </a:prstGeom>
          <a:solidFill>
            <a:srgbClr val="F4F6F8"/>
          </a:solidFill>
          <a:ln w="19050">
            <a:solidFill>
              <a:srgbClr val="FFFFFF"/>
            </a:solidFill>
            <a:prstDash val="solid"/>
          </a:ln>
        </p:spPr>
      </p:sp>
      <p:sp>
        <p:nvSpPr>
          <p:cNvPr id="27" name="Text 25"/>
          <p:cNvSpPr/>
          <p:nvPr/>
        </p:nvSpPr>
        <p:spPr>
          <a:xfrm>
            <a:off x="9098280" y="1837944"/>
            <a:ext cx="1316736" cy="329184"/>
          </a:xfrm>
          <a:prstGeom prst="rect">
            <a:avLst/>
          </a:prstGeom>
          <a:noFill/>
          <a:ln/>
        </p:spPr>
        <p:txBody>
          <a:bodyPr wrap="square" lIns="0" tIns="0" rIns="0" bIns="0" rtlCol="0" anchor="ctr"/>
          <a:lstStyle/>
          <a:p>
            <a:pPr algn="ctr" indent="0" marL="0">
              <a:buNone/>
            </a:pPr>
            <a:r>
              <a:rPr lang="en-US" sz="1500" b="1" dirty="0">
                <a:solidFill>
                  <a:srgbClr val="23282F"/>
                </a:solidFill>
                <a:latin typeface="Cambria" pitchFamily="34" charset="0"/>
                <a:ea typeface="Cambria" pitchFamily="34" charset="-122"/>
                <a:cs typeface="Cambria" pitchFamily="34" charset="-120"/>
              </a:rPr>
              <a:t>3.0</a:t>
            </a:r>
            <a:endParaRPr lang="en-US" sz="1500" dirty="0"/>
          </a:p>
        </p:txBody>
      </p:sp>
      <p:sp>
        <p:nvSpPr>
          <p:cNvPr id="28" name="Text 26"/>
          <p:cNvSpPr/>
          <p:nvPr/>
        </p:nvSpPr>
        <p:spPr>
          <a:xfrm>
            <a:off x="9098280" y="2167128"/>
            <a:ext cx="1316736" cy="274320"/>
          </a:xfrm>
          <a:prstGeom prst="rect">
            <a:avLst/>
          </a:prstGeom>
          <a:noFill/>
          <a:ln/>
        </p:spPr>
        <p:txBody>
          <a:bodyPr wrap="square" lIns="0" tIns="0" rIns="0" bIns="0" rtlCol="0" anchor="ctr"/>
          <a:lstStyle/>
          <a:p>
            <a:pPr algn="ctr" indent="0" marL="0">
              <a:buNone/>
            </a:pPr>
            <a:r>
              <a:rPr lang="en-US" sz="900" dirty="0">
                <a:solidFill>
                  <a:srgbClr val="6E7681"/>
                </a:solidFill>
                <a:latin typeface="Calibri" pitchFamily="34" charset="0"/>
                <a:ea typeface="Calibri" pitchFamily="34" charset="-122"/>
                <a:cs typeface="Calibri" pitchFamily="34" charset="-120"/>
              </a:rPr>
              <a:t>ohne 10 · Zuf 4</a:t>
            </a:r>
            <a:endParaRPr lang="en-US" sz="900" dirty="0"/>
          </a:p>
        </p:txBody>
      </p:sp>
      <p:sp>
        <p:nvSpPr>
          <p:cNvPr id="29" name="Text 27"/>
          <p:cNvSpPr/>
          <p:nvPr/>
        </p:nvSpPr>
        <p:spPr>
          <a:xfrm>
            <a:off x="640080" y="2496312"/>
            <a:ext cx="1508760" cy="713232"/>
          </a:xfrm>
          <a:prstGeom prst="rect">
            <a:avLst/>
          </a:prstGeom>
          <a:noFill/>
          <a:ln/>
        </p:spPr>
        <p:txBody>
          <a:bodyPr wrap="square" lIns="0" tIns="0" rIns="0" bIns="0" rtlCol="0" anchor="ctr"/>
          <a:lstStyle/>
          <a:p>
            <a:pPr algn="r" indent="0" marL="0">
              <a:buNone/>
            </a:pPr>
            <a:r>
              <a:rPr lang="en-US" sz="1300" b="1" dirty="0">
                <a:solidFill>
                  <a:srgbClr val="23282F"/>
                </a:solidFill>
                <a:latin typeface="Calibri" pitchFamily="34" charset="0"/>
                <a:ea typeface="Calibri" pitchFamily="34" charset="-122"/>
                <a:cs typeface="Calibri" pitchFamily="34" charset="-120"/>
              </a:rPr>
              <a:t>Hub &amp; Spoke</a:t>
            </a:r>
            <a:endParaRPr lang="en-US" sz="1300" dirty="0"/>
          </a:p>
        </p:txBody>
      </p:sp>
      <p:sp>
        <p:nvSpPr>
          <p:cNvPr id="30" name="Shape 28"/>
          <p:cNvSpPr/>
          <p:nvPr/>
        </p:nvSpPr>
        <p:spPr>
          <a:xfrm>
            <a:off x="2240280" y="2496312"/>
            <a:ext cx="1316736" cy="658368"/>
          </a:xfrm>
          <a:prstGeom prst="rect">
            <a:avLst/>
          </a:prstGeom>
          <a:solidFill>
            <a:srgbClr val="E9F1F5"/>
          </a:solidFill>
          <a:ln w="19050">
            <a:solidFill>
              <a:srgbClr val="FFFFFF"/>
            </a:solidFill>
            <a:prstDash val="solid"/>
          </a:ln>
        </p:spPr>
      </p:sp>
      <p:sp>
        <p:nvSpPr>
          <p:cNvPr id="31" name="Text 29"/>
          <p:cNvSpPr/>
          <p:nvPr/>
        </p:nvSpPr>
        <p:spPr>
          <a:xfrm>
            <a:off x="2240280" y="2551176"/>
            <a:ext cx="1316736" cy="329184"/>
          </a:xfrm>
          <a:prstGeom prst="rect">
            <a:avLst/>
          </a:prstGeom>
          <a:noFill/>
          <a:ln/>
        </p:spPr>
        <p:txBody>
          <a:bodyPr wrap="square" lIns="0" tIns="0" rIns="0" bIns="0" rtlCol="0" anchor="ctr"/>
          <a:lstStyle/>
          <a:p>
            <a:pPr algn="ctr" indent="0" marL="0">
              <a:buNone/>
            </a:pPr>
            <a:r>
              <a:rPr lang="en-US" sz="1500" b="1" dirty="0">
                <a:solidFill>
                  <a:srgbClr val="23282F"/>
                </a:solidFill>
                <a:latin typeface="Cambria" pitchFamily="34" charset="0"/>
                <a:ea typeface="Cambria" pitchFamily="34" charset="-122"/>
                <a:cs typeface="Cambria" pitchFamily="34" charset="-120"/>
              </a:rPr>
              <a:t>2.0</a:t>
            </a:r>
            <a:endParaRPr lang="en-US" sz="1500" dirty="0"/>
          </a:p>
        </p:txBody>
      </p:sp>
      <p:sp>
        <p:nvSpPr>
          <p:cNvPr id="32" name="Text 30"/>
          <p:cNvSpPr/>
          <p:nvPr/>
        </p:nvSpPr>
        <p:spPr>
          <a:xfrm>
            <a:off x="2240280" y="2880360"/>
            <a:ext cx="1316736" cy="274320"/>
          </a:xfrm>
          <a:prstGeom prst="rect">
            <a:avLst/>
          </a:prstGeom>
          <a:noFill/>
          <a:ln/>
        </p:spPr>
        <p:txBody>
          <a:bodyPr wrap="square" lIns="0" tIns="0" rIns="0" bIns="0" rtlCol="0" anchor="ctr"/>
          <a:lstStyle/>
          <a:p>
            <a:pPr algn="ctr" indent="0" marL="0">
              <a:buNone/>
            </a:pPr>
            <a:r>
              <a:rPr lang="en-US" sz="900" dirty="0">
                <a:solidFill>
                  <a:srgbClr val="6E7681"/>
                </a:solidFill>
                <a:latin typeface="Calibri" pitchFamily="34" charset="0"/>
                <a:ea typeface="Calibri" pitchFamily="34" charset="-122"/>
                <a:cs typeface="Calibri" pitchFamily="34" charset="-120"/>
              </a:rPr>
              <a:t>ohne 8 · Zuf 3</a:t>
            </a:r>
            <a:endParaRPr lang="en-US" sz="900" dirty="0"/>
          </a:p>
        </p:txBody>
      </p:sp>
      <p:sp>
        <p:nvSpPr>
          <p:cNvPr id="33" name="Shape 31"/>
          <p:cNvSpPr/>
          <p:nvPr/>
        </p:nvSpPr>
        <p:spPr>
          <a:xfrm>
            <a:off x="3611880" y="2496312"/>
            <a:ext cx="1316736" cy="658368"/>
          </a:xfrm>
          <a:prstGeom prst="rect">
            <a:avLst/>
          </a:prstGeom>
          <a:solidFill>
            <a:srgbClr val="E9F1F5"/>
          </a:solidFill>
          <a:ln w="19050">
            <a:solidFill>
              <a:srgbClr val="FFFFFF"/>
            </a:solidFill>
            <a:prstDash val="solid"/>
          </a:ln>
        </p:spPr>
      </p:sp>
      <p:sp>
        <p:nvSpPr>
          <p:cNvPr id="34" name="Text 32"/>
          <p:cNvSpPr/>
          <p:nvPr/>
        </p:nvSpPr>
        <p:spPr>
          <a:xfrm>
            <a:off x="3611880" y="2551176"/>
            <a:ext cx="1316736" cy="329184"/>
          </a:xfrm>
          <a:prstGeom prst="rect">
            <a:avLst/>
          </a:prstGeom>
          <a:noFill/>
          <a:ln/>
        </p:spPr>
        <p:txBody>
          <a:bodyPr wrap="square" lIns="0" tIns="0" rIns="0" bIns="0" rtlCol="0" anchor="ctr"/>
          <a:lstStyle/>
          <a:p>
            <a:pPr algn="ctr" indent="0" marL="0">
              <a:buNone/>
            </a:pPr>
            <a:r>
              <a:rPr lang="en-US" sz="1500" b="1" dirty="0">
                <a:solidFill>
                  <a:srgbClr val="23282F"/>
                </a:solidFill>
                <a:latin typeface="Cambria" pitchFamily="34" charset="0"/>
                <a:ea typeface="Cambria" pitchFamily="34" charset="-122"/>
                <a:cs typeface="Cambria" pitchFamily="34" charset="-120"/>
              </a:rPr>
              <a:t>2.0</a:t>
            </a:r>
            <a:endParaRPr lang="en-US" sz="1500" dirty="0"/>
          </a:p>
        </p:txBody>
      </p:sp>
      <p:sp>
        <p:nvSpPr>
          <p:cNvPr id="35" name="Text 33"/>
          <p:cNvSpPr/>
          <p:nvPr/>
        </p:nvSpPr>
        <p:spPr>
          <a:xfrm>
            <a:off x="3611880" y="2880360"/>
            <a:ext cx="1316736" cy="274320"/>
          </a:xfrm>
          <a:prstGeom prst="rect">
            <a:avLst/>
          </a:prstGeom>
          <a:noFill/>
          <a:ln/>
        </p:spPr>
        <p:txBody>
          <a:bodyPr wrap="square" lIns="0" tIns="0" rIns="0" bIns="0" rtlCol="0" anchor="ctr"/>
          <a:lstStyle/>
          <a:p>
            <a:pPr algn="ctr" indent="0" marL="0">
              <a:buNone/>
            </a:pPr>
            <a:r>
              <a:rPr lang="en-US" sz="900" dirty="0">
                <a:solidFill>
                  <a:srgbClr val="6E7681"/>
                </a:solidFill>
                <a:latin typeface="Calibri" pitchFamily="34" charset="0"/>
                <a:ea typeface="Calibri" pitchFamily="34" charset="-122"/>
                <a:cs typeface="Calibri" pitchFamily="34" charset="-120"/>
              </a:rPr>
              <a:t>ohne 8 · Zuf 3</a:t>
            </a:r>
            <a:endParaRPr lang="en-US" sz="900" dirty="0"/>
          </a:p>
        </p:txBody>
      </p:sp>
      <p:sp>
        <p:nvSpPr>
          <p:cNvPr id="36" name="Shape 34"/>
          <p:cNvSpPr/>
          <p:nvPr/>
        </p:nvSpPr>
        <p:spPr>
          <a:xfrm>
            <a:off x="4983480" y="2496312"/>
            <a:ext cx="1316736" cy="658368"/>
          </a:xfrm>
          <a:prstGeom prst="rect">
            <a:avLst/>
          </a:prstGeom>
          <a:solidFill>
            <a:srgbClr val="E9F1F5"/>
          </a:solidFill>
          <a:ln w="19050">
            <a:solidFill>
              <a:srgbClr val="FFFFFF"/>
            </a:solidFill>
            <a:prstDash val="solid"/>
          </a:ln>
        </p:spPr>
      </p:sp>
      <p:sp>
        <p:nvSpPr>
          <p:cNvPr id="37" name="Text 35"/>
          <p:cNvSpPr/>
          <p:nvPr/>
        </p:nvSpPr>
        <p:spPr>
          <a:xfrm>
            <a:off x="4983480" y="2551176"/>
            <a:ext cx="1316736" cy="329184"/>
          </a:xfrm>
          <a:prstGeom prst="rect">
            <a:avLst/>
          </a:prstGeom>
          <a:noFill/>
          <a:ln/>
        </p:spPr>
        <p:txBody>
          <a:bodyPr wrap="square" lIns="0" tIns="0" rIns="0" bIns="0" rtlCol="0" anchor="ctr"/>
          <a:lstStyle/>
          <a:p>
            <a:pPr algn="ctr" indent="0" marL="0">
              <a:buNone/>
            </a:pPr>
            <a:r>
              <a:rPr lang="en-US" sz="1500" b="1" dirty="0">
                <a:solidFill>
                  <a:srgbClr val="23282F"/>
                </a:solidFill>
                <a:latin typeface="Cambria" pitchFamily="34" charset="0"/>
                <a:ea typeface="Cambria" pitchFamily="34" charset="-122"/>
                <a:cs typeface="Cambria" pitchFamily="34" charset="-120"/>
              </a:rPr>
              <a:t>2.0</a:t>
            </a:r>
            <a:endParaRPr lang="en-US" sz="1500" dirty="0"/>
          </a:p>
        </p:txBody>
      </p:sp>
      <p:sp>
        <p:nvSpPr>
          <p:cNvPr id="38" name="Text 36"/>
          <p:cNvSpPr/>
          <p:nvPr/>
        </p:nvSpPr>
        <p:spPr>
          <a:xfrm>
            <a:off x="4983480" y="2880360"/>
            <a:ext cx="1316736" cy="274320"/>
          </a:xfrm>
          <a:prstGeom prst="rect">
            <a:avLst/>
          </a:prstGeom>
          <a:noFill/>
          <a:ln/>
        </p:spPr>
        <p:txBody>
          <a:bodyPr wrap="square" lIns="0" tIns="0" rIns="0" bIns="0" rtlCol="0" anchor="ctr"/>
          <a:lstStyle/>
          <a:p>
            <a:pPr algn="ctr" indent="0" marL="0">
              <a:buNone/>
            </a:pPr>
            <a:r>
              <a:rPr lang="en-US" sz="900" dirty="0">
                <a:solidFill>
                  <a:srgbClr val="6E7681"/>
                </a:solidFill>
                <a:latin typeface="Calibri" pitchFamily="34" charset="0"/>
                <a:ea typeface="Calibri" pitchFamily="34" charset="-122"/>
                <a:cs typeface="Calibri" pitchFamily="34" charset="-120"/>
              </a:rPr>
              <a:t>ohne 10 · Zuf 8</a:t>
            </a:r>
            <a:endParaRPr lang="en-US" sz="900" dirty="0"/>
          </a:p>
        </p:txBody>
      </p:sp>
      <p:sp>
        <p:nvSpPr>
          <p:cNvPr id="39" name="Shape 37"/>
          <p:cNvSpPr/>
          <p:nvPr/>
        </p:nvSpPr>
        <p:spPr>
          <a:xfrm>
            <a:off x="6355080" y="2496312"/>
            <a:ext cx="1316736" cy="658368"/>
          </a:xfrm>
          <a:prstGeom prst="rect">
            <a:avLst/>
          </a:prstGeom>
          <a:solidFill>
            <a:srgbClr val="E9F1F5"/>
          </a:solidFill>
          <a:ln w="19050">
            <a:solidFill>
              <a:srgbClr val="FFFFFF"/>
            </a:solidFill>
            <a:prstDash val="solid"/>
          </a:ln>
        </p:spPr>
      </p:sp>
      <p:sp>
        <p:nvSpPr>
          <p:cNvPr id="40" name="Text 38"/>
          <p:cNvSpPr/>
          <p:nvPr/>
        </p:nvSpPr>
        <p:spPr>
          <a:xfrm>
            <a:off x="6355080" y="2551176"/>
            <a:ext cx="1316736" cy="329184"/>
          </a:xfrm>
          <a:prstGeom prst="rect">
            <a:avLst/>
          </a:prstGeom>
          <a:noFill/>
          <a:ln/>
        </p:spPr>
        <p:txBody>
          <a:bodyPr wrap="square" lIns="0" tIns="0" rIns="0" bIns="0" rtlCol="0" anchor="ctr"/>
          <a:lstStyle/>
          <a:p>
            <a:pPr algn="ctr" indent="0" marL="0">
              <a:buNone/>
            </a:pPr>
            <a:r>
              <a:rPr lang="en-US" sz="1500" b="1" dirty="0">
                <a:solidFill>
                  <a:srgbClr val="23282F"/>
                </a:solidFill>
                <a:latin typeface="Cambria" pitchFamily="34" charset="0"/>
                <a:ea typeface="Cambria" pitchFamily="34" charset="-122"/>
                <a:cs typeface="Cambria" pitchFamily="34" charset="-120"/>
              </a:rPr>
              <a:t>2.0</a:t>
            </a:r>
            <a:endParaRPr lang="en-US" sz="1500" dirty="0"/>
          </a:p>
        </p:txBody>
      </p:sp>
      <p:sp>
        <p:nvSpPr>
          <p:cNvPr id="41" name="Text 39"/>
          <p:cNvSpPr/>
          <p:nvPr/>
        </p:nvSpPr>
        <p:spPr>
          <a:xfrm>
            <a:off x="6355080" y="2880360"/>
            <a:ext cx="1316736" cy="274320"/>
          </a:xfrm>
          <a:prstGeom prst="rect">
            <a:avLst/>
          </a:prstGeom>
          <a:noFill/>
          <a:ln/>
        </p:spPr>
        <p:txBody>
          <a:bodyPr wrap="square" lIns="0" tIns="0" rIns="0" bIns="0" rtlCol="0" anchor="ctr"/>
          <a:lstStyle/>
          <a:p>
            <a:pPr algn="ctr" indent="0" marL="0">
              <a:buNone/>
            </a:pPr>
            <a:r>
              <a:rPr lang="en-US" sz="900" dirty="0">
                <a:solidFill>
                  <a:srgbClr val="6E7681"/>
                </a:solidFill>
                <a:latin typeface="Calibri" pitchFamily="34" charset="0"/>
                <a:ea typeface="Calibri" pitchFamily="34" charset="-122"/>
                <a:cs typeface="Calibri" pitchFamily="34" charset="-120"/>
              </a:rPr>
              <a:t>ohne 9 · Zuf 3</a:t>
            </a:r>
            <a:endParaRPr lang="en-US" sz="900" dirty="0"/>
          </a:p>
        </p:txBody>
      </p:sp>
      <p:sp>
        <p:nvSpPr>
          <p:cNvPr id="42" name="Shape 40"/>
          <p:cNvSpPr/>
          <p:nvPr/>
        </p:nvSpPr>
        <p:spPr>
          <a:xfrm>
            <a:off x="7726680" y="2496312"/>
            <a:ext cx="1316736" cy="658368"/>
          </a:xfrm>
          <a:prstGeom prst="rect">
            <a:avLst/>
          </a:prstGeom>
          <a:solidFill>
            <a:srgbClr val="E9F1F5"/>
          </a:solidFill>
          <a:ln w="19050">
            <a:solidFill>
              <a:srgbClr val="FFFFFF"/>
            </a:solidFill>
            <a:prstDash val="solid"/>
          </a:ln>
        </p:spPr>
      </p:sp>
      <p:sp>
        <p:nvSpPr>
          <p:cNvPr id="43" name="Text 41"/>
          <p:cNvSpPr/>
          <p:nvPr/>
        </p:nvSpPr>
        <p:spPr>
          <a:xfrm>
            <a:off x="7726680" y="2551176"/>
            <a:ext cx="1316736" cy="329184"/>
          </a:xfrm>
          <a:prstGeom prst="rect">
            <a:avLst/>
          </a:prstGeom>
          <a:noFill/>
          <a:ln/>
        </p:spPr>
        <p:txBody>
          <a:bodyPr wrap="square" lIns="0" tIns="0" rIns="0" bIns="0" rtlCol="0" anchor="ctr"/>
          <a:lstStyle/>
          <a:p>
            <a:pPr algn="ctr" indent="0" marL="0">
              <a:buNone/>
            </a:pPr>
            <a:r>
              <a:rPr lang="en-US" sz="1500" b="1" dirty="0">
                <a:solidFill>
                  <a:srgbClr val="23282F"/>
                </a:solidFill>
                <a:latin typeface="Cambria" pitchFamily="34" charset="0"/>
                <a:ea typeface="Cambria" pitchFamily="34" charset="-122"/>
                <a:cs typeface="Cambria" pitchFamily="34" charset="-120"/>
              </a:rPr>
              <a:t>2.0</a:t>
            </a:r>
            <a:endParaRPr lang="en-US" sz="1500" dirty="0"/>
          </a:p>
        </p:txBody>
      </p:sp>
      <p:sp>
        <p:nvSpPr>
          <p:cNvPr id="44" name="Text 42"/>
          <p:cNvSpPr/>
          <p:nvPr/>
        </p:nvSpPr>
        <p:spPr>
          <a:xfrm>
            <a:off x="7726680" y="2880360"/>
            <a:ext cx="1316736" cy="274320"/>
          </a:xfrm>
          <a:prstGeom prst="rect">
            <a:avLst/>
          </a:prstGeom>
          <a:noFill/>
          <a:ln/>
        </p:spPr>
        <p:txBody>
          <a:bodyPr wrap="square" lIns="0" tIns="0" rIns="0" bIns="0" rtlCol="0" anchor="ctr"/>
          <a:lstStyle/>
          <a:p>
            <a:pPr algn="ctr" indent="0" marL="0">
              <a:buNone/>
            </a:pPr>
            <a:r>
              <a:rPr lang="en-US" sz="900" dirty="0">
                <a:solidFill>
                  <a:srgbClr val="6E7681"/>
                </a:solidFill>
                <a:latin typeface="Calibri" pitchFamily="34" charset="0"/>
                <a:ea typeface="Calibri" pitchFamily="34" charset="-122"/>
                <a:cs typeface="Calibri" pitchFamily="34" charset="-120"/>
              </a:rPr>
              <a:t>ohne 3 · Zuf 3</a:t>
            </a:r>
            <a:endParaRPr lang="en-US" sz="900" dirty="0"/>
          </a:p>
        </p:txBody>
      </p:sp>
      <p:sp>
        <p:nvSpPr>
          <p:cNvPr id="45" name="Shape 43"/>
          <p:cNvSpPr/>
          <p:nvPr/>
        </p:nvSpPr>
        <p:spPr>
          <a:xfrm>
            <a:off x="9098280" y="2496312"/>
            <a:ext cx="1316736" cy="658368"/>
          </a:xfrm>
          <a:prstGeom prst="rect">
            <a:avLst/>
          </a:prstGeom>
          <a:solidFill>
            <a:srgbClr val="E9F1F5"/>
          </a:solidFill>
          <a:ln w="19050">
            <a:solidFill>
              <a:srgbClr val="FFFFFF"/>
            </a:solidFill>
            <a:prstDash val="solid"/>
          </a:ln>
        </p:spPr>
      </p:sp>
      <p:sp>
        <p:nvSpPr>
          <p:cNvPr id="46" name="Text 44"/>
          <p:cNvSpPr/>
          <p:nvPr/>
        </p:nvSpPr>
        <p:spPr>
          <a:xfrm>
            <a:off x="9098280" y="2551176"/>
            <a:ext cx="1316736" cy="329184"/>
          </a:xfrm>
          <a:prstGeom prst="rect">
            <a:avLst/>
          </a:prstGeom>
          <a:noFill/>
          <a:ln/>
        </p:spPr>
        <p:txBody>
          <a:bodyPr wrap="square" lIns="0" tIns="0" rIns="0" bIns="0" rtlCol="0" anchor="ctr"/>
          <a:lstStyle/>
          <a:p>
            <a:pPr algn="ctr" indent="0" marL="0">
              <a:buNone/>
            </a:pPr>
            <a:r>
              <a:rPr lang="en-US" sz="1500" b="1" dirty="0">
                <a:solidFill>
                  <a:srgbClr val="23282F"/>
                </a:solidFill>
                <a:latin typeface="Cambria" pitchFamily="34" charset="0"/>
                <a:ea typeface="Cambria" pitchFamily="34" charset="-122"/>
                <a:cs typeface="Cambria" pitchFamily="34" charset="-120"/>
              </a:rPr>
              <a:t>2.0</a:t>
            </a:r>
            <a:endParaRPr lang="en-US" sz="1500" dirty="0"/>
          </a:p>
        </p:txBody>
      </p:sp>
      <p:sp>
        <p:nvSpPr>
          <p:cNvPr id="47" name="Text 45"/>
          <p:cNvSpPr/>
          <p:nvPr/>
        </p:nvSpPr>
        <p:spPr>
          <a:xfrm>
            <a:off x="9098280" y="2880360"/>
            <a:ext cx="1316736" cy="274320"/>
          </a:xfrm>
          <a:prstGeom prst="rect">
            <a:avLst/>
          </a:prstGeom>
          <a:noFill/>
          <a:ln/>
        </p:spPr>
        <p:txBody>
          <a:bodyPr wrap="square" lIns="0" tIns="0" rIns="0" bIns="0" rtlCol="0" anchor="ctr"/>
          <a:lstStyle/>
          <a:p>
            <a:pPr algn="ctr" indent="0" marL="0">
              <a:buNone/>
            </a:pPr>
            <a:r>
              <a:rPr lang="en-US" sz="900" dirty="0">
                <a:solidFill>
                  <a:srgbClr val="6E7681"/>
                </a:solidFill>
                <a:latin typeface="Calibri" pitchFamily="34" charset="0"/>
                <a:ea typeface="Calibri" pitchFamily="34" charset="-122"/>
                <a:cs typeface="Calibri" pitchFamily="34" charset="-120"/>
              </a:rPr>
              <a:t>ohne 10 · Zuf 3</a:t>
            </a:r>
            <a:endParaRPr lang="en-US" sz="900" dirty="0"/>
          </a:p>
        </p:txBody>
      </p:sp>
      <p:sp>
        <p:nvSpPr>
          <p:cNvPr id="48" name="Text 46"/>
          <p:cNvSpPr/>
          <p:nvPr/>
        </p:nvSpPr>
        <p:spPr>
          <a:xfrm>
            <a:off x="640080" y="3209544"/>
            <a:ext cx="1508760" cy="713232"/>
          </a:xfrm>
          <a:prstGeom prst="rect">
            <a:avLst/>
          </a:prstGeom>
          <a:noFill/>
          <a:ln/>
        </p:spPr>
        <p:txBody>
          <a:bodyPr wrap="square" lIns="0" tIns="0" rIns="0" bIns="0" rtlCol="0" anchor="ctr"/>
          <a:lstStyle/>
          <a:p>
            <a:pPr algn="r" indent="0" marL="0">
              <a:buNone/>
            </a:pPr>
            <a:r>
              <a:rPr lang="en-US" sz="1300" b="1" dirty="0">
                <a:solidFill>
                  <a:srgbClr val="23282F"/>
                </a:solidFill>
                <a:latin typeface="Calibri" pitchFamily="34" charset="0"/>
                <a:ea typeface="Calibri" pitchFamily="34" charset="-122"/>
                <a:cs typeface="Calibri" pitchFamily="34" charset="-120"/>
              </a:rPr>
              <a:t>DMZ</a:t>
            </a:r>
            <a:endParaRPr lang="en-US" sz="1300" dirty="0"/>
          </a:p>
        </p:txBody>
      </p:sp>
      <p:sp>
        <p:nvSpPr>
          <p:cNvPr id="49" name="Shape 47"/>
          <p:cNvSpPr/>
          <p:nvPr/>
        </p:nvSpPr>
        <p:spPr>
          <a:xfrm>
            <a:off x="2240280" y="3209544"/>
            <a:ext cx="1316736" cy="658368"/>
          </a:xfrm>
          <a:prstGeom prst="rect">
            <a:avLst/>
          </a:prstGeom>
          <a:solidFill>
            <a:srgbClr val="E9F1F5"/>
          </a:solidFill>
          <a:ln w="19050">
            <a:solidFill>
              <a:srgbClr val="FFFFFF"/>
            </a:solidFill>
            <a:prstDash val="solid"/>
          </a:ln>
        </p:spPr>
      </p:sp>
      <p:sp>
        <p:nvSpPr>
          <p:cNvPr id="50" name="Text 48"/>
          <p:cNvSpPr/>
          <p:nvPr/>
        </p:nvSpPr>
        <p:spPr>
          <a:xfrm>
            <a:off x="2240280" y="3264408"/>
            <a:ext cx="1316736" cy="329184"/>
          </a:xfrm>
          <a:prstGeom prst="rect">
            <a:avLst/>
          </a:prstGeom>
          <a:noFill/>
          <a:ln/>
        </p:spPr>
        <p:txBody>
          <a:bodyPr wrap="square" lIns="0" tIns="0" rIns="0" bIns="0" rtlCol="0" anchor="ctr"/>
          <a:lstStyle/>
          <a:p>
            <a:pPr algn="ctr" indent="0" marL="0">
              <a:buNone/>
            </a:pPr>
            <a:r>
              <a:rPr lang="en-US" sz="1500" b="1" dirty="0">
                <a:solidFill>
                  <a:srgbClr val="23282F"/>
                </a:solidFill>
                <a:latin typeface="Cambria" pitchFamily="34" charset="0"/>
                <a:ea typeface="Cambria" pitchFamily="34" charset="-122"/>
                <a:cs typeface="Cambria" pitchFamily="34" charset="-120"/>
              </a:rPr>
              <a:t>2.0</a:t>
            </a:r>
            <a:endParaRPr lang="en-US" sz="1500" dirty="0"/>
          </a:p>
        </p:txBody>
      </p:sp>
      <p:sp>
        <p:nvSpPr>
          <p:cNvPr id="51" name="Text 49"/>
          <p:cNvSpPr/>
          <p:nvPr/>
        </p:nvSpPr>
        <p:spPr>
          <a:xfrm>
            <a:off x="2240280" y="3593592"/>
            <a:ext cx="1316736" cy="274320"/>
          </a:xfrm>
          <a:prstGeom prst="rect">
            <a:avLst/>
          </a:prstGeom>
          <a:noFill/>
          <a:ln/>
        </p:spPr>
        <p:txBody>
          <a:bodyPr wrap="square" lIns="0" tIns="0" rIns="0" bIns="0" rtlCol="0" anchor="ctr"/>
          <a:lstStyle/>
          <a:p>
            <a:pPr algn="ctr" indent="0" marL="0">
              <a:buNone/>
            </a:pPr>
            <a:r>
              <a:rPr lang="en-US" sz="900" dirty="0">
                <a:solidFill>
                  <a:srgbClr val="6E7681"/>
                </a:solidFill>
                <a:latin typeface="Calibri" pitchFamily="34" charset="0"/>
                <a:ea typeface="Calibri" pitchFamily="34" charset="-122"/>
                <a:cs typeface="Calibri" pitchFamily="34" charset="-120"/>
              </a:rPr>
              <a:t>ohne 8 · Zuf 3</a:t>
            </a:r>
            <a:endParaRPr lang="en-US" sz="900" dirty="0"/>
          </a:p>
        </p:txBody>
      </p:sp>
      <p:sp>
        <p:nvSpPr>
          <p:cNvPr id="52" name="Shape 50"/>
          <p:cNvSpPr/>
          <p:nvPr/>
        </p:nvSpPr>
        <p:spPr>
          <a:xfrm>
            <a:off x="3611880" y="3209544"/>
            <a:ext cx="1316736" cy="658368"/>
          </a:xfrm>
          <a:prstGeom prst="rect">
            <a:avLst/>
          </a:prstGeom>
          <a:solidFill>
            <a:srgbClr val="E9F1F5"/>
          </a:solidFill>
          <a:ln w="19050">
            <a:solidFill>
              <a:srgbClr val="FFFFFF"/>
            </a:solidFill>
            <a:prstDash val="solid"/>
          </a:ln>
        </p:spPr>
      </p:sp>
      <p:sp>
        <p:nvSpPr>
          <p:cNvPr id="53" name="Text 51"/>
          <p:cNvSpPr/>
          <p:nvPr/>
        </p:nvSpPr>
        <p:spPr>
          <a:xfrm>
            <a:off x="3611880" y="3264408"/>
            <a:ext cx="1316736" cy="329184"/>
          </a:xfrm>
          <a:prstGeom prst="rect">
            <a:avLst/>
          </a:prstGeom>
          <a:noFill/>
          <a:ln/>
        </p:spPr>
        <p:txBody>
          <a:bodyPr wrap="square" lIns="0" tIns="0" rIns="0" bIns="0" rtlCol="0" anchor="ctr"/>
          <a:lstStyle/>
          <a:p>
            <a:pPr algn="ctr" indent="0" marL="0">
              <a:buNone/>
            </a:pPr>
            <a:r>
              <a:rPr lang="en-US" sz="1500" b="1" dirty="0">
                <a:solidFill>
                  <a:srgbClr val="23282F"/>
                </a:solidFill>
                <a:latin typeface="Cambria" pitchFamily="34" charset="0"/>
                <a:ea typeface="Cambria" pitchFamily="34" charset="-122"/>
                <a:cs typeface="Cambria" pitchFamily="34" charset="-120"/>
              </a:rPr>
              <a:t>2.0</a:t>
            </a:r>
            <a:endParaRPr lang="en-US" sz="1500" dirty="0"/>
          </a:p>
        </p:txBody>
      </p:sp>
      <p:sp>
        <p:nvSpPr>
          <p:cNvPr id="54" name="Text 52"/>
          <p:cNvSpPr/>
          <p:nvPr/>
        </p:nvSpPr>
        <p:spPr>
          <a:xfrm>
            <a:off x="3611880" y="3593592"/>
            <a:ext cx="1316736" cy="274320"/>
          </a:xfrm>
          <a:prstGeom prst="rect">
            <a:avLst/>
          </a:prstGeom>
          <a:noFill/>
          <a:ln/>
        </p:spPr>
        <p:txBody>
          <a:bodyPr wrap="square" lIns="0" tIns="0" rIns="0" bIns="0" rtlCol="0" anchor="ctr"/>
          <a:lstStyle/>
          <a:p>
            <a:pPr algn="ctr" indent="0" marL="0">
              <a:buNone/>
            </a:pPr>
            <a:r>
              <a:rPr lang="en-US" sz="900" dirty="0">
                <a:solidFill>
                  <a:srgbClr val="6E7681"/>
                </a:solidFill>
                <a:latin typeface="Calibri" pitchFamily="34" charset="0"/>
                <a:ea typeface="Calibri" pitchFamily="34" charset="-122"/>
                <a:cs typeface="Calibri" pitchFamily="34" charset="-120"/>
              </a:rPr>
              <a:t>ohne 8 · Zuf 3</a:t>
            </a:r>
            <a:endParaRPr lang="en-US" sz="900" dirty="0"/>
          </a:p>
        </p:txBody>
      </p:sp>
      <p:sp>
        <p:nvSpPr>
          <p:cNvPr id="55" name="Shape 53"/>
          <p:cNvSpPr/>
          <p:nvPr/>
        </p:nvSpPr>
        <p:spPr>
          <a:xfrm>
            <a:off x="4983480" y="3209544"/>
            <a:ext cx="1316736" cy="658368"/>
          </a:xfrm>
          <a:prstGeom prst="rect">
            <a:avLst/>
          </a:prstGeom>
          <a:solidFill>
            <a:srgbClr val="E9F1F5"/>
          </a:solidFill>
          <a:ln w="19050">
            <a:solidFill>
              <a:srgbClr val="FFFFFF"/>
            </a:solidFill>
            <a:prstDash val="solid"/>
          </a:ln>
        </p:spPr>
      </p:sp>
      <p:sp>
        <p:nvSpPr>
          <p:cNvPr id="56" name="Text 54"/>
          <p:cNvSpPr/>
          <p:nvPr/>
        </p:nvSpPr>
        <p:spPr>
          <a:xfrm>
            <a:off x="4983480" y="3264408"/>
            <a:ext cx="1316736" cy="329184"/>
          </a:xfrm>
          <a:prstGeom prst="rect">
            <a:avLst/>
          </a:prstGeom>
          <a:noFill/>
          <a:ln/>
        </p:spPr>
        <p:txBody>
          <a:bodyPr wrap="square" lIns="0" tIns="0" rIns="0" bIns="0" rtlCol="0" anchor="ctr"/>
          <a:lstStyle/>
          <a:p>
            <a:pPr algn="ctr" indent="0" marL="0">
              <a:buNone/>
            </a:pPr>
            <a:r>
              <a:rPr lang="en-US" sz="1500" b="1" dirty="0">
                <a:solidFill>
                  <a:srgbClr val="23282F"/>
                </a:solidFill>
                <a:latin typeface="Cambria" pitchFamily="34" charset="0"/>
                <a:ea typeface="Cambria" pitchFamily="34" charset="-122"/>
                <a:cs typeface="Cambria" pitchFamily="34" charset="-120"/>
              </a:rPr>
              <a:t>2.0</a:t>
            </a:r>
            <a:endParaRPr lang="en-US" sz="1500" dirty="0"/>
          </a:p>
        </p:txBody>
      </p:sp>
      <p:sp>
        <p:nvSpPr>
          <p:cNvPr id="57" name="Text 55"/>
          <p:cNvSpPr/>
          <p:nvPr/>
        </p:nvSpPr>
        <p:spPr>
          <a:xfrm>
            <a:off x="4983480" y="3593592"/>
            <a:ext cx="1316736" cy="274320"/>
          </a:xfrm>
          <a:prstGeom prst="rect">
            <a:avLst/>
          </a:prstGeom>
          <a:noFill/>
          <a:ln/>
        </p:spPr>
        <p:txBody>
          <a:bodyPr wrap="square" lIns="0" tIns="0" rIns="0" bIns="0" rtlCol="0" anchor="ctr"/>
          <a:lstStyle/>
          <a:p>
            <a:pPr algn="ctr" indent="0" marL="0">
              <a:buNone/>
            </a:pPr>
            <a:r>
              <a:rPr lang="en-US" sz="900" dirty="0">
                <a:solidFill>
                  <a:srgbClr val="6E7681"/>
                </a:solidFill>
                <a:latin typeface="Calibri" pitchFamily="34" charset="0"/>
                <a:ea typeface="Calibri" pitchFamily="34" charset="-122"/>
                <a:cs typeface="Calibri" pitchFamily="34" charset="-120"/>
              </a:rPr>
              <a:t>ohne 8 · Zuf 3</a:t>
            </a:r>
            <a:endParaRPr lang="en-US" sz="900" dirty="0"/>
          </a:p>
        </p:txBody>
      </p:sp>
      <p:sp>
        <p:nvSpPr>
          <p:cNvPr id="58" name="Shape 56"/>
          <p:cNvSpPr/>
          <p:nvPr/>
        </p:nvSpPr>
        <p:spPr>
          <a:xfrm>
            <a:off x="6355080" y="3209544"/>
            <a:ext cx="1316736" cy="658368"/>
          </a:xfrm>
          <a:prstGeom prst="rect">
            <a:avLst/>
          </a:prstGeom>
          <a:solidFill>
            <a:srgbClr val="F4F6F8"/>
          </a:solidFill>
          <a:ln w="19050">
            <a:solidFill>
              <a:srgbClr val="FFFFFF"/>
            </a:solidFill>
            <a:prstDash val="solid"/>
          </a:ln>
        </p:spPr>
      </p:sp>
      <p:sp>
        <p:nvSpPr>
          <p:cNvPr id="59" name="Text 57"/>
          <p:cNvSpPr/>
          <p:nvPr/>
        </p:nvSpPr>
        <p:spPr>
          <a:xfrm>
            <a:off x="6355080" y="3264408"/>
            <a:ext cx="1316736" cy="329184"/>
          </a:xfrm>
          <a:prstGeom prst="rect">
            <a:avLst/>
          </a:prstGeom>
          <a:noFill/>
          <a:ln/>
        </p:spPr>
        <p:txBody>
          <a:bodyPr wrap="square" lIns="0" tIns="0" rIns="0" bIns="0" rtlCol="0" anchor="ctr"/>
          <a:lstStyle/>
          <a:p>
            <a:pPr algn="ctr" indent="0" marL="0">
              <a:buNone/>
            </a:pPr>
            <a:r>
              <a:rPr lang="en-US" sz="1500" b="1" dirty="0">
                <a:solidFill>
                  <a:srgbClr val="23282F"/>
                </a:solidFill>
                <a:latin typeface="Cambria" pitchFamily="34" charset="0"/>
                <a:ea typeface="Cambria" pitchFamily="34" charset="-122"/>
                <a:cs typeface="Cambria" pitchFamily="34" charset="-120"/>
              </a:rPr>
              <a:t>3.0</a:t>
            </a:r>
            <a:endParaRPr lang="en-US" sz="1500" dirty="0"/>
          </a:p>
        </p:txBody>
      </p:sp>
      <p:sp>
        <p:nvSpPr>
          <p:cNvPr id="60" name="Text 58"/>
          <p:cNvSpPr/>
          <p:nvPr/>
        </p:nvSpPr>
        <p:spPr>
          <a:xfrm>
            <a:off x="6355080" y="3593592"/>
            <a:ext cx="1316736" cy="274320"/>
          </a:xfrm>
          <a:prstGeom prst="rect">
            <a:avLst/>
          </a:prstGeom>
          <a:noFill/>
          <a:ln/>
        </p:spPr>
        <p:txBody>
          <a:bodyPr wrap="square" lIns="0" tIns="0" rIns="0" bIns="0" rtlCol="0" anchor="ctr"/>
          <a:lstStyle/>
          <a:p>
            <a:pPr algn="ctr" indent="0" marL="0">
              <a:buNone/>
            </a:pPr>
            <a:r>
              <a:rPr lang="en-US" sz="900" dirty="0">
                <a:solidFill>
                  <a:srgbClr val="6E7681"/>
                </a:solidFill>
                <a:latin typeface="Calibri" pitchFamily="34" charset="0"/>
                <a:ea typeface="Calibri" pitchFamily="34" charset="-122"/>
                <a:cs typeface="Calibri" pitchFamily="34" charset="-120"/>
              </a:rPr>
              <a:t>ohne 10 · Zuf 8</a:t>
            </a:r>
            <a:endParaRPr lang="en-US" sz="900" dirty="0"/>
          </a:p>
        </p:txBody>
      </p:sp>
      <p:sp>
        <p:nvSpPr>
          <p:cNvPr id="61" name="Shape 59"/>
          <p:cNvSpPr/>
          <p:nvPr/>
        </p:nvSpPr>
        <p:spPr>
          <a:xfrm>
            <a:off x="7726680" y="3209544"/>
            <a:ext cx="1316736" cy="658368"/>
          </a:xfrm>
          <a:prstGeom prst="rect">
            <a:avLst/>
          </a:prstGeom>
          <a:solidFill>
            <a:srgbClr val="E9F1F5"/>
          </a:solidFill>
          <a:ln w="19050">
            <a:solidFill>
              <a:srgbClr val="FFFFFF"/>
            </a:solidFill>
            <a:prstDash val="solid"/>
          </a:ln>
        </p:spPr>
      </p:sp>
      <p:sp>
        <p:nvSpPr>
          <p:cNvPr id="62" name="Text 60"/>
          <p:cNvSpPr/>
          <p:nvPr/>
        </p:nvSpPr>
        <p:spPr>
          <a:xfrm>
            <a:off x="7726680" y="3264408"/>
            <a:ext cx="1316736" cy="329184"/>
          </a:xfrm>
          <a:prstGeom prst="rect">
            <a:avLst/>
          </a:prstGeom>
          <a:noFill/>
          <a:ln/>
        </p:spPr>
        <p:txBody>
          <a:bodyPr wrap="square" lIns="0" tIns="0" rIns="0" bIns="0" rtlCol="0" anchor="ctr"/>
          <a:lstStyle/>
          <a:p>
            <a:pPr algn="ctr" indent="0" marL="0">
              <a:buNone/>
            </a:pPr>
            <a:r>
              <a:rPr lang="en-US" sz="1500" b="1" dirty="0">
                <a:solidFill>
                  <a:srgbClr val="23282F"/>
                </a:solidFill>
                <a:latin typeface="Cambria" pitchFamily="34" charset="0"/>
                <a:ea typeface="Cambria" pitchFamily="34" charset="-122"/>
                <a:cs typeface="Cambria" pitchFamily="34" charset="-120"/>
              </a:rPr>
              <a:t>2.0</a:t>
            </a:r>
            <a:endParaRPr lang="en-US" sz="1500" dirty="0"/>
          </a:p>
        </p:txBody>
      </p:sp>
      <p:sp>
        <p:nvSpPr>
          <p:cNvPr id="63" name="Text 61"/>
          <p:cNvSpPr/>
          <p:nvPr/>
        </p:nvSpPr>
        <p:spPr>
          <a:xfrm>
            <a:off x="7726680" y="3593592"/>
            <a:ext cx="1316736" cy="274320"/>
          </a:xfrm>
          <a:prstGeom prst="rect">
            <a:avLst/>
          </a:prstGeom>
          <a:noFill/>
          <a:ln/>
        </p:spPr>
        <p:txBody>
          <a:bodyPr wrap="square" lIns="0" tIns="0" rIns="0" bIns="0" rtlCol="0" anchor="ctr"/>
          <a:lstStyle/>
          <a:p>
            <a:pPr algn="ctr" indent="0" marL="0">
              <a:buNone/>
            </a:pPr>
            <a:r>
              <a:rPr lang="en-US" sz="900" dirty="0">
                <a:solidFill>
                  <a:srgbClr val="6E7681"/>
                </a:solidFill>
                <a:latin typeface="Calibri" pitchFamily="34" charset="0"/>
                <a:ea typeface="Calibri" pitchFamily="34" charset="-122"/>
                <a:cs typeface="Calibri" pitchFamily="34" charset="-120"/>
              </a:rPr>
              <a:t>ohne 5 · Zuf 3</a:t>
            </a:r>
            <a:endParaRPr lang="en-US" sz="900" dirty="0"/>
          </a:p>
        </p:txBody>
      </p:sp>
      <p:sp>
        <p:nvSpPr>
          <p:cNvPr id="64" name="Shape 62"/>
          <p:cNvSpPr/>
          <p:nvPr/>
        </p:nvSpPr>
        <p:spPr>
          <a:xfrm>
            <a:off x="9098280" y="3209544"/>
            <a:ext cx="1316736" cy="658368"/>
          </a:xfrm>
          <a:prstGeom prst="rect">
            <a:avLst/>
          </a:prstGeom>
          <a:solidFill>
            <a:srgbClr val="E9F1F5"/>
          </a:solidFill>
          <a:ln w="19050">
            <a:solidFill>
              <a:srgbClr val="FFFFFF"/>
            </a:solidFill>
            <a:prstDash val="solid"/>
          </a:ln>
        </p:spPr>
      </p:sp>
      <p:sp>
        <p:nvSpPr>
          <p:cNvPr id="65" name="Text 63"/>
          <p:cNvSpPr/>
          <p:nvPr/>
        </p:nvSpPr>
        <p:spPr>
          <a:xfrm>
            <a:off x="9098280" y="3264408"/>
            <a:ext cx="1316736" cy="329184"/>
          </a:xfrm>
          <a:prstGeom prst="rect">
            <a:avLst/>
          </a:prstGeom>
          <a:noFill/>
          <a:ln/>
        </p:spPr>
        <p:txBody>
          <a:bodyPr wrap="square" lIns="0" tIns="0" rIns="0" bIns="0" rtlCol="0" anchor="ctr"/>
          <a:lstStyle/>
          <a:p>
            <a:pPr algn="ctr" indent="0" marL="0">
              <a:buNone/>
            </a:pPr>
            <a:r>
              <a:rPr lang="en-US" sz="1500" b="1" dirty="0">
                <a:solidFill>
                  <a:srgbClr val="23282F"/>
                </a:solidFill>
                <a:latin typeface="Cambria" pitchFamily="34" charset="0"/>
                <a:ea typeface="Cambria" pitchFamily="34" charset="-122"/>
                <a:cs typeface="Cambria" pitchFamily="34" charset="-120"/>
              </a:rPr>
              <a:t>2.0</a:t>
            </a:r>
            <a:endParaRPr lang="en-US" sz="1500" dirty="0"/>
          </a:p>
        </p:txBody>
      </p:sp>
      <p:sp>
        <p:nvSpPr>
          <p:cNvPr id="66" name="Text 64"/>
          <p:cNvSpPr/>
          <p:nvPr/>
        </p:nvSpPr>
        <p:spPr>
          <a:xfrm>
            <a:off x="9098280" y="3593592"/>
            <a:ext cx="1316736" cy="274320"/>
          </a:xfrm>
          <a:prstGeom prst="rect">
            <a:avLst/>
          </a:prstGeom>
          <a:noFill/>
          <a:ln/>
        </p:spPr>
        <p:txBody>
          <a:bodyPr wrap="square" lIns="0" tIns="0" rIns="0" bIns="0" rtlCol="0" anchor="ctr"/>
          <a:lstStyle/>
          <a:p>
            <a:pPr algn="ctr" indent="0" marL="0">
              <a:buNone/>
            </a:pPr>
            <a:r>
              <a:rPr lang="en-US" sz="900" dirty="0">
                <a:solidFill>
                  <a:srgbClr val="6E7681"/>
                </a:solidFill>
                <a:latin typeface="Calibri" pitchFamily="34" charset="0"/>
                <a:ea typeface="Calibri" pitchFamily="34" charset="-122"/>
                <a:cs typeface="Calibri" pitchFamily="34" charset="-120"/>
              </a:rPr>
              <a:t>ohne 9 · Zuf 3</a:t>
            </a:r>
            <a:endParaRPr lang="en-US" sz="900" dirty="0"/>
          </a:p>
        </p:txBody>
      </p:sp>
      <p:sp>
        <p:nvSpPr>
          <p:cNvPr id="67" name="Text 65"/>
          <p:cNvSpPr/>
          <p:nvPr/>
        </p:nvSpPr>
        <p:spPr>
          <a:xfrm>
            <a:off x="640080" y="3922776"/>
            <a:ext cx="1508760" cy="713232"/>
          </a:xfrm>
          <a:prstGeom prst="rect">
            <a:avLst/>
          </a:prstGeom>
          <a:noFill/>
          <a:ln/>
        </p:spPr>
        <p:txBody>
          <a:bodyPr wrap="square" lIns="0" tIns="0" rIns="0" bIns="0" rtlCol="0" anchor="ctr"/>
          <a:lstStyle/>
          <a:p>
            <a:pPr algn="r" indent="0" marL="0">
              <a:buNone/>
            </a:pPr>
            <a:r>
              <a:rPr lang="en-US" sz="1300" b="1" dirty="0">
                <a:solidFill>
                  <a:srgbClr val="23282F"/>
                </a:solidFill>
                <a:latin typeface="Calibri" pitchFamily="34" charset="0"/>
                <a:ea typeface="Calibri" pitchFamily="34" charset="-122"/>
                <a:cs typeface="Calibri" pitchFamily="34" charset="-120"/>
              </a:rPr>
              <a:t>Micro-Seg.</a:t>
            </a:r>
            <a:endParaRPr lang="en-US" sz="1300" dirty="0"/>
          </a:p>
        </p:txBody>
      </p:sp>
      <p:sp>
        <p:nvSpPr>
          <p:cNvPr id="68" name="Shape 66"/>
          <p:cNvSpPr/>
          <p:nvPr/>
        </p:nvSpPr>
        <p:spPr>
          <a:xfrm>
            <a:off x="2240280" y="3922776"/>
            <a:ext cx="1316736" cy="658368"/>
          </a:xfrm>
          <a:prstGeom prst="rect">
            <a:avLst/>
          </a:prstGeom>
          <a:solidFill>
            <a:srgbClr val="E9F1F5"/>
          </a:solidFill>
          <a:ln w="19050">
            <a:solidFill>
              <a:srgbClr val="FFFFFF"/>
            </a:solidFill>
            <a:prstDash val="solid"/>
          </a:ln>
        </p:spPr>
      </p:sp>
      <p:sp>
        <p:nvSpPr>
          <p:cNvPr id="69" name="Text 67"/>
          <p:cNvSpPr/>
          <p:nvPr/>
        </p:nvSpPr>
        <p:spPr>
          <a:xfrm>
            <a:off x="2240280" y="3977640"/>
            <a:ext cx="1316736" cy="329184"/>
          </a:xfrm>
          <a:prstGeom prst="rect">
            <a:avLst/>
          </a:prstGeom>
          <a:noFill/>
          <a:ln/>
        </p:spPr>
        <p:txBody>
          <a:bodyPr wrap="square" lIns="0" tIns="0" rIns="0" bIns="0" rtlCol="0" anchor="ctr"/>
          <a:lstStyle/>
          <a:p>
            <a:pPr algn="ctr" indent="0" marL="0">
              <a:buNone/>
            </a:pPr>
            <a:r>
              <a:rPr lang="en-US" sz="1500" b="1" dirty="0">
                <a:solidFill>
                  <a:srgbClr val="23282F"/>
                </a:solidFill>
                <a:latin typeface="Cambria" pitchFamily="34" charset="0"/>
                <a:ea typeface="Cambria" pitchFamily="34" charset="-122"/>
                <a:cs typeface="Cambria" pitchFamily="34" charset="-120"/>
              </a:rPr>
              <a:t>2.0</a:t>
            </a:r>
            <a:endParaRPr lang="en-US" sz="1500" dirty="0"/>
          </a:p>
        </p:txBody>
      </p:sp>
      <p:sp>
        <p:nvSpPr>
          <p:cNvPr id="70" name="Text 68"/>
          <p:cNvSpPr/>
          <p:nvPr/>
        </p:nvSpPr>
        <p:spPr>
          <a:xfrm>
            <a:off x="2240280" y="4306824"/>
            <a:ext cx="1316736" cy="274320"/>
          </a:xfrm>
          <a:prstGeom prst="rect">
            <a:avLst/>
          </a:prstGeom>
          <a:noFill/>
          <a:ln/>
        </p:spPr>
        <p:txBody>
          <a:bodyPr wrap="square" lIns="0" tIns="0" rIns="0" bIns="0" rtlCol="0" anchor="ctr"/>
          <a:lstStyle/>
          <a:p>
            <a:pPr algn="ctr" indent="0" marL="0">
              <a:buNone/>
            </a:pPr>
            <a:r>
              <a:rPr lang="en-US" sz="900" dirty="0">
                <a:solidFill>
                  <a:srgbClr val="6E7681"/>
                </a:solidFill>
                <a:latin typeface="Calibri" pitchFamily="34" charset="0"/>
                <a:ea typeface="Calibri" pitchFamily="34" charset="-122"/>
                <a:cs typeface="Calibri" pitchFamily="34" charset="-120"/>
              </a:rPr>
              <a:t>ohne 4 · Zuf 3</a:t>
            </a:r>
            <a:endParaRPr lang="en-US" sz="900" dirty="0"/>
          </a:p>
        </p:txBody>
      </p:sp>
      <p:sp>
        <p:nvSpPr>
          <p:cNvPr id="71" name="Shape 69"/>
          <p:cNvSpPr/>
          <p:nvPr/>
        </p:nvSpPr>
        <p:spPr>
          <a:xfrm>
            <a:off x="3611880" y="3922776"/>
            <a:ext cx="1316736" cy="658368"/>
          </a:xfrm>
          <a:prstGeom prst="rect">
            <a:avLst/>
          </a:prstGeom>
          <a:solidFill>
            <a:srgbClr val="E9F1F5"/>
          </a:solidFill>
          <a:ln w="19050">
            <a:solidFill>
              <a:srgbClr val="FFFFFF"/>
            </a:solidFill>
            <a:prstDash val="solid"/>
          </a:ln>
        </p:spPr>
      </p:sp>
      <p:sp>
        <p:nvSpPr>
          <p:cNvPr id="72" name="Text 70"/>
          <p:cNvSpPr/>
          <p:nvPr/>
        </p:nvSpPr>
        <p:spPr>
          <a:xfrm>
            <a:off x="3611880" y="3977640"/>
            <a:ext cx="1316736" cy="329184"/>
          </a:xfrm>
          <a:prstGeom prst="rect">
            <a:avLst/>
          </a:prstGeom>
          <a:noFill/>
          <a:ln/>
        </p:spPr>
        <p:txBody>
          <a:bodyPr wrap="square" lIns="0" tIns="0" rIns="0" bIns="0" rtlCol="0" anchor="ctr"/>
          <a:lstStyle/>
          <a:p>
            <a:pPr algn="ctr" indent="0" marL="0">
              <a:buNone/>
            </a:pPr>
            <a:r>
              <a:rPr lang="en-US" sz="1500" b="1" dirty="0">
                <a:solidFill>
                  <a:srgbClr val="23282F"/>
                </a:solidFill>
                <a:latin typeface="Cambria" pitchFamily="34" charset="0"/>
                <a:ea typeface="Cambria" pitchFamily="34" charset="-122"/>
                <a:cs typeface="Cambria" pitchFamily="34" charset="-120"/>
              </a:rPr>
              <a:t>2.0</a:t>
            </a:r>
            <a:endParaRPr lang="en-US" sz="1500" dirty="0"/>
          </a:p>
        </p:txBody>
      </p:sp>
      <p:sp>
        <p:nvSpPr>
          <p:cNvPr id="73" name="Text 71"/>
          <p:cNvSpPr/>
          <p:nvPr/>
        </p:nvSpPr>
        <p:spPr>
          <a:xfrm>
            <a:off x="3611880" y="4306824"/>
            <a:ext cx="1316736" cy="274320"/>
          </a:xfrm>
          <a:prstGeom prst="rect">
            <a:avLst/>
          </a:prstGeom>
          <a:noFill/>
          <a:ln/>
        </p:spPr>
        <p:txBody>
          <a:bodyPr wrap="square" lIns="0" tIns="0" rIns="0" bIns="0" rtlCol="0" anchor="ctr"/>
          <a:lstStyle/>
          <a:p>
            <a:pPr algn="ctr" indent="0" marL="0">
              <a:buNone/>
            </a:pPr>
            <a:r>
              <a:rPr lang="en-US" sz="900" dirty="0">
                <a:solidFill>
                  <a:srgbClr val="6E7681"/>
                </a:solidFill>
                <a:latin typeface="Calibri" pitchFamily="34" charset="0"/>
                <a:ea typeface="Calibri" pitchFamily="34" charset="-122"/>
                <a:cs typeface="Calibri" pitchFamily="34" charset="-120"/>
              </a:rPr>
              <a:t>ohne 4 · Zuf 3</a:t>
            </a:r>
            <a:endParaRPr lang="en-US" sz="900" dirty="0"/>
          </a:p>
        </p:txBody>
      </p:sp>
      <p:sp>
        <p:nvSpPr>
          <p:cNvPr id="74" name="Shape 72"/>
          <p:cNvSpPr/>
          <p:nvPr/>
        </p:nvSpPr>
        <p:spPr>
          <a:xfrm>
            <a:off x="4983480" y="3922776"/>
            <a:ext cx="1316736" cy="658368"/>
          </a:xfrm>
          <a:prstGeom prst="rect">
            <a:avLst/>
          </a:prstGeom>
          <a:solidFill>
            <a:srgbClr val="E9F1F5"/>
          </a:solidFill>
          <a:ln w="19050">
            <a:solidFill>
              <a:srgbClr val="FFFFFF"/>
            </a:solidFill>
            <a:prstDash val="solid"/>
          </a:ln>
        </p:spPr>
      </p:sp>
      <p:sp>
        <p:nvSpPr>
          <p:cNvPr id="75" name="Text 73"/>
          <p:cNvSpPr/>
          <p:nvPr/>
        </p:nvSpPr>
        <p:spPr>
          <a:xfrm>
            <a:off x="4983480" y="3977640"/>
            <a:ext cx="1316736" cy="329184"/>
          </a:xfrm>
          <a:prstGeom prst="rect">
            <a:avLst/>
          </a:prstGeom>
          <a:noFill/>
          <a:ln/>
        </p:spPr>
        <p:txBody>
          <a:bodyPr wrap="square" lIns="0" tIns="0" rIns="0" bIns="0" rtlCol="0" anchor="ctr"/>
          <a:lstStyle/>
          <a:p>
            <a:pPr algn="ctr" indent="0" marL="0">
              <a:buNone/>
            </a:pPr>
            <a:r>
              <a:rPr lang="en-US" sz="1500" b="1" dirty="0">
                <a:solidFill>
                  <a:srgbClr val="23282F"/>
                </a:solidFill>
                <a:latin typeface="Cambria" pitchFamily="34" charset="0"/>
                <a:ea typeface="Cambria" pitchFamily="34" charset="-122"/>
                <a:cs typeface="Cambria" pitchFamily="34" charset="-120"/>
              </a:rPr>
              <a:t>2.0</a:t>
            </a:r>
            <a:endParaRPr lang="en-US" sz="1500" dirty="0"/>
          </a:p>
        </p:txBody>
      </p:sp>
      <p:sp>
        <p:nvSpPr>
          <p:cNvPr id="76" name="Text 74"/>
          <p:cNvSpPr/>
          <p:nvPr/>
        </p:nvSpPr>
        <p:spPr>
          <a:xfrm>
            <a:off x="4983480" y="4306824"/>
            <a:ext cx="1316736" cy="274320"/>
          </a:xfrm>
          <a:prstGeom prst="rect">
            <a:avLst/>
          </a:prstGeom>
          <a:noFill/>
          <a:ln/>
        </p:spPr>
        <p:txBody>
          <a:bodyPr wrap="square" lIns="0" tIns="0" rIns="0" bIns="0" rtlCol="0" anchor="ctr"/>
          <a:lstStyle/>
          <a:p>
            <a:pPr algn="ctr" indent="0" marL="0">
              <a:buNone/>
            </a:pPr>
            <a:r>
              <a:rPr lang="en-US" sz="900" dirty="0">
                <a:solidFill>
                  <a:srgbClr val="6E7681"/>
                </a:solidFill>
                <a:latin typeface="Calibri" pitchFamily="34" charset="0"/>
                <a:ea typeface="Calibri" pitchFamily="34" charset="-122"/>
                <a:cs typeface="Calibri" pitchFamily="34" charset="-120"/>
              </a:rPr>
              <a:t>ohne 4 · Zuf 3</a:t>
            </a:r>
            <a:endParaRPr lang="en-US" sz="900" dirty="0"/>
          </a:p>
        </p:txBody>
      </p:sp>
      <p:sp>
        <p:nvSpPr>
          <p:cNvPr id="77" name="Shape 75"/>
          <p:cNvSpPr/>
          <p:nvPr/>
        </p:nvSpPr>
        <p:spPr>
          <a:xfrm>
            <a:off x="6355080" y="3922776"/>
            <a:ext cx="1316736" cy="658368"/>
          </a:xfrm>
          <a:prstGeom prst="rect">
            <a:avLst/>
          </a:prstGeom>
          <a:solidFill>
            <a:srgbClr val="E9F1F5"/>
          </a:solidFill>
          <a:ln w="19050">
            <a:solidFill>
              <a:srgbClr val="FFFFFF"/>
            </a:solidFill>
            <a:prstDash val="solid"/>
          </a:ln>
        </p:spPr>
      </p:sp>
      <p:sp>
        <p:nvSpPr>
          <p:cNvPr id="78" name="Text 76"/>
          <p:cNvSpPr/>
          <p:nvPr/>
        </p:nvSpPr>
        <p:spPr>
          <a:xfrm>
            <a:off x="6355080" y="3977640"/>
            <a:ext cx="1316736" cy="329184"/>
          </a:xfrm>
          <a:prstGeom prst="rect">
            <a:avLst/>
          </a:prstGeom>
          <a:noFill/>
          <a:ln/>
        </p:spPr>
        <p:txBody>
          <a:bodyPr wrap="square" lIns="0" tIns="0" rIns="0" bIns="0" rtlCol="0" anchor="ctr"/>
          <a:lstStyle/>
          <a:p>
            <a:pPr algn="ctr" indent="0" marL="0">
              <a:buNone/>
            </a:pPr>
            <a:r>
              <a:rPr lang="en-US" sz="1500" b="1" dirty="0">
                <a:solidFill>
                  <a:srgbClr val="23282F"/>
                </a:solidFill>
                <a:latin typeface="Cambria" pitchFamily="34" charset="0"/>
                <a:ea typeface="Cambria" pitchFamily="34" charset="-122"/>
                <a:cs typeface="Cambria" pitchFamily="34" charset="-120"/>
              </a:rPr>
              <a:t>2.0</a:t>
            </a:r>
            <a:endParaRPr lang="en-US" sz="1500" dirty="0"/>
          </a:p>
        </p:txBody>
      </p:sp>
      <p:sp>
        <p:nvSpPr>
          <p:cNvPr id="79" name="Text 77"/>
          <p:cNvSpPr/>
          <p:nvPr/>
        </p:nvSpPr>
        <p:spPr>
          <a:xfrm>
            <a:off x="6355080" y="4306824"/>
            <a:ext cx="1316736" cy="274320"/>
          </a:xfrm>
          <a:prstGeom prst="rect">
            <a:avLst/>
          </a:prstGeom>
          <a:noFill/>
          <a:ln/>
        </p:spPr>
        <p:txBody>
          <a:bodyPr wrap="square" lIns="0" tIns="0" rIns="0" bIns="0" rtlCol="0" anchor="ctr"/>
          <a:lstStyle/>
          <a:p>
            <a:pPr algn="ctr" indent="0" marL="0">
              <a:buNone/>
            </a:pPr>
            <a:r>
              <a:rPr lang="en-US" sz="900" dirty="0">
                <a:solidFill>
                  <a:srgbClr val="6E7681"/>
                </a:solidFill>
                <a:latin typeface="Calibri" pitchFamily="34" charset="0"/>
                <a:ea typeface="Calibri" pitchFamily="34" charset="-122"/>
                <a:cs typeface="Calibri" pitchFamily="34" charset="-120"/>
              </a:rPr>
              <a:t>ohne 3 · Zuf 2</a:t>
            </a:r>
            <a:endParaRPr lang="en-US" sz="900" dirty="0"/>
          </a:p>
        </p:txBody>
      </p:sp>
      <p:sp>
        <p:nvSpPr>
          <p:cNvPr id="80" name="Shape 78"/>
          <p:cNvSpPr/>
          <p:nvPr/>
        </p:nvSpPr>
        <p:spPr>
          <a:xfrm>
            <a:off x="7726680" y="3922776"/>
            <a:ext cx="1316736" cy="658368"/>
          </a:xfrm>
          <a:prstGeom prst="rect">
            <a:avLst/>
          </a:prstGeom>
          <a:solidFill>
            <a:srgbClr val="E9F1F5"/>
          </a:solidFill>
          <a:ln w="19050">
            <a:solidFill>
              <a:srgbClr val="FFFFFF"/>
            </a:solidFill>
            <a:prstDash val="solid"/>
          </a:ln>
        </p:spPr>
      </p:sp>
      <p:sp>
        <p:nvSpPr>
          <p:cNvPr id="81" name="Text 79"/>
          <p:cNvSpPr/>
          <p:nvPr/>
        </p:nvSpPr>
        <p:spPr>
          <a:xfrm>
            <a:off x="7726680" y="3977640"/>
            <a:ext cx="1316736" cy="329184"/>
          </a:xfrm>
          <a:prstGeom prst="rect">
            <a:avLst/>
          </a:prstGeom>
          <a:noFill/>
          <a:ln/>
        </p:spPr>
        <p:txBody>
          <a:bodyPr wrap="square" lIns="0" tIns="0" rIns="0" bIns="0" rtlCol="0" anchor="ctr"/>
          <a:lstStyle/>
          <a:p>
            <a:pPr algn="ctr" indent="0" marL="0">
              <a:buNone/>
            </a:pPr>
            <a:r>
              <a:rPr lang="en-US" sz="1500" b="1" dirty="0">
                <a:solidFill>
                  <a:srgbClr val="23282F"/>
                </a:solidFill>
                <a:latin typeface="Cambria" pitchFamily="34" charset="0"/>
                <a:ea typeface="Cambria" pitchFamily="34" charset="-122"/>
                <a:cs typeface="Cambria" pitchFamily="34" charset="-120"/>
              </a:rPr>
              <a:t>2.0</a:t>
            </a:r>
            <a:endParaRPr lang="en-US" sz="1500" dirty="0"/>
          </a:p>
        </p:txBody>
      </p:sp>
      <p:sp>
        <p:nvSpPr>
          <p:cNvPr id="82" name="Text 80"/>
          <p:cNvSpPr/>
          <p:nvPr/>
        </p:nvSpPr>
        <p:spPr>
          <a:xfrm>
            <a:off x="7726680" y="4306824"/>
            <a:ext cx="1316736" cy="274320"/>
          </a:xfrm>
          <a:prstGeom prst="rect">
            <a:avLst/>
          </a:prstGeom>
          <a:noFill/>
          <a:ln/>
        </p:spPr>
        <p:txBody>
          <a:bodyPr wrap="square" lIns="0" tIns="0" rIns="0" bIns="0" rtlCol="0" anchor="ctr"/>
          <a:lstStyle/>
          <a:p>
            <a:pPr algn="ctr" indent="0" marL="0">
              <a:buNone/>
            </a:pPr>
            <a:r>
              <a:rPr lang="en-US" sz="900" dirty="0">
                <a:solidFill>
                  <a:srgbClr val="6E7681"/>
                </a:solidFill>
                <a:latin typeface="Calibri" pitchFamily="34" charset="0"/>
                <a:ea typeface="Calibri" pitchFamily="34" charset="-122"/>
                <a:cs typeface="Calibri" pitchFamily="34" charset="-120"/>
              </a:rPr>
              <a:t>ohne 4 · Zuf 4</a:t>
            </a:r>
            <a:endParaRPr lang="en-US" sz="900" dirty="0"/>
          </a:p>
        </p:txBody>
      </p:sp>
      <p:sp>
        <p:nvSpPr>
          <p:cNvPr id="83" name="Shape 81"/>
          <p:cNvSpPr/>
          <p:nvPr/>
        </p:nvSpPr>
        <p:spPr>
          <a:xfrm>
            <a:off x="9098280" y="3922776"/>
            <a:ext cx="1316736" cy="658368"/>
          </a:xfrm>
          <a:prstGeom prst="rect">
            <a:avLst/>
          </a:prstGeom>
          <a:solidFill>
            <a:srgbClr val="E9F1F5"/>
          </a:solidFill>
          <a:ln w="19050">
            <a:solidFill>
              <a:srgbClr val="FFFFFF"/>
            </a:solidFill>
            <a:prstDash val="solid"/>
          </a:ln>
        </p:spPr>
      </p:sp>
      <p:sp>
        <p:nvSpPr>
          <p:cNvPr id="84" name="Text 82"/>
          <p:cNvSpPr/>
          <p:nvPr/>
        </p:nvSpPr>
        <p:spPr>
          <a:xfrm>
            <a:off x="9098280" y="3977640"/>
            <a:ext cx="1316736" cy="329184"/>
          </a:xfrm>
          <a:prstGeom prst="rect">
            <a:avLst/>
          </a:prstGeom>
          <a:noFill/>
          <a:ln/>
        </p:spPr>
        <p:txBody>
          <a:bodyPr wrap="square" lIns="0" tIns="0" rIns="0" bIns="0" rtlCol="0" anchor="ctr"/>
          <a:lstStyle/>
          <a:p>
            <a:pPr algn="ctr" indent="0" marL="0">
              <a:buNone/>
            </a:pPr>
            <a:r>
              <a:rPr lang="en-US" sz="1500" b="1" dirty="0">
                <a:solidFill>
                  <a:srgbClr val="23282F"/>
                </a:solidFill>
                <a:latin typeface="Cambria" pitchFamily="34" charset="0"/>
                <a:ea typeface="Cambria" pitchFamily="34" charset="-122"/>
                <a:cs typeface="Cambria" pitchFamily="34" charset="-120"/>
              </a:rPr>
              <a:t>2.0</a:t>
            </a:r>
            <a:endParaRPr lang="en-US" sz="1500" dirty="0"/>
          </a:p>
        </p:txBody>
      </p:sp>
      <p:sp>
        <p:nvSpPr>
          <p:cNvPr id="85" name="Text 83"/>
          <p:cNvSpPr/>
          <p:nvPr/>
        </p:nvSpPr>
        <p:spPr>
          <a:xfrm>
            <a:off x="9098280" y="4306824"/>
            <a:ext cx="1316736" cy="274320"/>
          </a:xfrm>
          <a:prstGeom prst="rect">
            <a:avLst/>
          </a:prstGeom>
          <a:noFill/>
          <a:ln/>
        </p:spPr>
        <p:txBody>
          <a:bodyPr wrap="square" lIns="0" tIns="0" rIns="0" bIns="0" rtlCol="0" anchor="ctr"/>
          <a:lstStyle/>
          <a:p>
            <a:pPr algn="ctr" indent="0" marL="0">
              <a:buNone/>
            </a:pPr>
            <a:r>
              <a:rPr lang="en-US" sz="900" dirty="0">
                <a:solidFill>
                  <a:srgbClr val="6E7681"/>
                </a:solidFill>
                <a:latin typeface="Calibri" pitchFamily="34" charset="0"/>
                <a:ea typeface="Calibri" pitchFamily="34" charset="-122"/>
                <a:cs typeface="Calibri" pitchFamily="34" charset="-120"/>
              </a:rPr>
              <a:t>ohne 4 · Zuf 4</a:t>
            </a:r>
            <a:endParaRPr lang="en-US" sz="900" dirty="0"/>
          </a:p>
        </p:txBody>
      </p:sp>
      <p:sp>
        <p:nvSpPr>
          <p:cNvPr id="86" name="Text 84"/>
          <p:cNvSpPr/>
          <p:nvPr/>
        </p:nvSpPr>
        <p:spPr>
          <a:xfrm>
            <a:off x="640080" y="4846320"/>
            <a:ext cx="10881360" cy="457200"/>
          </a:xfrm>
          <a:prstGeom prst="rect">
            <a:avLst/>
          </a:prstGeom>
          <a:noFill/>
          <a:ln/>
        </p:spPr>
        <p:txBody>
          <a:bodyPr wrap="square" lIns="0" tIns="0" rIns="0" bIns="0" rtlCol="0" anchor="ctr"/>
          <a:lstStyle/>
          <a:p>
            <a:pPr indent="0" marL="0">
              <a:buNone/>
            </a:pPr>
            <a:r>
              <a:rPr lang="en-US" sz="1400" b="1" dirty="0">
                <a:solidFill>
                  <a:srgbClr val="1C6E8C"/>
                </a:solidFill>
                <a:latin typeface="Calibri" pitchFamily="34" charset="0"/>
                <a:ea typeface="Calibri" pitchFamily="34" charset="-122"/>
                <a:cs typeface="Calibri" pitchFamily="34" charset="-120"/>
              </a:rPr>
              <a:t>Fast überall drückt das Training den Angreifer auf 2 von 10 Knoten, den Einstiegsknoten mitgezählt. Nur in Flat gegen den eigenen Angreifer bleibt es bei 7,0 Knoten, dieselbe Schwäche, die schon im Trainingsteil auffiel (Folie 5).</a:t>
            </a:r>
            <a:endParaRPr lang="en-US" sz="1400" dirty="0"/>
          </a:p>
        </p:txBody>
      </p:sp>
      <p:sp>
        <p:nvSpPr>
          <p:cNvPr id="87" name="Text 85"/>
          <p:cNvSpPr/>
          <p:nvPr/>
        </p:nvSpPr>
        <p:spPr>
          <a:xfrm>
            <a:off x="640080" y="6291072"/>
            <a:ext cx="10881360" cy="274320"/>
          </a:xfrm>
          <a:prstGeom prst="rect">
            <a:avLst/>
          </a:prstGeom>
          <a:noFill/>
          <a:ln/>
        </p:spPr>
        <p:txBody>
          <a:bodyPr wrap="square" lIns="0" tIns="0" rIns="0" bIns="0" rtlCol="0" anchor="ctr"/>
          <a:lstStyle/>
          <a:p>
            <a:pPr indent="0" marL="0">
              <a:buNone/>
            </a:pPr>
            <a:r>
              <a:rPr lang="en-US" sz="1000" i="1" dirty="0">
                <a:solidFill>
                  <a:srgbClr val="6E7681"/>
                </a:solidFill>
                <a:latin typeface="Calibri" pitchFamily="34" charset="0"/>
                <a:ea typeface="Calibri" pitchFamily="34" charset="-122"/>
                <a:cs typeface="Calibri" pitchFamily="34" charset="-120"/>
              </a:rPr>
              <a:t>Median über 25 Episoden je Zelle und über alle fünf Seeds. Der Einstiegsknoten WebServer ist von Beginn an übernommen und zählt mit. Zweite Zeile: Median ohne Verteidiger bzw. gegen den Zufallsagenten.</a:t>
            </a:r>
            <a:endParaRPr lang="en-US" sz="10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640080" y="384048"/>
            <a:ext cx="10881360" cy="566928"/>
          </a:xfrm>
          <a:prstGeom prst="rect">
            <a:avLst/>
          </a:prstGeom>
          <a:noFill/>
          <a:ln/>
        </p:spPr>
        <p:txBody>
          <a:bodyPr wrap="square" lIns="0" tIns="0" rIns="0" bIns="0" rtlCol="0" anchor="ctr"/>
          <a:lstStyle/>
          <a:p>
            <a:pPr indent="0" marL="0">
              <a:buNone/>
            </a:pPr>
            <a:r>
              <a:rPr lang="en-US" sz="3400" b="1" dirty="0">
                <a:solidFill>
                  <a:srgbClr val="23282F"/>
                </a:solidFill>
                <a:latin typeface="Cambria" pitchFamily="34" charset="0"/>
                <a:ea typeface="Cambria" pitchFamily="34" charset="-122"/>
                <a:cs typeface="Cambria" pitchFamily="34" charset="-120"/>
              </a:rPr>
              <a:t>Bringt der Verteidiger etwas? Crown Jewel</a:t>
            </a:r>
            <a:endParaRPr lang="en-US" sz="3400" dirty="0"/>
          </a:p>
        </p:txBody>
      </p:sp>
      <p:sp>
        <p:nvSpPr>
          <p:cNvPr id="3" name="Text 1"/>
          <p:cNvSpPr/>
          <p:nvPr/>
        </p:nvSpPr>
        <p:spPr>
          <a:xfrm>
            <a:off x="640080" y="969264"/>
            <a:ext cx="10881360" cy="493776"/>
          </a:xfrm>
          <a:prstGeom prst="rect">
            <a:avLst/>
          </a:prstGeom>
          <a:noFill/>
          <a:ln/>
        </p:spPr>
        <p:txBody>
          <a:bodyPr wrap="square" lIns="0" tIns="0" rIns="0" bIns="0" rtlCol="0" anchor="ctr"/>
          <a:lstStyle/>
          <a:p>
            <a:pPr indent="0" marL="0">
              <a:buNone/>
            </a:pPr>
            <a:r>
              <a:rPr lang="en-US" sz="1400" dirty="0">
                <a:solidFill>
                  <a:srgbClr val="6E7681"/>
                </a:solidFill>
                <a:latin typeface="Calibri" pitchFamily="34" charset="0"/>
                <a:ea typeface="Calibri" pitchFamily="34" charset="-122"/>
                <a:cs typeface="Calibri" pitchFamily="34" charset="-120"/>
              </a:rPr>
              <a:t>Anteil der Episoden mit erreichtem Datenbankserver, gegen das trainierte Modell, Zeile = verteidigte Topologie, Spalte = Angreifer</a:t>
            </a:r>
            <a:endParaRPr lang="en-US" sz="1400" dirty="0"/>
          </a:p>
        </p:txBody>
      </p:sp>
      <p:sp>
        <p:nvSpPr>
          <p:cNvPr id="4" name="Text 2"/>
          <p:cNvSpPr/>
          <p:nvPr/>
        </p:nvSpPr>
        <p:spPr>
          <a:xfrm>
            <a:off x="2240280" y="1399032"/>
            <a:ext cx="1371600" cy="329184"/>
          </a:xfrm>
          <a:prstGeom prst="rect">
            <a:avLst/>
          </a:prstGeom>
          <a:noFill/>
          <a:ln/>
        </p:spPr>
        <p:txBody>
          <a:bodyPr wrap="square" lIns="0" tIns="0" rIns="0" bIns="0" rtlCol="0" anchor="ctr"/>
          <a:lstStyle/>
          <a:p>
            <a:pPr algn="ctr" indent="0" marL="0">
              <a:buNone/>
            </a:pPr>
            <a:r>
              <a:rPr lang="en-US" sz="1200" b="1" dirty="0">
                <a:solidFill>
                  <a:srgbClr val="6E7681"/>
                </a:solidFill>
                <a:latin typeface="Calibri" pitchFamily="34" charset="0"/>
                <a:ea typeface="Calibri" pitchFamily="34" charset="-122"/>
                <a:cs typeface="Calibri" pitchFamily="34" charset="-120"/>
              </a:rPr>
              <a:t>Chain</a:t>
            </a:r>
            <a:endParaRPr lang="en-US" sz="1200" dirty="0"/>
          </a:p>
        </p:txBody>
      </p:sp>
      <p:sp>
        <p:nvSpPr>
          <p:cNvPr id="5" name="Text 3"/>
          <p:cNvSpPr/>
          <p:nvPr/>
        </p:nvSpPr>
        <p:spPr>
          <a:xfrm>
            <a:off x="3611880" y="1399032"/>
            <a:ext cx="1371600" cy="329184"/>
          </a:xfrm>
          <a:prstGeom prst="rect">
            <a:avLst/>
          </a:prstGeom>
          <a:noFill/>
          <a:ln/>
        </p:spPr>
        <p:txBody>
          <a:bodyPr wrap="square" lIns="0" tIns="0" rIns="0" bIns="0" rtlCol="0" anchor="ctr"/>
          <a:lstStyle/>
          <a:p>
            <a:pPr algn="ctr" indent="0" marL="0">
              <a:buNone/>
            </a:pPr>
            <a:r>
              <a:rPr lang="en-US" sz="1200" b="1" dirty="0">
                <a:solidFill>
                  <a:srgbClr val="6E7681"/>
                </a:solidFill>
                <a:latin typeface="Calibri" pitchFamily="34" charset="0"/>
                <a:ea typeface="Calibri" pitchFamily="34" charset="-122"/>
                <a:cs typeface="Calibri" pitchFamily="34" charset="-120"/>
              </a:rPr>
              <a:t>Flat</a:t>
            </a:r>
            <a:endParaRPr lang="en-US" sz="1200" dirty="0"/>
          </a:p>
        </p:txBody>
      </p:sp>
      <p:sp>
        <p:nvSpPr>
          <p:cNvPr id="6" name="Text 4"/>
          <p:cNvSpPr/>
          <p:nvPr/>
        </p:nvSpPr>
        <p:spPr>
          <a:xfrm>
            <a:off x="4983480" y="1399032"/>
            <a:ext cx="1371600" cy="329184"/>
          </a:xfrm>
          <a:prstGeom prst="rect">
            <a:avLst/>
          </a:prstGeom>
          <a:noFill/>
          <a:ln/>
        </p:spPr>
        <p:txBody>
          <a:bodyPr wrap="square" lIns="0" tIns="0" rIns="0" bIns="0" rtlCol="0" anchor="ctr"/>
          <a:lstStyle/>
          <a:p>
            <a:pPr algn="ctr" indent="0" marL="0">
              <a:buNone/>
            </a:pPr>
            <a:r>
              <a:rPr lang="en-US" sz="1200" b="1" dirty="0">
                <a:solidFill>
                  <a:srgbClr val="6E7681"/>
                </a:solidFill>
                <a:latin typeface="Calibri" pitchFamily="34" charset="0"/>
                <a:ea typeface="Calibri" pitchFamily="34" charset="-122"/>
                <a:cs typeface="Calibri" pitchFamily="34" charset="-120"/>
              </a:rPr>
              <a:t>Hub &amp; Spoke</a:t>
            </a:r>
            <a:endParaRPr lang="en-US" sz="1200" dirty="0"/>
          </a:p>
        </p:txBody>
      </p:sp>
      <p:sp>
        <p:nvSpPr>
          <p:cNvPr id="7" name="Text 5"/>
          <p:cNvSpPr/>
          <p:nvPr/>
        </p:nvSpPr>
        <p:spPr>
          <a:xfrm>
            <a:off x="6355080" y="1399032"/>
            <a:ext cx="1371600" cy="329184"/>
          </a:xfrm>
          <a:prstGeom prst="rect">
            <a:avLst/>
          </a:prstGeom>
          <a:noFill/>
          <a:ln/>
        </p:spPr>
        <p:txBody>
          <a:bodyPr wrap="square" lIns="0" tIns="0" rIns="0" bIns="0" rtlCol="0" anchor="ctr"/>
          <a:lstStyle/>
          <a:p>
            <a:pPr algn="ctr" indent="0" marL="0">
              <a:buNone/>
            </a:pPr>
            <a:r>
              <a:rPr lang="en-US" sz="1200" b="1" dirty="0">
                <a:solidFill>
                  <a:srgbClr val="6E7681"/>
                </a:solidFill>
                <a:latin typeface="Calibri" pitchFamily="34" charset="0"/>
                <a:ea typeface="Calibri" pitchFamily="34" charset="-122"/>
                <a:cs typeface="Calibri" pitchFamily="34" charset="-120"/>
              </a:rPr>
              <a:t>DMZ</a:t>
            </a:r>
            <a:endParaRPr lang="en-US" sz="1200" dirty="0"/>
          </a:p>
        </p:txBody>
      </p:sp>
      <p:sp>
        <p:nvSpPr>
          <p:cNvPr id="8" name="Text 6"/>
          <p:cNvSpPr/>
          <p:nvPr/>
        </p:nvSpPr>
        <p:spPr>
          <a:xfrm>
            <a:off x="7726680" y="1399032"/>
            <a:ext cx="1371600" cy="329184"/>
          </a:xfrm>
          <a:prstGeom prst="rect">
            <a:avLst/>
          </a:prstGeom>
          <a:noFill/>
          <a:ln/>
        </p:spPr>
        <p:txBody>
          <a:bodyPr wrap="square" lIns="0" tIns="0" rIns="0" bIns="0" rtlCol="0" anchor="ctr"/>
          <a:lstStyle/>
          <a:p>
            <a:pPr algn="ctr" indent="0" marL="0">
              <a:buNone/>
            </a:pPr>
            <a:r>
              <a:rPr lang="en-US" sz="1200" b="1" dirty="0">
                <a:solidFill>
                  <a:srgbClr val="6E7681"/>
                </a:solidFill>
                <a:latin typeface="Calibri" pitchFamily="34" charset="0"/>
                <a:ea typeface="Calibri" pitchFamily="34" charset="-122"/>
                <a:cs typeface="Calibri" pitchFamily="34" charset="-120"/>
              </a:rPr>
              <a:t>Micro-Seg.</a:t>
            </a:r>
            <a:endParaRPr lang="en-US" sz="1200" dirty="0"/>
          </a:p>
        </p:txBody>
      </p:sp>
      <p:sp>
        <p:nvSpPr>
          <p:cNvPr id="9" name="Text 7"/>
          <p:cNvSpPr/>
          <p:nvPr/>
        </p:nvSpPr>
        <p:spPr>
          <a:xfrm>
            <a:off x="9098280" y="1399032"/>
            <a:ext cx="1371600" cy="329184"/>
          </a:xfrm>
          <a:prstGeom prst="rect">
            <a:avLst/>
          </a:prstGeom>
          <a:noFill/>
          <a:ln/>
        </p:spPr>
        <p:txBody>
          <a:bodyPr wrap="square" lIns="0" tIns="0" rIns="0" bIns="0" rtlCol="0" anchor="ctr"/>
          <a:lstStyle/>
          <a:p>
            <a:pPr algn="ctr" indent="0" marL="0">
              <a:buNone/>
            </a:pPr>
            <a:r>
              <a:rPr lang="en-US" sz="1200" b="1" dirty="0">
                <a:solidFill>
                  <a:srgbClr val="6E7681"/>
                </a:solidFill>
                <a:latin typeface="Calibri" pitchFamily="34" charset="0"/>
                <a:ea typeface="Calibri" pitchFamily="34" charset="-122"/>
                <a:cs typeface="Calibri" pitchFamily="34" charset="-120"/>
              </a:rPr>
              <a:t>Super</a:t>
            </a:r>
            <a:endParaRPr lang="en-US" sz="1200" dirty="0"/>
          </a:p>
        </p:txBody>
      </p:sp>
      <p:sp>
        <p:nvSpPr>
          <p:cNvPr id="10" name="Text 8"/>
          <p:cNvSpPr/>
          <p:nvPr/>
        </p:nvSpPr>
        <p:spPr>
          <a:xfrm>
            <a:off x="640080" y="1783080"/>
            <a:ext cx="1508760" cy="713232"/>
          </a:xfrm>
          <a:prstGeom prst="rect">
            <a:avLst/>
          </a:prstGeom>
          <a:noFill/>
          <a:ln/>
        </p:spPr>
        <p:txBody>
          <a:bodyPr wrap="square" lIns="0" tIns="0" rIns="0" bIns="0" rtlCol="0" anchor="ctr"/>
          <a:lstStyle/>
          <a:p>
            <a:pPr algn="r" indent="0" marL="0">
              <a:buNone/>
            </a:pPr>
            <a:r>
              <a:rPr lang="en-US" sz="1300" b="1" dirty="0">
                <a:solidFill>
                  <a:srgbClr val="23282F"/>
                </a:solidFill>
                <a:latin typeface="Calibri" pitchFamily="34" charset="0"/>
                <a:ea typeface="Calibri" pitchFamily="34" charset="-122"/>
                <a:cs typeface="Calibri" pitchFamily="34" charset="-120"/>
              </a:rPr>
              <a:t>Flat</a:t>
            </a:r>
            <a:endParaRPr lang="en-US" sz="1300" dirty="0"/>
          </a:p>
        </p:txBody>
      </p:sp>
      <p:sp>
        <p:nvSpPr>
          <p:cNvPr id="11" name="Shape 9"/>
          <p:cNvSpPr/>
          <p:nvPr/>
        </p:nvSpPr>
        <p:spPr>
          <a:xfrm>
            <a:off x="2240280" y="1783080"/>
            <a:ext cx="1316736" cy="658368"/>
          </a:xfrm>
          <a:prstGeom prst="rect">
            <a:avLst/>
          </a:prstGeom>
          <a:solidFill>
            <a:srgbClr val="FBEDEA"/>
          </a:solidFill>
          <a:ln w="19050">
            <a:solidFill>
              <a:srgbClr val="FFFFFF"/>
            </a:solidFill>
            <a:prstDash val="solid"/>
          </a:ln>
        </p:spPr>
      </p:sp>
      <p:sp>
        <p:nvSpPr>
          <p:cNvPr id="12" name="Text 10"/>
          <p:cNvSpPr/>
          <p:nvPr/>
        </p:nvSpPr>
        <p:spPr>
          <a:xfrm>
            <a:off x="2240280" y="1837944"/>
            <a:ext cx="1316736" cy="329184"/>
          </a:xfrm>
          <a:prstGeom prst="rect">
            <a:avLst/>
          </a:prstGeom>
          <a:noFill/>
          <a:ln/>
        </p:spPr>
        <p:txBody>
          <a:bodyPr wrap="square" lIns="0" tIns="0" rIns="0" bIns="0" rtlCol="0" anchor="ctr"/>
          <a:lstStyle/>
          <a:p>
            <a:pPr algn="ctr" indent="0" marL="0">
              <a:buNone/>
            </a:pPr>
            <a:r>
              <a:rPr lang="en-US" sz="1500" b="1" dirty="0">
                <a:solidFill>
                  <a:srgbClr val="23282F"/>
                </a:solidFill>
                <a:latin typeface="Cambria" pitchFamily="34" charset="0"/>
                <a:ea typeface="Cambria" pitchFamily="34" charset="-122"/>
                <a:cs typeface="Cambria" pitchFamily="34" charset="-120"/>
              </a:rPr>
              <a:t>51.2 %</a:t>
            </a:r>
            <a:endParaRPr lang="en-US" sz="1500" dirty="0"/>
          </a:p>
        </p:txBody>
      </p:sp>
      <p:sp>
        <p:nvSpPr>
          <p:cNvPr id="13" name="Text 11"/>
          <p:cNvSpPr/>
          <p:nvPr/>
        </p:nvSpPr>
        <p:spPr>
          <a:xfrm>
            <a:off x="2240280" y="2167128"/>
            <a:ext cx="1316736" cy="274320"/>
          </a:xfrm>
          <a:prstGeom prst="rect">
            <a:avLst/>
          </a:prstGeom>
          <a:noFill/>
          <a:ln/>
        </p:spPr>
        <p:txBody>
          <a:bodyPr wrap="square" lIns="0" tIns="0" rIns="0" bIns="0" rtlCol="0" anchor="ctr"/>
          <a:lstStyle/>
          <a:p>
            <a:pPr algn="ctr" indent="0" marL="0">
              <a:buNone/>
            </a:pPr>
            <a:r>
              <a:rPr lang="en-US" sz="900" dirty="0">
                <a:solidFill>
                  <a:srgbClr val="6E7681"/>
                </a:solidFill>
                <a:latin typeface="Calibri" pitchFamily="34" charset="0"/>
                <a:ea typeface="Calibri" pitchFamily="34" charset="-122"/>
                <a:cs typeface="Calibri" pitchFamily="34" charset="-120"/>
              </a:rPr>
              <a:t>ohne 92 · Zuf 92</a:t>
            </a:r>
            <a:endParaRPr lang="en-US" sz="900" dirty="0"/>
          </a:p>
        </p:txBody>
      </p:sp>
      <p:sp>
        <p:nvSpPr>
          <p:cNvPr id="14" name="Shape 12"/>
          <p:cNvSpPr/>
          <p:nvPr/>
        </p:nvSpPr>
        <p:spPr>
          <a:xfrm>
            <a:off x="3611880" y="1783080"/>
            <a:ext cx="1316736" cy="658368"/>
          </a:xfrm>
          <a:prstGeom prst="rect">
            <a:avLst/>
          </a:prstGeom>
          <a:solidFill>
            <a:srgbClr val="E0A092"/>
          </a:solidFill>
          <a:ln w="19050">
            <a:solidFill>
              <a:srgbClr val="FFFFFF"/>
            </a:solidFill>
            <a:prstDash val="solid"/>
          </a:ln>
        </p:spPr>
      </p:sp>
      <p:sp>
        <p:nvSpPr>
          <p:cNvPr id="15" name="Text 13"/>
          <p:cNvSpPr/>
          <p:nvPr/>
        </p:nvSpPr>
        <p:spPr>
          <a:xfrm>
            <a:off x="3611880" y="1837944"/>
            <a:ext cx="1316736" cy="329184"/>
          </a:xfrm>
          <a:prstGeom prst="rect">
            <a:avLst/>
          </a:prstGeom>
          <a:noFill/>
          <a:ln/>
        </p:spPr>
        <p:txBody>
          <a:bodyPr wrap="square" lIns="0" tIns="0" rIns="0" bIns="0" rtlCol="0" anchor="ctr"/>
          <a:lstStyle/>
          <a:p>
            <a:pPr algn="ctr" indent="0" marL="0">
              <a:buNone/>
            </a:pPr>
            <a:r>
              <a:rPr lang="en-US" sz="1500" b="1" dirty="0">
                <a:solidFill>
                  <a:srgbClr val="23282F"/>
                </a:solidFill>
                <a:latin typeface="Cambria" pitchFamily="34" charset="0"/>
                <a:ea typeface="Cambria" pitchFamily="34" charset="-122"/>
                <a:cs typeface="Cambria" pitchFamily="34" charset="-120"/>
              </a:rPr>
              <a:t>99.2 %</a:t>
            </a:r>
            <a:endParaRPr lang="en-US" sz="1500" dirty="0"/>
          </a:p>
        </p:txBody>
      </p:sp>
      <p:sp>
        <p:nvSpPr>
          <p:cNvPr id="16" name="Text 14"/>
          <p:cNvSpPr/>
          <p:nvPr/>
        </p:nvSpPr>
        <p:spPr>
          <a:xfrm>
            <a:off x="3611880" y="2167128"/>
            <a:ext cx="1316736" cy="274320"/>
          </a:xfrm>
          <a:prstGeom prst="rect">
            <a:avLst/>
          </a:prstGeom>
          <a:noFill/>
          <a:ln/>
        </p:spPr>
        <p:txBody>
          <a:bodyPr wrap="square" lIns="0" tIns="0" rIns="0" bIns="0" rtlCol="0" anchor="ctr"/>
          <a:lstStyle/>
          <a:p>
            <a:pPr algn="ctr" indent="0" marL="0">
              <a:buNone/>
            </a:pPr>
            <a:r>
              <a:rPr lang="en-US" sz="900" dirty="0">
                <a:solidFill>
                  <a:srgbClr val="6E7681"/>
                </a:solidFill>
                <a:latin typeface="Calibri" pitchFamily="34" charset="0"/>
                <a:ea typeface="Calibri" pitchFamily="34" charset="-122"/>
                <a:cs typeface="Calibri" pitchFamily="34" charset="-120"/>
              </a:rPr>
              <a:t>ohne 100 · Zuf 100</a:t>
            </a:r>
            <a:endParaRPr lang="en-US" sz="900" dirty="0"/>
          </a:p>
        </p:txBody>
      </p:sp>
      <p:sp>
        <p:nvSpPr>
          <p:cNvPr id="17" name="Shape 15"/>
          <p:cNvSpPr/>
          <p:nvPr/>
        </p:nvSpPr>
        <p:spPr>
          <a:xfrm>
            <a:off x="4983480" y="1783080"/>
            <a:ext cx="1316736" cy="658368"/>
          </a:xfrm>
          <a:prstGeom prst="rect">
            <a:avLst/>
          </a:prstGeom>
          <a:solidFill>
            <a:srgbClr val="FBEDEA"/>
          </a:solidFill>
          <a:ln w="19050">
            <a:solidFill>
              <a:srgbClr val="FFFFFF"/>
            </a:solidFill>
            <a:prstDash val="solid"/>
          </a:ln>
        </p:spPr>
      </p:sp>
      <p:sp>
        <p:nvSpPr>
          <p:cNvPr id="18" name="Text 16"/>
          <p:cNvSpPr/>
          <p:nvPr/>
        </p:nvSpPr>
        <p:spPr>
          <a:xfrm>
            <a:off x="4983480" y="1837944"/>
            <a:ext cx="1316736" cy="329184"/>
          </a:xfrm>
          <a:prstGeom prst="rect">
            <a:avLst/>
          </a:prstGeom>
          <a:noFill/>
          <a:ln/>
        </p:spPr>
        <p:txBody>
          <a:bodyPr wrap="square" lIns="0" tIns="0" rIns="0" bIns="0" rtlCol="0" anchor="ctr"/>
          <a:lstStyle/>
          <a:p>
            <a:pPr algn="ctr" indent="0" marL="0">
              <a:buNone/>
            </a:pPr>
            <a:r>
              <a:rPr lang="en-US" sz="1500" b="1" dirty="0">
                <a:solidFill>
                  <a:srgbClr val="23282F"/>
                </a:solidFill>
                <a:latin typeface="Cambria" pitchFamily="34" charset="0"/>
                <a:ea typeface="Cambria" pitchFamily="34" charset="-122"/>
                <a:cs typeface="Cambria" pitchFamily="34" charset="-120"/>
              </a:rPr>
              <a:t>53.6 %</a:t>
            </a:r>
            <a:endParaRPr lang="en-US" sz="1500" dirty="0"/>
          </a:p>
        </p:txBody>
      </p:sp>
      <p:sp>
        <p:nvSpPr>
          <p:cNvPr id="19" name="Text 17"/>
          <p:cNvSpPr/>
          <p:nvPr/>
        </p:nvSpPr>
        <p:spPr>
          <a:xfrm>
            <a:off x="4983480" y="2167128"/>
            <a:ext cx="1316736" cy="274320"/>
          </a:xfrm>
          <a:prstGeom prst="rect">
            <a:avLst/>
          </a:prstGeom>
          <a:noFill/>
          <a:ln/>
        </p:spPr>
        <p:txBody>
          <a:bodyPr wrap="square" lIns="0" tIns="0" rIns="0" bIns="0" rtlCol="0" anchor="ctr"/>
          <a:lstStyle/>
          <a:p>
            <a:pPr algn="ctr" indent="0" marL="0">
              <a:buNone/>
            </a:pPr>
            <a:r>
              <a:rPr lang="en-US" sz="900" dirty="0">
                <a:solidFill>
                  <a:srgbClr val="6E7681"/>
                </a:solidFill>
                <a:latin typeface="Calibri" pitchFamily="34" charset="0"/>
                <a:ea typeface="Calibri" pitchFamily="34" charset="-122"/>
                <a:cs typeface="Calibri" pitchFamily="34" charset="-120"/>
              </a:rPr>
              <a:t>ohne 100 · Zuf 94</a:t>
            </a:r>
            <a:endParaRPr lang="en-US" sz="900" dirty="0"/>
          </a:p>
        </p:txBody>
      </p:sp>
      <p:sp>
        <p:nvSpPr>
          <p:cNvPr id="20" name="Shape 18"/>
          <p:cNvSpPr/>
          <p:nvPr/>
        </p:nvSpPr>
        <p:spPr>
          <a:xfrm>
            <a:off x="6355080" y="1783080"/>
            <a:ext cx="1316736" cy="658368"/>
          </a:xfrm>
          <a:prstGeom prst="rect">
            <a:avLst/>
          </a:prstGeom>
          <a:solidFill>
            <a:srgbClr val="F4F6F8"/>
          </a:solidFill>
          <a:ln w="19050">
            <a:solidFill>
              <a:srgbClr val="FFFFFF"/>
            </a:solidFill>
            <a:prstDash val="solid"/>
          </a:ln>
        </p:spPr>
      </p:sp>
      <p:sp>
        <p:nvSpPr>
          <p:cNvPr id="21" name="Text 19"/>
          <p:cNvSpPr/>
          <p:nvPr/>
        </p:nvSpPr>
        <p:spPr>
          <a:xfrm>
            <a:off x="6355080" y="1837944"/>
            <a:ext cx="1316736" cy="329184"/>
          </a:xfrm>
          <a:prstGeom prst="rect">
            <a:avLst/>
          </a:prstGeom>
          <a:noFill/>
          <a:ln/>
        </p:spPr>
        <p:txBody>
          <a:bodyPr wrap="square" lIns="0" tIns="0" rIns="0" bIns="0" rtlCol="0" anchor="ctr"/>
          <a:lstStyle/>
          <a:p>
            <a:pPr algn="ctr" indent="0" marL="0">
              <a:buNone/>
            </a:pPr>
            <a:r>
              <a:rPr lang="en-US" sz="1500" b="1" dirty="0">
                <a:solidFill>
                  <a:srgbClr val="23282F"/>
                </a:solidFill>
                <a:latin typeface="Cambria" pitchFamily="34" charset="0"/>
                <a:ea typeface="Cambria" pitchFamily="34" charset="-122"/>
                <a:cs typeface="Cambria" pitchFamily="34" charset="-120"/>
              </a:rPr>
              <a:t>25.6 %</a:t>
            </a:r>
            <a:endParaRPr lang="en-US" sz="1500" dirty="0"/>
          </a:p>
        </p:txBody>
      </p:sp>
      <p:sp>
        <p:nvSpPr>
          <p:cNvPr id="22" name="Text 20"/>
          <p:cNvSpPr/>
          <p:nvPr/>
        </p:nvSpPr>
        <p:spPr>
          <a:xfrm>
            <a:off x="6355080" y="2167128"/>
            <a:ext cx="1316736" cy="274320"/>
          </a:xfrm>
          <a:prstGeom prst="rect">
            <a:avLst/>
          </a:prstGeom>
          <a:noFill/>
          <a:ln/>
        </p:spPr>
        <p:txBody>
          <a:bodyPr wrap="square" lIns="0" tIns="0" rIns="0" bIns="0" rtlCol="0" anchor="ctr"/>
          <a:lstStyle/>
          <a:p>
            <a:pPr algn="ctr" indent="0" marL="0">
              <a:buNone/>
            </a:pPr>
            <a:r>
              <a:rPr lang="en-US" sz="900" dirty="0">
                <a:solidFill>
                  <a:srgbClr val="6E7681"/>
                </a:solidFill>
                <a:latin typeface="Calibri" pitchFamily="34" charset="0"/>
                <a:ea typeface="Calibri" pitchFamily="34" charset="-122"/>
                <a:cs typeface="Calibri" pitchFamily="34" charset="-120"/>
              </a:rPr>
              <a:t>ohne 66 · Zuf 55</a:t>
            </a:r>
            <a:endParaRPr lang="en-US" sz="900" dirty="0"/>
          </a:p>
        </p:txBody>
      </p:sp>
      <p:sp>
        <p:nvSpPr>
          <p:cNvPr id="23" name="Shape 21"/>
          <p:cNvSpPr/>
          <p:nvPr/>
        </p:nvSpPr>
        <p:spPr>
          <a:xfrm>
            <a:off x="7726680" y="1783080"/>
            <a:ext cx="1316736" cy="658368"/>
          </a:xfrm>
          <a:prstGeom prst="rect">
            <a:avLst/>
          </a:prstGeom>
          <a:solidFill>
            <a:srgbClr val="FBEDEA"/>
          </a:solidFill>
          <a:ln w="19050">
            <a:solidFill>
              <a:srgbClr val="FFFFFF"/>
            </a:solidFill>
            <a:prstDash val="solid"/>
          </a:ln>
        </p:spPr>
      </p:sp>
      <p:sp>
        <p:nvSpPr>
          <p:cNvPr id="24" name="Text 22"/>
          <p:cNvSpPr/>
          <p:nvPr/>
        </p:nvSpPr>
        <p:spPr>
          <a:xfrm>
            <a:off x="7726680" y="1837944"/>
            <a:ext cx="1316736" cy="329184"/>
          </a:xfrm>
          <a:prstGeom prst="rect">
            <a:avLst/>
          </a:prstGeom>
          <a:noFill/>
          <a:ln/>
        </p:spPr>
        <p:txBody>
          <a:bodyPr wrap="square" lIns="0" tIns="0" rIns="0" bIns="0" rtlCol="0" anchor="ctr"/>
          <a:lstStyle/>
          <a:p>
            <a:pPr algn="ctr" indent="0" marL="0">
              <a:buNone/>
            </a:pPr>
            <a:r>
              <a:rPr lang="en-US" sz="1500" b="1" dirty="0">
                <a:solidFill>
                  <a:srgbClr val="23282F"/>
                </a:solidFill>
                <a:latin typeface="Cambria" pitchFamily="34" charset="0"/>
                <a:ea typeface="Cambria" pitchFamily="34" charset="-122"/>
                <a:cs typeface="Cambria" pitchFamily="34" charset="-120"/>
              </a:rPr>
              <a:t>49.6 %</a:t>
            </a:r>
            <a:endParaRPr lang="en-US" sz="1500" dirty="0"/>
          </a:p>
        </p:txBody>
      </p:sp>
      <p:sp>
        <p:nvSpPr>
          <p:cNvPr id="25" name="Text 23"/>
          <p:cNvSpPr/>
          <p:nvPr/>
        </p:nvSpPr>
        <p:spPr>
          <a:xfrm>
            <a:off x="7726680" y="2167128"/>
            <a:ext cx="1316736" cy="274320"/>
          </a:xfrm>
          <a:prstGeom prst="rect">
            <a:avLst/>
          </a:prstGeom>
          <a:noFill/>
          <a:ln/>
        </p:spPr>
        <p:txBody>
          <a:bodyPr wrap="square" lIns="0" tIns="0" rIns="0" bIns="0" rtlCol="0" anchor="ctr"/>
          <a:lstStyle/>
          <a:p>
            <a:pPr algn="ctr" indent="0" marL="0">
              <a:buNone/>
            </a:pPr>
            <a:r>
              <a:rPr lang="en-US" sz="900" dirty="0">
                <a:solidFill>
                  <a:srgbClr val="6E7681"/>
                </a:solidFill>
                <a:latin typeface="Calibri" pitchFamily="34" charset="0"/>
                <a:ea typeface="Calibri" pitchFamily="34" charset="-122"/>
                <a:cs typeface="Calibri" pitchFamily="34" charset="-120"/>
              </a:rPr>
              <a:t>ohne 95 · Zuf 90</a:t>
            </a:r>
            <a:endParaRPr lang="en-US" sz="900" dirty="0"/>
          </a:p>
        </p:txBody>
      </p:sp>
      <p:sp>
        <p:nvSpPr>
          <p:cNvPr id="26" name="Shape 24"/>
          <p:cNvSpPr/>
          <p:nvPr/>
        </p:nvSpPr>
        <p:spPr>
          <a:xfrm>
            <a:off x="9098280" y="1783080"/>
            <a:ext cx="1316736" cy="658368"/>
          </a:xfrm>
          <a:prstGeom prst="rect">
            <a:avLst/>
          </a:prstGeom>
          <a:solidFill>
            <a:srgbClr val="F2D3CC"/>
          </a:solidFill>
          <a:ln w="19050">
            <a:solidFill>
              <a:srgbClr val="FFFFFF"/>
            </a:solidFill>
            <a:prstDash val="solid"/>
          </a:ln>
        </p:spPr>
      </p:sp>
      <p:sp>
        <p:nvSpPr>
          <p:cNvPr id="27" name="Text 25"/>
          <p:cNvSpPr/>
          <p:nvPr/>
        </p:nvSpPr>
        <p:spPr>
          <a:xfrm>
            <a:off x="9098280" y="1837944"/>
            <a:ext cx="1316736" cy="329184"/>
          </a:xfrm>
          <a:prstGeom prst="rect">
            <a:avLst/>
          </a:prstGeom>
          <a:noFill/>
          <a:ln/>
        </p:spPr>
        <p:txBody>
          <a:bodyPr wrap="square" lIns="0" tIns="0" rIns="0" bIns="0" rtlCol="0" anchor="ctr"/>
          <a:lstStyle/>
          <a:p>
            <a:pPr algn="ctr" indent="0" marL="0">
              <a:buNone/>
            </a:pPr>
            <a:r>
              <a:rPr lang="en-US" sz="1500" b="1" dirty="0">
                <a:solidFill>
                  <a:srgbClr val="23282F"/>
                </a:solidFill>
                <a:latin typeface="Cambria" pitchFamily="34" charset="0"/>
                <a:ea typeface="Cambria" pitchFamily="34" charset="-122"/>
                <a:cs typeface="Cambria" pitchFamily="34" charset="-120"/>
              </a:rPr>
              <a:t>84.0 %</a:t>
            </a:r>
            <a:endParaRPr lang="en-US" sz="1500" dirty="0"/>
          </a:p>
        </p:txBody>
      </p:sp>
      <p:sp>
        <p:nvSpPr>
          <p:cNvPr id="28" name="Text 26"/>
          <p:cNvSpPr/>
          <p:nvPr/>
        </p:nvSpPr>
        <p:spPr>
          <a:xfrm>
            <a:off x="9098280" y="2167128"/>
            <a:ext cx="1316736" cy="274320"/>
          </a:xfrm>
          <a:prstGeom prst="rect">
            <a:avLst/>
          </a:prstGeom>
          <a:noFill/>
          <a:ln/>
        </p:spPr>
        <p:txBody>
          <a:bodyPr wrap="square" lIns="0" tIns="0" rIns="0" bIns="0" rtlCol="0" anchor="ctr"/>
          <a:lstStyle/>
          <a:p>
            <a:pPr algn="ctr" indent="0" marL="0">
              <a:buNone/>
            </a:pPr>
            <a:r>
              <a:rPr lang="en-US" sz="900" dirty="0">
                <a:solidFill>
                  <a:srgbClr val="6E7681"/>
                </a:solidFill>
                <a:latin typeface="Calibri" pitchFamily="34" charset="0"/>
                <a:ea typeface="Calibri" pitchFamily="34" charset="-122"/>
                <a:cs typeface="Calibri" pitchFamily="34" charset="-120"/>
              </a:rPr>
              <a:t>ohne 100 · Zuf 100</a:t>
            </a:r>
            <a:endParaRPr lang="en-US" sz="900" dirty="0"/>
          </a:p>
        </p:txBody>
      </p:sp>
      <p:sp>
        <p:nvSpPr>
          <p:cNvPr id="29" name="Text 27"/>
          <p:cNvSpPr/>
          <p:nvPr/>
        </p:nvSpPr>
        <p:spPr>
          <a:xfrm>
            <a:off x="640080" y="2496312"/>
            <a:ext cx="1508760" cy="713232"/>
          </a:xfrm>
          <a:prstGeom prst="rect">
            <a:avLst/>
          </a:prstGeom>
          <a:noFill/>
          <a:ln/>
        </p:spPr>
        <p:txBody>
          <a:bodyPr wrap="square" lIns="0" tIns="0" rIns="0" bIns="0" rtlCol="0" anchor="ctr"/>
          <a:lstStyle/>
          <a:p>
            <a:pPr algn="r" indent="0" marL="0">
              <a:buNone/>
            </a:pPr>
            <a:r>
              <a:rPr lang="en-US" sz="1300" b="1" dirty="0">
                <a:solidFill>
                  <a:srgbClr val="23282F"/>
                </a:solidFill>
                <a:latin typeface="Calibri" pitchFamily="34" charset="0"/>
                <a:ea typeface="Calibri" pitchFamily="34" charset="-122"/>
                <a:cs typeface="Calibri" pitchFamily="34" charset="-120"/>
              </a:rPr>
              <a:t>Hub &amp; Spoke</a:t>
            </a:r>
            <a:endParaRPr lang="en-US" sz="1300" dirty="0"/>
          </a:p>
        </p:txBody>
      </p:sp>
      <p:sp>
        <p:nvSpPr>
          <p:cNvPr id="30" name="Shape 28"/>
          <p:cNvSpPr/>
          <p:nvPr/>
        </p:nvSpPr>
        <p:spPr>
          <a:xfrm>
            <a:off x="2240280" y="2496312"/>
            <a:ext cx="1316736" cy="658368"/>
          </a:xfrm>
          <a:prstGeom prst="rect">
            <a:avLst/>
          </a:prstGeom>
          <a:solidFill>
            <a:srgbClr val="E9F1F5"/>
          </a:solidFill>
          <a:ln w="19050">
            <a:solidFill>
              <a:srgbClr val="FFFFFF"/>
            </a:solidFill>
            <a:prstDash val="solid"/>
          </a:ln>
        </p:spPr>
      </p:sp>
      <p:sp>
        <p:nvSpPr>
          <p:cNvPr id="31" name="Text 29"/>
          <p:cNvSpPr/>
          <p:nvPr/>
        </p:nvSpPr>
        <p:spPr>
          <a:xfrm>
            <a:off x="2240280" y="2551176"/>
            <a:ext cx="1316736" cy="329184"/>
          </a:xfrm>
          <a:prstGeom prst="rect">
            <a:avLst/>
          </a:prstGeom>
          <a:noFill/>
          <a:ln/>
        </p:spPr>
        <p:txBody>
          <a:bodyPr wrap="square" lIns="0" tIns="0" rIns="0" bIns="0" rtlCol="0" anchor="ctr"/>
          <a:lstStyle/>
          <a:p>
            <a:pPr algn="ctr" indent="0" marL="0">
              <a:buNone/>
            </a:pPr>
            <a:r>
              <a:rPr lang="en-US" sz="1500" b="1" dirty="0">
                <a:solidFill>
                  <a:srgbClr val="23282F"/>
                </a:solidFill>
                <a:latin typeface="Cambria" pitchFamily="34" charset="0"/>
                <a:ea typeface="Cambria" pitchFamily="34" charset="-122"/>
                <a:cs typeface="Cambria" pitchFamily="34" charset="-120"/>
              </a:rPr>
              <a:t>8.8 %</a:t>
            </a:r>
            <a:endParaRPr lang="en-US" sz="1500" dirty="0"/>
          </a:p>
        </p:txBody>
      </p:sp>
      <p:sp>
        <p:nvSpPr>
          <p:cNvPr id="32" name="Text 30"/>
          <p:cNvSpPr/>
          <p:nvPr/>
        </p:nvSpPr>
        <p:spPr>
          <a:xfrm>
            <a:off x="2240280" y="2880360"/>
            <a:ext cx="1316736" cy="274320"/>
          </a:xfrm>
          <a:prstGeom prst="rect">
            <a:avLst/>
          </a:prstGeom>
          <a:noFill/>
          <a:ln/>
        </p:spPr>
        <p:txBody>
          <a:bodyPr wrap="square" lIns="0" tIns="0" rIns="0" bIns="0" rtlCol="0" anchor="ctr"/>
          <a:lstStyle/>
          <a:p>
            <a:pPr algn="ctr" indent="0" marL="0">
              <a:buNone/>
            </a:pPr>
            <a:r>
              <a:rPr lang="en-US" sz="900" dirty="0">
                <a:solidFill>
                  <a:srgbClr val="6E7681"/>
                </a:solidFill>
                <a:latin typeface="Calibri" pitchFamily="34" charset="0"/>
                <a:ea typeface="Calibri" pitchFamily="34" charset="-122"/>
                <a:cs typeface="Calibri" pitchFamily="34" charset="-120"/>
              </a:rPr>
              <a:t>ohne 68 · Zuf 46</a:t>
            </a:r>
            <a:endParaRPr lang="en-US" sz="900" dirty="0"/>
          </a:p>
        </p:txBody>
      </p:sp>
      <p:sp>
        <p:nvSpPr>
          <p:cNvPr id="33" name="Shape 31"/>
          <p:cNvSpPr/>
          <p:nvPr/>
        </p:nvSpPr>
        <p:spPr>
          <a:xfrm>
            <a:off x="3611880" y="2496312"/>
            <a:ext cx="1316736" cy="658368"/>
          </a:xfrm>
          <a:prstGeom prst="rect">
            <a:avLst/>
          </a:prstGeom>
          <a:solidFill>
            <a:srgbClr val="DCEAF1"/>
          </a:solidFill>
          <a:ln w="19050">
            <a:solidFill>
              <a:srgbClr val="FFFFFF"/>
            </a:solidFill>
            <a:prstDash val="solid"/>
          </a:ln>
        </p:spPr>
      </p:sp>
      <p:sp>
        <p:nvSpPr>
          <p:cNvPr id="34" name="Text 32"/>
          <p:cNvSpPr/>
          <p:nvPr/>
        </p:nvSpPr>
        <p:spPr>
          <a:xfrm>
            <a:off x="3611880" y="2551176"/>
            <a:ext cx="1316736" cy="329184"/>
          </a:xfrm>
          <a:prstGeom prst="rect">
            <a:avLst/>
          </a:prstGeom>
          <a:noFill/>
          <a:ln/>
        </p:spPr>
        <p:txBody>
          <a:bodyPr wrap="square" lIns="0" tIns="0" rIns="0" bIns="0" rtlCol="0" anchor="ctr"/>
          <a:lstStyle/>
          <a:p>
            <a:pPr algn="ctr" indent="0" marL="0">
              <a:buNone/>
            </a:pPr>
            <a:r>
              <a:rPr lang="en-US" sz="1500" b="1" dirty="0">
                <a:solidFill>
                  <a:srgbClr val="23282F"/>
                </a:solidFill>
                <a:latin typeface="Cambria" pitchFamily="34" charset="0"/>
                <a:ea typeface="Cambria" pitchFamily="34" charset="-122"/>
                <a:cs typeface="Cambria" pitchFamily="34" charset="-120"/>
              </a:rPr>
              <a:t>4.0 %</a:t>
            </a:r>
            <a:endParaRPr lang="en-US" sz="1500" dirty="0"/>
          </a:p>
        </p:txBody>
      </p:sp>
      <p:sp>
        <p:nvSpPr>
          <p:cNvPr id="35" name="Text 33"/>
          <p:cNvSpPr/>
          <p:nvPr/>
        </p:nvSpPr>
        <p:spPr>
          <a:xfrm>
            <a:off x="3611880" y="2880360"/>
            <a:ext cx="1316736" cy="274320"/>
          </a:xfrm>
          <a:prstGeom prst="rect">
            <a:avLst/>
          </a:prstGeom>
          <a:noFill/>
          <a:ln/>
        </p:spPr>
        <p:txBody>
          <a:bodyPr wrap="square" lIns="0" tIns="0" rIns="0" bIns="0" rtlCol="0" anchor="ctr"/>
          <a:lstStyle/>
          <a:p>
            <a:pPr algn="ctr" indent="0" marL="0">
              <a:buNone/>
            </a:pPr>
            <a:r>
              <a:rPr lang="en-US" sz="900" dirty="0">
                <a:solidFill>
                  <a:srgbClr val="6E7681"/>
                </a:solidFill>
                <a:latin typeface="Calibri" pitchFamily="34" charset="0"/>
                <a:ea typeface="Calibri" pitchFamily="34" charset="-122"/>
                <a:cs typeface="Calibri" pitchFamily="34" charset="-120"/>
              </a:rPr>
              <a:t>ohne 77 · Zuf 50</a:t>
            </a:r>
            <a:endParaRPr lang="en-US" sz="900" dirty="0"/>
          </a:p>
        </p:txBody>
      </p:sp>
      <p:sp>
        <p:nvSpPr>
          <p:cNvPr id="36" name="Shape 34"/>
          <p:cNvSpPr/>
          <p:nvPr/>
        </p:nvSpPr>
        <p:spPr>
          <a:xfrm>
            <a:off x="4983480" y="2496312"/>
            <a:ext cx="1316736" cy="658368"/>
          </a:xfrm>
          <a:prstGeom prst="rect">
            <a:avLst/>
          </a:prstGeom>
          <a:solidFill>
            <a:srgbClr val="F4F6F8"/>
          </a:solidFill>
          <a:ln w="19050">
            <a:solidFill>
              <a:srgbClr val="FFFFFF"/>
            </a:solidFill>
            <a:prstDash val="solid"/>
          </a:ln>
        </p:spPr>
      </p:sp>
      <p:sp>
        <p:nvSpPr>
          <p:cNvPr id="37" name="Text 35"/>
          <p:cNvSpPr/>
          <p:nvPr/>
        </p:nvSpPr>
        <p:spPr>
          <a:xfrm>
            <a:off x="4983480" y="2551176"/>
            <a:ext cx="1316736" cy="329184"/>
          </a:xfrm>
          <a:prstGeom prst="rect">
            <a:avLst/>
          </a:prstGeom>
          <a:noFill/>
          <a:ln/>
        </p:spPr>
        <p:txBody>
          <a:bodyPr wrap="square" lIns="0" tIns="0" rIns="0" bIns="0" rtlCol="0" anchor="ctr"/>
          <a:lstStyle/>
          <a:p>
            <a:pPr algn="ctr" indent="0" marL="0">
              <a:buNone/>
            </a:pPr>
            <a:r>
              <a:rPr lang="en-US" sz="1500" b="1" dirty="0">
                <a:solidFill>
                  <a:srgbClr val="23282F"/>
                </a:solidFill>
                <a:latin typeface="Cambria" pitchFamily="34" charset="0"/>
                <a:ea typeface="Cambria" pitchFamily="34" charset="-122"/>
                <a:cs typeface="Cambria" pitchFamily="34" charset="-120"/>
              </a:rPr>
              <a:t>27.2 %</a:t>
            </a:r>
            <a:endParaRPr lang="en-US" sz="1500" dirty="0"/>
          </a:p>
        </p:txBody>
      </p:sp>
      <p:sp>
        <p:nvSpPr>
          <p:cNvPr id="38" name="Text 36"/>
          <p:cNvSpPr/>
          <p:nvPr/>
        </p:nvSpPr>
        <p:spPr>
          <a:xfrm>
            <a:off x="4983480" y="2880360"/>
            <a:ext cx="1316736" cy="274320"/>
          </a:xfrm>
          <a:prstGeom prst="rect">
            <a:avLst/>
          </a:prstGeom>
          <a:noFill/>
          <a:ln/>
        </p:spPr>
        <p:txBody>
          <a:bodyPr wrap="square" lIns="0" tIns="0" rIns="0" bIns="0" rtlCol="0" anchor="ctr"/>
          <a:lstStyle/>
          <a:p>
            <a:pPr algn="ctr" indent="0" marL="0">
              <a:buNone/>
            </a:pPr>
            <a:r>
              <a:rPr lang="en-US" sz="900" dirty="0">
                <a:solidFill>
                  <a:srgbClr val="6E7681"/>
                </a:solidFill>
                <a:latin typeface="Calibri" pitchFamily="34" charset="0"/>
                <a:ea typeface="Calibri" pitchFamily="34" charset="-122"/>
                <a:cs typeface="Calibri" pitchFamily="34" charset="-120"/>
              </a:rPr>
              <a:t>ohne 100 · Zuf 100</a:t>
            </a:r>
            <a:endParaRPr lang="en-US" sz="900" dirty="0"/>
          </a:p>
        </p:txBody>
      </p:sp>
      <p:sp>
        <p:nvSpPr>
          <p:cNvPr id="39" name="Shape 37"/>
          <p:cNvSpPr/>
          <p:nvPr/>
        </p:nvSpPr>
        <p:spPr>
          <a:xfrm>
            <a:off x="6355080" y="2496312"/>
            <a:ext cx="1316736" cy="658368"/>
          </a:xfrm>
          <a:prstGeom prst="rect">
            <a:avLst/>
          </a:prstGeom>
          <a:solidFill>
            <a:srgbClr val="DCEAF1"/>
          </a:solidFill>
          <a:ln w="19050">
            <a:solidFill>
              <a:srgbClr val="FFFFFF"/>
            </a:solidFill>
            <a:prstDash val="solid"/>
          </a:ln>
        </p:spPr>
      </p:sp>
      <p:sp>
        <p:nvSpPr>
          <p:cNvPr id="40" name="Text 38"/>
          <p:cNvSpPr/>
          <p:nvPr/>
        </p:nvSpPr>
        <p:spPr>
          <a:xfrm>
            <a:off x="6355080" y="2551176"/>
            <a:ext cx="1316736" cy="329184"/>
          </a:xfrm>
          <a:prstGeom prst="rect">
            <a:avLst/>
          </a:prstGeom>
          <a:noFill/>
          <a:ln/>
        </p:spPr>
        <p:txBody>
          <a:bodyPr wrap="square" lIns="0" tIns="0" rIns="0" bIns="0" rtlCol="0" anchor="ctr"/>
          <a:lstStyle/>
          <a:p>
            <a:pPr algn="ctr" indent="0" marL="0">
              <a:buNone/>
            </a:pPr>
            <a:r>
              <a:rPr lang="en-US" sz="1500" b="1" dirty="0">
                <a:solidFill>
                  <a:srgbClr val="23282F"/>
                </a:solidFill>
                <a:latin typeface="Cambria" pitchFamily="34" charset="0"/>
                <a:ea typeface="Cambria" pitchFamily="34" charset="-122"/>
                <a:cs typeface="Cambria" pitchFamily="34" charset="-120"/>
              </a:rPr>
              <a:t>2.4 %</a:t>
            </a:r>
            <a:endParaRPr lang="en-US" sz="1500" dirty="0"/>
          </a:p>
        </p:txBody>
      </p:sp>
      <p:sp>
        <p:nvSpPr>
          <p:cNvPr id="41" name="Text 39"/>
          <p:cNvSpPr/>
          <p:nvPr/>
        </p:nvSpPr>
        <p:spPr>
          <a:xfrm>
            <a:off x="6355080" y="2880360"/>
            <a:ext cx="1316736" cy="274320"/>
          </a:xfrm>
          <a:prstGeom prst="rect">
            <a:avLst/>
          </a:prstGeom>
          <a:noFill/>
          <a:ln/>
        </p:spPr>
        <p:txBody>
          <a:bodyPr wrap="square" lIns="0" tIns="0" rIns="0" bIns="0" rtlCol="0" anchor="ctr"/>
          <a:lstStyle/>
          <a:p>
            <a:pPr algn="ctr" indent="0" marL="0">
              <a:buNone/>
            </a:pPr>
            <a:r>
              <a:rPr lang="en-US" sz="900" dirty="0">
                <a:solidFill>
                  <a:srgbClr val="6E7681"/>
                </a:solidFill>
                <a:latin typeface="Calibri" pitchFamily="34" charset="0"/>
                <a:ea typeface="Calibri" pitchFamily="34" charset="-122"/>
                <a:cs typeface="Calibri" pitchFamily="34" charset="-120"/>
              </a:rPr>
              <a:t>ohne 94 · Zuf 14</a:t>
            </a:r>
            <a:endParaRPr lang="en-US" sz="900" dirty="0"/>
          </a:p>
        </p:txBody>
      </p:sp>
      <p:sp>
        <p:nvSpPr>
          <p:cNvPr id="42" name="Shape 40"/>
          <p:cNvSpPr/>
          <p:nvPr/>
        </p:nvSpPr>
        <p:spPr>
          <a:xfrm>
            <a:off x="7726680" y="2496312"/>
            <a:ext cx="1316736" cy="658368"/>
          </a:xfrm>
          <a:prstGeom prst="rect">
            <a:avLst/>
          </a:prstGeom>
          <a:solidFill>
            <a:srgbClr val="F4F6F8"/>
          </a:solidFill>
          <a:ln w="19050">
            <a:solidFill>
              <a:srgbClr val="FFFFFF"/>
            </a:solidFill>
            <a:prstDash val="solid"/>
          </a:ln>
        </p:spPr>
      </p:sp>
      <p:sp>
        <p:nvSpPr>
          <p:cNvPr id="43" name="Text 41"/>
          <p:cNvSpPr/>
          <p:nvPr/>
        </p:nvSpPr>
        <p:spPr>
          <a:xfrm>
            <a:off x="7726680" y="2551176"/>
            <a:ext cx="1316736" cy="329184"/>
          </a:xfrm>
          <a:prstGeom prst="rect">
            <a:avLst/>
          </a:prstGeom>
          <a:noFill/>
          <a:ln/>
        </p:spPr>
        <p:txBody>
          <a:bodyPr wrap="square" lIns="0" tIns="0" rIns="0" bIns="0" rtlCol="0" anchor="ctr"/>
          <a:lstStyle/>
          <a:p>
            <a:pPr algn="ctr" indent="0" marL="0">
              <a:buNone/>
            </a:pPr>
            <a:r>
              <a:rPr lang="en-US" sz="1500" b="1" dirty="0">
                <a:solidFill>
                  <a:srgbClr val="23282F"/>
                </a:solidFill>
                <a:latin typeface="Cambria" pitchFamily="34" charset="0"/>
                <a:ea typeface="Cambria" pitchFamily="34" charset="-122"/>
                <a:cs typeface="Cambria" pitchFamily="34" charset="-120"/>
              </a:rPr>
              <a:t>20.0 %</a:t>
            </a:r>
            <a:endParaRPr lang="en-US" sz="1500" dirty="0"/>
          </a:p>
        </p:txBody>
      </p:sp>
      <p:sp>
        <p:nvSpPr>
          <p:cNvPr id="44" name="Text 42"/>
          <p:cNvSpPr/>
          <p:nvPr/>
        </p:nvSpPr>
        <p:spPr>
          <a:xfrm>
            <a:off x="7726680" y="2880360"/>
            <a:ext cx="1316736" cy="274320"/>
          </a:xfrm>
          <a:prstGeom prst="rect">
            <a:avLst/>
          </a:prstGeom>
          <a:noFill/>
          <a:ln/>
        </p:spPr>
        <p:txBody>
          <a:bodyPr wrap="square" lIns="0" tIns="0" rIns="0" bIns="0" rtlCol="0" anchor="ctr"/>
          <a:lstStyle/>
          <a:p>
            <a:pPr algn="ctr" indent="0" marL="0">
              <a:buNone/>
            </a:pPr>
            <a:r>
              <a:rPr lang="en-US" sz="900" dirty="0">
                <a:solidFill>
                  <a:srgbClr val="6E7681"/>
                </a:solidFill>
                <a:latin typeface="Calibri" pitchFamily="34" charset="0"/>
                <a:ea typeface="Calibri" pitchFamily="34" charset="-122"/>
                <a:cs typeface="Calibri" pitchFamily="34" charset="-120"/>
              </a:rPr>
              <a:t>ohne 69 · Zuf 54</a:t>
            </a:r>
            <a:endParaRPr lang="en-US" sz="900" dirty="0"/>
          </a:p>
        </p:txBody>
      </p:sp>
      <p:sp>
        <p:nvSpPr>
          <p:cNvPr id="45" name="Shape 43"/>
          <p:cNvSpPr/>
          <p:nvPr/>
        </p:nvSpPr>
        <p:spPr>
          <a:xfrm>
            <a:off x="9098280" y="2496312"/>
            <a:ext cx="1316736" cy="658368"/>
          </a:xfrm>
          <a:prstGeom prst="rect">
            <a:avLst/>
          </a:prstGeom>
          <a:solidFill>
            <a:srgbClr val="DCEAF1"/>
          </a:solidFill>
          <a:ln w="19050">
            <a:solidFill>
              <a:srgbClr val="FFFFFF"/>
            </a:solidFill>
            <a:prstDash val="solid"/>
          </a:ln>
        </p:spPr>
      </p:sp>
      <p:sp>
        <p:nvSpPr>
          <p:cNvPr id="46" name="Text 44"/>
          <p:cNvSpPr/>
          <p:nvPr/>
        </p:nvSpPr>
        <p:spPr>
          <a:xfrm>
            <a:off x="9098280" y="2551176"/>
            <a:ext cx="1316736" cy="329184"/>
          </a:xfrm>
          <a:prstGeom prst="rect">
            <a:avLst/>
          </a:prstGeom>
          <a:noFill/>
          <a:ln/>
        </p:spPr>
        <p:txBody>
          <a:bodyPr wrap="square" lIns="0" tIns="0" rIns="0" bIns="0" rtlCol="0" anchor="ctr"/>
          <a:lstStyle/>
          <a:p>
            <a:pPr algn="ctr" indent="0" marL="0">
              <a:buNone/>
            </a:pPr>
            <a:r>
              <a:rPr lang="en-US" sz="1500" b="1" dirty="0">
                <a:solidFill>
                  <a:srgbClr val="23282F"/>
                </a:solidFill>
                <a:latin typeface="Cambria" pitchFamily="34" charset="0"/>
                <a:ea typeface="Cambria" pitchFamily="34" charset="-122"/>
                <a:cs typeface="Cambria" pitchFamily="34" charset="-120"/>
              </a:rPr>
              <a:t>2.4 %</a:t>
            </a:r>
            <a:endParaRPr lang="en-US" sz="1500" dirty="0"/>
          </a:p>
        </p:txBody>
      </p:sp>
      <p:sp>
        <p:nvSpPr>
          <p:cNvPr id="47" name="Text 45"/>
          <p:cNvSpPr/>
          <p:nvPr/>
        </p:nvSpPr>
        <p:spPr>
          <a:xfrm>
            <a:off x="9098280" y="2880360"/>
            <a:ext cx="1316736" cy="274320"/>
          </a:xfrm>
          <a:prstGeom prst="rect">
            <a:avLst/>
          </a:prstGeom>
          <a:noFill/>
          <a:ln/>
        </p:spPr>
        <p:txBody>
          <a:bodyPr wrap="square" lIns="0" tIns="0" rIns="0" bIns="0" rtlCol="0" anchor="ctr"/>
          <a:lstStyle/>
          <a:p>
            <a:pPr algn="ctr" indent="0" marL="0">
              <a:buNone/>
            </a:pPr>
            <a:r>
              <a:rPr lang="en-US" sz="900" dirty="0">
                <a:solidFill>
                  <a:srgbClr val="6E7681"/>
                </a:solidFill>
                <a:latin typeface="Calibri" pitchFamily="34" charset="0"/>
                <a:ea typeface="Calibri" pitchFamily="34" charset="-122"/>
                <a:cs typeface="Calibri" pitchFamily="34" charset="-120"/>
              </a:rPr>
              <a:t>ohne 90 · Zuf 57</a:t>
            </a:r>
            <a:endParaRPr lang="en-US" sz="900" dirty="0"/>
          </a:p>
        </p:txBody>
      </p:sp>
      <p:sp>
        <p:nvSpPr>
          <p:cNvPr id="48" name="Text 46"/>
          <p:cNvSpPr/>
          <p:nvPr/>
        </p:nvSpPr>
        <p:spPr>
          <a:xfrm>
            <a:off x="640080" y="3209544"/>
            <a:ext cx="1508760" cy="713232"/>
          </a:xfrm>
          <a:prstGeom prst="rect">
            <a:avLst/>
          </a:prstGeom>
          <a:noFill/>
          <a:ln/>
        </p:spPr>
        <p:txBody>
          <a:bodyPr wrap="square" lIns="0" tIns="0" rIns="0" bIns="0" rtlCol="0" anchor="ctr"/>
          <a:lstStyle/>
          <a:p>
            <a:pPr algn="r" indent="0" marL="0">
              <a:buNone/>
            </a:pPr>
            <a:r>
              <a:rPr lang="en-US" sz="1300" b="1" dirty="0">
                <a:solidFill>
                  <a:srgbClr val="23282F"/>
                </a:solidFill>
                <a:latin typeface="Calibri" pitchFamily="34" charset="0"/>
                <a:ea typeface="Calibri" pitchFamily="34" charset="-122"/>
                <a:cs typeface="Calibri" pitchFamily="34" charset="-120"/>
              </a:rPr>
              <a:t>DMZ</a:t>
            </a:r>
            <a:endParaRPr lang="en-US" sz="1300" dirty="0"/>
          </a:p>
        </p:txBody>
      </p:sp>
      <p:sp>
        <p:nvSpPr>
          <p:cNvPr id="49" name="Shape 47"/>
          <p:cNvSpPr/>
          <p:nvPr/>
        </p:nvSpPr>
        <p:spPr>
          <a:xfrm>
            <a:off x="2240280" y="3209544"/>
            <a:ext cx="1316736" cy="658368"/>
          </a:xfrm>
          <a:prstGeom prst="rect">
            <a:avLst/>
          </a:prstGeom>
          <a:solidFill>
            <a:srgbClr val="E9F1F5"/>
          </a:solidFill>
          <a:ln w="19050">
            <a:solidFill>
              <a:srgbClr val="FFFFFF"/>
            </a:solidFill>
            <a:prstDash val="solid"/>
          </a:ln>
        </p:spPr>
      </p:sp>
      <p:sp>
        <p:nvSpPr>
          <p:cNvPr id="50" name="Text 48"/>
          <p:cNvSpPr/>
          <p:nvPr/>
        </p:nvSpPr>
        <p:spPr>
          <a:xfrm>
            <a:off x="2240280" y="3264408"/>
            <a:ext cx="1316736" cy="329184"/>
          </a:xfrm>
          <a:prstGeom prst="rect">
            <a:avLst/>
          </a:prstGeom>
          <a:noFill/>
          <a:ln/>
        </p:spPr>
        <p:txBody>
          <a:bodyPr wrap="square" lIns="0" tIns="0" rIns="0" bIns="0" rtlCol="0" anchor="ctr"/>
          <a:lstStyle/>
          <a:p>
            <a:pPr algn="ctr" indent="0" marL="0">
              <a:buNone/>
            </a:pPr>
            <a:r>
              <a:rPr lang="en-US" sz="1500" b="1" dirty="0">
                <a:solidFill>
                  <a:srgbClr val="23282F"/>
                </a:solidFill>
                <a:latin typeface="Cambria" pitchFamily="34" charset="0"/>
                <a:ea typeface="Cambria" pitchFamily="34" charset="-122"/>
                <a:cs typeface="Cambria" pitchFamily="34" charset="-120"/>
              </a:rPr>
              <a:t>8.0 %</a:t>
            </a:r>
            <a:endParaRPr lang="en-US" sz="1500" dirty="0"/>
          </a:p>
        </p:txBody>
      </p:sp>
      <p:sp>
        <p:nvSpPr>
          <p:cNvPr id="51" name="Text 49"/>
          <p:cNvSpPr/>
          <p:nvPr/>
        </p:nvSpPr>
        <p:spPr>
          <a:xfrm>
            <a:off x="2240280" y="3593592"/>
            <a:ext cx="1316736" cy="274320"/>
          </a:xfrm>
          <a:prstGeom prst="rect">
            <a:avLst/>
          </a:prstGeom>
          <a:noFill/>
          <a:ln/>
        </p:spPr>
        <p:txBody>
          <a:bodyPr wrap="square" lIns="0" tIns="0" rIns="0" bIns="0" rtlCol="0" anchor="ctr"/>
          <a:lstStyle/>
          <a:p>
            <a:pPr algn="ctr" indent="0" marL="0">
              <a:buNone/>
            </a:pPr>
            <a:r>
              <a:rPr lang="en-US" sz="900" dirty="0">
                <a:solidFill>
                  <a:srgbClr val="6E7681"/>
                </a:solidFill>
                <a:latin typeface="Calibri" pitchFamily="34" charset="0"/>
                <a:ea typeface="Calibri" pitchFamily="34" charset="-122"/>
                <a:cs typeface="Calibri" pitchFamily="34" charset="-120"/>
              </a:rPr>
              <a:t>ohne 78 · Zuf 46</a:t>
            </a:r>
            <a:endParaRPr lang="en-US" sz="900" dirty="0"/>
          </a:p>
        </p:txBody>
      </p:sp>
      <p:sp>
        <p:nvSpPr>
          <p:cNvPr id="52" name="Shape 50"/>
          <p:cNvSpPr/>
          <p:nvPr/>
        </p:nvSpPr>
        <p:spPr>
          <a:xfrm>
            <a:off x="3611880" y="3209544"/>
            <a:ext cx="1316736" cy="658368"/>
          </a:xfrm>
          <a:prstGeom prst="rect">
            <a:avLst/>
          </a:prstGeom>
          <a:solidFill>
            <a:srgbClr val="DCEAF1"/>
          </a:solidFill>
          <a:ln w="19050">
            <a:solidFill>
              <a:srgbClr val="FFFFFF"/>
            </a:solidFill>
            <a:prstDash val="solid"/>
          </a:ln>
        </p:spPr>
      </p:sp>
      <p:sp>
        <p:nvSpPr>
          <p:cNvPr id="53" name="Text 51"/>
          <p:cNvSpPr/>
          <p:nvPr/>
        </p:nvSpPr>
        <p:spPr>
          <a:xfrm>
            <a:off x="3611880" y="3264408"/>
            <a:ext cx="1316736" cy="329184"/>
          </a:xfrm>
          <a:prstGeom prst="rect">
            <a:avLst/>
          </a:prstGeom>
          <a:noFill/>
          <a:ln/>
        </p:spPr>
        <p:txBody>
          <a:bodyPr wrap="square" lIns="0" tIns="0" rIns="0" bIns="0" rtlCol="0" anchor="ctr"/>
          <a:lstStyle/>
          <a:p>
            <a:pPr algn="ctr" indent="0" marL="0">
              <a:buNone/>
            </a:pPr>
            <a:r>
              <a:rPr lang="en-US" sz="1500" b="1" dirty="0">
                <a:solidFill>
                  <a:srgbClr val="23282F"/>
                </a:solidFill>
                <a:latin typeface="Cambria" pitchFamily="34" charset="0"/>
                <a:ea typeface="Cambria" pitchFamily="34" charset="-122"/>
                <a:cs typeface="Cambria" pitchFamily="34" charset="-120"/>
              </a:rPr>
              <a:t>0.8 %</a:t>
            </a:r>
            <a:endParaRPr lang="en-US" sz="1500" dirty="0"/>
          </a:p>
        </p:txBody>
      </p:sp>
      <p:sp>
        <p:nvSpPr>
          <p:cNvPr id="54" name="Text 52"/>
          <p:cNvSpPr/>
          <p:nvPr/>
        </p:nvSpPr>
        <p:spPr>
          <a:xfrm>
            <a:off x="3611880" y="3593592"/>
            <a:ext cx="1316736" cy="274320"/>
          </a:xfrm>
          <a:prstGeom prst="rect">
            <a:avLst/>
          </a:prstGeom>
          <a:noFill/>
          <a:ln/>
        </p:spPr>
        <p:txBody>
          <a:bodyPr wrap="square" lIns="0" tIns="0" rIns="0" bIns="0" rtlCol="0" anchor="ctr"/>
          <a:lstStyle/>
          <a:p>
            <a:pPr algn="ctr" indent="0" marL="0">
              <a:buNone/>
            </a:pPr>
            <a:r>
              <a:rPr lang="en-US" sz="900" dirty="0">
                <a:solidFill>
                  <a:srgbClr val="6E7681"/>
                </a:solidFill>
                <a:latin typeface="Calibri" pitchFamily="34" charset="0"/>
                <a:ea typeface="Calibri" pitchFamily="34" charset="-122"/>
                <a:cs typeface="Calibri" pitchFamily="34" charset="-120"/>
              </a:rPr>
              <a:t>ohne 98 · Zuf 43</a:t>
            </a:r>
            <a:endParaRPr lang="en-US" sz="900" dirty="0"/>
          </a:p>
        </p:txBody>
      </p:sp>
      <p:sp>
        <p:nvSpPr>
          <p:cNvPr id="55" name="Shape 53"/>
          <p:cNvSpPr/>
          <p:nvPr/>
        </p:nvSpPr>
        <p:spPr>
          <a:xfrm>
            <a:off x="4983480" y="3209544"/>
            <a:ext cx="1316736" cy="658368"/>
          </a:xfrm>
          <a:prstGeom prst="rect">
            <a:avLst/>
          </a:prstGeom>
          <a:solidFill>
            <a:srgbClr val="DCEAF1"/>
          </a:solidFill>
          <a:ln w="19050">
            <a:solidFill>
              <a:srgbClr val="FFFFFF"/>
            </a:solidFill>
            <a:prstDash val="solid"/>
          </a:ln>
        </p:spPr>
      </p:sp>
      <p:sp>
        <p:nvSpPr>
          <p:cNvPr id="56" name="Text 54"/>
          <p:cNvSpPr/>
          <p:nvPr/>
        </p:nvSpPr>
        <p:spPr>
          <a:xfrm>
            <a:off x="4983480" y="3264408"/>
            <a:ext cx="1316736" cy="329184"/>
          </a:xfrm>
          <a:prstGeom prst="rect">
            <a:avLst/>
          </a:prstGeom>
          <a:noFill/>
          <a:ln/>
        </p:spPr>
        <p:txBody>
          <a:bodyPr wrap="square" lIns="0" tIns="0" rIns="0" bIns="0" rtlCol="0" anchor="ctr"/>
          <a:lstStyle/>
          <a:p>
            <a:pPr algn="ctr" indent="0" marL="0">
              <a:buNone/>
            </a:pPr>
            <a:r>
              <a:rPr lang="en-US" sz="1500" b="1" dirty="0">
                <a:solidFill>
                  <a:srgbClr val="23282F"/>
                </a:solidFill>
                <a:latin typeface="Cambria" pitchFamily="34" charset="0"/>
                <a:ea typeface="Cambria" pitchFamily="34" charset="-122"/>
                <a:cs typeface="Cambria" pitchFamily="34" charset="-120"/>
              </a:rPr>
              <a:t>1.6 %</a:t>
            </a:r>
            <a:endParaRPr lang="en-US" sz="1500" dirty="0"/>
          </a:p>
        </p:txBody>
      </p:sp>
      <p:sp>
        <p:nvSpPr>
          <p:cNvPr id="57" name="Text 55"/>
          <p:cNvSpPr/>
          <p:nvPr/>
        </p:nvSpPr>
        <p:spPr>
          <a:xfrm>
            <a:off x="4983480" y="3593592"/>
            <a:ext cx="1316736" cy="274320"/>
          </a:xfrm>
          <a:prstGeom prst="rect">
            <a:avLst/>
          </a:prstGeom>
          <a:noFill/>
          <a:ln/>
        </p:spPr>
        <p:txBody>
          <a:bodyPr wrap="square" lIns="0" tIns="0" rIns="0" bIns="0" rtlCol="0" anchor="ctr"/>
          <a:lstStyle/>
          <a:p>
            <a:pPr algn="ctr" indent="0" marL="0">
              <a:buNone/>
            </a:pPr>
            <a:r>
              <a:rPr lang="en-US" sz="900" dirty="0">
                <a:solidFill>
                  <a:srgbClr val="6E7681"/>
                </a:solidFill>
                <a:latin typeface="Calibri" pitchFamily="34" charset="0"/>
                <a:ea typeface="Calibri" pitchFamily="34" charset="-122"/>
                <a:cs typeface="Calibri" pitchFamily="34" charset="-120"/>
              </a:rPr>
              <a:t>ohne 95 · Zuf 58</a:t>
            </a:r>
            <a:endParaRPr lang="en-US" sz="900" dirty="0"/>
          </a:p>
        </p:txBody>
      </p:sp>
      <p:sp>
        <p:nvSpPr>
          <p:cNvPr id="58" name="Shape 56"/>
          <p:cNvSpPr/>
          <p:nvPr/>
        </p:nvSpPr>
        <p:spPr>
          <a:xfrm>
            <a:off x="6355080" y="3209544"/>
            <a:ext cx="1316736" cy="658368"/>
          </a:xfrm>
          <a:prstGeom prst="rect">
            <a:avLst/>
          </a:prstGeom>
          <a:solidFill>
            <a:srgbClr val="F4F6F8"/>
          </a:solidFill>
          <a:ln w="19050">
            <a:solidFill>
              <a:srgbClr val="FFFFFF"/>
            </a:solidFill>
            <a:prstDash val="solid"/>
          </a:ln>
        </p:spPr>
      </p:sp>
      <p:sp>
        <p:nvSpPr>
          <p:cNvPr id="59" name="Text 57"/>
          <p:cNvSpPr/>
          <p:nvPr/>
        </p:nvSpPr>
        <p:spPr>
          <a:xfrm>
            <a:off x="6355080" y="3264408"/>
            <a:ext cx="1316736" cy="329184"/>
          </a:xfrm>
          <a:prstGeom prst="rect">
            <a:avLst/>
          </a:prstGeom>
          <a:noFill/>
          <a:ln/>
        </p:spPr>
        <p:txBody>
          <a:bodyPr wrap="square" lIns="0" tIns="0" rIns="0" bIns="0" rtlCol="0" anchor="ctr"/>
          <a:lstStyle/>
          <a:p>
            <a:pPr algn="ctr" indent="0" marL="0">
              <a:buNone/>
            </a:pPr>
            <a:r>
              <a:rPr lang="en-US" sz="1500" b="1" dirty="0">
                <a:solidFill>
                  <a:srgbClr val="23282F"/>
                </a:solidFill>
                <a:latin typeface="Cambria" pitchFamily="34" charset="0"/>
                <a:ea typeface="Cambria" pitchFamily="34" charset="-122"/>
                <a:cs typeface="Cambria" pitchFamily="34" charset="-120"/>
              </a:rPr>
              <a:t>36.0 %</a:t>
            </a:r>
            <a:endParaRPr lang="en-US" sz="1500" dirty="0"/>
          </a:p>
        </p:txBody>
      </p:sp>
      <p:sp>
        <p:nvSpPr>
          <p:cNvPr id="60" name="Text 58"/>
          <p:cNvSpPr/>
          <p:nvPr/>
        </p:nvSpPr>
        <p:spPr>
          <a:xfrm>
            <a:off x="6355080" y="3593592"/>
            <a:ext cx="1316736" cy="274320"/>
          </a:xfrm>
          <a:prstGeom prst="rect">
            <a:avLst/>
          </a:prstGeom>
          <a:noFill/>
          <a:ln/>
        </p:spPr>
        <p:txBody>
          <a:bodyPr wrap="square" lIns="0" tIns="0" rIns="0" bIns="0" rtlCol="0" anchor="ctr"/>
          <a:lstStyle/>
          <a:p>
            <a:pPr algn="ctr" indent="0" marL="0">
              <a:buNone/>
            </a:pPr>
            <a:r>
              <a:rPr lang="en-US" sz="900" dirty="0">
                <a:solidFill>
                  <a:srgbClr val="6E7681"/>
                </a:solidFill>
                <a:latin typeface="Calibri" pitchFamily="34" charset="0"/>
                <a:ea typeface="Calibri" pitchFamily="34" charset="-122"/>
                <a:cs typeface="Calibri" pitchFamily="34" charset="-120"/>
              </a:rPr>
              <a:t>ohne 100 · Zuf 99</a:t>
            </a:r>
            <a:endParaRPr lang="en-US" sz="900" dirty="0"/>
          </a:p>
        </p:txBody>
      </p:sp>
      <p:sp>
        <p:nvSpPr>
          <p:cNvPr id="61" name="Shape 59"/>
          <p:cNvSpPr/>
          <p:nvPr/>
        </p:nvSpPr>
        <p:spPr>
          <a:xfrm>
            <a:off x="7726680" y="3209544"/>
            <a:ext cx="1316736" cy="658368"/>
          </a:xfrm>
          <a:prstGeom prst="rect">
            <a:avLst/>
          </a:prstGeom>
          <a:solidFill>
            <a:srgbClr val="DCEAF1"/>
          </a:solidFill>
          <a:ln w="19050">
            <a:solidFill>
              <a:srgbClr val="FFFFFF"/>
            </a:solidFill>
            <a:prstDash val="solid"/>
          </a:ln>
        </p:spPr>
      </p:sp>
      <p:sp>
        <p:nvSpPr>
          <p:cNvPr id="62" name="Text 60"/>
          <p:cNvSpPr/>
          <p:nvPr/>
        </p:nvSpPr>
        <p:spPr>
          <a:xfrm>
            <a:off x="7726680" y="3264408"/>
            <a:ext cx="1316736" cy="329184"/>
          </a:xfrm>
          <a:prstGeom prst="rect">
            <a:avLst/>
          </a:prstGeom>
          <a:noFill/>
          <a:ln/>
        </p:spPr>
        <p:txBody>
          <a:bodyPr wrap="square" lIns="0" tIns="0" rIns="0" bIns="0" rtlCol="0" anchor="ctr"/>
          <a:lstStyle/>
          <a:p>
            <a:pPr algn="ctr" indent="0" marL="0">
              <a:buNone/>
            </a:pPr>
            <a:r>
              <a:rPr lang="en-US" sz="1500" b="1" dirty="0">
                <a:solidFill>
                  <a:srgbClr val="23282F"/>
                </a:solidFill>
                <a:latin typeface="Cambria" pitchFamily="34" charset="0"/>
                <a:ea typeface="Cambria" pitchFamily="34" charset="-122"/>
                <a:cs typeface="Cambria" pitchFamily="34" charset="-120"/>
              </a:rPr>
              <a:t>0.8 %</a:t>
            </a:r>
            <a:endParaRPr lang="en-US" sz="1500" dirty="0"/>
          </a:p>
        </p:txBody>
      </p:sp>
      <p:sp>
        <p:nvSpPr>
          <p:cNvPr id="63" name="Text 61"/>
          <p:cNvSpPr/>
          <p:nvPr/>
        </p:nvSpPr>
        <p:spPr>
          <a:xfrm>
            <a:off x="7726680" y="3593592"/>
            <a:ext cx="1316736" cy="274320"/>
          </a:xfrm>
          <a:prstGeom prst="rect">
            <a:avLst/>
          </a:prstGeom>
          <a:noFill/>
          <a:ln/>
        </p:spPr>
        <p:txBody>
          <a:bodyPr wrap="square" lIns="0" tIns="0" rIns="0" bIns="0" rtlCol="0" anchor="ctr"/>
          <a:lstStyle/>
          <a:p>
            <a:pPr algn="ctr" indent="0" marL="0">
              <a:buNone/>
            </a:pPr>
            <a:r>
              <a:rPr lang="en-US" sz="900" dirty="0">
                <a:solidFill>
                  <a:srgbClr val="6E7681"/>
                </a:solidFill>
                <a:latin typeface="Calibri" pitchFamily="34" charset="0"/>
                <a:ea typeface="Calibri" pitchFamily="34" charset="-122"/>
                <a:cs typeface="Calibri" pitchFamily="34" charset="-120"/>
              </a:rPr>
              <a:t>ohne 98 · Zuf 31</a:t>
            </a:r>
            <a:endParaRPr lang="en-US" sz="900" dirty="0"/>
          </a:p>
        </p:txBody>
      </p:sp>
      <p:sp>
        <p:nvSpPr>
          <p:cNvPr id="64" name="Shape 62"/>
          <p:cNvSpPr/>
          <p:nvPr/>
        </p:nvSpPr>
        <p:spPr>
          <a:xfrm>
            <a:off x="9098280" y="3209544"/>
            <a:ext cx="1316736" cy="658368"/>
          </a:xfrm>
          <a:prstGeom prst="rect">
            <a:avLst/>
          </a:prstGeom>
          <a:solidFill>
            <a:srgbClr val="DCEAF1"/>
          </a:solidFill>
          <a:ln w="19050">
            <a:solidFill>
              <a:srgbClr val="FFFFFF"/>
            </a:solidFill>
            <a:prstDash val="solid"/>
          </a:ln>
        </p:spPr>
      </p:sp>
      <p:sp>
        <p:nvSpPr>
          <p:cNvPr id="65" name="Text 63"/>
          <p:cNvSpPr/>
          <p:nvPr/>
        </p:nvSpPr>
        <p:spPr>
          <a:xfrm>
            <a:off x="9098280" y="3264408"/>
            <a:ext cx="1316736" cy="329184"/>
          </a:xfrm>
          <a:prstGeom prst="rect">
            <a:avLst/>
          </a:prstGeom>
          <a:noFill/>
          <a:ln/>
        </p:spPr>
        <p:txBody>
          <a:bodyPr wrap="square" lIns="0" tIns="0" rIns="0" bIns="0" rtlCol="0" anchor="ctr"/>
          <a:lstStyle/>
          <a:p>
            <a:pPr algn="ctr" indent="0" marL="0">
              <a:buNone/>
            </a:pPr>
            <a:r>
              <a:rPr lang="en-US" sz="1500" b="1" dirty="0">
                <a:solidFill>
                  <a:srgbClr val="23282F"/>
                </a:solidFill>
                <a:latin typeface="Cambria" pitchFamily="34" charset="0"/>
                <a:ea typeface="Cambria" pitchFamily="34" charset="-122"/>
                <a:cs typeface="Cambria" pitchFamily="34" charset="-120"/>
              </a:rPr>
              <a:t>1.6 %</a:t>
            </a:r>
            <a:endParaRPr lang="en-US" sz="1500" dirty="0"/>
          </a:p>
        </p:txBody>
      </p:sp>
      <p:sp>
        <p:nvSpPr>
          <p:cNvPr id="66" name="Text 64"/>
          <p:cNvSpPr/>
          <p:nvPr/>
        </p:nvSpPr>
        <p:spPr>
          <a:xfrm>
            <a:off x="9098280" y="3593592"/>
            <a:ext cx="1316736" cy="274320"/>
          </a:xfrm>
          <a:prstGeom prst="rect">
            <a:avLst/>
          </a:prstGeom>
          <a:noFill/>
          <a:ln/>
        </p:spPr>
        <p:txBody>
          <a:bodyPr wrap="square" lIns="0" tIns="0" rIns="0" bIns="0" rtlCol="0" anchor="ctr"/>
          <a:lstStyle/>
          <a:p>
            <a:pPr algn="ctr" indent="0" marL="0">
              <a:buNone/>
            </a:pPr>
            <a:r>
              <a:rPr lang="en-US" sz="900" dirty="0">
                <a:solidFill>
                  <a:srgbClr val="6E7681"/>
                </a:solidFill>
                <a:latin typeface="Calibri" pitchFamily="34" charset="0"/>
                <a:ea typeface="Calibri" pitchFamily="34" charset="-122"/>
                <a:cs typeface="Calibri" pitchFamily="34" charset="-120"/>
              </a:rPr>
              <a:t>ohne 99 · Zuf 25</a:t>
            </a:r>
            <a:endParaRPr lang="en-US" sz="900" dirty="0"/>
          </a:p>
        </p:txBody>
      </p:sp>
      <p:sp>
        <p:nvSpPr>
          <p:cNvPr id="67" name="Text 65"/>
          <p:cNvSpPr/>
          <p:nvPr/>
        </p:nvSpPr>
        <p:spPr>
          <a:xfrm>
            <a:off x="640080" y="3922776"/>
            <a:ext cx="1508760" cy="713232"/>
          </a:xfrm>
          <a:prstGeom prst="rect">
            <a:avLst/>
          </a:prstGeom>
          <a:noFill/>
          <a:ln/>
        </p:spPr>
        <p:txBody>
          <a:bodyPr wrap="square" lIns="0" tIns="0" rIns="0" bIns="0" rtlCol="0" anchor="ctr"/>
          <a:lstStyle/>
          <a:p>
            <a:pPr algn="r" indent="0" marL="0">
              <a:buNone/>
            </a:pPr>
            <a:r>
              <a:rPr lang="en-US" sz="1300" b="1" dirty="0">
                <a:solidFill>
                  <a:srgbClr val="23282F"/>
                </a:solidFill>
                <a:latin typeface="Calibri" pitchFamily="34" charset="0"/>
                <a:ea typeface="Calibri" pitchFamily="34" charset="-122"/>
                <a:cs typeface="Calibri" pitchFamily="34" charset="-120"/>
              </a:rPr>
              <a:t>Micro-Seg.</a:t>
            </a:r>
            <a:endParaRPr lang="en-US" sz="1300" dirty="0"/>
          </a:p>
        </p:txBody>
      </p:sp>
      <p:sp>
        <p:nvSpPr>
          <p:cNvPr id="68" name="Shape 66"/>
          <p:cNvSpPr/>
          <p:nvPr/>
        </p:nvSpPr>
        <p:spPr>
          <a:xfrm>
            <a:off x="2240280" y="3922776"/>
            <a:ext cx="1316736" cy="658368"/>
          </a:xfrm>
          <a:prstGeom prst="rect">
            <a:avLst/>
          </a:prstGeom>
          <a:solidFill>
            <a:srgbClr val="DCEAF1"/>
          </a:solidFill>
          <a:ln w="19050">
            <a:solidFill>
              <a:srgbClr val="FFFFFF"/>
            </a:solidFill>
            <a:prstDash val="solid"/>
          </a:ln>
        </p:spPr>
      </p:sp>
      <p:sp>
        <p:nvSpPr>
          <p:cNvPr id="69" name="Text 67"/>
          <p:cNvSpPr/>
          <p:nvPr/>
        </p:nvSpPr>
        <p:spPr>
          <a:xfrm>
            <a:off x="2240280" y="3977640"/>
            <a:ext cx="1316736" cy="329184"/>
          </a:xfrm>
          <a:prstGeom prst="rect">
            <a:avLst/>
          </a:prstGeom>
          <a:noFill/>
          <a:ln/>
        </p:spPr>
        <p:txBody>
          <a:bodyPr wrap="square" lIns="0" tIns="0" rIns="0" bIns="0" rtlCol="0" anchor="ctr"/>
          <a:lstStyle/>
          <a:p>
            <a:pPr algn="ctr" indent="0" marL="0">
              <a:buNone/>
            </a:pPr>
            <a:r>
              <a:rPr lang="en-US" sz="1500" b="1" dirty="0">
                <a:solidFill>
                  <a:srgbClr val="23282F"/>
                </a:solidFill>
                <a:latin typeface="Cambria" pitchFamily="34" charset="0"/>
                <a:ea typeface="Cambria" pitchFamily="34" charset="-122"/>
                <a:cs typeface="Cambria" pitchFamily="34" charset="-120"/>
              </a:rPr>
              <a:t>0.8 %</a:t>
            </a:r>
            <a:endParaRPr lang="en-US" sz="1500" dirty="0"/>
          </a:p>
        </p:txBody>
      </p:sp>
      <p:sp>
        <p:nvSpPr>
          <p:cNvPr id="70" name="Text 68"/>
          <p:cNvSpPr/>
          <p:nvPr/>
        </p:nvSpPr>
        <p:spPr>
          <a:xfrm>
            <a:off x="2240280" y="4306824"/>
            <a:ext cx="1316736" cy="274320"/>
          </a:xfrm>
          <a:prstGeom prst="rect">
            <a:avLst/>
          </a:prstGeom>
          <a:noFill/>
          <a:ln/>
        </p:spPr>
        <p:txBody>
          <a:bodyPr wrap="square" lIns="0" tIns="0" rIns="0" bIns="0" rtlCol="0" anchor="ctr"/>
          <a:lstStyle/>
          <a:p>
            <a:pPr algn="ctr" indent="0" marL="0">
              <a:buNone/>
            </a:pPr>
            <a:r>
              <a:rPr lang="en-US" sz="900" dirty="0">
                <a:solidFill>
                  <a:srgbClr val="6E7681"/>
                </a:solidFill>
                <a:latin typeface="Calibri" pitchFamily="34" charset="0"/>
                <a:ea typeface="Calibri" pitchFamily="34" charset="-122"/>
                <a:cs typeface="Calibri" pitchFamily="34" charset="-120"/>
              </a:rPr>
              <a:t>ohne 100 · Zuf 39</a:t>
            </a:r>
            <a:endParaRPr lang="en-US" sz="900" dirty="0"/>
          </a:p>
        </p:txBody>
      </p:sp>
      <p:sp>
        <p:nvSpPr>
          <p:cNvPr id="71" name="Shape 69"/>
          <p:cNvSpPr/>
          <p:nvPr/>
        </p:nvSpPr>
        <p:spPr>
          <a:xfrm>
            <a:off x="3611880" y="3922776"/>
            <a:ext cx="1316736" cy="658368"/>
          </a:xfrm>
          <a:prstGeom prst="rect">
            <a:avLst/>
          </a:prstGeom>
          <a:solidFill>
            <a:srgbClr val="DCEAF1"/>
          </a:solidFill>
          <a:ln w="19050">
            <a:solidFill>
              <a:srgbClr val="FFFFFF"/>
            </a:solidFill>
            <a:prstDash val="solid"/>
          </a:ln>
        </p:spPr>
      </p:sp>
      <p:sp>
        <p:nvSpPr>
          <p:cNvPr id="72" name="Text 70"/>
          <p:cNvSpPr/>
          <p:nvPr/>
        </p:nvSpPr>
        <p:spPr>
          <a:xfrm>
            <a:off x="3611880" y="3977640"/>
            <a:ext cx="1316736" cy="329184"/>
          </a:xfrm>
          <a:prstGeom prst="rect">
            <a:avLst/>
          </a:prstGeom>
          <a:noFill/>
          <a:ln/>
        </p:spPr>
        <p:txBody>
          <a:bodyPr wrap="square" lIns="0" tIns="0" rIns="0" bIns="0" rtlCol="0" anchor="ctr"/>
          <a:lstStyle/>
          <a:p>
            <a:pPr algn="ctr" indent="0" marL="0">
              <a:buNone/>
            </a:pPr>
            <a:r>
              <a:rPr lang="en-US" sz="1500" b="1" dirty="0">
                <a:solidFill>
                  <a:srgbClr val="23282F"/>
                </a:solidFill>
                <a:latin typeface="Cambria" pitchFamily="34" charset="0"/>
                <a:ea typeface="Cambria" pitchFamily="34" charset="-122"/>
                <a:cs typeface="Cambria" pitchFamily="34" charset="-120"/>
              </a:rPr>
              <a:t>0.8 %</a:t>
            </a:r>
            <a:endParaRPr lang="en-US" sz="1500" dirty="0"/>
          </a:p>
        </p:txBody>
      </p:sp>
      <p:sp>
        <p:nvSpPr>
          <p:cNvPr id="73" name="Text 71"/>
          <p:cNvSpPr/>
          <p:nvPr/>
        </p:nvSpPr>
        <p:spPr>
          <a:xfrm>
            <a:off x="3611880" y="4306824"/>
            <a:ext cx="1316736" cy="274320"/>
          </a:xfrm>
          <a:prstGeom prst="rect">
            <a:avLst/>
          </a:prstGeom>
          <a:noFill/>
          <a:ln/>
        </p:spPr>
        <p:txBody>
          <a:bodyPr wrap="square" lIns="0" tIns="0" rIns="0" bIns="0" rtlCol="0" anchor="ctr"/>
          <a:lstStyle/>
          <a:p>
            <a:pPr algn="ctr" indent="0" marL="0">
              <a:buNone/>
            </a:pPr>
            <a:r>
              <a:rPr lang="en-US" sz="900" dirty="0">
                <a:solidFill>
                  <a:srgbClr val="6E7681"/>
                </a:solidFill>
                <a:latin typeface="Calibri" pitchFamily="34" charset="0"/>
                <a:ea typeface="Calibri" pitchFamily="34" charset="-122"/>
                <a:cs typeface="Calibri" pitchFamily="34" charset="-120"/>
              </a:rPr>
              <a:t>ohne 100 · Zuf 52</a:t>
            </a:r>
            <a:endParaRPr lang="en-US" sz="900" dirty="0"/>
          </a:p>
        </p:txBody>
      </p:sp>
      <p:sp>
        <p:nvSpPr>
          <p:cNvPr id="74" name="Shape 72"/>
          <p:cNvSpPr/>
          <p:nvPr/>
        </p:nvSpPr>
        <p:spPr>
          <a:xfrm>
            <a:off x="4983480" y="3922776"/>
            <a:ext cx="1316736" cy="658368"/>
          </a:xfrm>
          <a:prstGeom prst="rect">
            <a:avLst/>
          </a:prstGeom>
          <a:solidFill>
            <a:srgbClr val="DCEAF1"/>
          </a:solidFill>
          <a:ln w="19050">
            <a:solidFill>
              <a:srgbClr val="FFFFFF"/>
            </a:solidFill>
            <a:prstDash val="solid"/>
          </a:ln>
        </p:spPr>
      </p:sp>
      <p:sp>
        <p:nvSpPr>
          <p:cNvPr id="75" name="Text 73"/>
          <p:cNvSpPr/>
          <p:nvPr/>
        </p:nvSpPr>
        <p:spPr>
          <a:xfrm>
            <a:off x="4983480" y="3977640"/>
            <a:ext cx="1316736" cy="329184"/>
          </a:xfrm>
          <a:prstGeom prst="rect">
            <a:avLst/>
          </a:prstGeom>
          <a:noFill/>
          <a:ln/>
        </p:spPr>
        <p:txBody>
          <a:bodyPr wrap="square" lIns="0" tIns="0" rIns="0" bIns="0" rtlCol="0" anchor="ctr"/>
          <a:lstStyle/>
          <a:p>
            <a:pPr algn="ctr" indent="0" marL="0">
              <a:buNone/>
            </a:pPr>
            <a:r>
              <a:rPr lang="en-US" sz="1500" b="1" dirty="0">
                <a:solidFill>
                  <a:srgbClr val="23282F"/>
                </a:solidFill>
                <a:latin typeface="Cambria" pitchFamily="34" charset="0"/>
                <a:ea typeface="Cambria" pitchFamily="34" charset="-122"/>
                <a:cs typeface="Cambria" pitchFamily="34" charset="-120"/>
              </a:rPr>
              <a:t>0.0 %</a:t>
            </a:r>
            <a:endParaRPr lang="en-US" sz="1500" dirty="0"/>
          </a:p>
        </p:txBody>
      </p:sp>
      <p:sp>
        <p:nvSpPr>
          <p:cNvPr id="76" name="Text 74"/>
          <p:cNvSpPr/>
          <p:nvPr/>
        </p:nvSpPr>
        <p:spPr>
          <a:xfrm>
            <a:off x="4983480" y="4306824"/>
            <a:ext cx="1316736" cy="274320"/>
          </a:xfrm>
          <a:prstGeom prst="rect">
            <a:avLst/>
          </a:prstGeom>
          <a:noFill/>
          <a:ln/>
        </p:spPr>
        <p:txBody>
          <a:bodyPr wrap="square" lIns="0" tIns="0" rIns="0" bIns="0" rtlCol="0" anchor="ctr"/>
          <a:lstStyle/>
          <a:p>
            <a:pPr algn="ctr" indent="0" marL="0">
              <a:buNone/>
            </a:pPr>
            <a:r>
              <a:rPr lang="en-US" sz="900" dirty="0">
                <a:solidFill>
                  <a:srgbClr val="6E7681"/>
                </a:solidFill>
                <a:latin typeface="Calibri" pitchFamily="34" charset="0"/>
                <a:ea typeface="Calibri" pitchFamily="34" charset="-122"/>
                <a:cs typeface="Calibri" pitchFamily="34" charset="-120"/>
              </a:rPr>
              <a:t>ohne 56 · Zuf 6</a:t>
            </a:r>
            <a:endParaRPr lang="en-US" sz="900" dirty="0"/>
          </a:p>
        </p:txBody>
      </p:sp>
      <p:sp>
        <p:nvSpPr>
          <p:cNvPr id="77" name="Shape 75"/>
          <p:cNvSpPr/>
          <p:nvPr/>
        </p:nvSpPr>
        <p:spPr>
          <a:xfrm>
            <a:off x="6355080" y="3922776"/>
            <a:ext cx="1316736" cy="658368"/>
          </a:xfrm>
          <a:prstGeom prst="rect">
            <a:avLst/>
          </a:prstGeom>
          <a:solidFill>
            <a:srgbClr val="DCEAF1"/>
          </a:solidFill>
          <a:ln w="19050">
            <a:solidFill>
              <a:srgbClr val="FFFFFF"/>
            </a:solidFill>
            <a:prstDash val="solid"/>
          </a:ln>
        </p:spPr>
      </p:sp>
      <p:sp>
        <p:nvSpPr>
          <p:cNvPr id="78" name="Text 76"/>
          <p:cNvSpPr/>
          <p:nvPr/>
        </p:nvSpPr>
        <p:spPr>
          <a:xfrm>
            <a:off x="6355080" y="3977640"/>
            <a:ext cx="1316736" cy="329184"/>
          </a:xfrm>
          <a:prstGeom prst="rect">
            <a:avLst/>
          </a:prstGeom>
          <a:noFill/>
          <a:ln/>
        </p:spPr>
        <p:txBody>
          <a:bodyPr wrap="square" lIns="0" tIns="0" rIns="0" bIns="0" rtlCol="0" anchor="ctr"/>
          <a:lstStyle/>
          <a:p>
            <a:pPr algn="ctr" indent="0" marL="0">
              <a:buNone/>
            </a:pPr>
            <a:r>
              <a:rPr lang="en-US" sz="1500" b="1" dirty="0">
                <a:solidFill>
                  <a:srgbClr val="23282F"/>
                </a:solidFill>
                <a:latin typeface="Cambria" pitchFamily="34" charset="0"/>
                <a:ea typeface="Cambria" pitchFamily="34" charset="-122"/>
                <a:cs typeface="Cambria" pitchFamily="34" charset="-120"/>
              </a:rPr>
              <a:t>0.0 %</a:t>
            </a:r>
            <a:endParaRPr lang="en-US" sz="1500" dirty="0"/>
          </a:p>
        </p:txBody>
      </p:sp>
      <p:sp>
        <p:nvSpPr>
          <p:cNvPr id="79" name="Text 77"/>
          <p:cNvSpPr/>
          <p:nvPr/>
        </p:nvSpPr>
        <p:spPr>
          <a:xfrm>
            <a:off x="6355080" y="4306824"/>
            <a:ext cx="1316736" cy="274320"/>
          </a:xfrm>
          <a:prstGeom prst="rect">
            <a:avLst/>
          </a:prstGeom>
          <a:noFill/>
          <a:ln/>
        </p:spPr>
        <p:txBody>
          <a:bodyPr wrap="square" lIns="0" tIns="0" rIns="0" bIns="0" rtlCol="0" anchor="ctr"/>
          <a:lstStyle/>
          <a:p>
            <a:pPr algn="ctr" indent="0" marL="0">
              <a:buNone/>
            </a:pPr>
            <a:r>
              <a:rPr lang="en-US" sz="900" dirty="0">
                <a:solidFill>
                  <a:srgbClr val="6E7681"/>
                </a:solidFill>
                <a:latin typeface="Calibri" pitchFamily="34" charset="0"/>
                <a:ea typeface="Calibri" pitchFamily="34" charset="-122"/>
                <a:cs typeface="Calibri" pitchFamily="34" charset="-120"/>
              </a:rPr>
              <a:t>ohne 44 · Zuf 0</a:t>
            </a:r>
            <a:endParaRPr lang="en-US" sz="900" dirty="0"/>
          </a:p>
        </p:txBody>
      </p:sp>
      <p:sp>
        <p:nvSpPr>
          <p:cNvPr id="80" name="Shape 78"/>
          <p:cNvSpPr/>
          <p:nvPr/>
        </p:nvSpPr>
        <p:spPr>
          <a:xfrm>
            <a:off x="7726680" y="3922776"/>
            <a:ext cx="1316736" cy="658368"/>
          </a:xfrm>
          <a:prstGeom prst="rect">
            <a:avLst/>
          </a:prstGeom>
          <a:solidFill>
            <a:srgbClr val="DCEAF1"/>
          </a:solidFill>
          <a:ln w="19050">
            <a:solidFill>
              <a:srgbClr val="FFFFFF"/>
            </a:solidFill>
            <a:prstDash val="solid"/>
          </a:ln>
        </p:spPr>
      </p:sp>
      <p:sp>
        <p:nvSpPr>
          <p:cNvPr id="81" name="Text 79"/>
          <p:cNvSpPr/>
          <p:nvPr/>
        </p:nvSpPr>
        <p:spPr>
          <a:xfrm>
            <a:off x="7726680" y="3977640"/>
            <a:ext cx="1316736" cy="329184"/>
          </a:xfrm>
          <a:prstGeom prst="rect">
            <a:avLst/>
          </a:prstGeom>
          <a:noFill/>
          <a:ln/>
        </p:spPr>
        <p:txBody>
          <a:bodyPr wrap="square" lIns="0" tIns="0" rIns="0" bIns="0" rtlCol="0" anchor="ctr"/>
          <a:lstStyle/>
          <a:p>
            <a:pPr algn="ctr" indent="0" marL="0">
              <a:buNone/>
            </a:pPr>
            <a:r>
              <a:rPr lang="en-US" sz="1500" b="1" dirty="0">
                <a:solidFill>
                  <a:srgbClr val="23282F"/>
                </a:solidFill>
                <a:latin typeface="Cambria" pitchFamily="34" charset="0"/>
                <a:ea typeface="Cambria" pitchFamily="34" charset="-122"/>
                <a:cs typeface="Cambria" pitchFamily="34" charset="-120"/>
              </a:rPr>
              <a:t>0.0 %</a:t>
            </a:r>
            <a:endParaRPr lang="en-US" sz="1500" dirty="0"/>
          </a:p>
        </p:txBody>
      </p:sp>
      <p:sp>
        <p:nvSpPr>
          <p:cNvPr id="82" name="Text 80"/>
          <p:cNvSpPr/>
          <p:nvPr/>
        </p:nvSpPr>
        <p:spPr>
          <a:xfrm>
            <a:off x="7726680" y="4306824"/>
            <a:ext cx="1316736" cy="274320"/>
          </a:xfrm>
          <a:prstGeom prst="rect">
            <a:avLst/>
          </a:prstGeom>
          <a:noFill/>
          <a:ln/>
        </p:spPr>
        <p:txBody>
          <a:bodyPr wrap="square" lIns="0" tIns="0" rIns="0" bIns="0" rtlCol="0" anchor="ctr"/>
          <a:lstStyle/>
          <a:p>
            <a:pPr algn="ctr" indent="0" marL="0">
              <a:buNone/>
            </a:pPr>
            <a:r>
              <a:rPr lang="en-US" sz="900" dirty="0">
                <a:solidFill>
                  <a:srgbClr val="6E7681"/>
                </a:solidFill>
                <a:latin typeface="Calibri" pitchFamily="34" charset="0"/>
                <a:ea typeface="Calibri" pitchFamily="34" charset="-122"/>
                <a:cs typeface="Calibri" pitchFamily="34" charset="-120"/>
              </a:rPr>
              <a:t>ohne 100 · Zuf 100</a:t>
            </a:r>
            <a:endParaRPr lang="en-US" sz="900" dirty="0"/>
          </a:p>
        </p:txBody>
      </p:sp>
      <p:sp>
        <p:nvSpPr>
          <p:cNvPr id="83" name="Shape 81"/>
          <p:cNvSpPr/>
          <p:nvPr/>
        </p:nvSpPr>
        <p:spPr>
          <a:xfrm>
            <a:off x="9098280" y="3922776"/>
            <a:ext cx="1316736" cy="658368"/>
          </a:xfrm>
          <a:prstGeom prst="rect">
            <a:avLst/>
          </a:prstGeom>
          <a:solidFill>
            <a:srgbClr val="E9F1F5"/>
          </a:solidFill>
          <a:ln w="19050">
            <a:solidFill>
              <a:srgbClr val="FFFFFF"/>
            </a:solidFill>
            <a:prstDash val="solid"/>
          </a:ln>
        </p:spPr>
      </p:sp>
      <p:sp>
        <p:nvSpPr>
          <p:cNvPr id="84" name="Text 82"/>
          <p:cNvSpPr/>
          <p:nvPr/>
        </p:nvSpPr>
        <p:spPr>
          <a:xfrm>
            <a:off x="9098280" y="3977640"/>
            <a:ext cx="1316736" cy="329184"/>
          </a:xfrm>
          <a:prstGeom prst="rect">
            <a:avLst/>
          </a:prstGeom>
          <a:noFill/>
          <a:ln/>
        </p:spPr>
        <p:txBody>
          <a:bodyPr wrap="square" lIns="0" tIns="0" rIns="0" bIns="0" rtlCol="0" anchor="ctr"/>
          <a:lstStyle/>
          <a:p>
            <a:pPr algn="ctr" indent="0" marL="0">
              <a:buNone/>
            </a:pPr>
            <a:r>
              <a:rPr lang="en-US" sz="1500" b="1" dirty="0">
                <a:solidFill>
                  <a:srgbClr val="23282F"/>
                </a:solidFill>
                <a:latin typeface="Cambria" pitchFamily="34" charset="0"/>
                <a:ea typeface="Cambria" pitchFamily="34" charset="-122"/>
                <a:cs typeface="Cambria" pitchFamily="34" charset="-120"/>
              </a:rPr>
              <a:t>15.2 %</a:t>
            </a:r>
            <a:endParaRPr lang="en-US" sz="1500" dirty="0"/>
          </a:p>
        </p:txBody>
      </p:sp>
      <p:sp>
        <p:nvSpPr>
          <p:cNvPr id="85" name="Text 83"/>
          <p:cNvSpPr/>
          <p:nvPr/>
        </p:nvSpPr>
        <p:spPr>
          <a:xfrm>
            <a:off x="9098280" y="4306824"/>
            <a:ext cx="1316736" cy="274320"/>
          </a:xfrm>
          <a:prstGeom prst="rect">
            <a:avLst/>
          </a:prstGeom>
          <a:noFill/>
          <a:ln/>
        </p:spPr>
        <p:txBody>
          <a:bodyPr wrap="square" lIns="0" tIns="0" rIns="0" bIns="0" rtlCol="0" anchor="ctr"/>
          <a:lstStyle/>
          <a:p>
            <a:pPr algn="ctr" indent="0" marL="0">
              <a:buNone/>
            </a:pPr>
            <a:r>
              <a:rPr lang="en-US" sz="900" dirty="0">
                <a:solidFill>
                  <a:srgbClr val="6E7681"/>
                </a:solidFill>
                <a:latin typeface="Calibri" pitchFamily="34" charset="0"/>
                <a:ea typeface="Calibri" pitchFamily="34" charset="-122"/>
                <a:cs typeface="Calibri" pitchFamily="34" charset="-120"/>
              </a:rPr>
              <a:t>ohne 100 · Zuf 100</a:t>
            </a:r>
            <a:endParaRPr lang="en-US" sz="900" dirty="0"/>
          </a:p>
        </p:txBody>
      </p:sp>
      <p:sp>
        <p:nvSpPr>
          <p:cNvPr id="86" name="Text 84"/>
          <p:cNvSpPr/>
          <p:nvPr/>
        </p:nvSpPr>
        <p:spPr>
          <a:xfrm>
            <a:off x="640080" y="4846320"/>
            <a:ext cx="10881360" cy="457200"/>
          </a:xfrm>
          <a:prstGeom prst="rect">
            <a:avLst/>
          </a:prstGeom>
          <a:noFill/>
          <a:ln/>
        </p:spPr>
        <p:txBody>
          <a:bodyPr wrap="square" lIns="0" tIns="0" rIns="0" bIns="0" rtlCol="0" anchor="ctr"/>
          <a:lstStyle/>
          <a:p>
            <a:pPr indent="0" marL="0">
              <a:buNone/>
            </a:pPr>
            <a:r>
              <a:rPr lang="en-US" sz="1400" b="1" dirty="0">
                <a:solidFill>
                  <a:srgbClr val="1C6E8C"/>
                </a:solidFill>
                <a:latin typeface="Calibri" pitchFamily="34" charset="0"/>
                <a:ea typeface="Calibri" pitchFamily="34" charset="-122"/>
                <a:cs typeface="Calibri" pitchFamily="34" charset="-120"/>
              </a:rPr>
              <a:t>Micro-Segmentation hält den eigenen Angreifer bei 0,0 % Crown-Jewel-Quote, das andere Extrem ist wieder Flat gegen sich selbst mit 99,2 %. Dieselbe Diagonale wie bei Reward und Knoten, jetzt an einer dritten, von der Reward-Skala unabhängigen Größe bestätigt.</a:t>
            </a:r>
            <a:endParaRPr lang="en-US" sz="1400" dirty="0"/>
          </a:p>
        </p:txBody>
      </p:sp>
      <p:sp>
        <p:nvSpPr>
          <p:cNvPr id="87" name="Text 85"/>
          <p:cNvSpPr/>
          <p:nvPr/>
        </p:nvSpPr>
        <p:spPr>
          <a:xfrm>
            <a:off x="640080" y="6291072"/>
            <a:ext cx="10881360" cy="274320"/>
          </a:xfrm>
          <a:prstGeom prst="rect">
            <a:avLst/>
          </a:prstGeom>
          <a:noFill/>
          <a:ln/>
        </p:spPr>
        <p:txBody>
          <a:bodyPr wrap="square" lIns="0" tIns="0" rIns="0" bIns="0" rtlCol="0" anchor="ctr"/>
          <a:lstStyle/>
          <a:p>
            <a:pPr indent="0" marL="0">
              <a:buNone/>
            </a:pPr>
            <a:r>
              <a:rPr lang="en-US" sz="1000" i="1" dirty="0">
                <a:solidFill>
                  <a:srgbClr val="6E7681"/>
                </a:solidFill>
                <a:latin typeface="Calibri" pitchFamily="34" charset="0"/>
                <a:ea typeface="Calibri" pitchFamily="34" charset="-122"/>
                <a:cs typeface="Calibri" pitchFamily="34" charset="-120"/>
              </a:rPr>
              <a:t>Der Crown Jewel beendet die Episode nicht. Anteil über 25 Episoden je Zelle und alle fünf Seeds.</a:t>
            </a:r>
            <a:endParaRPr lang="en-US" sz="10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640080" y="384048"/>
            <a:ext cx="10881360" cy="566928"/>
          </a:xfrm>
          <a:prstGeom prst="rect">
            <a:avLst/>
          </a:prstGeom>
          <a:noFill/>
          <a:ln/>
        </p:spPr>
        <p:txBody>
          <a:bodyPr wrap="square" lIns="0" tIns="0" rIns="0" bIns="0" rtlCol="0" anchor="ctr"/>
          <a:lstStyle/>
          <a:p>
            <a:pPr indent="0" marL="0">
              <a:buNone/>
            </a:pPr>
            <a:r>
              <a:rPr lang="en-US" sz="3400" b="1" dirty="0">
                <a:solidFill>
                  <a:srgbClr val="23282F"/>
                </a:solidFill>
                <a:latin typeface="Cambria" pitchFamily="34" charset="0"/>
                <a:ea typeface="Cambria" pitchFamily="34" charset="-122"/>
                <a:cs typeface="Cambria" pitchFamily="34" charset="-120"/>
              </a:rPr>
              <a:t>Was die Verteidigung kostet</a:t>
            </a:r>
            <a:endParaRPr lang="en-US" sz="3400" dirty="0"/>
          </a:p>
        </p:txBody>
      </p:sp>
      <p:sp>
        <p:nvSpPr>
          <p:cNvPr id="3" name="Text 1"/>
          <p:cNvSpPr/>
          <p:nvPr/>
        </p:nvSpPr>
        <p:spPr>
          <a:xfrm>
            <a:off x="640080" y="969264"/>
            <a:ext cx="10881360" cy="493776"/>
          </a:xfrm>
          <a:prstGeom prst="rect">
            <a:avLst/>
          </a:prstGeom>
          <a:noFill/>
          <a:ln/>
        </p:spPr>
        <p:txBody>
          <a:bodyPr wrap="square" lIns="0" tIns="0" rIns="0" bIns="0" rtlCol="0" anchor="ctr"/>
          <a:lstStyle/>
          <a:p>
            <a:pPr indent="0" marL="0">
              <a:buNone/>
            </a:pPr>
            <a:r>
              <a:rPr lang="en-US" sz="1400" dirty="0">
                <a:solidFill>
                  <a:srgbClr val="6E7681"/>
                </a:solidFill>
                <a:latin typeface="Calibri" pitchFamily="34" charset="0"/>
                <a:ea typeface="Calibri" pitchFamily="34" charset="-122"/>
                <a:cs typeface="Calibri" pitchFamily="34" charset="-120"/>
              </a:rPr>
              <a:t>Dieselben Evaluationsepisoden von der Verteidigerseite: große Zahl = trainiertes Modell, kleine = Zufallsagent</a:t>
            </a:r>
            <a:endParaRPr lang="en-US" sz="1400" dirty="0"/>
          </a:p>
        </p:txBody>
      </p:sp>
      <p:sp>
        <p:nvSpPr>
          <p:cNvPr id="4" name="Text 2"/>
          <p:cNvSpPr/>
          <p:nvPr/>
        </p:nvSpPr>
        <p:spPr>
          <a:xfrm>
            <a:off x="2377440" y="1307592"/>
            <a:ext cx="1865376" cy="512064"/>
          </a:xfrm>
          <a:prstGeom prst="rect">
            <a:avLst/>
          </a:prstGeom>
          <a:noFill/>
          <a:ln/>
        </p:spPr>
        <p:txBody>
          <a:bodyPr wrap="square" lIns="0" tIns="0" rIns="0" bIns="0" rtlCol="0" anchor="b"/>
          <a:lstStyle/>
          <a:p>
            <a:pPr algn="ctr" indent="0" marL="0">
              <a:buNone/>
            </a:pPr>
            <a:r>
              <a:rPr lang="en-US" sz="1100" b="1" dirty="0">
                <a:solidFill>
                  <a:srgbClr val="6E7681"/>
                </a:solidFill>
                <a:latin typeface="Calibri" pitchFamily="34" charset="0"/>
                <a:ea typeface="Calibri" pitchFamily="34" charset="-122"/>
                <a:cs typeface="Calibri" pitchFamily="34" charset="-120"/>
              </a:rPr>
              <a:t>Sperren je Episode</a:t>
            </a:r>
            <a:endParaRPr lang="en-US" sz="1100" dirty="0"/>
          </a:p>
        </p:txBody>
      </p:sp>
      <p:sp>
        <p:nvSpPr>
          <p:cNvPr id="5" name="Text 3"/>
          <p:cNvSpPr/>
          <p:nvPr/>
        </p:nvSpPr>
        <p:spPr>
          <a:xfrm>
            <a:off x="4297680" y="1307592"/>
            <a:ext cx="1865376" cy="512064"/>
          </a:xfrm>
          <a:prstGeom prst="rect">
            <a:avLst/>
          </a:prstGeom>
          <a:noFill/>
          <a:ln/>
        </p:spPr>
        <p:txBody>
          <a:bodyPr wrap="square" lIns="0" tIns="0" rIns="0" bIns="0" rtlCol="0" anchor="b"/>
          <a:lstStyle/>
          <a:p>
            <a:pPr algn="ctr" indent="0" marL="0">
              <a:buNone/>
            </a:pPr>
            <a:r>
              <a:rPr lang="en-US" sz="1100" b="1" dirty="0">
                <a:solidFill>
                  <a:srgbClr val="6E7681"/>
                </a:solidFill>
                <a:latin typeface="Calibri" pitchFamily="34" charset="0"/>
                <a:ea typeface="Calibri" pitchFamily="34" charset="-122"/>
                <a:cs typeface="Calibri" pitchFamily="34" charset="-120"/>
              </a:rPr>
              <a:t>Reimages je Episode</a:t>
            </a:r>
            <a:endParaRPr lang="en-US" sz="1100" dirty="0"/>
          </a:p>
        </p:txBody>
      </p:sp>
      <p:sp>
        <p:nvSpPr>
          <p:cNvPr id="6" name="Text 4"/>
          <p:cNvSpPr/>
          <p:nvPr/>
        </p:nvSpPr>
        <p:spPr>
          <a:xfrm>
            <a:off x="6217920" y="1307592"/>
            <a:ext cx="1865376" cy="512064"/>
          </a:xfrm>
          <a:prstGeom prst="rect">
            <a:avLst/>
          </a:prstGeom>
          <a:noFill/>
          <a:ln/>
        </p:spPr>
        <p:txBody>
          <a:bodyPr wrap="square" lIns="0" tIns="0" rIns="0" bIns="0" rtlCol="0" anchor="b"/>
          <a:lstStyle/>
          <a:p>
            <a:pPr algn="ctr" indent="0" marL="0">
              <a:buNone/>
            </a:pPr>
            <a:r>
              <a:rPr lang="en-US" sz="1100" b="1" dirty="0">
                <a:solidFill>
                  <a:srgbClr val="6E7681"/>
                </a:solidFill>
                <a:latin typeface="Calibri" pitchFamily="34" charset="0"/>
                <a:ea typeface="Calibri" pitchFamily="34" charset="-122"/>
                <a:cs typeface="Calibri" pitchFamily="34" charset="-120"/>
              </a:rPr>
              <a:t>Episoden mit SLA-Bruch</a:t>
            </a:r>
            <a:endParaRPr lang="en-US" sz="1100" dirty="0"/>
          </a:p>
        </p:txBody>
      </p:sp>
      <p:sp>
        <p:nvSpPr>
          <p:cNvPr id="7" name="Text 5"/>
          <p:cNvSpPr/>
          <p:nvPr/>
        </p:nvSpPr>
        <p:spPr>
          <a:xfrm>
            <a:off x="8138160" y="1307592"/>
            <a:ext cx="1865376" cy="512064"/>
          </a:xfrm>
          <a:prstGeom prst="rect">
            <a:avLst/>
          </a:prstGeom>
          <a:noFill/>
          <a:ln/>
        </p:spPr>
        <p:txBody>
          <a:bodyPr wrap="square" lIns="0" tIns="0" rIns="0" bIns="0" rtlCol="0" anchor="b"/>
          <a:lstStyle/>
          <a:p>
            <a:pPr algn="ctr" indent="0" marL="0">
              <a:buNone/>
            </a:pPr>
            <a:r>
              <a:rPr lang="en-US" sz="1100" b="1" dirty="0">
                <a:solidFill>
                  <a:srgbClr val="6E7681"/>
                </a:solidFill>
                <a:latin typeface="Calibri" pitchFamily="34" charset="0"/>
                <a:ea typeface="Calibri" pitchFamily="34" charset="-122"/>
                <a:cs typeface="Calibri" pitchFamily="34" charset="-120"/>
              </a:rPr>
              <a:t>Verteidiger-Reward</a:t>
            </a:r>
            <a:endParaRPr lang="en-US" sz="1100" dirty="0"/>
          </a:p>
        </p:txBody>
      </p:sp>
      <p:sp>
        <p:nvSpPr>
          <p:cNvPr id="8" name="Text 6"/>
          <p:cNvSpPr/>
          <p:nvPr/>
        </p:nvSpPr>
        <p:spPr>
          <a:xfrm>
            <a:off x="640080" y="1874520"/>
            <a:ext cx="1645920" cy="777240"/>
          </a:xfrm>
          <a:prstGeom prst="rect">
            <a:avLst/>
          </a:prstGeom>
          <a:noFill/>
          <a:ln/>
        </p:spPr>
        <p:txBody>
          <a:bodyPr wrap="square" lIns="0" tIns="0" rIns="0" bIns="0" rtlCol="0" anchor="ctr"/>
          <a:lstStyle/>
          <a:p>
            <a:pPr algn="r" indent="0" marL="0">
              <a:buNone/>
            </a:pPr>
            <a:r>
              <a:rPr lang="en-US" sz="1300" b="1" dirty="0">
                <a:solidFill>
                  <a:srgbClr val="23282F"/>
                </a:solidFill>
                <a:latin typeface="Calibri" pitchFamily="34" charset="0"/>
                <a:ea typeface="Calibri" pitchFamily="34" charset="-122"/>
                <a:cs typeface="Calibri" pitchFamily="34" charset="-120"/>
              </a:rPr>
              <a:t>Flat</a:t>
            </a:r>
            <a:endParaRPr lang="en-US" sz="1300" dirty="0"/>
          </a:p>
        </p:txBody>
      </p:sp>
      <p:sp>
        <p:nvSpPr>
          <p:cNvPr id="9" name="Shape 7"/>
          <p:cNvSpPr/>
          <p:nvPr/>
        </p:nvSpPr>
        <p:spPr>
          <a:xfrm>
            <a:off x="2377440" y="1874520"/>
            <a:ext cx="1865376" cy="722376"/>
          </a:xfrm>
          <a:prstGeom prst="rect">
            <a:avLst/>
          </a:prstGeom>
          <a:solidFill>
            <a:srgbClr val="E8F1F6"/>
          </a:solidFill>
          <a:ln w="19050">
            <a:solidFill>
              <a:srgbClr val="FFFFFF"/>
            </a:solidFill>
            <a:prstDash val="solid"/>
          </a:ln>
        </p:spPr>
      </p:sp>
      <p:sp>
        <p:nvSpPr>
          <p:cNvPr id="10" name="Text 8"/>
          <p:cNvSpPr/>
          <p:nvPr/>
        </p:nvSpPr>
        <p:spPr>
          <a:xfrm>
            <a:off x="2377440" y="1929384"/>
            <a:ext cx="1865376" cy="365760"/>
          </a:xfrm>
          <a:prstGeom prst="rect">
            <a:avLst/>
          </a:prstGeom>
          <a:noFill/>
          <a:ln/>
        </p:spPr>
        <p:txBody>
          <a:bodyPr wrap="square" lIns="0" tIns="0" rIns="0" bIns="0" rtlCol="0" anchor="ctr"/>
          <a:lstStyle/>
          <a:p>
            <a:pPr algn="ctr" indent="0" marL="0">
              <a:buNone/>
            </a:pPr>
            <a:r>
              <a:rPr lang="en-US" sz="1700" b="1" dirty="0">
                <a:solidFill>
                  <a:srgbClr val="23282F"/>
                </a:solidFill>
                <a:latin typeface="Cambria" pitchFamily="34" charset="0"/>
                <a:ea typeface="Cambria" pitchFamily="34" charset="-122"/>
                <a:cs typeface="Cambria" pitchFamily="34" charset="-120"/>
              </a:rPr>
              <a:t>10</a:t>
            </a:r>
            <a:endParaRPr lang="en-US" sz="1700" dirty="0"/>
          </a:p>
        </p:txBody>
      </p:sp>
      <p:sp>
        <p:nvSpPr>
          <p:cNvPr id="11" name="Text 9"/>
          <p:cNvSpPr/>
          <p:nvPr/>
        </p:nvSpPr>
        <p:spPr>
          <a:xfrm>
            <a:off x="2377440" y="2313432"/>
            <a:ext cx="1865376" cy="256032"/>
          </a:xfrm>
          <a:prstGeom prst="rect">
            <a:avLst/>
          </a:prstGeom>
          <a:noFill/>
          <a:ln/>
        </p:spPr>
        <p:txBody>
          <a:bodyPr wrap="square" lIns="0" tIns="0" rIns="0" bIns="0" rtlCol="0" anchor="ctr"/>
          <a:lstStyle/>
          <a:p>
            <a:pPr algn="ctr" indent="0" marL="0">
              <a:buNone/>
            </a:pPr>
            <a:r>
              <a:rPr lang="en-US" sz="1000" dirty="0">
                <a:solidFill>
                  <a:srgbClr val="6E7681"/>
                </a:solidFill>
                <a:latin typeface="Calibri" pitchFamily="34" charset="0"/>
                <a:ea typeface="Calibri" pitchFamily="34" charset="-122"/>
                <a:cs typeface="Calibri" pitchFamily="34" charset="-120"/>
              </a:rPr>
              <a:t>Zufall 650</a:t>
            </a:r>
            <a:endParaRPr lang="en-US" sz="1000" dirty="0"/>
          </a:p>
        </p:txBody>
      </p:sp>
      <p:sp>
        <p:nvSpPr>
          <p:cNvPr id="12" name="Shape 10"/>
          <p:cNvSpPr/>
          <p:nvPr/>
        </p:nvSpPr>
        <p:spPr>
          <a:xfrm>
            <a:off x="4297680" y="1874520"/>
            <a:ext cx="1865376" cy="722376"/>
          </a:xfrm>
          <a:prstGeom prst="rect">
            <a:avLst/>
          </a:prstGeom>
          <a:solidFill>
            <a:srgbClr val="F4F6F8"/>
          </a:solidFill>
          <a:ln w="19050">
            <a:solidFill>
              <a:srgbClr val="FFFFFF"/>
            </a:solidFill>
            <a:prstDash val="solid"/>
          </a:ln>
        </p:spPr>
      </p:sp>
      <p:sp>
        <p:nvSpPr>
          <p:cNvPr id="13" name="Text 11"/>
          <p:cNvSpPr/>
          <p:nvPr/>
        </p:nvSpPr>
        <p:spPr>
          <a:xfrm>
            <a:off x="4297680" y="1929384"/>
            <a:ext cx="1865376" cy="365760"/>
          </a:xfrm>
          <a:prstGeom prst="rect">
            <a:avLst/>
          </a:prstGeom>
          <a:noFill/>
          <a:ln/>
        </p:spPr>
        <p:txBody>
          <a:bodyPr wrap="square" lIns="0" tIns="0" rIns="0" bIns="0" rtlCol="0" anchor="ctr"/>
          <a:lstStyle/>
          <a:p>
            <a:pPr algn="ctr" indent="0" marL="0">
              <a:buNone/>
            </a:pPr>
            <a:r>
              <a:rPr lang="en-US" sz="1700" b="1" dirty="0">
                <a:solidFill>
                  <a:srgbClr val="23282F"/>
                </a:solidFill>
                <a:latin typeface="Cambria" pitchFamily="34" charset="0"/>
                <a:ea typeface="Cambria" pitchFamily="34" charset="-122"/>
                <a:cs typeface="Cambria" pitchFamily="34" charset="-120"/>
              </a:rPr>
              <a:t>29.0</a:t>
            </a:r>
            <a:endParaRPr lang="en-US" sz="1700" dirty="0"/>
          </a:p>
        </p:txBody>
      </p:sp>
      <p:sp>
        <p:nvSpPr>
          <p:cNvPr id="14" name="Text 12"/>
          <p:cNvSpPr/>
          <p:nvPr/>
        </p:nvSpPr>
        <p:spPr>
          <a:xfrm>
            <a:off x="4297680" y="2313432"/>
            <a:ext cx="1865376" cy="256032"/>
          </a:xfrm>
          <a:prstGeom prst="rect">
            <a:avLst/>
          </a:prstGeom>
          <a:noFill/>
          <a:ln/>
        </p:spPr>
        <p:txBody>
          <a:bodyPr wrap="square" lIns="0" tIns="0" rIns="0" bIns="0" rtlCol="0" anchor="ctr"/>
          <a:lstStyle/>
          <a:p>
            <a:pPr algn="ctr" indent="0" marL="0">
              <a:buNone/>
            </a:pPr>
            <a:r>
              <a:rPr lang="en-US" sz="1000" dirty="0">
                <a:solidFill>
                  <a:srgbClr val="6E7681"/>
                </a:solidFill>
                <a:latin typeface="Calibri" pitchFamily="34" charset="0"/>
                <a:ea typeface="Calibri" pitchFamily="34" charset="-122"/>
                <a:cs typeface="Calibri" pitchFamily="34" charset="-120"/>
              </a:rPr>
              <a:t>Zufall 21.0</a:t>
            </a:r>
            <a:endParaRPr lang="en-US" sz="1000" dirty="0"/>
          </a:p>
        </p:txBody>
      </p:sp>
      <p:sp>
        <p:nvSpPr>
          <p:cNvPr id="15" name="Shape 13"/>
          <p:cNvSpPr/>
          <p:nvPr/>
        </p:nvSpPr>
        <p:spPr>
          <a:xfrm>
            <a:off x="6217920" y="1874520"/>
            <a:ext cx="1865376" cy="722376"/>
          </a:xfrm>
          <a:prstGeom prst="rect">
            <a:avLst/>
          </a:prstGeom>
          <a:solidFill>
            <a:srgbClr val="E8F1F6"/>
          </a:solidFill>
          <a:ln w="19050">
            <a:solidFill>
              <a:srgbClr val="FFFFFF"/>
            </a:solidFill>
            <a:prstDash val="solid"/>
          </a:ln>
        </p:spPr>
      </p:sp>
      <p:sp>
        <p:nvSpPr>
          <p:cNvPr id="16" name="Text 14"/>
          <p:cNvSpPr/>
          <p:nvPr/>
        </p:nvSpPr>
        <p:spPr>
          <a:xfrm>
            <a:off x="6217920" y="1929384"/>
            <a:ext cx="1865376" cy="365760"/>
          </a:xfrm>
          <a:prstGeom prst="rect">
            <a:avLst/>
          </a:prstGeom>
          <a:noFill/>
          <a:ln/>
        </p:spPr>
        <p:txBody>
          <a:bodyPr wrap="square" lIns="0" tIns="0" rIns="0" bIns="0" rtlCol="0" anchor="ctr"/>
          <a:lstStyle/>
          <a:p>
            <a:pPr algn="ctr" indent="0" marL="0">
              <a:buNone/>
            </a:pPr>
            <a:r>
              <a:rPr lang="en-US" sz="1700" b="1" dirty="0">
                <a:solidFill>
                  <a:srgbClr val="23282F"/>
                </a:solidFill>
                <a:latin typeface="Cambria" pitchFamily="34" charset="0"/>
                <a:ea typeface="Cambria" pitchFamily="34" charset="-122"/>
                <a:cs typeface="Cambria" pitchFamily="34" charset="-120"/>
              </a:rPr>
              <a:t>14.9 %</a:t>
            </a:r>
            <a:endParaRPr lang="en-US" sz="1700" dirty="0"/>
          </a:p>
        </p:txBody>
      </p:sp>
      <p:sp>
        <p:nvSpPr>
          <p:cNvPr id="17" name="Text 15"/>
          <p:cNvSpPr/>
          <p:nvPr/>
        </p:nvSpPr>
        <p:spPr>
          <a:xfrm>
            <a:off x="6217920" y="2313432"/>
            <a:ext cx="1865376" cy="256032"/>
          </a:xfrm>
          <a:prstGeom prst="rect">
            <a:avLst/>
          </a:prstGeom>
          <a:noFill/>
          <a:ln/>
        </p:spPr>
        <p:txBody>
          <a:bodyPr wrap="square" lIns="0" tIns="0" rIns="0" bIns="0" rtlCol="0" anchor="ctr"/>
          <a:lstStyle/>
          <a:p>
            <a:pPr algn="ctr" indent="0" marL="0">
              <a:buNone/>
            </a:pPr>
            <a:r>
              <a:rPr lang="en-US" sz="1000" dirty="0">
                <a:solidFill>
                  <a:srgbClr val="6E7681"/>
                </a:solidFill>
                <a:latin typeface="Calibri" pitchFamily="34" charset="0"/>
                <a:ea typeface="Calibri" pitchFamily="34" charset="-122"/>
                <a:cs typeface="Calibri" pitchFamily="34" charset="-120"/>
              </a:rPr>
              <a:t>Zufall 100.0 %</a:t>
            </a:r>
            <a:endParaRPr lang="en-US" sz="1000" dirty="0"/>
          </a:p>
        </p:txBody>
      </p:sp>
      <p:sp>
        <p:nvSpPr>
          <p:cNvPr id="18" name="Shape 16"/>
          <p:cNvSpPr/>
          <p:nvPr/>
        </p:nvSpPr>
        <p:spPr>
          <a:xfrm>
            <a:off x="8138160" y="1874520"/>
            <a:ext cx="1865376" cy="722376"/>
          </a:xfrm>
          <a:prstGeom prst="rect">
            <a:avLst/>
          </a:prstGeom>
          <a:solidFill>
            <a:srgbClr val="E8F1F6"/>
          </a:solidFill>
          <a:ln w="19050">
            <a:solidFill>
              <a:srgbClr val="FFFFFF"/>
            </a:solidFill>
            <a:prstDash val="solid"/>
          </a:ln>
        </p:spPr>
      </p:sp>
      <p:sp>
        <p:nvSpPr>
          <p:cNvPr id="19" name="Text 17"/>
          <p:cNvSpPr/>
          <p:nvPr/>
        </p:nvSpPr>
        <p:spPr>
          <a:xfrm>
            <a:off x="8138160" y="1929384"/>
            <a:ext cx="1865376" cy="365760"/>
          </a:xfrm>
          <a:prstGeom prst="rect">
            <a:avLst/>
          </a:prstGeom>
          <a:noFill/>
          <a:ln/>
        </p:spPr>
        <p:txBody>
          <a:bodyPr wrap="square" lIns="0" tIns="0" rIns="0" bIns="0" rtlCol="0" anchor="ctr"/>
          <a:lstStyle/>
          <a:p>
            <a:pPr algn="ctr" indent="0" marL="0">
              <a:buNone/>
            </a:pPr>
            <a:r>
              <a:rPr lang="en-US" sz="1700" b="1" dirty="0">
                <a:solidFill>
                  <a:srgbClr val="23282F"/>
                </a:solidFill>
                <a:latin typeface="Cambria" pitchFamily="34" charset="0"/>
                <a:ea typeface="Cambria" pitchFamily="34" charset="-122"/>
                <a:cs typeface="Cambria" pitchFamily="34" charset="-120"/>
              </a:rPr>
              <a:t>-191</a:t>
            </a:r>
            <a:endParaRPr lang="en-US" sz="1700" dirty="0"/>
          </a:p>
        </p:txBody>
      </p:sp>
      <p:sp>
        <p:nvSpPr>
          <p:cNvPr id="20" name="Text 18"/>
          <p:cNvSpPr/>
          <p:nvPr/>
        </p:nvSpPr>
        <p:spPr>
          <a:xfrm>
            <a:off x="8138160" y="2313432"/>
            <a:ext cx="1865376" cy="256032"/>
          </a:xfrm>
          <a:prstGeom prst="rect">
            <a:avLst/>
          </a:prstGeom>
          <a:noFill/>
          <a:ln/>
        </p:spPr>
        <p:txBody>
          <a:bodyPr wrap="square" lIns="0" tIns="0" rIns="0" bIns="0" rtlCol="0" anchor="ctr"/>
          <a:lstStyle/>
          <a:p>
            <a:pPr algn="ctr" indent="0" marL="0">
              <a:buNone/>
            </a:pPr>
            <a:r>
              <a:rPr lang="en-US" sz="1000" dirty="0">
                <a:solidFill>
                  <a:srgbClr val="6E7681"/>
                </a:solidFill>
                <a:latin typeface="Calibri" pitchFamily="34" charset="0"/>
                <a:ea typeface="Calibri" pitchFamily="34" charset="-122"/>
                <a:cs typeface="Calibri" pitchFamily="34" charset="-120"/>
              </a:rPr>
              <a:t>Zufall -8016</a:t>
            </a:r>
            <a:endParaRPr lang="en-US" sz="1000" dirty="0"/>
          </a:p>
        </p:txBody>
      </p:sp>
      <p:sp>
        <p:nvSpPr>
          <p:cNvPr id="21" name="Text 19"/>
          <p:cNvSpPr/>
          <p:nvPr/>
        </p:nvSpPr>
        <p:spPr>
          <a:xfrm>
            <a:off x="640080" y="2651760"/>
            <a:ext cx="1645920" cy="777240"/>
          </a:xfrm>
          <a:prstGeom prst="rect">
            <a:avLst/>
          </a:prstGeom>
          <a:noFill/>
          <a:ln/>
        </p:spPr>
        <p:txBody>
          <a:bodyPr wrap="square" lIns="0" tIns="0" rIns="0" bIns="0" rtlCol="0" anchor="ctr"/>
          <a:lstStyle/>
          <a:p>
            <a:pPr algn="r" indent="0" marL="0">
              <a:buNone/>
            </a:pPr>
            <a:r>
              <a:rPr lang="en-US" sz="1300" b="1" dirty="0">
                <a:solidFill>
                  <a:srgbClr val="23282F"/>
                </a:solidFill>
                <a:latin typeface="Calibri" pitchFamily="34" charset="0"/>
                <a:ea typeface="Calibri" pitchFamily="34" charset="-122"/>
                <a:cs typeface="Calibri" pitchFamily="34" charset="-120"/>
              </a:rPr>
              <a:t>Hub &amp; Spoke</a:t>
            </a:r>
            <a:endParaRPr lang="en-US" sz="1300" dirty="0"/>
          </a:p>
        </p:txBody>
      </p:sp>
      <p:sp>
        <p:nvSpPr>
          <p:cNvPr id="22" name="Shape 20"/>
          <p:cNvSpPr/>
          <p:nvPr/>
        </p:nvSpPr>
        <p:spPr>
          <a:xfrm>
            <a:off x="2377440" y="2651760"/>
            <a:ext cx="1865376" cy="722376"/>
          </a:xfrm>
          <a:prstGeom prst="rect">
            <a:avLst/>
          </a:prstGeom>
          <a:solidFill>
            <a:srgbClr val="E8F1F6"/>
          </a:solidFill>
          <a:ln w="19050">
            <a:solidFill>
              <a:srgbClr val="FFFFFF"/>
            </a:solidFill>
            <a:prstDash val="solid"/>
          </a:ln>
        </p:spPr>
      </p:sp>
      <p:sp>
        <p:nvSpPr>
          <p:cNvPr id="23" name="Text 21"/>
          <p:cNvSpPr/>
          <p:nvPr/>
        </p:nvSpPr>
        <p:spPr>
          <a:xfrm>
            <a:off x="2377440" y="2706624"/>
            <a:ext cx="1865376" cy="365760"/>
          </a:xfrm>
          <a:prstGeom prst="rect">
            <a:avLst/>
          </a:prstGeom>
          <a:noFill/>
          <a:ln/>
        </p:spPr>
        <p:txBody>
          <a:bodyPr wrap="square" lIns="0" tIns="0" rIns="0" bIns="0" rtlCol="0" anchor="ctr"/>
          <a:lstStyle/>
          <a:p>
            <a:pPr algn="ctr" indent="0" marL="0">
              <a:buNone/>
            </a:pPr>
            <a:r>
              <a:rPr lang="en-US" sz="1700" b="1" dirty="0">
                <a:solidFill>
                  <a:srgbClr val="23282F"/>
                </a:solidFill>
                <a:latin typeface="Cambria" pitchFamily="34" charset="0"/>
                <a:ea typeface="Cambria" pitchFamily="34" charset="-122"/>
                <a:cs typeface="Cambria" pitchFamily="34" charset="-120"/>
              </a:rPr>
              <a:t>1</a:t>
            </a:r>
            <a:endParaRPr lang="en-US" sz="1700" dirty="0"/>
          </a:p>
        </p:txBody>
      </p:sp>
      <p:sp>
        <p:nvSpPr>
          <p:cNvPr id="24" name="Text 22"/>
          <p:cNvSpPr/>
          <p:nvPr/>
        </p:nvSpPr>
        <p:spPr>
          <a:xfrm>
            <a:off x="2377440" y="3090672"/>
            <a:ext cx="1865376" cy="256032"/>
          </a:xfrm>
          <a:prstGeom prst="rect">
            <a:avLst/>
          </a:prstGeom>
          <a:noFill/>
          <a:ln/>
        </p:spPr>
        <p:txBody>
          <a:bodyPr wrap="square" lIns="0" tIns="0" rIns="0" bIns="0" rtlCol="0" anchor="ctr"/>
          <a:lstStyle/>
          <a:p>
            <a:pPr algn="ctr" indent="0" marL="0">
              <a:buNone/>
            </a:pPr>
            <a:r>
              <a:rPr lang="en-US" sz="1000" dirty="0">
                <a:solidFill>
                  <a:srgbClr val="6E7681"/>
                </a:solidFill>
                <a:latin typeface="Calibri" pitchFamily="34" charset="0"/>
                <a:ea typeface="Calibri" pitchFamily="34" charset="-122"/>
                <a:cs typeface="Calibri" pitchFamily="34" charset="-120"/>
              </a:rPr>
              <a:t>Zufall 650</a:t>
            </a:r>
            <a:endParaRPr lang="en-US" sz="1000" dirty="0"/>
          </a:p>
        </p:txBody>
      </p:sp>
      <p:sp>
        <p:nvSpPr>
          <p:cNvPr id="25" name="Shape 23"/>
          <p:cNvSpPr/>
          <p:nvPr/>
        </p:nvSpPr>
        <p:spPr>
          <a:xfrm>
            <a:off x="4297680" y="2651760"/>
            <a:ext cx="1865376" cy="722376"/>
          </a:xfrm>
          <a:prstGeom prst="rect">
            <a:avLst/>
          </a:prstGeom>
          <a:solidFill>
            <a:srgbClr val="E8F1F6"/>
          </a:solidFill>
          <a:ln w="19050">
            <a:solidFill>
              <a:srgbClr val="FFFFFF"/>
            </a:solidFill>
            <a:prstDash val="solid"/>
          </a:ln>
        </p:spPr>
      </p:sp>
      <p:sp>
        <p:nvSpPr>
          <p:cNvPr id="26" name="Text 24"/>
          <p:cNvSpPr/>
          <p:nvPr/>
        </p:nvSpPr>
        <p:spPr>
          <a:xfrm>
            <a:off x="4297680" y="2706624"/>
            <a:ext cx="1865376" cy="365760"/>
          </a:xfrm>
          <a:prstGeom prst="rect">
            <a:avLst/>
          </a:prstGeom>
          <a:noFill/>
          <a:ln/>
        </p:spPr>
        <p:txBody>
          <a:bodyPr wrap="square" lIns="0" tIns="0" rIns="0" bIns="0" rtlCol="0" anchor="ctr"/>
          <a:lstStyle/>
          <a:p>
            <a:pPr algn="ctr" indent="0" marL="0">
              <a:buNone/>
            </a:pPr>
            <a:r>
              <a:rPr lang="en-US" sz="1700" b="1" dirty="0">
                <a:solidFill>
                  <a:srgbClr val="23282F"/>
                </a:solidFill>
                <a:latin typeface="Cambria" pitchFamily="34" charset="0"/>
                <a:ea typeface="Cambria" pitchFamily="34" charset="-122"/>
                <a:cs typeface="Cambria" pitchFamily="34" charset="-120"/>
              </a:rPr>
              <a:t>103.0</a:t>
            </a:r>
            <a:endParaRPr lang="en-US" sz="1700" dirty="0"/>
          </a:p>
        </p:txBody>
      </p:sp>
      <p:sp>
        <p:nvSpPr>
          <p:cNvPr id="27" name="Text 25"/>
          <p:cNvSpPr/>
          <p:nvPr/>
        </p:nvSpPr>
        <p:spPr>
          <a:xfrm>
            <a:off x="4297680" y="3090672"/>
            <a:ext cx="1865376" cy="256032"/>
          </a:xfrm>
          <a:prstGeom prst="rect">
            <a:avLst/>
          </a:prstGeom>
          <a:noFill/>
          <a:ln/>
        </p:spPr>
        <p:txBody>
          <a:bodyPr wrap="square" lIns="0" tIns="0" rIns="0" bIns="0" rtlCol="0" anchor="ctr"/>
          <a:lstStyle/>
          <a:p>
            <a:pPr algn="ctr" indent="0" marL="0">
              <a:buNone/>
            </a:pPr>
            <a:r>
              <a:rPr lang="en-US" sz="1000" dirty="0">
                <a:solidFill>
                  <a:srgbClr val="6E7681"/>
                </a:solidFill>
                <a:latin typeface="Calibri" pitchFamily="34" charset="0"/>
                <a:ea typeface="Calibri" pitchFamily="34" charset="-122"/>
                <a:cs typeface="Calibri" pitchFamily="34" charset="-120"/>
              </a:rPr>
              <a:t>Zufall 34.0</a:t>
            </a:r>
            <a:endParaRPr lang="en-US" sz="1000" dirty="0"/>
          </a:p>
        </p:txBody>
      </p:sp>
      <p:sp>
        <p:nvSpPr>
          <p:cNvPr id="28" name="Shape 26"/>
          <p:cNvSpPr/>
          <p:nvPr/>
        </p:nvSpPr>
        <p:spPr>
          <a:xfrm>
            <a:off x="6217920" y="2651760"/>
            <a:ext cx="1865376" cy="722376"/>
          </a:xfrm>
          <a:prstGeom prst="rect">
            <a:avLst/>
          </a:prstGeom>
          <a:solidFill>
            <a:srgbClr val="E8F1F6"/>
          </a:solidFill>
          <a:ln w="19050">
            <a:solidFill>
              <a:srgbClr val="FFFFFF"/>
            </a:solidFill>
            <a:prstDash val="solid"/>
          </a:ln>
        </p:spPr>
      </p:sp>
      <p:sp>
        <p:nvSpPr>
          <p:cNvPr id="29" name="Text 27"/>
          <p:cNvSpPr/>
          <p:nvPr/>
        </p:nvSpPr>
        <p:spPr>
          <a:xfrm>
            <a:off x="6217920" y="2706624"/>
            <a:ext cx="1865376" cy="365760"/>
          </a:xfrm>
          <a:prstGeom prst="rect">
            <a:avLst/>
          </a:prstGeom>
          <a:noFill/>
          <a:ln/>
        </p:spPr>
        <p:txBody>
          <a:bodyPr wrap="square" lIns="0" tIns="0" rIns="0" bIns="0" rtlCol="0" anchor="ctr"/>
          <a:lstStyle/>
          <a:p>
            <a:pPr algn="ctr" indent="0" marL="0">
              <a:buNone/>
            </a:pPr>
            <a:r>
              <a:rPr lang="en-US" sz="1700" b="1" dirty="0">
                <a:solidFill>
                  <a:srgbClr val="23282F"/>
                </a:solidFill>
                <a:latin typeface="Cambria" pitchFamily="34" charset="0"/>
                <a:ea typeface="Cambria" pitchFamily="34" charset="-122"/>
                <a:cs typeface="Cambria" pitchFamily="34" charset="-120"/>
              </a:rPr>
              <a:t>0.8 %</a:t>
            </a:r>
            <a:endParaRPr lang="en-US" sz="1700" dirty="0"/>
          </a:p>
        </p:txBody>
      </p:sp>
      <p:sp>
        <p:nvSpPr>
          <p:cNvPr id="30" name="Text 28"/>
          <p:cNvSpPr/>
          <p:nvPr/>
        </p:nvSpPr>
        <p:spPr>
          <a:xfrm>
            <a:off x="6217920" y="3090672"/>
            <a:ext cx="1865376" cy="256032"/>
          </a:xfrm>
          <a:prstGeom prst="rect">
            <a:avLst/>
          </a:prstGeom>
          <a:noFill/>
          <a:ln/>
        </p:spPr>
        <p:txBody>
          <a:bodyPr wrap="square" lIns="0" tIns="0" rIns="0" bIns="0" rtlCol="0" anchor="ctr"/>
          <a:lstStyle/>
          <a:p>
            <a:pPr algn="ctr" indent="0" marL="0">
              <a:buNone/>
            </a:pPr>
            <a:r>
              <a:rPr lang="en-US" sz="1000" dirty="0">
                <a:solidFill>
                  <a:srgbClr val="6E7681"/>
                </a:solidFill>
                <a:latin typeface="Calibri" pitchFamily="34" charset="0"/>
                <a:ea typeface="Calibri" pitchFamily="34" charset="-122"/>
                <a:cs typeface="Calibri" pitchFamily="34" charset="-120"/>
              </a:rPr>
              <a:t>Zufall 100.0 %</a:t>
            </a:r>
            <a:endParaRPr lang="en-US" sz="1000" dirty="0"/>
          </a:p>
        </p:txBody>
      </p:sp>
      <p:sp>
        <p:nvSpPr>
          <p:cNvPr id="31" name="Shape 29"/>
          <p:cNvSpPr/>
          <p:nvPr/>
        </p:nvSpPr>
        <p:spPr>
          <a:xfrm>
            <a:off x="8138160" y="2651760"/>
            <a:ext cx="1865376" cy="722376"/>
          </a:xfrm>
          <a:prstGeom prst="rect">
            <a:avLst/>
          </a:prstGeom>
          <a:solidFill>
            <a:srgbClr val="E8F1F6"/>
          </a:solidFill>
          <a:ln w="19050">
            <a:solidFill>
              <a:srgbClr val="FFFFFF"/>
            </a:solidFill>
            <a:prstDash val="solid"/>
          </a:ln>
        </p:spPr>
      </p:sp>
      <p:sp>
        <p:nvSpPr>
          <p:cNvPr id="32" name="Text 30"/>
          <p:cNvSpPr/>
          <p:nvPr/>
        </p:nvSpPr>
        <p:spPr>
          <a:xfrm>
            <a:off x="8138160" y="2706624"/>
            <a:ext cx="1865376" cy="365760"/>
          </a:xfrm>
          <a:prstGeom prst="rect">
            <a:avLst/>
          </a:prstGeom>
          <a:noFill/>
          <a:ln/>
        </p:spPr>
        <p:txBody>
          <a:bodyPr wrap="square" lIns="0" tIns="0" rIns="0" bIns="0" rtlCol="0" anchor="ctr"/>
          <a:lstStyle/>
          <a:p>
            <a:pPr algn="ctr" indent="0" marL="0">
              <a:buNone/>
            </a:pPr>
            <a:r>
              <a:rPr lang="en-US" sz="1700" b="1" dirty="0">
                <a:solidFill>
                  <a:srgbClr val="23282F"/>
                </a:solidFill>
                <a:latin typeface="Cambria" pitchFamily="34" charset="0"/>
                <a:ea typeface="Cambria" pitchFamily="34" charset="-122"/>
                <a:cs typeface="Cambria" pitchFamily="34" charset="-120"/>
              </a:rPr>
              <a:t>-91</a:t>
            </a:r>
            <a:endParaRPr lang="en-US" sz="1700" dirty="0"/>
          </a:p>
        </p:txBody>
      </p:sp>
      <p:sp>
        <p:nvSpPr>
          <p:cNvPr id="33" name="Text 31"/>
          <p:cNvSpPr/>
          <p:nvPr/>
        </p:nvSpPr>
        <p:spPr>
          <a:xfrm>
            <a:off x="8138160" y="3090672"/>
            <a:ext cx="1865376" cy="256032"/>
          </a:xfrm>
          <a:prstGeom prst="rect">
            <a:avLst/>
          </a:prstGeom>
          <a:noFill/>
          <a:ln/>
        </p:spPr>
        <p:txBody>
          <a:bodyPr wrap="square" lIns="0" tIns="0" rIns="0" bIns="0" rtlCol="0" anchor="ctr"/>
          <a:lstStyle/>
          <a:p>
            <a:pPr algn="ctr" indent="0" marL="0">
              <a:buNone/>
            </a:pPr>
            <a:r>
              <a:rPr lang="en-US" sz="1000" dirty="0">
                <a:solidFill>
                  <a:srgbClr val="6E7681"/>
                </a:solidFill>
                <a:latin typeface="Calibri" pitchFamily="34" charset="0"/>
                <a:ea typeface="Calibri" pitchFamily="34" charset="-122"/>
                <a:cs typeface="Calibri" pitchFamily="34" charset="-120"/>
              </a:rPr>
              <a:t>Zufall -8356</a:t>
            </a:r>
            <a:endParaRPr lang="en-US" sz="1000" dirty="0"/>
          </a:p>
        </p:txBody>
      </p:sp>
      <p:sp>
        <p:nvSpPr>
          <p:cNvPr id="34" name="Text 32"/>
          <p:cNvSpPr/>
          <p:nvPr/>
        </p:nvSpPr>
        <p:spPr>
          <a:xfrm>
            <a:off x="640080" y="3429000"/>
            <a:ext cx="1645920" cy="777240"/>
          </a:xfrm>
          <a:prstGeom prst="rect">
            <a:avLst/>
          </a:prstGeom>
          <a:noFill/>
          <a:ln/>
        </p:spPr>
        <p:txBody>
          <a:bodyPr wrap="square" lIns="0" tIns="0" rIns="0" bIns="0" rtlCol="0" anchor="ctr"/>
          <a:lstStyle/>
          <a:p>
            <a:pPr algn="r" indent="0" marL="0">
              <a:buNone/>
            </a:pPr>
            <a:r>
              <a:rPr lang="en-US" sz="1300" b="1" dirty="0">
                <a:solidFill>
                  <a:srgbClr val="23282F"/>
                </a:solidFill>
                <a:latin typeface="Calibri" pitchFamily="34" charset="0"/>
                <a:ea typeface="Calibri" pitchFamily="34" charset="-122"/>
                <a:cs typeface="Calibri" pitchFamily="34" charset="-120"/>
              </a:rPr>
              <a:t>DMZ</a:t>
            </a:r>
            <a:endParaRPr lang="en-US" sz="1300" dirty="0"/>
          </a:p>
        </p:txBody>
      </p:sp>
      <p:sp>
        <p:nvSpPr>
          <p:cNvPr id="35" name="Shape 33"/>
          <p:cNvSpPr/>
          <p:nvPr/>
        </p:nvSpPr>
        <p:spPr>
          <a:xfrm>
            <a:off x="2377440" y="3429000"/>
            <a:ext cx="1865376" cy="722376"/>
          </a:xfrm>
          <a:prstGeom prst="rect">
            <a:avLst/>
          </a:prstGeom>
          <a:solidFill>
            <a:srgbClr val="E8F1F6"/>
          </a:solidFill>
          <a:ln w="19050">
            <a:solidFill>
              <a:srgbClr val="FFFFFF"/>
            </a:solidFill>
            <a:prstDash val="solid"/>
          </a:ln>
        </p:spPr>
      </p:sp>
      <p:sp>
        <p:nvSpPr>
          <p:cNvPr id="36" name="Text 34"/>
          <p:cNvSpPr/>
          <p:nvPr/>
        </p:nvSpPr>
        <p:spPr>
          <a:xfrm>
            <a:off x="2377440" y="3483864"/>
            <a:ext cx="1865376" cy="365760"/>
          </a:xfrm>
          <a:prstGeom prst="rect">
            <a:avLst/>
          </a:prstGeom>
          <a:noFill/>
          <a:ln/>
        </p:spPr>
        <p:txBody>
          <a:bodyPr wrap="square" lIns="0" tIns="0" rIns="0" bIns="0" rtlCol="0" anchor="ctr"/>
          <a:lstStyle/>
          <a:p>
            <a:pPr algn="ctr" indent="0" marL="0">
              <a:buNone/>
            </a:pPr>
            <a:r>
              <a:rPr lang="en-US" sz="1700" b="1" dirty="0">
                <a:solidFill>
                  <a:srgbClr val="23282F"/>
                </a:solidFill>
                <a:latin typeface="Cambria" pitchFamily="34" charset="0"/>
                <a:ea typeface="Cambria" pitchFamily="34" charset="-122"/>
                <a:cs typeface="Cambria" pitchFamily="34" charset="-120"/>
              </a:rPr>
              <a:t>19</a:t>
            </a:r>
            <a:endParaRPr lang="en-US" sz="1700" dirty="0"/>
          </a:p>
        </p:txBody>
      </p:sp>
      <p:sp>
        <p:nvSpPr>
          <p:cNvPr id="37" name="Text 35"/>
          <p:cNvSpPr/>
          <p:nvPr/>
        </p:nvSpPr>
        <p:spPr>
          <a:xfrm>
            <a:off x="2377440" y="3867912"/>
            <a:ext cx="1865376" cy="256032"/>
          </a:xfrm>
          <a:prstGeom prst="rect">
            <a:avLst/>
          </a:prstGeom>
          <a:noFill/>
          <a:ln/>
        </p:spPr>
        <p:txBody>
          <a:bodyPr wrap="square" lIns="0" tIns="0" rIns="0" bIns="0" rtlCol="0" anchor="ctr"/>
          <a:lstStyle/>
          <a:p>
            <a:pPr algn="ctr" indent="0" marL="0">
              <a:buNone/>
            </a:pPr>
            <a:r>
              <a:rPr lang="en-US" sz="1000" dirty="0">
                <a:solidFill>
                  <a:srgbClr val="6E7681"/>
                </a:solidFill>
                <a:latin typeface="Calibri" pitchFamily="34" charset="0"/>
                <a:ea typeface="Calibri" pitchFamily="34" charset="-122"/>
                <a:cs typeface="Calibri" pitchFamily="34" charset="-120"/>
              </a:rPr>
              <a:t>Zufall 654</a:t>
            </a:r>
            <a:endParaRPr lang="en-US" sz="1000" dirty="0"/>
          </a:p>
        </p:txBody>
      </p:sp>
      <p:sp>
        <p:nvSpPr>
          <p:cNvPr id="38" name="Shape 36"/>
          <p:cNvSpPr/>
          <p:nvPr/>
        </p:nvSpPr>
        <p:spPr>
          <a:xfrm>
            <a:off x="4297680" y="3429000"/>
            <a:ext cx="1865376" cy="722376"/>
          </a:xfrm>
          <a:prstGeom prst="rect">
            <a:avLst/>
          </a:prstGeom>
          <a:solidFill>
            <a:srgbClr val="F4F6F8"/>
          </a:solidFill>
          <a:ln w="19050">
            <a:solidFill>
              <a:srgbClr val="FFFFFF"/>
            </a:solidFill>
            <a:prstDash val="solid"/>
          </a:ln>
        </p:spPr>
      </p:sp>
      <p:sp>
        <p:nvSpPr>
          <p:cNvPr id="39" name="Text 37"/>
          <p:cNvSpPr/>
          <p:nvPr/>
        </p:nvSpPr>
        <p:spPr>
          <a:xfrm>
            <a:off x="4297680" y="3483864"/>
            <a:ext cx="1865376" cy="365760"/>
          </a:xfrm>
          <a:prstGeom prst="rect">
            <a:avLst/>
          </a:prstGeom>
          <a:noFill/>
          <a:ln/>
        </p:spPr>
        <p:txBody>
          <a:bodyPr wrap="square" lIns="0" tIns="0" rIns="0" bIns="0" rtlCol="0" anchor="ctr"/>
          <a:lstStyle/>
          <a:p>
            <a:pPr algn="ctr" indent="0" marL="0">
              <a:buNone/>
            </a:pPr>
            <a:r>
              <a:rPr lang="en-US" sz="1700" b="1" dirty="0">
                <a:solidFill>
                  <a:srgbClr val="23282F"/>
                </a:solidFill>
                <a:latin typeface="Cambria" pitchFamily="34" charset="0"/>
                <a:ea typeface="Cambria" pitchFamily="34" charset="-122"/>
                <a:cs typeface="Cambria" pitchFamily="34" charset="-120"/>
              </a:rPr>
              <a:t>27.0</a:t>
            </a:r>
            <a:endParaRPr lang="en-US" sz="1700" dirty="0"/>
          </a:p>
        </p:txBody>
      </p:sp>
      <p:sp>
        <p:nvSpPr>
          <p:cNvPr id="40" name="Text 38"/>
          <p:cNvSpPr/>
          <p:nvPr/>
        </p:nvSpPr>
        <p:spPr>
          <a:xfrm>
            <a:off x="4297680" y="3867912"/>
            <a:ext cx="1865376" cy="256032"/>
          </a:xfrm>
          <a:prstGeom prst="rect">
            <a:avLst/>
          </a:prstGeom>
          <a:noFill/>
          <a:ln/>
        </p:spPr>
        <p:txBody>
          <a:bodyPr wrap="square" lIns="0" tIns="0" rIns="0" bIns="0" rtlCol="0" anchor="ctr"/>
          <a:lstStyle/>
          <a:p>
            <a:pPr algn="ctr" indent="0" marL="0">
              <a:buNone/>
            </a:pPr>
            <a:r>
              <a:rPr lang="en-US" sz="1000" dirty="0">
                <a:solidFill>
                  <a:srgbClr val="6E7681"/>
                </a:solidFill>
                <a:latin typeface="Calibri" pitchFamily="34" charset="0"/>
                <a:ea typeface="Calibri" pitchFamily="34" charset="-122"/>
                <a:cs typeface="Calibri" pitchFamily="34" charset="-120"/>
              </a:rPr>
              <a:t>Zufall 16.0</a:t>
            </a:r>
            <a:endParaRPr lang="en-US" sz="1000" dirty="0"/>
          </a:p>
        </p:txBody>
      </p:sp>
      <p:sp>
        <p:nvSpPr>
          <p:cNvPr id="41" name="Shape 39"/>
          <p:cNvSpPr/>
          <p:nvPr/>
        </p:nvSpPr>
        <p:spPr>
          <a:xfrm>
            <a:off x="6217920" y="3429000"/>
            <a:ext cx="1865376" cy="722376"/>
          </a:xfrm>
          <a:prstGeom prst="rect">
            <a:avLst/>
          </a:prstGeom>
          <a:solidFill>
            <a:srgbClr val="E8F1F6"/>
          </a:solidFill>
          <a:ln w="19050">
            <a:solidFill>
              <a:srgbClr val="FFFFFF"/>
            </a:solidFill>
            <a:prstDash val="solid"/>
          </a:ln>
        </p:spPr>
      </p:sp>
      <p:sp>
        <p:nvSpPr>
          <p:cNvPr id="42" name="Text 40"/>
          <p:cNvSpPr/>
          <p:nvPr/>
        </p:nvSpPr>
        <p:spPr>
          <a:xfrm>
            <a:off x="6217920" y="3483864"/>
            <a:ext cx="1865376" cy="365760"/>
          </a:xfrm>
          <a:prstGeom prst="rect">
            <a:avLst/>
          </a:prstGeom>
          <a:noFill/>
          <a:ln/>
        </p:spPr>
        <p:txBody>
          <a:bodyPr wrap="square" lIns="0" tIns="0" rIns="0" bIns="0" rtlCol="0" anchor="ctr"/>
          <a:lstStyle/>
          <a:p>
            <a:pPr algn="ctr" indent="0" marL="0">
              <a:buNone/>
            </a:pPr>
            <a:r>
              <a:rPr lang="en-US" sz="1700" b="1" dirty="0">
                <a:solidFill>
                  <a:srgbClr val="23282F"/>
                </a:solidFill>
                <a:latin typeface="Cambria" pitchFamily="34" charset="0"/>
                <a:ea typeface="Cambria" pitchFamily="34" charset="-122"/>
                <a:cs typeface="Cambria" pitchFamily="34" charset="-120"/>
              </a:rPr>
              <a:t>4.5 %</a:t>
            </a:r>
            <a:endParaRPr lang="en-US" sz="1700" dirty="0"/>
          </a:p>
        </p:txBody>
      </p:sp>
      <p:sp>
        <p:nvSpPr>
          <p:cNvPr id="43" name="Text 41"/>
          <p:cNvSpPr/>
          <p:nvPr/>
        </p:nvSpPr>
        <p:spPr>
          <a:xfrm>
            <a:off x="6217920" y="3867912"/>
            <a:ext cx="1865376" cy="256032"/>
          </a:xfrm>
          <a:prstGeom prst="rect">
            <a:avLst/>
          </a:prstGeom>
          <a:noFill/>
          <a:ln/>
        </p:spPr>
        <p:txBody>
          <a:bodyPr wrap="square" lIns="0" tIns="0" rIns="0" bIns="0" rtlCol="0" anchor="ctr"/>
          <a:lstStyle/>
          <a:p>
            <a:pPr algn="ctr" indent="0" marL="0">
              <a:buNone/>
            </a:pPr>
            <a:r>
              <a:rPr lang="en-US" sz="1000" dirty="0">
                <a:solidFill>
                  <a:srgbClr val="6E7681"/>
                </a:solidFill>
                <a:latin typeface="Calibri" pitchFamily="34" charset="0"/>
                <a:ea typeface="Calibri" pitchFamily="34" charset="-122"/>
                <a:cs typeface="Calibri" pitchFamily="34" charset="-120"/>
              </a:rPr>
              <a:t>Zufall 99.7 %</a:t>
            </a:r>
            <a:endParaRPr lang="en-US" sz="1000" dirty="0"/>
          </a:p>
        </p:txBody>
      </p:sp>
      <p:sp>
        <p:nvSpPr>
          <p:cNvPr id="44" name="Shape 42"/>
          <p:cNvSpPr/>
          <p:nvPr/>
        </p:nvSpPr>
        <p:spPr>
          <a:xfrm>
            <a:off x="8138160" y="3429000"/>
            <a:ext cx="1865376" cy="722376"/>
          </a:xfrm>
          <a:prstGeom prst="rect">
            <a:avLst/>
          </a:prstGeom>
          <a:solidFill>
            <a:srgbClr val="E8F1F6"/>
          </a:solidFill>
          <a:ln w="19050">
            <a:solidFill>
              <a:srgbClr val="FFFFFF"/>
            </a:solidFill>
            <a:prstDash val="solid"/>
          </a:ln>
        </p:spPr>
      </p:sp>
      <p:sp>
        <p:nvSpPr>
          <p:cNvPr id="45" name="Text 43"/>
          <p:cNvSpPr/>
          <p:nvPr/>
        </p:nvSpPr>
        <p:spPr>
          <a:xfrm>
            <a:off x="8138160" y="3483864"/>
            <a:ext cx="1865376" cy="365760"/>
          </a:xfrm>
          <a:prstGeom prst="rect">
            <a:avLst/>
          </a:prstGeom>
          <a:noFill/>
          <a:ln/>
        </p:spPr>
        <p:txBody>
          <a:bodyPr wrap="square" lIns="0" tIns="0" rIns="0" bIns="0" rtlCol="0" anchor="ctr"/>
          <a:lstStyle/>
          <a:p>
            <a:pPr algn="ctr" indent="0" marL="0">
              <a:buNone/>
            </a:pPr>
            <a:r>
              <a:rPr lang="en-US" sz="1700" b="1" dirty="0">
                <a:solidFill>
                  <a:srgbClr val="23282F"/>
                </a:solidFill>
                <a:latin typeface="Cambria" pitchFamily="34" charset="0"/>
                <a:ea typeface="Cambria" pitchFamily="34" charset="-122"/>
                <a:cs typeface="Cambria" pitchFamily="34" charset="-120"/>
              </a:rPr>
              <a:t>-78</a:t>
            </a:r>
            <a:endParaRPr lang="en-US" sz="1700" dirty="0"/>
          </a:p>
        </p:txBody>
      </p:sp>
      <p:sp>
        <p:nvSpPr>
          <p:cNvPr id="46" name="Text 44"/>
          <p:cNvSpPr/>
          <p:nvPr/>
        </p:nvSpPr>
        <p:spPr>
          <a:xfrm>
            <a:off x="8138160" y="3867912"/>
            <a:ext cx="1865376" cy="256032"/>
          </a:xfrm>
          <a:prstGeom prst="rect">
            <a:avLst/>
          </a:prstGeom>
          <a:noFill/>
          <a:ln/>
        </p:spPr>
        <p:txBody>
          <a:bodyPr wrap="square" lIns="0" tIns="0" rIns="0" bIns="0" rtlCol="0" anchor="ctr"/>
          <a:lstStyle/>
          <a:p>
            <a:pPr algn="ctr" indent="0" marL="0">
              <a:buNone/>
            </a:pPr>
            <a:r>
              <a:rPr lang="en-US" sz="1000" dirty="0">
                <a:solidFill>
                  <a:srgbClr val="6E7681"/>
                </a:solidFill>
                <a:latin typeface="Calibri" pitchFamily="34" charset="0"/>
                <a:ea typeface="Calibri" pitchFamily="34" charset="-122"/>
                <a:cs typeface="Calibri" pitchFamily="34" charset="-120"/>
              </a:rPr>
              <a:t>Zufall -6934</a:t>
            </a:r>
            <a:endParaRPr lang="en-US" sz="1000" dirty="0"/>
          </a:p>
        </p:txBody>
      </p:sp>
      <p:sp>
        <p:nvSpPr>
          <p:cNvPr id="47" name="Text 45"/>
          <p:cNvSpPr/>
          <p:nvPr/>
        </p:nvSpPr>
        <p:spPr>
          <a:xfrm>
            <a:off x="640080" y="4206240"/>
            <a:ext cx="1645920" cy="777240"/>
          </a:xfrm>
          <a:prstGeom prst="rect">
            <a:avLst/>
          </a:prstGeom>
          <a:noFill/>
          <a:ln/>
        </p:spPr>
        <p:txBody>
          <a:bodyPr wrap="square" lIns="0" tIns="0" rIns="0" bIns="0" rtlCol="0" anchor="ctr"/>
          <a:lstStyle/>
          <a:p>
            <a:pPr algn="r" indent="0" marL="0">
              <a:buNone/>
            </a:pPr>
            <a:r>
              <a:rPr lang="en-US" sz="1300" b="1" dirty="0">
                <a:solidFill>
                  <a:srgbClr val="23282F"/>
                </a:solidFill>
                <a:latin typeface="Calibri" pitchFamily="34" charset="0"/>
                <a:ea typeface="Calibri" pitchFamily="34" charset="-122"/>
                <a:cs typeface="Calibri" pitchFamily="34" charset="-120"/>
              </a:rPr>
              <a:t>Micro-Seg.</a:t>
            </a:r>
            <a:endParaRPr lang="en-US" sz="1300" dirty="0"/>
          </a:p>
        </p:txBody>
      </p:sp>
      <p:sp>
        <p:nvSpPr>
          <p:cNvPr id="48" name="Shape 46"/>
          <p:cNvSpPr/>
          <p:nvPr/>
        </p:nvSpPr>
        <p:spPr>
          <a:xfrm>
            <a:off x="2377440" y="4206240"/>
            <a:ext cx="1865376" cy="722376"/>
          </a:xfrm>
          <a:prstGeom prst="rect">
            <a:avLst/>
          </a:prstGeom>
          <a:solidFill>
            <a:srgbClr val="E8F1F6"/>
          </a:solidFill>
          <a:ln w="19050">
            <a:solidFill>
              <a:srgbClr val="FFFFFF"/>
            </a:solidFill>
            <a:prstDash val="solid"/>
          </a:ln>
        </p:spPr>
      </p:sp>
      <p:sp>
        <p:nvSpPr>
          <p:cNvPr id="49" name="Text 47"/>
          <p:cNvSpPr/>
          <p:nvPr/>
        </p:nvSpPr>
        <p:spPr>
          <a:xfrm>
            <a:off x="2377440" y="4261104"/>
            <a:ext cx="1865376" cy="365760"/>
          </a:xfrm>
          <a:prstGeom prst="rect">
            <a:avLst/>
          </a:prstGeom>
          <a:noFill/>
          <a:ln/>
        </p:spPr>
        <p:txBody>
          <a:bodyPr wrap="square" lIns="0" tIns="0" rIns="0" bIns="0" rtlCol="0" anchor="ctr"/>
          <a:lstStyle/>
          <a:p>
            <a:pPr algn="ctr" indent="0" marL="0">
              <a:buNone/>
            </a:pPr>
            <a:r>
              <a:rPr lang="en-US" sz="1700" b="1" dirty="0">
                <a:solidFill>
                  <a:srgbClr val="23282F"/>
                </a:solidFill>
                <a:latin typeface="Cambria" pitchFamily="34" charset="0"/>
                <a:ea typeface="Cambria" pitchFamily="34" charset="-122"/>
                <a:cs typeface="Cambria" pitchFamily="34" charset="-120"/>
              </a:rPr>
              <a:t>0</a:t>
            </a:r>
            <a:endParaRPr lang="en-US" sz="1700" dirty="0"/>
          </a:p>
        </p:txBody>
      </p:sp>
      <p:sp>
        <p:nvSpPr>
          <p:cNvPr id="50" name="Text 48"/>
          <p:cNvSpPr/>
          <p:nvPr/>
        </p:nvSpPr>
        <p:spPr>
          <a:xfrm>
            <a:off x="2377440" y="4645152"/>
            <a:ext cx="1865376" cy="256032"/>
          </a:xfrm>
          <a:prstGeom prst="rect">
            <a:avLst/>
          </a:prstGeom>
          <a:noFill/>
          <a:ln/>
        </p:spPr>
        <p:txBody>
          <a:bodyPr wrap="square" lIns="0" tIns="0" rIns="0" bIns="0" rtlCol="0" anchor="ctr"/>
          <a:lstStyle/>
          <a:p>
            <a:pPr algn="ctr" indent="0" marL="0">
              <a:buNone/>
            </a:pPr>
            <a:r>
              <a:rPr lang="en-US" sz="1000" dirty="0">
                <a:solidFill>
                  <a:srgbClr val="6E7681"/>
                </a:solidFill>
                <a:latin typeface="Calibri" pitchFamily="34" charset="0"/>
                <a:ea typeface="Calibri" pitchFamily="34" charset="-122"/>
                <a:cs typeface="Calibri" pitchFamily="34" charset="-120"/>
              </a:rPr>
              <a:t>Zufall 648</a:t>
            </a:r>
            <a:endParaRPr lang="en-US" sz="1000" dirty="0"/>
          </a:p>
        </p:txBody>
      </p:sp>
      <p:sp>
        <p:nvSpPr>
          <p:cNvPr id="51" name="Shape 49"/>
          <p:cNvSpPr/>
          <p:nvPr/>
        </p:nvSpPr>
        <p:spPr>
          <a:xfrm>
            <a:off x="4297680" y="4206240"/>
            <a:ext cx="1865376" cy="722376"/>
          </a:xfrm>
          <a:prstGeom prst="rect">
            <a:avLst/>
          </a:prstGeom>
          <a:solidFill>
            <a:srgbClr val="E8F1F6"/>
          </a:solidFill>
          <a:ln w="19050">
            <a:solidFill>
              <a:srgbClr val="FFFFFF"/>
            </a:solidFill>
            <a:prstDash val="solid"/>
          </a:ln>
        </p:spPr>
      </p:sp>
      <p:sp>
        <p:nvSpPr>
          <p:cNvPr id="52" name="Text 50"/>
          <p:cNvSpPr/>
          <p:nvPr/>
        </p:nvSpPr>
        <p:spPr>
          <a:xfrm>
            <a:off x="4297680" y="4261104"/>
            <a:ext cx="1865376" cy="365760"/>
          </a:xfrm>
          <a:prstGeom prst="rect">
            <a:avLst/>
          </a:prstGeom>
          <a:noFill/>
          <a:ln/>
        </p:spPr>
        <p:txBody>
          <a:bodyPr wrap="square" lIns="0" tIns="0" rIns="0" bIns="0" rtlCol="0" anchor="ctr"/>
          <a:lstStyle/>
          <a:p>
            <a:pPr algn="ctr" indent="0" marL="0">
              <a:buNone/>
            </a:pPr>
            <a:r>
              <a:rPr lang="en-US" sz="1700" b="1" dirty="0">
                <a:solidFill>
                  <a:srgbClr val="23282F"/>
                </a:solidFill>
                <a:latin typeface="Cambria" pitchFamily="34" charset="0"/>
                <a:ea typeface="Cambria" pitchFamily="34" charset="-122"/>
                <a:cs typeface="Cambria" pitchFamily="34" charset="-120"/>
              </a:rPr>
              <a:t>103.5</a:t>
            </a:r>
            <a:endParaRPr lang="en-US" sz="1700" dirty="0"/>
          </a:p>
        </p:txBody>
      </p:sp>
      <p:sp>
        <p:nvSpPr>
          <p:cNvPr id="53" name="Text 51"/>
          <p:cNvSpPr/>
          <p:nvPr/>
        </p:nvSpPr>
        <p:spPr>
          <a:xfrm>
            <a:off x="4297680" y="4645152"/>
            <a:ext cx="1865376" cy="256032"/>
          </a:xfrm>
          <a:prstGeom prst="rect">
            <a:avLst/>
          </a:prstGeom>
          <a:noFill/>
          <a:ln/>
        </p:spPr>
        <p:txBody>
          <a:bodyPr wrap="square" lIns="0" tIns="0" rIns="0" bIns="0" rtlCol="0" anchor="ctr"/>
          <a:lstStyle/>
          <a:p>
            <a:pPr algn="ctr" indent="0" marL="0">
              <a:buNone/>
            </a:pPr>
            <a:r>
              <a:rPr lang="en-US" sz="1000" dirty="0">
                <a:solidFill>
                  <a:srgbClr val="6E7681"/>
                </a:solidFill>
                <a:latin typeface="Calibri" pitchFamily="34" charset="0"/>
                <a:ea typeface="Calibri" pitchFamily="34" charset="-122"/>
                <a:cs typeface="Calibri" pitchFamily="34" charset="-120"/>
              </a:rPr>
              <a:t>Zufall 34.0</a:t>
            </a:r>
            <a:endParaRPr lang="en-US" sz="1000" dirty="0"/>
          </a:p>
        </p:txBody>
      </p:sp>
      <p:sp>
        <p:nvSpPr>
          <p:cNvPr id="54" name="Shape 52"/>
          <p:cNvSpPr/>
          <p:nvPr/>
        </p:nvSpPr>
        <p:spPr>
          <a:xfrm>
            <a:off x="6217920" y="4206240"/>
            <a:ext cx="1865376" cy="722376"/>
          </a:xfrm>
          <a:prstGeom prst="rect">
            <a:avLst/>
          </a:prstGeom>
          <a:solidFill>
            <a:srgbClr val="E8F1F6"/>
          </a:solidFill>
          <a:ln w="19050">
            <a:solidFill>
              <a:srgbClr val="FFFFFF"/>
            </a:solidFill>
            <a:prstDash val="solid"/>
          </a:ln>
        </p:spPr>
      </p:sp>
      <p:sp>
        <p:nvSpPr>
          <p:cNvPr id="55" name="Text 53"/>
          <p:cNvSpPr/>
          <p:nvPr/>
        </p:nvSpPr>
        <p:spPr>
          <a:xfrm>
            <a:off x="6217920" y="4261104"/>
            <a:ext cx="1865376" cy="365760"/>
          </a:xfrm>
          <a:prstGeom prst="rect">
            <a:avLst/>
          </a:prstGeom>
          <a:noFill/>
          <a:ln/>
        </p:spPr>
        <p:txBody>
          <a:bodyPr wrap="square" lIns="0" tIns="0" rIns="0" bIns="0" rtlCol="0" anchor="ctr"/>
          <a:lstStyle/>
          <a:p>
            <a:pPr algn="ctr" indent="0" marL="0">
              <a:buNone/>
            </a:pPr>
            <a:r>
              <a:rPr lang="en-US" sz="1700" b="1" dirty="0">
                <a:solidFill>
                  <a:srgbClr val="23282F"/>
                </a:solidFill>
                <a:latin typeface="Cambria" pitchFamily="34" charset="0"/>
                <a:ea typeface="Cambria" pitchFamily="34" charset="-122"/>
                <a:cs typeface="Cambria" pitchFamily="34" charset="-120"/>
              </a:rPr>
              <a:t>0.1 %</a:t>
            </a:r>
            <a:endParaRPr lang="en-US" sz="1700" dirty="0"/>
          </a:p>
        </p:txBody>
      </p:sp>
      <p:sp>
        <p:nvSpPr>
          <p:cNvPr id="56" name="Text 54"/>
          <p:cNvSpPr/>
          <p:nvPr/>
        </p:nvSpPr>
        <p:spPr>
          <a:xfrm>
            <a:off x="6217920" y="4645152"/>
            <a:ext cx="1865376" cy="256032"/>
          </a:xfrm>
          <a:prstGeom prst="rect">
            <a:avLst/>
          </a:prstGeom>
          <a:noFill/>
          <a:ln/>
        </p:spPr>
        <p:txBody>
          <a:bodyPr wrap="square" lIns="0" tIns="0" rIns="0" bIns="0" rtlCol="0" anchor="ctr"/>
          <a:lstStyle/>
          <a:p>
            <a:pPr algn="ctr" indent="0" marL="0">
              <a:buNone/>
            </a:pPr>
            <a:r>
              <a:rPr lang="en-US" sz="1000" dirty="0">
                <a:solidFill>
                  <a:srgbClr val="6E7681"/>
                </a:solidFill>
                <a:latin typeface="Calibri" pitchFamily="34" charset="0"/>
                <a:ea typeface="Calibri" pitchFamily="34" charset="-122"/>
                <a:cs typeface="Calibri" pitchFamily="34" charset="-120"/>
              </a:rPr>
              <a:t>Zufall 100.0 %</a:t>
            </a:r>
            <a:endParaRPr lang="en-US" sz="1000" dirty="0"/>
          </a:p>
        </p:txBody>
      </p:sp>
      <p:sp>
        <p:nvSpPr>
          <p:cNvPr id="57" name="Shape 55"/>
          <p:cNvSpPr/>
          <p:nvPr/>
        </p:nvSpPr>
        <p:spPr>
          <a:xfrm>
            <a:off x="8138160" y="4206240"/>
            <a:ext cx="1865376" cy="722376"/>
          </a:xfrm>
          <a:prstGeom prst="rect">
            <a:avLst/>
          </a:prstGeom>
          <a:solidFill>
            <a:srgbClr val="E8F1F6"/>
          </a:solidFill>
          <a:ln w="19050">
            <a:solidFill>
              <a:srgbClr val="FFFFFF"/>
            </a:solidFill>
            <a:prstDash val="solid"/>
          </a:ln>
        </p:spPr>
      </p:sp>
      <p:sp>
        <p:nvSpPr>
          <p:cNvPr id="58" name="Text 56"/>
          <p:cNvSpPr/>
          <p:nvPr/>
        </p:nvSpPr>
        <p:spPr>
          <a:xfrm>
            <a:off x="8138160" y="4261104"/>
            <a:ext cx="1865376" cy="365760"/>
          </a:xfrm>
          <a:prstGeom prst="rect">
            <a:avLst/>
          </a:prstGeom>
          <a:noFill/>
          <a:ln/>
        </p:spPr>
        <p:txBody>
          <a:bodyPr wrap="square" lIns="0" tIns="0" rIns="0" bIns="0" rtlCol="0" anchor="ctr"/>
          <a:lstStyle/>
          <a:p>
            <a:pPr algn="ctr" indent="0" marL="0">
              <a:buNone/>
            </a:pPr>
            <a:r>
              <a:rPr lang="en-US" sz="1700" b="1" dirty="0">
                <a:solidFill>
                  <a:srgbClr val="23282F"/>
                </a:solidFill>
                <a:latin typeface="Cambria" pitchFamily="34" charset="0"/>
                <a:ea typeface="Cambria" pitchFamily="34" charset="-122"/>
                <a:cs typeface="Cambria" pitchFamily="34" charset="-120"/>
              </a:rPr>
              <a:t>-53</a:t>
            </a:r>
            <a:endParaRPr lang="en-US" sz="1700" dirty="0"/>
          </a:p>
        </p:txBody>
      </p:sp>
      <p:sp>
        <p:nvSpPr>
          <p:cNvPr id="59" name="Text 57"/>
          <p:cNvSpPr/>
          <p:nvPr/>
        </p:nvSpPr>
        <p:spPr>
          <a:xfrm>
            <a:off x="8138160" y="4645152"/>
            <a:ext cx="1865376" cy="256032"/>
          </a:xfrm>
          <a:prstGeom prst="rect">
            <a:avLst/>
          </a:prstGeom>
          <a:noFill/>
          <a:ln/>
        </p:spPr>
        <p:txBody>
          <a:bodyPr wrap="square" lIns="0" tIns="0" rIns="0" bIns="0" rtlCol="0" anchor="ctr"/>
          <a:lstStyle/>
          <a:p>
            <a:pPr algn="ctr" indent="0" marL="0">
              <a:buNone/>
            </a:pPr>
            <a:r>
              <a:rPr lang="en-US" sz="1000" dirty="0">
                <a:solidFill>
                  <a:srgbClr val="6E7681"/>
                </a:solidFill>
                <a:latin typeface="Calibri" pitchFamily="34" charset="0"/>
                <a:ea typeface="Calibri" pitchFamily="34" charset="-122"/>
                <a:cs typeface="Calibri" pitchFamily="34" charset="-120"/>
              </a:rPr>
              <a:t>Zufall -8497</a:t>
            </a:r>
            <a:endParaRPr lang="en-US" sz="1000" dirty="0"/>
          </a:p>
        </p:txBody>
      </p:sp>
      <p:sp>
        <p:nvSpPr>
          <p:cNvPr id="60" name="Text 58"/>
          <p:cNvSpPr/>
          <p:nvPr/>
        </p:nvSpPr>
        <p:spPr>
          <a:xfrm>
            <a:off x="640080" y="5212080"/>
            <a:ext cx="10881360" cy="502920"/>
          </a:xfrm>
          <a:prstGeom prst="rect">
            <a:avLst/>
          </a:prstGeom>
          <a:noFill/>
          <a:ln/>
        </p:spPr>
        <p:txBody>
          <a:bodyPr wrap="square" lIns="0" tIns="0" rIns="0" bIns="0" rtlCol="0" anchor="ctr"/>
          <a:lstStyle/>
          <a:p>
            <a:pPr indent="0" marL="0">
              <a:buNone/>
            </a:pPr>
            <a:r>
              <a:rPr lang="en-US" sz="1400" b="1" dirty="0">
                <a:solidFill>
                  <a:srgbClr val="1C6E8C"/>
                </a:solidFill>
                <a:latin typeface="Calibri" pitchFamily="34" charset="0"/>
                <a:ea typeface="Calibri" pitchFamily="34" charset="-122"/>
                <a:cs typeface="Calibri" pitchFamily="34" charset="-120"/>
              </a:rPr>
              <a:t>Der Zufallsagent sperrt im Median 648 bis 654 Mal je Episode, praktisch bei jedem Schritt, und bricht damit fast immer die SLA (99,7 bis 100 % der Episoden). Das trainierte Modell sperrt fast nie mehr (0 bis 19) und verlässt sich stattdessen auf gezielte Reimages.</a:t>
            </a:r>
            <a:endParaRPr lang="en-US" sz="1400" dirty="0"/>
          </a:p>
        </p:txBody>
      </p:sp>
      <p:sp>
        <p:nvSpPr>
          <p:cNvPr id="61" name="Text 59"/>
          <p:cNvSpPr/>
          <p:nvPr/>
        </p:nvSpPr>
        <p:spPr>
          <a:xfrm>
            <a:off x="640080" y="5623560"/>
            <a:ext cx="10881360" cy="502920"/>
          </a:xfrm>
          <a:prstGeom prst="rect">
            <a:avLst/>
          </a:prstGeom>
          <a:noFill/>
          <a:ln/>
        </p:spPr>
        <p:txBody>
          <a:bodyPr wrap="square" lIns="0" tIns="0" rIns="0" bIns="0" rtlCol="0" anchor="ctr"/>
          <a:lstStyle/>
          <a:p>
            <a:pPr indent="0" marL="0">
              <a:buNone/>
            </a:pPr>
            <a:r>
              <a:rPr lang="en-US" sz="1150" dirty="0">
                <a:solidFill>
                  <a:srgbClr val="6E7681"/>
                </a:solidFill>
                <a:latin typeface="Calibri" pitchFamily="34" charset="0"/>
                <a:ea typeface="Calibri" pitchFamily="34" charset="-122"/>
                <a:cs typeface="Calibri" pitchFamily="34" charset="-120"/>
              </a:rPr>
              <a:t>Damit erklärt sich auch der Reward-Abstand von rund dem Hundertfachen: Nicht weniger Aktivität, sondern die richtige Aktivität. Auffällig: In Hub &amp; Spoke und Micro-Segmentation reimaged das trainierte Modell sogar häufiger als der Zufallsagent (103 bzw. 103,5 gegenüber 34).</a:t>
            </a:r>
            <a:endParaRPr lang="en-US" sz="1150" dirty="0"/>
          </a:p>
        </p:txBody>
      </p:sp>
      <p:sp>
        <p:nvSpPr>
          <p:cNvPr id="62" name="Text 60"/>
          <p:cNvSpPr/>
          <p:nvPr/>
        </p:nvSpPr>
        <p:spPr>
          <a:xfrm>
            <a:off x="640080" y="6291072"/>
            <a:ext cx="10881360" cy="274320"/>
          </a:xfrm>
          <a:prstGeom prst="rect">
            <a:avLst/>
          </a:prstGeom>
          <a:noFill/>
          <a:ln/>
        </p:spPr>
        <p:txBody>
          <a:bodyPr wrap="square" lIns="0" tIns="0" rIns="0" bIns="0" rtlCol="0" anchor="ctr"/>
          <a:lstStyle/>
          <a:p>
            <a:pPr indent="0" marL="0">
              <a:buNone/>
            </a:pPr>
            <a:r>
              <a:rPr lang="en-US" sz="1000" i="1" dirty="0">
                <a:solidFill>
                  <a:srgbClr val="6E7681"/>
                </a:solidFill>
                <a:latin typeface="Calibri" pitchFamily="34" charset="0"/>
                <a:ea typeface="Calibri" pitchFamily="34" charset="-122"/>
                <a:cs typeface="Calibri" pitchFamily="34" charset="-120"/>
              </a:rPr>
              <a:t>Median über alle Episoden je Topologie und Stufe, 25 Episoden je Zelle, alle fünf Seeds und sechs Angreifer, n = 750 je Zelle.</a:t>
            </a:r>
            <a:endParaRPr lang="en-US" sz="10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1B1F26"/>
        </a:solidFill>
      </p:bgPr>
    </p:bg>
    <p:spTree>
      <p:nvGrpSpPr>
        <p:cNvPr id="1" name=""/>
        <p:cNvGrpSpPr/>
        <p:nvPr/>
      </p:nvGrpSpPr>
      <p:grpSpPr>
        <a:xfrm>
          <a:off x="0" y="0"/>
          <a:ext cx="0" cy="0"/>
          <a:chOff x="0" y="0"/>
          <a:chExt cx="0" cy="0"/>
        </a:xfrm>
      </p:grpSpPr>
      <p:sp>
        <p:nvSpPr>
          <p:cNvPr id="2" name="Text 0"/>
          <p:cNvSpPr/>
          <p:nvPr/>
        </p:nvSpPr>
        <p:spPr>
          <a:xfrm>
            <a:off x="640080" y="685800"/>
            <a:ext cx="10881360" cy="64008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Was die Matrix zeigt</a:t>
            </a:r>
            <a:endParaRPr lang="en-US" sz="3200" dirty="0"/>
          </a:p>
        </p:txBody>
      </p:sp>
      <p:sp>
        <p:nvSpPr>
          <p:cNvPr id="3" name="Shape 1"/>
          <p:cNvSpPr/>
          <p:nvPr/>
        </p:nvSpPr>
        <p:spPr>
          <a:xfrm>
            <a:off x="640080" y="1499616"/>
            <a:ext cx="384048" cy="384048"/>
          </a:xfrm>
          <a:prstGeom prst="ellipse">
            <a:avLst/>
          </a:prstGeom>
          <a:solidFill>
            <a:srgbClr val="D99A2B"/>
          </a:solidFill>
          <a:ln w="12700">
            <a:solidFill>
              <a:srgbClr val="D99A2B"/>
            </a:solidFill>
            <a:prstDash val="solid"/>
          </a:ln>
        </p:spPr>
      </p:sp>
      <p:sp>
        <p:nvSpPr>
          <p:cNvPr id="4" name="Text 2"/>
          <p:cNvSpPr/>
          <p:nvPr/>
        </p:nvSpPr>
        <p:spPr>
          <a:xfrm>
            <a:off x="640080" y="1499616"/>
            <a:ext cx="384048" cy="384048"/>
          </a:xfrm>
          <a:prstGeom prst="rect">
            <a:avLst/>
          </a:prstGeom>
          <a:noFill/>
          <a:ln/>
        </p:spPr>
        <p:txBody>
          <a:bodyPr wrap="square" lIns="0" tIns="0" rIns="0" bIns="0" rtlCol="0" anchor="ctr"/>
          <a:lstStyle/>
          <a:p>
            <a:pPr algn="ctr" indent="0" marL="0">
              <a:buNone/>
            </a:pPr>
            <a:r>
              <a:rPr lang="en-US" sz="1500" b="1" dirty="0">
                <a:solidFill>
                  <a:srgbClr val="1B1F26"/>
                </a:solidFill>
                <a:latin typeface="Calibri" pitchFamily="34" charset="0"/>
                <a:ea typeface="Calibri" pitchFamily="34" charset="-122"/>
                <a:cs typeface="Calibri" pitchFamily="34" charset="-120"/>
              </a:rPr>
              <a:t>1</a:t>
            </a:r>
            <a:endParaRPr lang="en-US" sz="1500" dirty="0"/>
          </a:p>
        </p:txBody>
      </p:sp>
      <p:sp>
        <p:nvSpPr>
          <p:cNvPr id="5" name="Text 3"/>
          <p:cNvSpPr/>
          <p:nvPr/>
        </p:nvSpPr>
        <p:spPr>
          <a:xfrm>
            <a:off x="1280160" y="1463040"/>
            <a:ext cx="10241280" cy="365760"/>
          </a:xfrm>
          <a:prstGeom prst="rect">
            <a:avLst/>
          </a:prstGeom>
          <a:noFill/>
          <a:ln/>
        </p:spPr>
        <p:txBody>
          <a:bodyPr wrap="square" lIns="0" tIns="0" rIns="0" bIns="0" rtlCol="0" anchor="ctr"/>
          <a:lstStyle/>
          <a:p>
            <a:pPr indent="0" marL="0">
              <a:buNone/>
            </a:pPr>
            <a:r>
              <a:rPr lang="en-US" sz="1700" b="1" dirty="0">
                <a:solidFill>
                  <a:srgbClr val="FFFFFF"/>
                </a:solidFill>
                <a:latin typeface="Cambria" pitchFamily="34" charset="0"/>
                <a:ea typeface="Cambria" pitchFamily="34" charset="-122"/>
                <a:cs typeface="Cambria" pitchFamily="34" charset="-120"/>
              </a:rPr>
              <a:t>Flat ist die mit Abstand am schwersten zu verteidigende Topologie</a:t>
            </a:r>
            <a:endParaRPr lang="en-US" sz="1700" dirty="0"/>
          </a:p>
        </p:txBody>
      </p:sp>
      <p:sp>
        <p:nvSpPr>
          <p:cNvPr id="6" name="Text 4"/>
          <p:cNvSpPr/>
          <p:nvPr/>
        </p:nvSpPr>
        <p:spPr>
          <a:xfrm>
            <a:off x="1280160" y="1847088"/>
            <a:ext cx="10241280" cy="868680"/>
          </a:xfrm>
          <a:prstGeom prst="rect">
            <a:avLst/>
          </a:prstGeom>
          <a:noFill/>
          <a:ln/>
        </p:spPr>
        <p:txBody>
          <a:bodyPr wrap="square" lIns="0" tIns="0" rIns="0" bIns="0" rtlCol="0" anchor="ctr"/>
          <a:lstStyle/>
          <a:p>
            <a:pPr indent="0" marL="0">
              <a:buNone/>
            </a:pPr>
            <a:r>
              <a:rPr lang="en-US" sz="1250" dirty="0">
                <a:solidFill>
                  <a:srgbClr val="B8C0C9"/>
                </a:solidFill>
                <a:latin typeface="Calibri" pitchFamily="34" charset="0"/>
                <a:ea typeface="Calibri" pitchFamily="34" charset="-122"/>
                <a:cs typeface="Calibri" pitchFamily="34" charset="-120"/>
              </a:rPr>
              <a:t>Verteidiger-Reward −715 gegen sich selbst im Training, 7,0 von 10 Knoten und 99,2 % Crown-Jewel-Quote in der Evaluation: drei unabhängige Größen zeigen dieselbe Schwäche.</a:t>
            </a:r>
            <a:endParaRPr lang="en-US" sz="1250" dirty="0"/>
          </a:p>
        </p:txBody>
      </p:sp>
      <p:sp>
        <p:nvSpPr>
          <p:cNvPr id="7" name="Shape 5"/>
          <p:cNvSpPr/>
          <p:nvPr/>
        </p:nvSpPr>
        <p:spPr>
          <a:xfrm>
            <a:off x="640080" y="2871216"/>
            <a:ext cx="384048" cy="384048"/>
          </a:xfrm>
          <a:prstGeom prst="ellipse">
            <a:avLst/>
          </a:prstGeom>
          <a:solidFill>
            <a:srgbClr val="D99A2B"/>
          </a:solidFill>
          <a:ln w="12700">
            <a:solidFill>
              <a:srgbClr val="D99A2B"/>
            </a:solidFill>
            <a:prstDash val="solid"/>
          </a:ln>
        </p:spPr>
      </p:sp>
      <p:sp>
        <p:nvSpPr>
          <p:cNvPr id="8" name="Text 6"/>
          <p:cNvSpPr/>
          <p:nvPr/>
        </p:nvSpPr>
        <p:spPr>
          <a:xfrm>
            <a:off x="640080" y="2871216"/>
            <a:ext cx="384048" cy="384048"/>
          </a:xfrm>
          <a:prstGeom prst="rect">
            <a:avLst/>
          </a:prstGeom>
          <a:noFill/>
          <a:ln/>
        </p:spPr>
        <p:txBody>
          <a:bodyPr wrap="square" lIns="0" tIns="0" rIns="0" bIns="0" rtlCol="0" anchor="ctr"/>
          <a:lstStyle/>
          <a:p>
            <a:pPr algn="ctr" indent="0" marL="0">
              <a:buNone/>
            </a:pPr>
            <a:r>
              <a:rPr lang="en-US" sz="1500" b="1" dirty="0">
                <a:solidFill>
                  <a:srgbClr val="1B1F26"/>
                </a:solidFill>
                <a:latin typeface="Calibri" pitchFamily="34" charset="0"/>
                <a:ea typeface="Calibri" pitchFamily="34" charset="-122"/>
                <a:cs typeface="Calibri" pitchFamily="34" charset="-120"/>
              </a:rPr>
              <a:t>2</a:t>
            </a:r>
            <a:endParaRPr lang="en-US" sz="1500" dirty="0"/>
          </a:p>
        </p:txBody>
      </p:sp>
      <p:sp>
        <p:nvSpPr>
          <p:cNvPr id="9" name="Text 7"/>
          <p:cNvSpPr/>
          <p:nvPr/>
        </p:nvSpPr>
        <p:spPr>
          <a:xfrm>
            <a:off x="1280160" y="2834640"/>
            <a:ext cx="10241280" cy="365760"/>
          </a:xfrm>
          <a:prstGeom prst="rect">
            <a:avLst/>
          </a:prstGeom>
          <a:noFill/>
          <a:ln/>
        </p:spPr>
        <p:txBody>
          <a:bodyPr wrap="square" lIns="0" tIns="0" rIns="0" bIns="0" rtlCol="0" anchor="ctr"/>
          <a:lstStyle/>
          <a:p>
            <a:pPr indent="0" marL="0">
              <a:buNone/>
            </a:pPr>
            <a:r>
              <a:rPr lang="en-US" sz="1700" b="1" dirty="0">
                <a:solidFill>
                  <a:srgbClr val="FFFFFF"/>
                </a:solidFill>
                <a:latin typeface="Cambria" pitchFamily="34" charset="0"/>
                <a:ea typeface="Cambria" pitchFamily="34" charset="-122"/>
                <a:cs typeface="Cambria" pitchFamily="34" charset="-120"/>
              </a:rPr>
              <a:t>Das Konvergenzkriterium trennt die Topologien nicht, aus bekanntem Grund</a:t>
            </a:r>
            <a:endParaRPr lang="en-US" sz="1700" dirty="0"/>
          </a:p>
        </p:txBody>
      </p:sp>
      <p:sp>
        <p:nvSpPr>
          <p:cNvPr id="10" name="Text 8"/>
          <p:cNvSpPr/>
          <p:nvPr/>
        </p:nvSpPr>
        <p:spPr>
          <a:xfrm>
            <a:off x="1280160" y="3218688"/>
            <a:ext cx="10241280" cy="868680"/>
          </a:xfrm>
          <a:prstGeom prst="rect">
            <a:avLst/>
          </a:prstGeom>
          <a:noFill/>
          <a:ln/>
        </p:spPr>
        <p:txBody>
          <a:bodyPr wrap="square" lIns="0" tIns="0" rIns="0" bIns="0" rtlCol="0" anchor="ctr"/>
          <a:lstStyle/>
          <a:p>
            <a:pPr indent="0" marL="0">
              <a:buNone/>
            </a:pPr>
            <a:r>
              <a:rPr lang="en-US" sz="1250" dirty="0">
                <a:solidFill>
                  <a:srgbClr val="B8C0C9"/>
                </a:solidFill>
                <a:latin typeface="Calibri" pitchFamily="34" charset="0"/>
                <a:ea typeface="Calibri" pitchFamily="34" charset="-122"/>
                <a:cs typeface="Calibri" pitchFamily="34" charset="-120"/>
              </a:rPr>
              <a:t>120 von 120 Läufen „konvergieren“ im Median bei Episode 33, dem frühestmöglichen Zeitpunkt. Große Anfangsspannen durch SLA-Brüche lassen jede spätere Verbesserung klein wirken, wie in Kapitel 3.6 hergeleitet.</a:t>
            </a:r>
            <a:endParaRPr lang="en-US" sz="1250" dirty="0"/>
          </a:p>
        </p:txBody>
      </p:sp>
      <p:sp>
        <p:nvSpPr>
          <p:cNvPr id="11" name="Shape 9"/>
          <p:cNvSpPr/>
          <p:nvPr/>
        </p:nvSpPr>
        <p:spPr>
          <a:xfrm>
            <a:off x="640080" y="4242816"/>
            <a:ext cx="384048" cy="384048"/>
          </a:xfrm>
          <a:prstGeom prst="ellipse">
            <a:avLst/>
          </a:prstGeom>
          <a:solidFill>
            <a:srgbClr val="D99A2B"/>
          </a:solidFill>
          <a:ln w="12700">
            <a:solidFill>
              <a:srgbClr val="D99A2B"/>
            </a:solidFill>
            <a:prstDash val="solid"/>
          </a:ln>
        </p:spPr>
      </p:sp>
      <p:sp>
        <p:nvSpPr>
          <p:cNvPr id="12" name="Text 10"/>
          <p:cNvSpPr/>
          <p:nvPr/>
        </p:nvSpPr>
        <p:spPr>
          <a:xfrm>
            <a:off x="640080" y="4242816"/>
            <a:ext cx="384048" cy="384048"/>
          </a:xfrm>
          <a:prstGeom prst="rect">
            <a:avLst/>
          </a:prstGeom>
          <a:noFill/>
          <a:ln/>
        </p:spPr>
        <p:txBody>
          <a:bodyPr wrap="square" lIns="0" tIns="0" rIns="0" bIns="0" rtlCol="0" anchor="ctr"/>
          <a:lstStyle/>
          <a:p>
            <a:pPr algn="ctr" indent="0" marL="0">
              <a:buNone/>
            </a:pPr>
            <a:r>
              <a:rPr lang="en-US" sz="1500" b="1" dirty="0">
                <a:solidFill>
                  <a:srgbClr val="1B1F26"/>
                </a:solidFill>
                <a:latin typeface="Calibri" pitchFamily="34" charset="0"/>
                <a:ea typeface="Calibri" pitchFamily="34" charset="-122"/>
                <a:cs typeface="Calibri" pitchFamily="34" charset="-120"/>
              </a:rPr>
              <a:t>3</a:t>
            </a:r>
            <a:endParaRPr lang="en-US" sz="1500" dirty="0"/>
          </a:p>
        </p:txBody>
      </p:sp>
      <p:sp>
        <p:nvSpPr>
          <p:cNvPr id="13" name="Text 11"/>
          <p:cNvSpPr/>
          <p:nvPr/>
        </p:nvSpPr>
        <p:spPr>
          <a:xfrm>
            <a:off x="1280160" y="4206240"/>
            <a:ext cx="10241280" cy="365760"/>
          </a:xfrm>
          <a:prstGeom prst="rect">
            <a:avLst/>
          </a:prstGeom>
          <a:noFill/>
          <a:ln/>
        </p:spPr>
        <p:txBody>
          <a:bodyPr wrap="square" lIns="0" tIns="0" rIns="0" bIns="0" rtlCol="0" anchor="ctr"/>
          <a:lstStyle/>
          <a:p>
            <a:pPr indent="0" marL="0">
              <a:buNone/>
            </a:pPr>
            <a:r>
              <a:rPr lang="en-US" sz="1700" b="1" dirty="0">
                <a:solidFill>
                  <a:srgbClr val="FFFFFF"/>
                </a:solidFill>
                <a:latin typeface="Cambria" pitchFamily="34" charset="0"/>
                <a:ea typeface="Cambria" pitchFamily="34" charset="-122"/>
                <a:cs typeface="Cambria" pitchFamily="34" charset="-120"/>
              </a:rPr>
              <a:t>Die gelernte Politik ist klar wirksamer als bloßes Sperren</a:t>
            </a:r>
            <a:endParaRPr lang="en-US" sz="1700" dirty="0"/>
          </a:p>
        </p:txBody>
      </p:sp>
      <p:sp>
        <p:nvSpPr>
          <p:cNvPr id="14" name="Text 12"/>
          <p:cNvSpPr/>
          <p:nvPr/>
        </p:nvSpPr>
        <p:spPr>
          <a:xfrm>
            <a:off x="1280160" y="4590288"/>
            <a:ext cx="10241280" cy="868680"/>
          </a:xfrm>
          <a:prstGeom prst="rect">
            <a:avLst/>
          </a:prstGeom>
          <a:noFill/>
          <a:ln/>
        </p:spPr>
        <p:txBody>
          <a:bodyPr wrap="square" lIns="0" tIns="0" rIns="0" bIns="0" rtlCol="0" anchor="ctr"/>
          <a:lstStyle/>
          <a:p>
            <a:pPr indent="0" marL="0">
              <a:buNone/>
            </a:pPr>
            <a:r>
              <a:rPr lang="en-US" sz="1250" dirty="0">
                <a:solidFill>
                  <a:srgbClr val="B8C0C9"/>
                </a:solidFill>
                <a:latin typeface="Calibri" pitchFamily="34" charset="0"/>
                <a:ea typeface="Calibri" pitchFamily="34" charset="-122"/>
                <a:cs typeface="Calibri" pitchFamily="34" charset="-120"/>
              </a:rPr>
              <a:t>Der Zufallsagent sperrt praktisch jeden Schritt und reißt dabei fast immer die SLA (bis zu 100 % der Episoden). Das trainierte Modell sperrt selten, reimaged gezielter und drückt den Angreifer-Restanteil in jeder der 24 Zellen unter den des Zufallsagenten.</a:t>
            </a:r>
            <a:endParaRPr lang="en-US" sz="1250" dirty="0"/>
          </a:p>
        </p:txBody>
      </p:sp>
      <p:sp>
        <p:nvSpPr>
          <p:cNvPr id="15" name="Text 13"/>
          <p:cNvSpPr/>
          <p:nvPr/>
        </p:nvSpPr>
        <p:spPr>
          <a:xfrm>
            <a:off x="640080" y="6080760"/>
            <a:ext cx="10881360" cy="502920"/>
          </a:xfrm>
          <a:prstGeom prst="rect">
            <a:avLst/>
          </a:prstGeom>
          <a:noFill/>
          <a:ln/>
        </p:spPr>
        <p:txBody>
          <a:bodyPr wrap="square" lIns="0" tIns="0" rIns="0" bIns="0" rtlCol="0" anchor="ctr"/>
          <a:lstStyle/>
          <a:p>
            <a:pPr indent="0" marL="0">
              <a:buNone/>
            </a:pPr>
            <a:r>
              <a:rPr lang="en-US" sz="1100" i="1" dirty="0">
                <a:solidFill>
                  <a:srgbClr val="6E7681"/>
                </a:solidFill>
                <a:latin typeface="Calibri" pitchFamily="34" charset="0"/>
                <a:ea typeface="Calibri" pitchFamily="34" charset="-122"/>
                <a:cs typeface="Calibri" pitchFamily="34" charset="-120"/>
              </a:rPr>
              <a:t>Offen: Kapitel 4 und 5 der Arbeit noch zu schreiben · Aktionsverteilung „Freigeben“ (36,8 %) im Training noch nicht weiter aufgeschlüsselt · warum das trainierte Modell in Hub &amp; Spoke und Micro-Segmentation häufiger reimaged als der Zufallsagent, noch nicht untersucht</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31</Slides>
  <Notes>31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31</vt:i4>
      </vt:variant>
    </vt:vector>
  </HeadingPairs>
  <TitlesOfParts>
    <vt:vector size="3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Verteidiger-Matrix</dc:title>
  <dc:subject>PptxGenJS Presentation</dc:subject>
  <dc:creator>Mika Oelhoff</dc:creator>
  <cp:lastModifiedBy>Mika Oelhoff</cp:lastModifiedBy>
  <cp:revision>1</cp:revision>
  <dcterms:created xsi:type="dcterms:W3CDTF">2026-08-24T22:50:50Z</dcterms:created>
  <dcterms:modified xsi:type="dcterms:W3CDTF">2026-08-24T22:50:50Z</dcterms:modified>
</cp:coreProperties>
</file>