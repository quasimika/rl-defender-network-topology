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252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Kernfolie: Der auf dem Reward sichtbare Nutzen des Trainings besteht groesstenteils aus dem Vermeiden einer einzelnen Strafe.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Abstand zwischen den beiden bereinigten Spalten liegt zwischen 6 und 25 Punkten.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Verteidiger-Reward ohne die Dienststopp-Strafe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Matchup, große Zahl = trainiertes Modell, kleine = Zufallsagent. Beide bereinigt.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40280" y="14447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11880" y="14447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83480" y="14447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&amp; Spoke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4447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26680" y="14447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98280" y="14447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1508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40280" y="1828800"/>
            <a:ext cx="1316736" cy="621792"/>
          </a:xfrm>
          <a:prstGeom prst="rect">
            <a:avLst/>
          </a:prstGeom>
          <a:solidFill>
            <a:srgbClr val="DCEAF1"/>
          </a:solidFill>
          <a:ln w="254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240280" y="187452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40280" y="220370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-24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1828800"/>
            <a:ext cx="1316736" cy="621792"/>
          </a:xfrm>
          <a:prstGeom prst="rect">
            <a:avLst/>
          </a:prstGeom>
          <a:solidFill>
            <a:srgbClr val="F2D3C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611880" y="187452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-156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220370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-179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1828800"/>
            <a:ext cx="1316736" cy="621792"/>
          </a:xfrm>
          <a:prstGeom prst="rect">
            <a:avLst/>
          </a:prstGeom>
          <a:solidFill>
            <a:srgbClr val="F2D3C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983480" y="187452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-171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220370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-235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1828800"/>
            <a:ext cx="1316736" cy="621792"/>
          </a:xfrm>
          <a:prstGeom prst="rect">
            <a:avLst/>
          </a:prstGeom>
          <a:solidFill>
            <a:srgbClr val="F2D3CC"/>
          </a:solidFill>
          <a:ln w="254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355080" y="187452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-156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220370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-156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1828800"/>
            <a:ext cx="1316736" cy="621792"/>
          </a:xfrm>
          <a:prstGeom prst="rect">
            <a:avLst/>
          </a:prstGeom>
          <a:solidFill>
            <a:srgbClr val="FBEDE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726680" y="187452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-132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26680" y="220370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-147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98280" y="1828800"/>
            <a:ext cx="1316736" cy="621792"/>
          </a:xfrm>
          <a:prstGeom prst="rect">
            <a:avLst/>
          </a:prstGeom>
          <a:solidFill>
            <a:srgbClr val="FBEDE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9098280" y="187452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98280" y="220370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2505456"/>
            <a:ext cx="1508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&amp; Spoke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40280" y="2505456"/>
            <a:ext cx="1316736" cy="621792"/>
          </a:xfrm>
          <a:prstGeom prst="rect">
            <a:avLst/>
          </a:prstGeom>
          <a:solidFill>
            <a:srgbClr val="DCEAF1"/>
          </a:solidFill>
          <a:ln w="254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2240280" y="25511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240280" y="288036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-24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11880" y="2505456"/>
            <a:ext cx="1316736" cy="621792"/>
          </a:xfrm>
          <a:prstGeom prst="rect">
            <a:avLst/>
          </a:prstGeom>
          <a:solidFill>
            <a:srgbClr val="FBEDE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3611880" y="25511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11880" y="288036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-128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83480" y="2505456"/>
            <a:ext cx="1316736" cy="621792"/>
          </a:xfrm>
          <a:prstGeom prst="rect">
            <a:avLst/>
          </a:prstGeom>
          <a:solidFill>
            <a:srgbClr val="F2D3C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4983480" y="25511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983480" y="288036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-281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2505456"/>
            <a:ext cx="1316736" cy="621792"/>
          </a:xfrm>
          <a:prstGeom prst="rect">
            <a:avLst/>
          </a:prstGeom>
          <a:solidFill>
            <a:srgbClr val="F4F6F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355080" y="25511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355080" y="288036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-78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26680" y="2505456"/>
            <a:ext cx="1316736" cy="621792"/>
          </a:xfrm>
          <a:prstGeom prst="rect">
            <a:avLst/>
          </a:prstGeom>
          <a:solidFill>
            <a:srgbClr val="FBEDE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7726680" y="25511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-102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726680" y="288036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-131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098280" y="2505456"/>
            <a:ext cx="1316736" cy="621792"/>
          </a:xfrm>
          <a:prstGeom prst="rect">
            <a:avLst/>
          </a:prstGeom>
          <a:solidFill>
            <a:srgbClr val="F2D3C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9098280" y="25511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-167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098280" y="288036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-174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3182112"/>
            <a:ext cx="1508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240280" y="3182112"/>
            <a:ext cx="1316736" cy="621792"/>
          </a:xfrm>
          <a:prstGeom prst="rect">
            <a:avLst/>
          </a:prstGeom>
          <a:solidFill>
            <a:srgbClr val="F4F6F8"/>
          </a:solidFill>
          <a:ln w="254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2240280" y="322783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-69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2240280" y="355701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-69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11880" y="3182112"/>
            <a:ext cx="1316736" cy="621792"/>
          </a:xfrm>
          <a:prstGeom prst="rect">
            <a:avLst/>
          </a:prstGeom>
          <a:solidFill>
            <a:srgbClr val="FBEDE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3611880" y="322783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-103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3611880" y="355701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-106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983480" y="3182112"/>
            <a:ext cx="1316736" cy="621792"/>
          </a:xfrm>
          <a:prstGeom prst="rect">
            <a:avLst/>
          </a:prstGeom>
          <a:solidFill>
            <a:srgbClr val="E9F1F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4983480" y="322783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-54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4983480" y="355701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-66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355080" y="3182112"/>
            <a:ext cx="1316736" cy="621792"/>
          </a:xfrm>
          <a:prstGeom prst="rect">
            <a:avLst/>
          </a:prstGeom>
          <a:solidFill>
            <a:srgbClr val="F2D3C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8"/>
          <p:cNvSpPr/>
          <p:nvPr/>
        </p:nvSpPr>
        <p:spPr>
          <a:xfrm>
            <a:off x="6355080" y="322783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-191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6355080" y="355701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-222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726680" y="3182112"/>
            <a:ext cx="1316736" cy="621792"/>
          </a:xfrm>
          <a:prstGeom prst="rect">
            <a:avLst/>
          </a:prstGeom>
          <a:solidFill>
            <a:srgbClr val="DCEAF1"/>
          </a:solidFill>
          <a:ln w="254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Text 61"/>
          <p:cNvSpPr/>
          <p:nvPr/>
        </p:nvSpPr>
        <p:spPr>
          <a:xfrm>
            <a:off x="7726680" y="322783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-22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7726680" y="355701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-22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098280" y="3182112"/>
            <a:ext cx="1316736" cy="621792"/>
          </a:xfrm>
          <a:prstGeom prst="rect">
            <a:avLst/>
          </a:prstGeom>
          <a:solidFill>
            <a:srgbClr val="F2D3C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64"/>
          <p:cNvSpPr/>
          <p:nvPr/>
        </p:nvSpPr>
        <p:spPr>
          <a:xfrm>
            <a:off x="9098280" y="322783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-166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9098280" y="355701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-181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40080" y="3858768"/>
            <a:ext cx="1508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Micro-Seg.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2240280" y="3858768"/>
            <a:ext cx="1316736" cy="621792"/>
          </a:xfrm>
          <a:prstGeom prst="rect">
            <a:avLst/>
          </a:prstGeom>
          <a:solidFill>
            <a:srgbClr val="DCEAF1"/>
          </a:solidFill>
          <a:ln w="2540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8"/>
          <p:cNvSpPr/>
          <p:nvPr/>
        </p:nvSpPr>
        <p:spPr>
          <a:xfrm>
            <a:off x="2240280" y="390448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-24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2240280" y="4233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-24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611880" y="3858768"/>
            <a:ext cx="1316736" cy="621792"/>
          </a:xfrm>
          <a:prstGeom prst="rect">
            <a:avLst/>
          </a:prstGeom>
          <a:solidFill>
            <a:srgbClr val="FBEDE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Text 71"/>
          <p:cNvSpPr/>
          <p:nvPr/>
        </p:nvSpPr>
        <p:spPr>
          <a:xfrm>
            <a:off x="3611880" y="390448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-127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3611880" y="4233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-131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983480" y="3858768"/>
            <a:ext cx="1316736" cy="621792"/>
          </a:xfrm>
          <a:prstGeom prst="rect">
            <a:avLst/>
          </a:prstGeom>
          <a:solidFill>
            <a:srgbClr val="F4F6F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Text 74"/>
          <p:cNvSpPr/>
          <p:nvPr/>
        </p:nvSpPr>
        <p:spPr>
          <a:xfrm>
            <a:off x="4983480" y="390448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-68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4983480" y="4233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-78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355080" y="3858768"/>
            <a:ext cx="1316736" cy="621792"/>
          </a:xfrm>
          <a:prstGeom prst="rect">
            <a:avLst/>
          </a:prstGeom>
          <a:solidFill>
            <a:srgbClr val="F4F6F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" name="Text 77"/>
          <p:cNvSpPr/>
          <p:nvPr/>
        </p:nvSpPr>
        <p:spPr>
          <a:xfrm>
            <a:off x="6355080" y="390448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-72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6355080" y="4233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-60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726680" y="3858768"/>
            <a:ext cx="1316736" cy="621792"/>
          </a:xfrm>
          <a:prstGeom prst="rect">
            <a:avLst/>
          </a:prstGeom>
          <a:solidFill>
            <a:srgbClr val="F2D3C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2" name="Text 80"/>
          <p:cNvSpPr/>
          <p:nvPr/>
        </p:nvSpPr>
        <p:spPr>
          <a:xfrm>
            <a:off x="7726680" y="390448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-192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7726680" y="4233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-218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9098280" y="3858768"/>
            <a:ext cx="1316736" cy="621792"/>
          </a:xfrm>
          <a:prstGeom prst="rect">
            <a:avLst/>
          </a:prstGeom>
          <a:solidFill>
            <a:srgbClr val="F2D3C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5" name="Text 83"/>
          <p:cNvSpPr/>
          <p:nvPr/>
        </p:nvSpPr>
        <p:spPr>
          <a:xfrm>
            <a:off x="9098280" y="390448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-165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9098280" y="4233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-171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40080" y="4754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die Strafe schrumpft der Vorsprung des Trainings auf wenige Punkte. In sechs Zellen sind beide Werte identisch (gold umrandet).</a:t>
            </a:r>
            <a:endParaRPr lang="en-US" sz="1450" dirty="0"/>
          </a:p>
        </p:txBody>
      </p:sp>
      <p:sp>
        <p:nvSpPr>
          <p:cNvPr id="88" name="Text 86"/>
          <p:cNvSpPr/>
          <p:nvPr/>
        </p:nvSpPr>
        <p:spPr>
          <a:xfrm>
            <a:off x="640080" y="51937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Vergleich der unbereinigte Wert des Zufallsagenten: rund -1300 in jeder Zelle. Davon stammen etwa -1170 aus den rund 117 Dienststopps auf nicht kompromittierten Knoten.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640080" y="62362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Bereinigt = Episoden-Reward + 10 × Dienststopps auf sauberem Knoten. Median über 25 Episoden je Zelle und alle fünf Seeds.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die Bereinigung sichtbar macht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 über die sechs Angreifer je Topologie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51760" y="146304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roh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54880" y="146304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 bereinigt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0" y="146304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trainiert roh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0" y="146304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trainiert bereinigt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920240"/>
            <a:ext cx="2029968" cy="585216"/>
          </a:xfrm>
          <a:prstGeom prst="rect">
            <a:avLst/>
          </a:prstGeom>
          <a:solidFill>
            <a:srgbClr val="F7F0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-1313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2029968" cy="585216"/>
          </a:xfrm>
          <a:prstGeom prst="rect">
            <a:avLst/>
          </a:prstGeom>
          <a:solidFill>
            <a:srgbClr val="EDF3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0" y="1920240"/>
            <a:ext cx="2029968" cy="585216"/>
          </a:xfrm>
          <a:prstGeom prst="rect">
            <a:avLst/>
          </a:prstGeom>
          <a:solidFill>
            <a:srgbClr val="F7F0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858000" y="192024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-152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61120" y="1920240"/>
            <a:ext cx="2029968" cy="585216"/>
          </a:xfrm>
          <a:prstGeom prst="rect">
            <a:avLst/>
          </a:prstGeom>
          <a:solidFill>
            <a:srgbClr val="EDF3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961120" y="192024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&amp; Spoke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2560320"/>
            <a:ext cx="2029968" cy="585216"/>
          </a:xfrm>
          <a:prstGeom prst="rect">
            <a:avLst/>
          </a:prstGeom>
          <a:solidFill>
            <a:srgbClr val="F7F0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2651760" y="256032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-1288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2029968" cy="585216"/>
          </a:xfrm>
          <a:prstGeom prst="rect">
            <a:avLst/>
          </a:prstGeom>
          <a:solidFill>
            <a:srgbClr val="EDF3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-136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0" y="2560320"/>
            <a:ext cx="2029968" cy="585216"/>
          </a:xfrm>
          <a:prstGeom prst="rect">
            <a:avLst/>
          </a:prstGeom>
          <a:solidFill>
            <a:srgbClr val="F7F0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858000" y="256032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-127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1120" y="2560320"/>
            <a:ext cx="2029968" cy="585216"/>
          </a:xfrm>
          <a:prstGeom prst="rect">
            <a:avLst/>
          </a:prstGeom>
          <a:solidFill>
            <a:srgbClr val="EDF3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961120" y="256032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51760" y="3200400"/>
            <a:ext cx="2029968" cy="585216"/>
          </a:xfrm>
          <a:prstGeom prst="rect">
            <a:avLst/>
          </a:prstGeom>
          <a:solidFill>
            <a:srgbClr val="F7F0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2651760" y="320040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-1275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54880" y="3200400"/>
            <a:ext cx="2029968" cy="585216"/>
          </a:xfrm>
          <a:prstGeom prst="rect">
            <a:avLst/>
          </a:prstGeom>
          <a:solidFill>
            <a:srgbClr val="EDF3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754880" y="320040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-111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0" y="3200400"/>
            <a:ext cx="2029968" cy="585216"/>
          </a:xfrm>
          <a:prstGeom prst="rect">
            <a:avLst/>
          </a:prstGeom>
          <a:solidFill>
            <a:srgbClr val="F7F0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858000" y="320040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-116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961120" y="3200400"/>
            <a:ext cx="2029968" cy="585216"/>
          </a:xfrm>
          <a:prstGeom prst="rect">
            <a:avLst/>
          </a:prstGeom>
          <a:solidFill>
            <a:srgbClr val="EDF3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8961120" y="320040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-101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51760" y="3840480"/>
            <a:ext cx="2029968" cy="585216"/>
          </a:xfrm>
          <a:prstGeom prst="rect">
            <a:avLst/>
          </a:prstGeom>
          <a:solidFill>
            <a:srgbClr val="F7F0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2651760" y="384048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-1301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754880" y="3840480"/>
            <a:ext cx="2029968" cy="585216"/>
          </a:xfrm>
          <a:prstGeom prst="rect">
            <a:avLst/>
          </a:prstGeom>
          <a:solidFill>
            <a:srgbClr val="EDF3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4754880" y="384048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-114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58000" y="3840480"/>
            <a:ext cx="2029968" cy="585216"/>
          </a:xfrm>
          <a:prstGeom prst="rect">
            <a:avLst/>
          </a:prstGeom>
          <a:solidFill>
            <a:srgbClr val="F7F0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858000" y="384048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-127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961120" y="3840480"/>
            <a:ext cx="2029968" cy="585216"/>
          </a:xfrm>
          <a:prstGeom prst="rect">
            <a:avLst/>
          </a:prstGeom>
          <a:solidFill>
            <a:srgbClr val="EDF3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8961120" y="3840480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-108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40080" y="48006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BF3E4"/>
          </a:solidFill>
          <a:ln w="12700">
            <a:solidFill>
              <a:srgbClr val="EBD6A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960120" y="496519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gerechnet wird und wo die Grenze liegt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60120" y="5303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Dienststopp auf einem nicht kompromittierten Knoten kostet -10. Der bereinigte Wert addiert diesen Abzug wieder auf. Bei einem SLA-Bruch ersetzt CyberBattleSim den Schrittwert jedoch durch -5000, statt ihn zu ergänzen; ein Stopp im selben Schritt geht dabei unter, wird von der Formel aber trotzdem gutgeschrieben. Die Bereinigung fällt dort geringfügig zu großzügig aus. Betroffen sind nur Hub &amp; Spoke und DMZ gegen den jeweils eigenen Angreifer.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0080" y="62362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Grundlage: 25 Episoden je Zelle, alle fünf Seeds, beide Agenten eingefroren.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Office PowerPoint</Application>
  <PresentationFormat>Breitbild</PresentationFormat>
  <Paragraphs>96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Bereinigter Verteidiger-Reward</dc:title>
  <dc:subject>PptxGenJS Presentation</dc:subject>
  <dc:creator>Mika Oelhoff</dc:creator>
  <cp:lastModifiedBy>Mika Oelhoff</cp:lastModifiedBy>
  <cp:revision>2</cp:revision>
  <dcterms:created xsi:type="dcterms:W3CDTF">2026-08-19T07:06:38Z</dcterms:created>
  <dcterms:modified xsi:type="dcterms:W3CDTF">2026-08-19T22:25:16Z</dcterms:modified>
</cp:coreProperties>
</file>