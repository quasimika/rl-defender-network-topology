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2.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C6E8C"/>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59" d="100"/>
          <a:sy n="159" d="100"/>
        </p:scale>
        <p:origin x="336" y="13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1"/>
  <c:style val="2"/>
  <c:chart>
    <c:autoTitleDeleted val="1"/>
    <c:plotArea>
      <c:layout/>
      <c:barChart>
        <c:barDir val="col"/>
        <c:grouping val="clustered"/>
        <c:varyColors val="0"/>
        <c:ser>
          <c:idx val="0"/>
          <c:order val="0"/>
          <c:tx>
            <c:strRef>
              <c:f>Sheet1!$B$1</c:f>
              <c:strCache>
                <c:ptCount val="1"/>
                <c:pt idx="0">
                  <c:v>Konvergierte Läufe</c:v>
                </c:pt>
              </c:strCache>
            </c:strRef>
          </c:tx>
          <c:spPr>
            <a:solidFill>
              <a:srgbClr val="1C6E8C"/>
            </a:solidFill>
            <a:effectLst/>
          </c:spPr>
          <c:invertIfNegative val="0"/>
          <c:dPt>
            <c:idx val="0"/>
            <c:invertIfNegative val="0"/>
            <c:bubble3D val="0"/>
            <c:extLst>
              <c:ext xmlns:c16="http://schemas.microsoft.com/office/drawing/2014/chart" uri="{C3380CC4-5D6E-409C-BE32-E72D297353CC}">
                <c16:uniqueId val="{00000001-4FCD-459E-B8B2-506FF2C7ECA8}"/>
              </c:ext>
            </c:extLst>
          </c:dPt>
          <c:dPt>
            <c:idx val="1"/>
            <c:invertIfNegative val="0"/>
            <c:bubble3D val="0"/>
            <c:extLst>
              <c:ext xmlns:c16="http://schemas.microsoft.com/office/drawing/2014/chart" uri="{C3380CC4-5D6E-409C-BE32-E72D297353CC}">
                <c16:uniqueId val="{00000003-4FCD-459E-B8B2-506FF2C7ECA8}"/>
              </c:ext>
            </c:extLst>
          </c:dPt>
          <c:dPt>
            <c:idx val="2"/>
            <c:invertIfNegative val="0"/>
            <c:bubble3D val="0"/>
            <c:extLst>
              <c:ext xmlns:c16="http://schemas.microsoft.com/office/drawing/2014/chart" uri="{C3380CC4-5D6E-409C-BE32-E72D297353CC}">
                <c16:uniqueId val="{00000005-4FCD-459E-B8B2-506FF2C7ECA8}"/>
              </c:ext>
            </c:extLst>
          </c:dPt>
          <c:dPt>
            <c:idx val="3"/>
            <c:invertIfNegative val="0"/>
            <c:bubble3D val="0"/>
            <c:extLst>
              <c:ext xmlns:c16="http://schemas.microsoft.com/office/drawing/2014/chart" uri="{C3380CC4-5D6E-409C-BE32-E72D297353CC}">
                <c16:uniqueId val="{00000007-4FCD-459E-B8B2-506FF2C7ECA8}"/>
              </c:ext>
            </c:extLst>
          </c:dPt>
          <c:dLbls>
            <c:numFmt formatCode="#,##0" sourceLinked="0"/>
            <c:spPr>
              <a:noFill/>
              <a:ln>
                <a:noFill/>
              </a:ln>
              <a:effectLst/>
            </c:spPr>
            <c:txPr>
              <a:bodyPr/>
              <a:lstStyle/>
              <a:p>
                <a:pPr>
                  <a:defRPr sz="1400" b="1" i="0" u="none" strike="noStrike">
                    <a:solidFill>
                      <a:srgbClr val="23282F"/>
                    </a:solidFill>
                    <a:latin typeface="Arial"/>
                  </a:defRPr>
                </a:pPr>
                <a:endParaRPr lang="de-DE"/>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Flat</c:v>
                </c:pt>
                <c:pt idx="1">
                  <c:v>Hub &amp; Spoke</c:v>
                </c:pt>
                <c:pt idx="2">
                  <c:v>DMZ</c:v>
                </c:pt>
                <c:pt idx="3">
                  <c:v>Micro-Seg.</c:v>
                </c:pt>
              </c:strCache>
            </c:strRef>
          </c:cat>
          <c:val>
            <c:numRef>
              <c:f>Sheet1!$B$2:$B$5</c:f>
              <c:numCache>
                <c:formatCode>General</c:formatCode>
                <c:ptCount val="4"/>
                <c:pt idx="0">
                  <c:v>30</c:v>
                </c:pt>
                <c:pt idx="1">
                  <c:v>29</c:v>
                </c:pt>
                <c:pt idx="2">
                  <c:v>29</c:v>
                </c:pt>
                <c:pt idx="3">
                  <c:v>30</c:v>
                </c:pt>
              </c:numCache>
            </c:numRef>
          </c:val>
          <c:extLst>
            <c:ext xmlns:c16="http://schemas.microsoft.com/office/drawing/2014/chart" uri="{C3380CC4-5D6E-409C-BE32-E72D297353CC}">
              <c16:uniqueId val="{00000008-4FCD-459E-B8B2-506FF2C7ECA8}"/>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23282F"/>
                </a:solidFill>
                <a:latin typeface="Arial"/>
              </a:defRPr>
            </a:pPr>
            <a:endParaRPr lang="en-US"/>
          </a:p>
        </c:txPr>
        <c:crossAx val="2094734552"/>
        <c:crosses val="autoZero"/>
        <c:auto val="1"/>
        <c:lblAlgn val="ctr"/>
        <c:lblOffset val="100"/>
        <c:noMultiLvlLbl val="1"/>
      </c:catAx>
      <c:valAx>
        <c:axId val="2094734552"/>
        <c:scaling>
          <c:orientation val="minMax"/>
          <c:max val="30"/>
          <c:min val="0"/>
        </c:scaling>
        <c:delete val="0"/>
        <c:axPos val="l"/>
        <c:majorGridlines>
          <c:spPr>
            <a:ln w="12700" cap="flat">
              <a:solidFill>
                <a:srgbClr val="DDE1E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E7681"/>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1"/>
  <c:style val="2"/>
  <c:chart>
    <c:autoTitleDeleted val="1"/>
    <c:plotArea>
      <c:layout/>
      <c:barChart>
        <c:barDir val="col"/>
        <c:grouping val="clustered"/>
        <c:varyColors val="0"/>
        <c:ser>
          <c:idx val="0"/>
          <c:order val="0"/>
          <c:tx>
            <c:strRef>
              <c:f>Sheet1!$B$1</c:f>
              <c:strCache>
                <c:ptCount val="1"/>
                <c:pt idx="0">
                  <c:v>Chain</c:v>
                </c:pt>
              </c:strCache>
            </c:strRef>
          </c:tx>
          <c:spPr>
            <a:solidFill>
              <a:srgbClr val="B9C0C8"/>
            </a:solidFill>
            <a:effectLst/>
          </c:spPr>
          <c:invertIfNegative val="0"/>
          <c:cat>
            <c:strRef>
              <c:f>Sheet1!$A$2:$A$5</c:f>
              <c:strCache>
                <c:ptCount val="4"/>
                <c:pt idx="0">
                  <c:v>Flat</c:v>
                </c:pt>
                <c:pt idx="1">
                  <c:v>Hub &amp; Spoke</c:v>
                </c:pt>
                <c:pt idx="2">
                  <c:v>DMZ</c:v>
                </c:pt>
                <c:pt idx="3">
                  <c:v>Micro-Seg.</c:v>
                </c:pt>
              </c:strCache>
            </c:strRef>
          </c:cat>
          <c:val>
            <c:numRef>
              <c:f>Sheet1!$B$2:$B$5</c:f>
              <c:numCache>
                <c:formatCode>General</c:formatCode>
                <c:ptCount val="4"/>
                <c:pt idx="0">
                  <c:v>7.2</c:v>
                </c:pt>
                <c:pt idx="1">
                  <c:v>0</c:v>
                </c:pt>
                <c:pt idx="2">
                  <c:v>0.7</c:v>
                </c:pt>
                <c:pt idx="3">
                  <c:v>0</c:v>
                </c:pt>
              </c:numCache>
            </c:numRef>
          </c:val>
          <c:extLst>
            <c:ext xmlns:c16="http://schemas.microsoft.com/office/drawing/2014/chart" uri="{C3380CC4-5D6E-409C-BE32-E72D297353CC}">
              <c16:uniqueId val="{00000000-3BD3-40BA-9646-FFE1BB3C5821}"/>
            </c:ext>
          </c:extLst>
        </c:ser>
        <c:ser>
          <c:idx val="1"/>
          <c:order val="1"/>
          <c:tx>
            <c:strRef>
              <c:f>Sheet1!$C$1</c:f>
              <c:strCache>
                <c:ptCount val="1"/>
                <c:pt idx="0">
                  <c:v>Flat</c:v>
                </c:pt>
              </c:strCache>
            </c:strRef>
          </c:tx>
          <c:spPr>
            <a:solidFill>
              <a:srgbClr val="8FA3B3"/>
            </a:solidFill>
            <a:effectLst/>
          </c:spPr>
          <c:invertIfNegative val="0"/>
          <c:cat>
            <c:strRef>
              <c:f>Sheet1!$A$2:$A$5</c:f>
              <c:strCache>
                <c:ptCount val="4"/>
                <c:pt idx="0">
                  <c:v>Flat</c:v>
                </c:pt>
                <c:pt idx="1">
                  <c:v>Hub &amp; Spoke</c:v>
                </c:pt>
                <c:pt idx="2">
                  <c:v>DMZ</c:v>
                </c:pt>
                <c:pt idx="3">
                  <c:v>Micro-Seg.</c:v>
                </c:pt>
              </c:strCache>
            </c:strRef>
          </c:cat>
          <c:val>
            <c:numRef>
              <c:f>Sheet1!$C$2:$C$5</c:f>
              <c:numCache>
                <c:formatCode>General</c:formatCode>
                <c:ptCount val="4"/>
                <c:pt idx="0">
                  <c:v>87.2</c:v>
                </c:pt>
                <c:pt idx="1">
                  <c:v>1.9</c:v>
                </c:pt>
                <c:pt idx="2">
                  <c:v>21.9</c:v>
                </c:pt>
                <c:pt idx="3">
                  <c:v>0</c:v>
                </c:pt>
              </c:numCache>
            </c:numRef>
          </c:val>
          <c:extLst>
            <c:ext xmlns:c16="http://schemas.microsoft.com/office/drawing/2014/chart" uri="{C3380CC4-5D6E-409C-BE32-E72D297353CC}">
              <c16:uniqueId val="{00000001-3BD3-40BA-9646-FFE1BB3C5821}"/>
            </c:ext>
          </c:extLst>
        </c:ser>
        <c:ser>
          <c:idx val="2"/>
          <c:order val="2"/>
          <c:tx>
            <c:strRef>
              <c:f>Sheet1!$D$1</c:f>
              <c:strCache>
                <c:ptCount val="1"/>
                <c:pt idx="0">
                  <c:v>Hub &amp; Spoke</c:v>
                </c:pt>
              </c:strCache>
            </c:strRef>
          </c:tx>
          <c:spPr>
            <a:solidFill>
              <a:srgbClr val="C2A05A"/>
            </a:solidFill>
            <a:effectLst/>
          </c:spPr>
          <c:invertIfNegative val="0"/>
          <c:cat>
            <c:strRef>
              <c:f>Sheet1!$A$2:$A$5</c:f>
              <c:strCache>
                <c:ptCount val="4"/>
                <c:pt idx="0">
                  <c:v>Flat</c:v>
                </c:pt>
                <c:pt idx="1">
                  <c:v>Hub &amp; Spoke</c:v>
                </c:pt>
                <c:pt idx="2">
                  <c:v>DMZ</c:v>
                </c:pt>
                <c:pt idx="3">
                  <c:v>Micro-Seg.</c:v>
                </c:pt>
              </c:strCache>
            </c:strRef>
          </c:cat>
          <c:val>
            <c:numRef>
              <c:f>Sheet1!$D$2:$D$5</c:f>
              <c:numCache>
                <c:formatCode>General</c:formatCode>
                <c:ptCount val="4"/>
                <c:pt idx="0">
                  <c:v>96.9</c:v>
                </c:pt>
                <c:pt idx="1">
                  <c:v>92.5</c:v>
                </c:pt>
                <c:pt idx="2">
                  <c:v>4.2</c:v>
                </c:pt>
                <c:pt idx="3">
                  <c:v>0.4</c:v>
                </c:pt>
              </c:numCache>
            </c:numRef>
          </c:val>
          <c:extLst>
            <c:ext xmlns:c16="http://schemas.microsoft.com/office/drawing/2014/chart" uri="{C3380CC4-5D6E-409C-BE32-E72D297353CC}">
              <c16:uniqueId val="{00000002-3BD3-40BA-9646-FFE1BB3C5821}"/>
            </c:ext>
          </c:extLst>
        </c:ser>
        <c:ser>
          <c:idx val="3"/>
          <c:order val="3"/>
          <c:tx>
            <c:strRef>
              <c:f>Sheet1!$E$1</c:f>
              <c:strCache>
                <c:ptCount val="1"/>
                <c:pt idx="0">
                  <c:v>DMZ</c:v>
                </c:pt>
              </c:strCache>
            </c:strRef>
          </c:tx>
          <c:spPr>
            <a:solidFill>
              <a:srgbClr val="7BA88F"/>
            </a:solidFill>
            <a:effectLst/>
          </c:spPr>
          <c:invertIfNegative val="0"/>
          <c:cat>
            <c:strRef>
              <c:f>Sheet1!$A$2:$A$5</c:f>
              <c:strCache>
                <c:ptCount val="4"/>
                <c:pt idx="0">
                  <c:v>Flat</c:v>
                </c:pt>
                <c:pt idx="1">
                  <c:v>Hub &amp; Spoke</c:v>
                </c:pt>
                <c:pt idx="2">
                  <c:v>DMZ</c:v>
                </c:pt>
                <c:pt idx="3">
                  <c:v>Micro-Seg.</c:v>
                </c:pt>
              </c:strCache>
            </c:strRef>
          </c:cat>
          <c:val>
            <c:numRef>
              <c:f>Sheet1!$E$2:$E$5</c:f>
              <c:numCache>
                <c:formatCode>General</c:formatCode>
                <c:ptCount val="4"/>
                <c:pt idx="0">
                  <c:v>25.2</c:v>
                </c:pt>
                <c:pt idx="1">
                  <c:v>0.9</c:v>
                </c:pt>
                <c:pt idx="2">
                  <c:v>85</c:v>
                </c:pt>
                <c:pt idx="3">
                  <c:v>0.3</c:v>
                </c:pt>
              </c:numCache>
            </c:numRef>
          </c:val>
          <c:extLst>
            <c:ext xmlns:c16="http://schemas.microsoft.com/office/drawing/2014/chart" uri="{C3380CC4-5D6E-409C-BE32-E72D297353CC}">
              <c16:uniqueId val="{00000003-3BD3-40BA-9646-FFE1BB3C5821}"/>
            </c:ext>
          </c:extLst>
        </c:ser>
        <c:ser>
          <c:idx val="4"/>
          <c:order val="4"/>
          <c:tx>
            <c:strRef>
              <c:f>Sheet1!$F$1</c:f>
              <c:strCache>
                <c:ptCount val="1"/>
                <c:pt idx="0">
                  <c:v>Micro-Seg.</c:v>
                </c:pt>
              </c:strCache>
            </c:strRef>
          </c:tx>
          <c:spPr>
            <a:solidFill>
              <a:srgbClr val="9C8AA5"/>
            </a:solidFill>
            <a:effectLst/>
          </c:spPr>
          <c:invertIfNegative val="0"/>
          <c:cat>
            <c:strRef>
              <c:f>Sheet1!$A$2:$A$5</c:f>
              <c:strCache>
                <c:ptCount val="4"/>
                <c:pt idx="0">
                  <c:v>Flat</c:v>
                </c:pt>
                <c:pt idx="1">
                  <c:v>Hub &amp; Spoke</c:v>
                </c:pt>
                <c:pt idx="2">
                  <c:v>DMZ</c:v>
                </c:pt>
                <c:pt idx="3">
                  <c:v>Micro-Seg.</c:v>
                </c:pt>
              </c:strCache>
            </c:strRef>
          </c:cat>
          <c:val>
            <c:numRef>
              <c:f>Sheet1!$F$2:$F$5</c:f>
              <c:numCache>
                <c:formatCode>General</c:formatCode>
                <c:ptCount val="4"/>
                <c:pt idx="0">
                  <c:v>20.8</c:v>
                </c:pt>
                <c:pt idx="1">
                  <c:v>11.6</c:v>
                </c:pt>
                <c:pt idx="2">
                  <c:v>0.4</c:v>
                </c:pt>
                <c:pt idx="3">
                  <c:v>95.8</c:v>
                </c:pt>
              </c:numCache>
            </c:numRef>
          </c:val>
          <c:extLst>
            <c:ext xmlns:c16="http://schemas.microsoft.com/office/drawing/2014/chart" uri="{C3380CC4-5D6E-409C-BE32-E72D297353CC}">
              <c16:uniqueId val="{00000004-3BD3-40BA-9646-FFE1BB3C5821}"/>
            </c:ext>
          </c:extLst>
        </c:ser>
        <c:ser>
          <c:idx val="5"/>
          <c:order val="5"/>
          <c:tx>
            <c:strRef>
              <c:f>Sheet1!$G$1</c:f>
              <c:strCache>
                <c:ptCount val="1"/>
                <c:pt idx="0">
                  <c:v>Super</c:v>
                </c:pt>
              </c:strCache>
            </c:strRef>
          </c:tx>
          <c:spPr>
            <a:solidFill>
              <a:srgbClr val="B3382C"/>
            </a:solidFill>
            <a:effectLst/>
          </c:spPr>
          <c:invertIfNegative val="0"/>
          <c:cat>
            <c:strRef>
              <c:f>Sheet1!$A$2:$A$5</c:f>
              <c:strCache>
                <c:ptCount val="4"/>
                <c:pt idx="0">
                  <c:v>Flat</c:v>
                </c:pt>
                <c:pt idx="1">
                  <c:v>Hub &amp; Spoke</c:v>
                </c:pt>
                <c:pt idx="2">
                  <c:v>DMZ</c:v>
                </c:pt>
                <c:pt idx="3">
                  <c:v>Micro-Seg.</c:v>
                </c:pt>
              </c:strCache>
            </c:strRef>
          </c:cat>
          <c:val>
            <c:numRef>
              <c:f>Sheet1!$G$2:$G$5</c:f>
              <c:numCache>
                <c:formatCode>General</c:formatCode>
                <c:ptCount val="4"/>
                <c:pt idx="0">
                  <c:v>0.7</c:v>
                </c:pt>
                <c:pt idx="1">
                  <c:v>10.199999999999999</c:v>
                </c:pt>
                <c:pt idx="2">
                  <c:v>50.5</c:v>
                </c:pt>
                <c:pt idx="3">
                  <c:v>0</c:v>
                </c:pt>
              </c:numCache>
            </c:numRef>
          </c:val>
          <c:extLst>
            <c:ext xmlns:c16="http://schemas.microsoft.com/office/drawing/2014/chart" uri="{C3380CC4-5D6E-409C-BE32-E72D297353CC}">
              <c16:uniqueId val="{00000005-3BD3-40BA-9646-FFE1BB3C5821}"/>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3282F"/>
                </a:solidFill>
                <a:latin typeface="Arial"/>
              </a:defRPr>
            </a:pPr>
            <a:endParaRPr lang="en-US"/>
          </a:p>
        </c:txPr>
        <c:crossAx val="2094734552"/>
        <c:crosses val="autoZero"/>
        <c:auto val="1"/>
        <c:lblAlgn val="ctr"/>
        <c:lblOffset val="100"/>
        <c:noMultiLvlLbl val="1"/>
      </c:catAx>
      <c:valAx>
        <c:axId val="2094734552"/>
        <c:scaling>
          <c:orientation val="minMax"/>
          <c:max val="100"/>
          <c:min val="0"/>
        </c:scaling>
        <c:delete val="0"/>
        <c:axPos val="l"/>
        <c:majorGridlines>
          <c:spPr>
            <a:ln w="12700" cap="flat">
              <a:solidFill>
                <a:srgbClr val="DDE1E6"/>
              </a:solidFill>
              <a:prstDash val="solid"/>
              <a:round/>
            </a:ln>
          </c:spPr>
        </c:majorGridlines>
        <c:title>
          <c:tx>
            <c:rich>
              <a:bodyPr/>
              <a:lstStyle/>
              <a:p>
                <a:pPr>
                  <a:defRPr sz="1100" b="0" i="0" u="none" strike="noStrike">
                    <a:solidFill>
                      <a:srgbClr val="6E7681"/>
                    </a:solidFill>
                    <a:latin typeface="Arial"/>
                  </a:defRPr>
                </a:pPr>
                <a:r>
                  <a:rPr sz="1100" b="0" i="0" u="none" strike="noStrike">
                    <a:solidFill>
                      <a:srgbClr val="6E7681"/>
                    </a:solidFill>
                    <a:latin typeface="Arial"/>
                  </a:rPr>
                  <a:t>Crown Jewel erreicht (%)</a:t>
                </a:r>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7681"/>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23282F"/>
              </a:solidFill>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534522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Vollstaendige Matrix, 120 Laeufe, 24 Matchups, 5 Seeds je Matchup. Auto-Stop bedeutet: das Konvergenzkriterium hat gegriffen.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Wichtig fuers Meeting: Die Zahlen sind nicht mit dem Lauf vom 16.08. vergleichbar. Der Fehler steckte in MARLons Eviction-Strafe, nicht in der Topologiemodellierung.</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Diese Folie war im letzten Lauf die Kernfolie. Sie ist es nicht mehr: Fast alle Zellen sind gleich. Das ist selbst das Ergebnis, denn vorher verhinderte das Farmen ein Plateau.</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 Engpass in Hub &amp; Spoke bringt dem Verteidiger nichts, sobald er selbst uebernehmbar ist.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Diskussionspunkt: spricht fuer eine Auswertung, die nach Angreiferherkunft trennt.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Alle Werte sind jetzt negativ und liegen zwischen -44 und -216. Vor dem Reward-Fix reichte die Spanne von -31889 bis +5484.</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Zahlen aus prep_curves.py. Anfangswerte liegen ueberall bei etwa -600 bis -900, der Startpunkt ist also vergleichbar.</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Gegenstueck zur Verteidigerfolie. Beide Seiten sind ueber die Zerosum-Kopplung verbunden, aber nicht exakt spiegelbildlich.</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Ergaenzt die Konvergenz um die Frage, ob der Angreifer ueberhaupt vorankommt.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Ergaenzt die CJ-Folie: Die Krone wird oft erreicht, das Netz aber selten uebernommen. Der Angreifer kommt an das wertvolle System, breitet sich danach aber nicht aus.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 Angreifer ein Feld. Senkrechte Linien markieren, wann ein Seed endet: gold gestrichelt = konvergiert und ausgestiegen, grau gepunktet = am Schrittlimit. Blass gezeichnete Abschnitte beruhen nicht mehr auf allen fuenf Seeds. Konvergierte Seeds werden mit ihrem letzten Wert fortgeschrieben (das Kriterium sagt aus, dass er stabil ist); am Schrittlimit beendete Seeds fallen heraus, weil ihr Wert nicht stabil war.</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 Angreifer ein Feld. Senkrechte Linien markieren, wann ein Seed endet: gold gestrichelt = konvergiert und ausgestiegen, grau gepunktet = am Schrittlimit. Blass gezeichnete Abschnitte beruhen nicht mehr auf allen fuenf Seeds. Konvergierte Seeds werden mit ihrem letzten Wert fortgeschrieben (das Kriterium sagt aus, dass er stabil ist); am Schrittlimit beendete Seeds fallen heraus, weil ihr Wert nicht stabil war.</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 Angreifer ein Feld. Senkrechte Linien markieren, wann ein Seed endet: gold gestrichelt = konvergiert und ausgestiegen, grau gepunktet = am Schrittlimit. Blass gezeichnete Abschnitte beruhen nicht mehr auf allen fuenf Seeds. Konvergierte Seeds werden mit ihrem letzten Wert fortgeschrieben (das Kriterium sagt aus, dass er stabil ist); am Schrittlimit beendete Seeds fallen heraus, weil ihr Wert nicht stabil war.</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 Angreifer ein Feld. Senkrechte Linien markieren, wann ein Seed endet: gold gestrichelt = konvergiert und ausgestiegen, grau gepunktet = am Schrittlimit. Blass gezeichnete Abschnitte beruhen nicht mehr auf allen fuenf Seeds. Konvergierte Seeds werden mit ihrem letzten Wert fortgeschrieben (das Kriterium sagt aus, dass er stabil ist); am Schrittlimit beendete Seeds fallen heraus, weil ihr Wert nicht stabil war.</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Zahlen aus combined_episodes.csv, Mittel ueber alle 120 Laeufe. def_start_svc ist durchgehend 0 und deshalb nicht dargestellt.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Gestapelte Anteile je Episode, gemittelt nach denselben Seed-Regeln wie die Reward-Kurven. Die gestrichelte Linie markiert, ab wo nicht mehr alle fuenf Seeds beitragen.</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Gestapelte Anteile je Episode, gemittelt nach denselben Seed-Regeln wie die Reward-Kurven. Die gestrichelte Linie markiert, ab wo nicht mehr alle fuenf Seeds beitragen.</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Gestapelte Anteile je Episode, gemittelt nach denselben Seed-Regeln wie die Reward-Kurven. Die gestrichelte Linie markiert, ab wo nicht mehr alle fuenf Seeds beitragen.</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Gestapelte Anteile je Episode, gemittelt nach denselben Seed-Regeln wie die Reward-Kurven. Die gestrichelte Linie markiert, ab wo nicht mehr alle fuenf Seeds beitragen.</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SLA-Brueche treten in nur 4 von 24 Matchups ueberhaupt auf, und ausschliesslich dort, wo Verteidiger und Angreifer auf derselben Topologie beruhen bzw. gegen Hub &amp; Spoke. Micro-Segmentation bricht die SLA nie.</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Antwort auf die Frage, wie 4 von 5 Seeds konvergieren koennen: Die Ausschlaege sind selten und das Kriterium arbeitet auf dem geglaetteten Verlauf.</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Uebergangsfolie. Wichtig zu betonen: Der Zufallsagent ist die eigentliche Messlatte, nicht das ungeschuetzte Netz.</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Kernfolie fuer die Frage nach dem Nutzen. Auf die Zellen mit grossem Abstand zwischen trainiert und Zufall zeigen, das sind die Ausnahmen.</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Hier zeigt sich der Nutzen des Trainings deutlicher als am Reward, weil keine Strafterme dazwischenliegen.</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Vorsicht bei dmz gegen dmz: Die Verbesserung von 97 auf 77 Prozent tragen nur zwei der fuenf Seeds.</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Antwort auf den Einwand, ein Zufallsagent sei gleichwertig: Auf der Angreiferseite ja, auf der eigenen Metrik keineswegs.</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1F26"/>
        </a:solidFill>
        <a:effectLst/>
      </p:bgPr>
    </p:bg>
    <p:spTree>
      <p:nvGrpSpPr>
        <p:cNvPr id="1" name=""/>
        <p:cNvGrpSpPr/>
        <p:nvPr/>
      </p:nvGrpSpPr>
      <p:grpSpPr>
        <a:xfrm>
          <a:off x="0" y="0"/>
          <a:ext cx="0" cy="0"/>
          <a:chOff x="0" y="0"/>
          <a:chExt cx="0" cy="0"/>
        </a:xfrm>
      </p:grpSpPr>
      <p:sp>
        <p:nvSpPr>
          <p:cNvPr id="2" name="Text 0"/>
          <p:cNvSpPr/>
          <p:nvPr/>
        </p:nvSpPr>
        <p:spPr>
          <a:xfrm>
            <a:off x="640080" y="2057400"/>
            <a:ext cx="8778240" cy="868680"/>
          </a:xfrm>
          <a:prstGeom prst="rect">
            <a:avLst/>
          </a:prstGeom>
          <a:noFill/>
          <a:ln/>
        </p:spPr>
        <p:txBody>
          <a:bodyPr wrap="square" lIns="0" tIns="0" rIns="0" bIns="0" rtlCol="0" anchor="ctr"/>
          <a:lstStyle/>
          <a:p>
            <a:pPr marL="0" indent="0">
              <a:buNone/>
            </a:pPr>
            <a:r>
              <a:rPr lang="en-US" sz="4600" b="1" dirty="0">
                <a:solidFill>
                  <a:srgbClr val="FFFFFF"/>
                </a:solidFill>
                <a:latin typeface="Cambria" pitchFamily="34" charset="0"/>
                <a:ea typeface="Cambria" pitchFamily="34" charset="-122"/>
                <a:cs typeface="Cambria" pitchFamily="34" charset="-120"/>
              </a:rPr>
              <a:t>Verteidiger-Matrix</a:t>
            </a:r>
            <a:endParaRPr lang="en-US" sz="4600" dirty="0"/>
          </a:p>
        </p:txBody>
      </p:sp>
      <p:sp>
        <p:nvSpPr>
          <p:cNvPr id="3" name="Text 1"/>
          <p:cNvSpPr/>
          <p:nvPr/>
        </p:nvSpPr>
        <p:spPr>
          <a:xfrm>
            <a:off x="640080" y="2926080"/>
            <a:ext cx="8778240" cy="457200"/>
          </a:xfrm>
          <a:prstGeom prst="rect">
            <a:avLst/>
          </a:prstGeom>
          <a:noFill/>
          <a:ln/>
        </p:spPr>
        <p:txBody>
          <a:bodyPr wrap="square" lIns="0" tIns="0" rIns="0" bIns="0" rtlCol="0" anchor="ctr"/>
          <a:lstStyle/>
          <a:p>
            <a:pPr marL="0" indent="0">
              <a:buNone/>
            </a:pPr>
            <a:r>
              <a:rPr lang="en-US" sz="2000" dirty="0">
                <a:solidFill>
                  <a:srgbClr val="C6CDD6"/>
                </a:solidFill>
                <a:latin typeface="Calibri" pitchFamily="34" charset="0"/>
                <a:ea typeface="Calibri" pitchFamily="34" charset="-122"/>
                <a:cs typeface="Calibri" pitchFamily="34" charset="-120"/>
              </a:rPr>
              <a:t>Einfluss der Netzwerktopologie auf die Lerneffizienz</a:t>
            </a:r>
            <a:endParaRPr lang="en-US" sz="2000" dirty="0"/>
          </a:p>
        </p:txBody>
      </p:sp>
      <p:sp>
        <p:nvSpPr>
          <p:cNvPr id="4" name="Text 2"/>
          <p:cNvSpPr/>
          <p:nvPr/>
        </p:nvSpPr>
        <p:spPr>
          <a:xfrm>
            <a:off x="640080" y="3703320"/>
            <a:ext cx="8778240" cy="36576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120 Trainingsläufe</a:t>
            </a:r>
            <a:r>
              <a:rPr lang="en-US" sz="1500" dirty="0">
                <a:solidFill>
                  <a:srgbClr val="6E7681"/>
                </a:solidFill>
                <a:latin typeface="Calibri" pitchFamily="34" charset="0"/>
                <a:ea typeface="Calibri" pitchFamily="34" charset="-122"/>
                <a:cs typeface="Calibri" pitchFamily="34" charset="-120"/>
              </a:rPr>
              <a:t>   ·   </a:t>
            </a:r>
            <a:r>
              <a:rPr lang="en-US" sz="1500" b="1" dirty="0">
                <a:solidFill>
                  <a:srgbClr val="FFFFFF"/>
                </a:solidFill>
                <a:latin typeface="Calibri" pitchFamily="34" charset="0"/>
                <a:ea typeface="Calibri" pitchFamily="34" charset="-122"/>
                <a:cs typeface="Calibri" pitchFamily="34" charset="-120"/>
              </a:rPr>
              <a:t>24 Matchups</a:t>
            </a:r>
            <a:r>
              <a:rPr lang="en-US" sz="1500" dirty="0">
                <a:solidFill>
                  <a:srgbClr val="6E7681"/>
                </a:solidFill>
                <a:latin typeface="Calibri" pitchFamily="34" charset="0"/>
                <a:ea typeface="Calibri" pitchFamily="34" charset="-122"/>
                <a:cs typeface="Calibri" pitchFamily="34" charset="-120"/>
              </a:rPr>
              <a:t>   ·   </a:t>
            </a:r>
            <a:r>
              <a:rPr lang="en-US" sz="1500" b="1" dirty="0">
                <a:solidFill>
                  <a:srgbClr val="FFFFFF"/>
                </a:solidFill>
                <a:latin typeface="Calibri" pitchFamily="34" charset="0"/>
                <a:ea typeface="Calibri" pitchFamily="34" charset="-122"/>
                <a:cs typeface="Calibri" pitchFamily="34" charset="-120"/>
              </a:rPr>
              <a:t>5 Seeds</a:t>
            </a:r>
            <a:endParaRPr lang="en-US" sz="1500" dirty="0"/>
          </a:p>
        </p:txBody>
      </p:sp>
      <p:sp>
        <p:nvSpPr>
          <p:cNvPr id="5" name="Text 3"/>
          <p:cNvSpPr/>
          <p:nvPr/>
        </p:nvSpPr>
        <p:spPr>
          <a:xfrm>
            <a:off x="640080" y="5897880"/>
            <a:ext cx="8778240" cy="292608"/>
          </a:xfrm>
          <a:prstGeom prst="rect">
            <a:avLst/>
          </a:prstGeom>
          <a:noFill/>
          <a:ln/>
        </p:spPr>
        <p:txBody>
          <a:bodyPr wrap="square" lIns="0" tIns="0" rIns="0" bIns="0" rtlCol="0" anchor="ctr"/>
          <a:lstStyle/>
          <a:p>
            <a:pPr marL="0" indent="0">
              <a:buNone/>
            </a:pPr>
            <a:r>
              <a:rPr lang="en-US" sz="1200" dirty="0">
                <a:solidFill>
                  <a:srgbClr val="6E7681"/>
                </a:solidFill>
                <a:latin typeface="Calibri" pitchFamily="34" charset="0"/>
                <a:ea typeface="Calibri" pitchFamily="34" charset="-122"/>
                <a:cs typeface="Calibri" pitchFamily="34" charset="-120"/>
              </a:rPr>
              <a:t>Lauf 20260818_004656   ·   nach Topologie-Redesign</a:t>
            </a:r>
            <a:endParaRPr lang="en-US" sz="1200" dirty="0"/>
          </a:p>
        </p:txBody>
      </p:sp>
      <p:sp>
        <p:nvSpPr>
          <p:cNvPr id="6" name="Shape 4"/>
          <p:cNvSpPr/>
          <p:nvPr/>
        </p:nvSpPr>
        <p:spPr>
          <a:xfrm>
            <a:off x="9601200" y="2057400"/>
            <a:ext cx="1920240" cy="2011680"/>
          </a:xfrm>
          <a:prstGeom prst="roundRect">
            <a:avLst>
              <a:gd name="adj" fmla="val 5714"/>
            </a:avLst>
          </a:prstGeom>
          <a:solidFill>
            <a:srgbClr val="252B33"/>
          </a:solidFill>
          <a:ln w="12700">
            <a:solidFill>
              <a:srgbClr val="3A424D"/>
            </a:solidFill>
            <a:prstDash val="solid"/>
          </a:ln>
        </p:spPr>
        <p:txBody>
          <a:bodyPr/>
          <a:lstStyle/>
          <a:p>
            <a:endParaRPr lang="de-DE"/>
          </a:p>
        </p:txBody>
      </p:sp>
      <p:sp>
        <p:nvSpPr>
          <p:cNvPr id="7" name="Text 5"/>
          <p:cNvSpPr/>
          <p:nvPr/>
        </p:nvSpPr>
        <p:spPr>
          <a:xfrm>
            <a:off x="9601200" y="2377440"/>
            <a:ext cx="1920240" cy="640080"/>
          </a:xfrm>
          <a:prstGeom prst="rect">
            <a:avLst/>
          </a:prstGeom>
          <a:noFill/>
          <a:ln/>
        </p:spPr>
        <p:txBody>
          <a:bodyPr wrap="square" lIns="0" tIns="0" rIns="0" bIns="0" rtlCol="0" anchor="ctr"/>
          <a:lstStyle/>
          <a:p>
            <a:pPr marL="0" indent="0" algn="ctr">
              <a:buNone/>
            </a:pPr>
            <a:r>
              <a:rPr lang="en-US" sz="3400" b="1" dirty="0">
                <a:solidFill>
                  <a:srgbClr val="D99A2B"/>
                </a:solidFill>
                <a:latin typeface="Cambria" pitchFamily="34" charset="0"/>
                <a:ea typeface="Cambria" pitchFamily="34" charset="-122"/>
                <a:cs typeface="Cambria" pitchFamily="34" charset="-120"/>
              </a:rPr>
              <a:t>98,3 %</a:t>
            </a:r>
            <a:endParaRPr lang="en-US" sz="3400" dirty="0"/>
          </a:p>
        </p:txBody>
      </p:sp>
      <p:sp>
        <p:nvSpPr>
          <p:cNvPr id="8" name="Text 6"/>
          <p:cNvSpPr/>
          <p:nvPr/>
        </p:nvSpPr>
        <p:spPr>
          <a:xfrm>
            <a:off x="9601200" y="3063240"/>
            <a:ext cx="1920240" cy="640080"/>
          </a:xfrm>
          <a:prstGeom prst="rect">
            <a:avLst/>
          </a:prstGeom>
          <a:noFill/>
          <a:ln/>
        </p:spPr>
        <p:txBody>
          <a:bodyPr wrap="square" lIns="0" tIns="0" rIns="0" bIns="0" rtlCol="0" anchor="ctr"/>
          <a:lstStyle/>
          <a:p>
            <a:pPr marL="0" indent="0" algn="ctr">
              <a:buNone/>
            </a:pPr>
            <a:r>
              <a:rPr lang="en-US" sz="1200" dirty="0">
                <a:solidFill>
                  <a:srgbClr val="C6CDD6"/>
                </a:solidFill>
                <a:latin typeface="Calibri" pitchFamily="34" charset="0"/>
                <a:ea typeface="Calibri" pitchFamily="34" charset="-122"/>
                <a:cs typeface="Calibri" pitchFamily="34" charset="-120"/>
              </a:rPr>
              <a:t>der Läufe</a:t>
            </a:r>
            <a:endParaRPr lang="en-US" sz="1200" dirty="0"/>
          </a:p>
          <a:p>
            <a:pPr marL="0" indent="0" algn="ctr">
              <a:buNone/>
            </a:pPr>
            <a:r>
              <a:rPr lang="en-US" sz="1200" dirty="0">
                <a:solidFill>
                  <a:srgbClr val="C6CDD6"/>
                </a:solidFill>
                <a:latin typeface="Calibri" pitchFamily="34" charset="0"/>
                <a:ea typeface="Calibri" pitchFamily="34" charset="-122"/>
                <a:cs typeface="Calibri" pitchFamily="34" charset="-120"/>
              </a:rPr>
              <a:t>konvergiert</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40080" y="384048"/>
            <a:ext cx="10881360" cy="566928"/>
          </a:xfrm>
          <a:prstGeom prst="rect">
            <a:avLst/>
          </a:prstGeom>
          <a:noFill/>
          <a:ln/>
        </p:spPr>
        <p:txBody>
          <a:bodyPr wrap="square" lIns="0" tIns="0" rIns="0" bIns="0" rtlCol="0" anchor="ctr"/>
          <a:lstStyle/>
          <a:p>
            <a:pPr marL="0" indent="0">
              <a:buNone/>
            </a:pPr>
            <a:r>
              <a:rPr lang="en-US" sz="3400" b="1" dirty="0">
                <a:solidFill>
                  <a:srgbClr val="23282F"/>
                </a:solidFill>
                <a:latin typeface="Cambria" pitchFamily="34" charset="0"/>
                <a:ea typeface="Cambria" pitchFamily="34" charset="-122"/>
                <a:cs typeface="Cambria" pitchFamily="34" charset="-120"/>
              </a:rPr>
              <a:t>Was sich gegenüber dem letzten Lauf geändert hat</a:t>
            </a:r>
            <a:endParaRPr lang="en-US" sz="3400" dirty="0"/>
          </a:p>
        </p:txBody>
      </p:sp>
      <p:sp>
        <p:nvSpPr>
          <p:cNvPr id="3" name="Text 1"/>
          <p:cNvSpPr/>
          <p:nvPr/>
        </p:nvSpPr>
        <p:spPr>
          <a:xfrm>
            <a:off x="640080" y="969264"/>
            <a:ext cx="10881360" cy="493776"/>
          </a:xfrm>
          <a:prstGeom prst="rect">
            <a:avLst/>
          </a:prstGeom>
          <a:noFill/>
          <a:ln/>
        </p:spPr>
        <p:txBody>
          <a:bodyPr wrap="square" lIns="0" tIns="0" rIns="0" bIns="0" rtlCol="0" anchor="ctr"/>
          <a:lstStyle/>
          <a:p>
            <a:pPr marL="0" indent="0">
              <a:buNone/>
            </a:pPr>
            <a:r>
              <a:rPr lang="en-US" sz="1400" dirty="0">
                <a:solidFill>
                  <a:srgbClr val="6E7681"/>
                </a:solidFill>
                <a:latin typeface="Calibri" pitchFamily="34" charset="0"/>
                <a:ea typeface="Calibri" pitchFamily="34" charset="-122"/>
                <a:cs typeface="Calibri" pitchFamily="34" charset="-120"/>
              </a:rPr>
              <a:t>Zwei Eingriffe am Reward — alle Ergebnisse davor sind damit hinfällig</a:t>
            </a:r>
            <a:endParaRPr lang="en-US" sz="1400" dirty="0"/>
          </a:p>
        </p:txBody>
      </p:sp>
      <p:sp>
        <p:nvSpPr>
          <p:cNvPr id="4" name="Shape 2"/>
          <p:cNvSpPr/>
          <p:nvPr/>
        </p:nvSpPr>
        <p:spPr>
          <a:xfrm>
            <a:off x="640080" y="1691640"/>
            <a:ext cx="3383280" cy="3200400"/>
          </a:xfrm>
          <a:prstGeom prst="roundRect">
            <a:avLst>
              <a:gd name="adj" fmla="val 2857"/>
            </a:avLst>
          </a:prstGeom>
          <a:solidFill>
            <a:srgbClr val="F4F6F8"/>
          </a:solidFill>
          <a:ln w="12700">
            <a:solidFill>
              <a:srgbClr val="DDE1E6"/>
            </a:solidFill>
            <a:prstDash val="solid"/>
          </a:ln>
        </p:spPr>
        <p:txBody>
          <a:bodyPr/>
          <a:lstStyle/>
          <a:p>
            <a:endParaRPr lang="de-DE"/>
          </a:p>
        </p:txBody>
      </p:sp>
      <p:sp>
        <p:nvSpPr>
          <p:cNvPr id="5" name="Text 3"/>
          <p:cNvSpPr/>
          <p:nvPr/>
        </p:nvSpPr>
        <p:spPr>
          <a:xfrm>
            <a:off x="914400" y="1920240"/>
            <a:ext cx="2834640" cy="365760"/>
          </a:xfrm>
          <a:prstGeom prst="rect">
            <a:avLst/>
          </a:prstGeom>
          <a:noFill/>
          <a:ln/>
        </p:spPr>
        <p:txBody>
          <a:bodyPr wrap="square" lIns="0" tIns="0" rIns="0" bIns="0" rtlCol="0" anchor="ctr"/>
          <a:lstStyle/>
          <a:p>
            <a:pPr marL="0" indent="0">
              <a:buNone/>
            </a:pPr>
            <a:r>
              <a:rPr lang="en-US" sz="1900" b="1" dirty="0">
                <a:solidFill>
                  <a:srgbClr val="1C6E8C"/>
                </a:solidFill>
                <a:latin typeface="Cambria" pitchFamily="34" charset="0"/>
                <a:ea typeface="Cambria" pitchFamily="34" charset="-122"/>
                <a:cs typeface="Cambria" pitchFamily="34" charset="-120"/>
              </a:rPr>
              <a:t>Farmen unterbunden</a:t>
            </a:r>
            <a:endParaRPr lang="en-US" sz="1900" dirty="0"/>
          </a:p>
        </p:txBody>
      </p:sp>
      <p:sp>
        <p:nvSpPr>
          <p:cNvPr id="6" name="Text 4"/>
          <p:cNvSpPr/>
          <p:nvPr/>
        </p:nvSpPr>
        <p:spPr>
          <a:xfrm>
            <a:off x="914400" y="2359152"/>
            <a:ext cx="2834640" cy="731520"/>
          </a:xfrm>
          <a:prstGeom prst="rect">
            <a:avLst/>
          </a:prstGeom>
          <a:noFill/>
          <a:ln/>
        </p:spPr>
        <p:txBody>
          <a:bodyPr wrap="square" lIns="0" tIns="0" rIns="0" bIns="0" rtlCol="0" anchor="ctr"/>
          <a:lstStyle/>
          <a:p>
            <a:pPr marL="0" indent="0">
              <a:buNone/>
            </a:pPr>
            <a:r>
              <a:rPr lang="en-US" sz="1400" b="1" dirty="0">
                <a:solidFill>
                  <a:srgbClr val="23282F"/>
                </a:solidFill>
                <a:latin typeface="Calibri" pitchFamily="34" charset="0"/>
                <a:ea typeface="Calibri" pitchFamily="34" charset="-122"/>
                <a:cs typeface="Calibri" pitchFamily="34" charset="-120"/>
              </a:rPr>
              <a:t>Eine Rückeroberung zählt wieder wie die erste Übernahme.</a:t>
            </a:r>
            <a:endParaRPr lang="en-US" sz="1400" dirty="0"/>
          </a:p>
        </p:txBody>
      </p:sp>
      <p:sp>
        <p:nvSpPr>
          <p:cNvPr id="7" name="Text 5"/>
          <p:cNvSpPr/>
          <p:nvPr/>
        </p:nvSpPr>
        <p:spPr>
          <a:xfrm>
            <a:off x="914400" y="3154680"/>
            <a:ext cx="2834640" cy="1463040"/>
          </a:xfrm>
          <a:prstGeom prst="rect">
            <a:avLst/>
          </a:prstGeom>
          <a:noFill/>
          <a:ln/>
        </p:spPr>
        <p:txBody>
          <a:bodyPr wrap="square" lIns="0" tIns="0" rIns="0" bIns="0" rtlCol="0" anchor="ctr"/>
          <a:lstStyle/>
          <a:p>
            <a:pPr marL="0" indent="0">
              <a:buNone/>
            </a:pPr>
            <a:r>
              <a:rPr lang="en-US" sz="1200" dirty="0">
                <a:solidFill>
                  <a:srgbClr val="6E7681"/>
                </a:solidFill>
                <a:latin typeface="Calibri" pitchFamily="34" charset="0"/>
                <a:ea typeface="Calibri" pitchFamily="34" charset="-122"/>
                <a:cs typeface="Calibri" pitchFamily="34" charset="-120"/>
              </a:rPr>
              <a:t>CyberBattleSim schrieb den Knotenwert nur beim ersten Besitz gut und behielt den Vermerk über ein Reimage hinweg. Der Verteidiger konnte denselben Knoten wieder und wieder aufsetzen und jedes Mal dessen Wert vereinnahmen.</a:t>
            </a:r>
            <a:endParaRPr lang="en-US" sz="1200" dirty="0"/>
          </a:p>
        </p:txBody>
      </p:sp>
      <p:sp>
        <p:nvSpPr>
          <p:cNvPr id="8" name="Shape 6"/>
          <p:cNvSpPr/>
          <p:nvPr/>
        </p:nvSpPr>
        <p:spPr>
          <a:xfrm>
            <a:off x="4389120" y="1691640"/>
            <a:ext cx="3383280" cy="3200400"/>
          </a:xfrm>
          <a:prstGeom prst="roundRect">
            <a:avLst>
              <a:gd name="adj" fmla="val 2857"/>
            </a:avLst>
          </a:prstGeom>
          <a:solidFill>
            <a:srgbClr val="F4F6F8"/>
          </a:solidFill>
          <a:ln w="12700">
            <a:solidFill>
              <a:srgbClr val="DDE1E6"/>
            </a:solidFill>
            <a:prstDash val="solid"/>
          </a:ln>
        </p:spPr>
        <p:txBody>
          <a:bodyPr/>
          <a:lstStyle/>
          <a:p>
            <a:endParaRPr lang="de-DE"/>
          </a:p>
        </p:txBody>
      </p:sp>
      <p:sp>
        <p:nvSpPr>
          <p:cNvPr id="9" name="Text 7"/>
          <p:cNvSpPr/>
          <p:nvPr/>
        </p:nvSpPr>
        <p:spPr>
          <a:xfrm>
            <a:off x="4663440" y="1920240"/>
            <a:ext cx="2834640" cy="365760"/>
          </a:xfrm>
          <a:prstGeom prst="rect">
            <a:avLst/>
          </a:prstGeom>
          <a:noFill/>
          <a:ln/>
        </p:spPr>
        <p:txBody>
          <a:bodyPr wrap="square" lIns="0" tIns="0" rIns="0" bIns="0" rtlCol="0" anchor="ctr"/>
          <a:lstStyle/>
          <a:p>
            <a:pPr marL="0" indent="0">
              <a:buNone/>
            </a:pPr>
            <a:r>
              <a:rPr lang="en-US" sz="1900" b="1" dirty="0">
                <a:solidFill>
                  <a:srgbClr val="1C6E8C"/>
                </a:solidFill>
                <a:latin typeface="Cambria" pitchFamily="34" charset="0"/>
                <a:ea typeface="Cambria" pitchFamily="34" charset="-122"/>
                <a:cs typeface="Cambria" pitchFamily="34" charset="-120"/>
              </a:rPr>
              <a:t>Haltebonus</a:t>
            </a:r>
            <a:endParaRPr lang="en-US" sz="1900" dirty="0"/>
          </a:p>
        </p:txBody>
      </p:sp>
      <p:sp>
        <p:nvSpPr>
          <p:cNvPr id="10" name="Text 8"/>
          <p:cNvSpPr/>
          <p:nvPr/>
        </p:nvSpPr>
        <p:spPr>
          <a:xfrm>
            <a:off x="4663440" y="2359152"/>
            <a:ext cx="2834640" cy="731520"/>
          </a:xfrm>
          <a:prstGeom prst="rect">
            <a:avLst/>
          </a:prstGeom>
          <a:noFill/>
          <a:ln/>
        </p:spPr>
        <p:txBody>
          <a:bodyPr wrap="square" lIns="0" tIns="0" rIns="0" bIns="0" rtlCol="0" anchor="ctr"/>
          <a:lstStyle/>
          <a:p>
            <a:pPr marL="0" indent="0">
              <a:buNone/>
            </a:pPr>
            <a:r>
              <a:rPr lang="en-US" sz="1400" b="1" dirty="0">
                <a:solidFill>
                  <a:srgbClr val="23282F"/>
                </a:solidFill>
                <a:latin typeface="Calibri" pitchFamily="34" charset="0"/>
                <a:ea typeface="Calibri" pitchFamily="34" charset="-122"/>
                <a:cs typeface="Calibri" pitchFamily="34" charset="-120"/>
              </a:rPr>
              <a:t>Je Schritt ein Tausendstel des Werts gehaltener Knoten.</a:t>
            </a:r>
            <a:endParaRPr lang="en-US" sz="1400" dirty="0"/>
          </a:p>
        </p:txBody>
      </p:sp>
      <p:sp>
        <p:nvSpPr>
          <p:cNvPr id="11" name="Text 9"/>
          <p:cNvSpPr/>
          <p:nvPr/>
        </p:nvSpPr>
        <p:spPr>
          <a:xfrm>
            <a:off x="4663440" y="3154680"/>
            <a:ext cx="2834640" cy="1463040"/>
          </a:xfrm>
          <a:prstGeom prst="rect">
            <a:avLst/>
          </a:prstGeom>
          <a:noFill/>
          <a:ln/>
        </p:spPr>
        <p:txBody>
          <a:bodyPr wrap="square" lIns="0" tIns="0" rIns="0" bIns="0" rtlCol="0" anchor="ctr"/>
          <a:lstStyle/>
          <a:p>
            <a:pPr marL="0" indent="0">
              <a:buNone/>
            </a:pPr>
            <a:r>
              <a:rPr lang="en-US" sz="1200" dirty="0">
                <a:solidFill>
                  <a:srgbClr val="6E7681"/>
                </a:solidFill>
                <a:latin typeface="Calibri" pitchFamily="34" charset="0"/>
                <a:ea typeface="Calibri" pitchFamily="34" charset="-122"/>
                <a:cs typeface="Calibri" pitchFamily="34" charset="-120"/>
              </a:rPr>
              <a:t>Der Reward misst damit nicht mehr nur, ob ein System kompromittiert wurde, sondern auch wie lange. Ohne diesen Zusatz stünde ein zwei Schritte gehaltener Knoten gleich mit einem über die ganze Episode gehaltenen.</a:t>
            </a:r>
            <a:endParaRPr lang="en-US" sz="1200" dirty="0"/>
          </a:p>
        </p:txBody>
      </p:sp>
      <p:sp>
        <p:nvSpPr>
          <p:cNvPr id="12" name="Shape 10"/>
          <p:cNvSpPr/>
          <p:nvPr/>
        </p:nvSpPr>
        <p:spPr>
          <a:xfrm>
            <a:off x="8138160" y="1691640"/>
            <a:ext cx="3383280" cy="3200400"/>
          </a:xfrm>
          <a:prstGeom prst="roundRect">
            <a:avLst>
              <a:gd name="adj" fmla="val 2857"/>
            </a:avLst>
          </a:prstGeom>
          <a:solidFill>
            <a:srgbClr val="F4F6F8"/>
          </a:solidFill>
          <a:ln w="12700">
            <a:solidFill>
              <a:srgbClr val="DDE1E6"/>
            </a:solidFill>
            <a:prstDash val="solid"/>
          </a:ln>
        </p:spPr>
        <p:txBody>
          <a:bodyPr/>
          <a:lstStyle/>
          <a:p>
            <a:endParaRPr lang="de-DE"/>
          </a:p>
        </p:txBody>
      </p:sp>
      <p:sp>
        <p:nvSpPr>
          <p:cNvPr id="13" name="Text 11"/>
          <p:cNvSpPr/>
          <p:nvPr/>
        </p:nvSpPr>
        <p:spPr>
          <a:xfrm>
            <a:off x="8412480" y="1920240"/>
            <a:ext cx="2834640" cy="365760"/>
          </a:xfrm>
          <a:prstGeom prst="rect">
            <a:avLst/>
          </a:prstGeom>
          <a:noFill/>
          <a:ln/>
        </p:spPr>
        <p:txBody>
          <a:bodyPr wrap="square" lIns="0" tIns="0" rIns="0" bIns="0" rtlCol="0" anchor="ctr"/>
          <a:lstStyle/>
          <a:p>
            <a:pPr marL="0" indent="0">
              <a:buNone/>
            </a:pPr>
            <a:r>
              <a:rPr lang="en-US" sz="1900" b="1" dirty="0">
                <a:solidFill>
                  <a:srgbClr val="6E7681"/>
                </a:solidFill>
                <a:latin typeface="Cambria" pitchFamily="34" charset="0"/>
                <a:ea typeface="Cambria" pitchFamily="34" charset="-122"/>
                <a:cs typeface="Cambria" pitchFamily="34" charset="-120"/>
              </a:rPr>
              <a:t>Folge</a:t>
            </a:r>
            <a:endParaRPr lang="en-US" sz="1900" dirty="0"/>
          </a:p>
        </p:txBody>
      </p:sp>
      <p:sp>
        <p:nvSpPr>
          <p:cNvPr id="14" name="Text 12"/>
          <p:cNvSpPr/>
          <p:nvPr/>
        </p:nvSpPr>
        <p:spPr>
          <a:xfrm>
            <a:off x="8412480" y="2359152"/>
            <a:ext cx="2834640" cy="731520"/>
          </a:xfrm>
          <a:prstGeom prst="rect">
            <a:avLst/>
          </a:prstGeom>
          <a:noFill/>
          <a:ln/>
        </p:spPr>
        <p:txBody>
          <a:bodyPr wrap="square" lIns="0" tIns="0" rIns="0" bIns="0" rtlCol="0" anchor="ctr"/>
          <a:lstStyle/>
          <a:p>
            <a:pPr marL="0" indent="0">
              <a:buNone/>
            </a:pPr>
            <a:r>
              <a:rPr lang="en-US" sz="1400" b="1" dirty="0">
                <a:solidFill>
                  <a:srgbClr val="23282F"/>
                </a:solidFill>
                <a:latin typeface="Calibri" pitchFamily="34" charset="0"/>
                <a:ea typeface="Calibri" pitchFamily="34" charset="-122"/>
                <a:cs typeface="Calibri" pitchFamily="34" charset="-120"/>
              </a:rPr>
              <a:t>Die Reward-Skala ist um zwei Größenordnungen geschrumpft.</a:t>
            </a:r>
            <a:endParaRPr lang="en-US" sz="1400" dirty="0"/>
          </a:p>
        </p:txBody>
      </p:sp>
      <p:sp>
        <p:nvSpPr>
          <p:cNvPr id="15" name="Text 13"/>
          <p:cNvSpPr/>
          <p:nvPr/>
        </p:nvSpPr>
        <p:spPr>
          <a:xfrm>
            <a:off x="8412480" y="3154680"/>
            <a:ext cx="2834640" cy="1463040"/>
          </a:xfrm>
          <a:prstGeom prst="rect">
            <a:avLst/>
          </a:prstGeom>
          <a:noFill/>
          <a:ln/>
        </p:spPr>
        <p:txBody>
          <a:bodyPr wrap="square" lIns="0" tIns="0" rIns="0" bIns="0" rtlCol="0" anchor="ctr"/>
          <a:lstStyle/>
          <a:p>
            <a:pPr marL="0" indent="0">
              <a:buNone/>
            </a:pPr>
            <a:r>
              <a:rPr lang="en-US" sz="1200" dirty="0">
                <a:solidFill>
                  <a:srgbClr val="6E7681"/>
                </a:solidFill>
                <a:latin typeface="Calibri" pitchFamily="34" charset="0"/>
                <a:ea typeface="Calibri" pitchFamily="34" charset="-122"/>
                <a:cs typeface="Calibri" pitchFamily="34" charset="-120"/>
              </a:rPr>
              <a:t>Das schlechteste Matchup lag vorher bei -31889, jetzt bei -216. Zugleich konvergieren die Läufe dreimal schneller: 58 statt 194 Episoden im Median.</a:t>
            </a:r>
            <a:endParaRPr lang="en-US" sz="1200" dirty="0"/>
          </a:p>
        </p:txBody>
      </p:sp>
      <p:sp>
        <p:nvSpPr>
          <p:cNvPr id="16" name="Text 14"/>
          <p:cNvSpPr/>
          <p:nvPr/>
        </p:nvSpPr>
        <p:spPr>
          <a:xfrm>
            <a:off x="640080" y="6291072"/>
            <a:ext cx="10881360" cy="274320"/>
          </a:xfrm>
          <a:prstGeom prst="rect">
            <a:avLst/>
          </a:prstGeom>
          <a:noFill/>
          <a:ln/>
        </p:spPr>
        <p:txBody>
          <a:bodyPr wrap="square" lIns="0" tIns="0" rIns="0" bIns="0" rtlCol="0" anchor="ctr"/>
          <a:lstStyle/>
          <a:p>
            <a:pPr marL="0" indent="0">
              <a:buNone/>
            </a:pPr>
            <a:r>
              <a:rPr lang="en-US" sz="1000" i="1" dirty="0">
                <a:solidFill>
                  <a:srgbClr val="6E7681"/>
                </a:solidFill>
                <a:latin typeface="Calibri" pitchFamily="34" charset="0"/>
                <a:ea typeface="Calibri" pitchFamily="34" charset="-122"/>
                <a:cs typeface="Calibri" pitchFamily="34" charset="-120"/>
              </a:rPr>
              <a:t>Alle Angreifermodelle wurden neu trainiert, einschließlich des sequenziell aufgebauten Super-Angreifers.</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40080" y="384048"/>
            <a:ext cx="10881360" cy="566928"/>
          </a:xfrm>
          <a:prstGeom prst="rect">
            <a:avLst/>
          </a:prstGeom>
          <a:noFill/>
          <a:ln/>
        </p:spPr>
        <p:txBody>
          <a:bodyPr wrap="square" lIns="0" tIns="0" rIns="0" bIns="0" rtlCol="0" anchor="ctr"/>
          <a:lstStyle/>
          <a:p>
            <a:pPr marL="0" indent="0">
              <a:buNone/>
            </a:pPr>
            <a:r>
              <a:rPr lang="en-US" sz="3400" b="1" dirty="0">
                <a:solidFill>
                  <a:srgbClr val="23282F"/>
                </a:solidFill>
                <a:latin typeface="Cambria" pitchFamily="34" charset="0"/>
                <a:ea typeface="Cambria" pitchFamily="34" charset="-122"/>
                <a:cs typeface="Cambria" pitchFamily="34" charset="-120"/>
              </a:rPr>
              <a:t>Konvergenz: wie oft der Verteidiger stabil wird</a:t>
            </a:r>
            <a:endParaRPr lang="en-US" sz="3400" dirty="0"/>
          </a:p>
        </p:txBody>
      </p:sp>
      <p:sp>
        <p:nvSpPr>
          <p:cNvPr id="3" name="Text 1"/>
          <p:cNvSpPr/>
          <p:nvPr/>
        </p:nvSpPr>
        <p:spPr>
          <a:xfrm>
            <a:off x="640080" y="969264"/>
            <a:ext cx="10881360" cy="493776"/>
          </a:xfrm>
          <a:prstGeom prst="rect">
            <a:avLst/>
          </a:prstGeom>
          <a:noFill/>
          <a:ln/>
        </p:spPr>
        <p:txBody>
          <a:bodyPr wrap="square" lIns="0" tIns="0" rIns="0" bIns="0" rtlCol="0" anchor="ctr"/>
          <a:lstStyle/>
          <a:p>
            <a:pPr marL="0" indent="0">
              <a:buNone/>
            </a:pPr>
            <a:r>
              <a:rPr lang="en-US" sz="1400" dirty="0">
                <a:solidFill>
                  <a:srgbClr val="6E7681"/>
                </a:solidFill>
                <a:latin typeface="Calibri" pitchFamily="34" charset="0"/>
                <a:ea typeface="Calibri" pitchFamily="34" charset="-122"/>
                <a:cs typeface="Calibri" pitchFamily="34" charset="-120"/>
              </a:rPr>
              <a:t>Auto-Stops von 5 Seeds je Matchup — Zeile = verteidigte Topologie, Spalte = Angreifer</a:t>
            </a:r>
            <a:endParaRPr lang="en-US" sz="1400" dirty="0"/>
          </a:p>
        </p:txBody>
      </p:sp>
      <p:sp>
        <p:nvSpPr>
          <p:cNvPr id="4" name="Text 2"/>
          <p:cNvSpPr/>
          <p:nvPr/>
        </p:nvSpPr>
        <p:spPr>
          <a:xfrm>
            <a:off x="2240280" y="1399032"/>
            <a:ext cx="1371600" cy="329184"/>
          </a:xfrm>
          <a:prstGeom prst="rect">
            <a:avLst/>
          </a:prstGeom>
          <a:noFill/>
          <a:ln/>
        </p:spPr>
        <p:txBody>
          <a:bodyPr wrap="square" lIns="0" tIns="0" rIns="0" bIns="0" rtlCol="0" anchor="ctr"/>
          <a:lstStyle/>
          <a:p>
            <a:pPr marL="0" indent="0" algn="ctr">
              <a:buNone/>
            </a:pPr>
            <a:r>
              <a:rPr lang="en-US" sz="1200" b="1" dirty="0">
                <a:solidFill>
                  <a:srgbClr val="6E7681"/>
                </a:solidFill>
                <a:latin typeface="Calibri" pitchFamily="34" charset="0"/>
                <a:ea typeface="Calibri" pitchFamily="34" charset="-122"/>
                <a:cs typeface="Calibri" pitchFamily="34" charset="-120"/>
              </a:rPr>
              <a:t>Chain</a:t>
            </a:r>
            <a:endParaRPr lang="en-US" sz="1200" dirty="0"/>
          </a:p>
        </p:txBody>
      </p:sp>
      <p:sp>
        <p:nvSpPr>
          <p:cNvPr id="5" name="Text 3"/>
          <p:cNvSpPr/>
          <p:nvPr/>
        </p:nvSpPr>
        <p:spPr>
          <a:xfrm>
            <a:off x="3611880" y="1399032"/>
            <a:ext cx="1371600" cy="329184"/>
          </a:xfrm>
          <a:prstGeom prst="rect">
            <a:avLst/>
          </a:prstGeom>
          <a:noFill/>
          <a:ln/>
        </p:spPr>
        <p:txBody>
          <a:bodyPr wrap="square" lIns="0" tIns="0" rIns="0" bIns="0" rtlCol="0" anchor="ctr"/>
          <a:lstStyle/>
          <a:p>
            <a:pPr marL="0" indent="0" algn="ctr">
              <a:buNone/>
            </a:pPr>
            <a:r>
              <a:rPr lang="en-US" sz="1200" b="1" dirty="0">
                <a:solidFill>
                  <a:srgbClr val="6E7681"/>
                </a:solidFill>
                <a:latin typeface="Calibri" pitchFamily="34" charset="0"/>
                <a:ea typeface="Calibri" pitchFamily="34" charset="-122"/>
                <a:cs typeface="Calibri" pitchFamily="34" charset="-120"/>
              </a:rPr>
              <a:t>Flat</a:t>
            </a:r>
            <a:endParaRPr lang="en-US" sz="1200" dirty="0"/>
          </a:p>
        </p:txBody>
      </p:sp>
      <p:sp>
        <p:nvSpPr>
          <p:cNvPr id="6" name="Text 4"/>
          <p:cNvSpPr/>
          <p:nvPr/>
        </p:nvSpPr>
        <p:spPr>
          <a:xfrm>
            <a:off x="4983480" y="1399032"/>
            <a:ext cx="1371600" cy="329184"/>
          </a:xfrm>
          <a:prstGeom prst="rect">
            <a:avLst/>
          </a:prstGeom>
          <a:noFill/>
          <a:ln/>
        </p:spPr>
        <p:txBody>
          <a:bodyPr wrap="square" lIns="0" tIns="0" rIns="0" bIns="0" rtlCol="0" anchor="ctr"/>
          <a:lstStyle/>
          <a:p>
            <a:pPr marL="0" indent="0" algn="ctr">
              <a:buNone/>
            </a:pPr>
            <a:r>
              <a:rPr lang="en-US" sz="1200" b="1" dirty="0">
                <a:solidFill>
                  <a:srgbClr val="6E7681"/>
                </a:solidFill>
                <a:latin typeface="Calibri" pitchFamily="34" charset="0"/>
                <a:ea typeface="Calibri" pitchFamily="34" charset="-122"/>
                <a:cs typeface="Calibri" pitchFamily="34" charset="-120"/>
              </a:rPr>
              <a:t>Hub &amp; Spoke</a:t>
            </a:r>
            <a:endParaRPr lang="en-US" sz="1200" dirty="0"/>
          </a:p>
        </p:txBody>
      </p:sp>
      <p:sp>
        <p:nvSpPr>
          <p:cNvPr id="7" name="Text 5"/>
          <p:cNvSpPr/>
          <p:nvPr/>
        </p:nvSpPr>
        <p:spPr>
          <a:xfrm>
            <a:off x="6355080" y="1399032"/>
            <a:ext cx="1371600" cy="329184"/>
          </a:xfrm>
          <a:prstGeom prst="rect">
            <a:avLst/>
          </a:prstGeom>
          <a:noFill/>
          <a:ln/>
        </p:spPr>
        <p:txBody>
          <a:bodyPr wrap="square" lIns="0" tIns="0" rIns="0" bIns="0" rtlCol="0" anchor="ctr"/>
          <a:lstStyle/>
          <a:p>
            <a:pPr marL="0" indent="0" algn="ctr">
              <a:buNone/>
            </a:pPr>
            <a:r>
              <a:rPr lang="en-US" sz="1200" b="1" dirty="0">
                <a:solidFill>
                  <a:srgbClr val="6E7681"/>
                </a:solidFill>
                <a:latin typeface="Calibri" pitchFamily="34" charset="0"/>
                <a:ea typeface="Calibri" pitchFamily="34" charset="-122"/>
                <a:cs typeface="Calibri" pitchFamily="34" charset="-120"/>
              </a:rPr>
              <a:t>DMZ</a:t>
            </a:r>
            <a:endParaRPr lang="en-US" sz="1200" dirty="0"/>
          </a:p>
        </p:txBody>
      </p:sp>
      <p:sp>
        <p:nvSpPr>
          <p:cNvPr id="8" name="Text 6"/>
          <p:cNvSpPr/>
          <p:nvPr/>
        </p:nvSpPr>
        <p:spPr>
          <a:xfrm>
            <a:off x="7726680" y="1399032"/>
            <a:ext cx="1371600" cy="329184"/>
          </a:xfrm>
          <a:prstGeom prst="rect">
            <a:avLst/>
          </a:prstGeom>
          <a:noFill/>
          <a:ln/>
        </p:spPr>
        <p:txBody>
          <a:bodyPr wrap="square" lIns="0" tIns="0" rIns="0" bIns="0" rtlCol="0" anchor="ctr"/>
          <a:lstStyle/>
          <a:p>
            <a:pPr marL="0" indent="0" algn="ctr">
              <a:buNone/>
            </a:pPr>
            <a:r>
              <a:rPr lang="en-US" sz="1200" b="1" dirty="0">
                <a:solidFill>
                  <a:srgbClr val="6E7681"/>
                </a:solidFill>
                <a:latin typeface="Calibri" pitchFamily="34" charset="0"/>
                <a:ea typeface="Calibri" pitchFamily="34" charset="-122"/>
                <a:cs typeface="Calibri" pitchFamily="34" charset="-120"/>
              </a:rPr>
              <a:t>Micro-Seg.</a:t>
            </a:r>
            <a:endParaRPr lang="en-US" sz="1200" dirty="0"/>
          </a:p>
        </p:txBody>
      </p:sp>
      <p:sp>
        <p:nvSpPr>
          <p:cNvPr id="9" name="Text 7"/>
          <p:cNvSpPr/>
          <p:nvPr/>
        </p:nvSpPr>
        <p:spPr>
          <a:xfrm>
            <a:off x="9098280" y="1399032"/>
            <a:ext cx="1371600" cy="329184"/>
          </a:xfrm>
          <a:prstGeom prst="rect">
            <a:avLst/>
          </a:prstGeom>
          <a:noFill/>
          <a:ln/>
        </p:spPr>
        <p:txBody>
          <a:bodyPr wrap="square" lIns="0" tIns="0" rIns="0" bIns="0" rtlCol="0" anchor="ctr"/>
          <a:lstStyle/>
          <a:p>
            <a:pPr marL="0" indent="0" algn="ctr">
              <a:buNone/>
            </a:pPr>
            <a:r>
              <a:rPr lang="en-US" sz="1200" b="1" dirty="0">
                <a:solidFill>
                  <a:srgbClr val="6E7681"/>
                </a:solidFill>
                <a:latin typeface="Calibri" pitchFamily="34" charset="0"/>
                <a:ea typeface="Calibri" pitchFamily="34" charset="-122"/>
                <a:cs typeface="Calibri" pitchFamily="34" charset="-120"/>
              </a:rPr>
              <a:t>Super</a:t>
            </a:r>
            <a:endParaRPr lang="en-US" sz="1200" dirty="0"/>
          </a:p>
        </p:txBody>
      </p:sp>
      <p:sp>
        <p:nvSpPr>
          <p:cNvPr id="11" name="Text 9"/>
          <p:cNvSpPr/>
          <p:nvPr/>
        </p:nvSpPr>
        <p:spPr>
          <a:xfrm>
            <a:off x="640080" y="1783080"/>
            <a:ext cx="1508760" cy="658368"/>
          </a:xfrm>
          <a:prstGeom prst="rect">
            <a:avLst/>
          </a:prstGeom>
          <a:noFill/>
          <a:ln/>
        </p:spPr>
        <p:txBody>
          <a:bodyPr wrap="square" lIns="0" tIns="0" rIns="0" bIns="0" rtlCol="0" anchor="ctr"/>
          <a:lstStyle/>
          <a:p>
            <a:pPr marL="0" indent="0" algn="r">
              <a:buNone/>
            </a:pPr>
            <a:r>
              <a:rPr lang="en-US" sz="1300" b="1" dirty="0">
                <a:solidFill>
                  <a:srgbClr val="23282F"/>
                </a:solidFill>
                <a:latin typeface="Calibri" pitchFamily="34" charset="0"/>
                <a:ea typeface="Calibri" pitchFamily="34" charset="-122"/>
                <a:cs typeface="Calibri" pitchFamily="34" charset="-120"/>
              </a:rPr>
              <a:t>Flat</a:t>
            </a:r>
            <a:endParaRPr lang="en-US" sz="1300" dirty="0"/>
          </a:p>
        </p:txBody>
      </p:sp>
      <p:sp>
        <p:nvSpPr>
          <p:cNvPr id="12" name="Shape 10"/>
          <p:cNvSpPr/>
          <p:nvPr/>
        </p:nvSpPr>
        <p:spPr>
          <a:xfrm>
            <a:off x="2240280" y="1783080"/>
            <a:ext cx="1316736" cy="603504"/>
          </a:xfrm>
          <a:prstGeom prst="rect">
            <a:avLst/>
          </a:prstGeom>
          <a:solidFill>
            <a:srgbClr val="A9CFC4"/>
          </a:solidFill>
          <a:ln w="19050">
            <a:solidFill>
              <a:srgbClr val="FFFFFF"/>
            </a:solidFill>
            <a:prstDash val="solid"/>
          </a:ln>
        </p:spPr>
        <p:txBody>
          <a:bodyPr/>
          <a:lstStyle/>
          <a:p>
            <a:endParaRPr lang="de-DE"/>
          </a:p>
        </p:txBody>
      </p:sp>
      <p:sp>
        <p:nvSpPr>
          <p:cNvPr id="13" name="Text 11"/>
          <p:cNvSpPr/>
          <p:nvPr/>
        </p:nvSpPr>
        <p:spPr>
          <a:xfrm>
            <a:off x="2240280" y="1837944"/>
            <a:ext cx="1316736" cy="310896"/>
          </a:xfrm>
          <a:prstGeom prst="rect">
            <a:avLst/>
          </a:prstGeom>
          <a:noFill/>
          <a:ln/>
        </p:spPr>
        <p:txBody>
          <a:bodyPr wrap="square" lIns="0" tIns="0" rIns="0" bIns="0" rtlCol="0" anchor="ctr"/>
          <a:lstStyle/>
          <a:p>
            <a:pPr marL="0" indent="0" algn="ctr">
              <a:buNone/>
            </a:pPr>
            <a:r>
              <a:rPr lang="en-US" sz="1500" b="1" dirty="0">
                <a:solidFill>
                  <a:srgbClr val="23282F"/>
                </a:solidFill>
                <a:latin typeface="Calibri" pitchFamily="34" charset="0"/>
                <a:ea typeface="Calibri" pitchFamily="34" charset="-122"/>
                <a:cs typeface="Calibri" pitchFamily="34" charset="-120"/>
              </a:rPr>
              <a:t>5/5</a:t>
            </a:r>
            <a:endParaRPr lang="en-US" sz="1500" dirty="0"/>
          </a:p>
        </p:txBody>
      </p:sp>
      <p:sp>
        <p:nvSpPr>
          <p:cNvPr id="14" name="Text 12"/>
          <p:cNvSpPr/>
          <p:nvPr/>
        </p:nvSpPr>
        <p:spPr>
          <a:xfrm>
            <a:off x="2240280" y="2130552"/>
            <a:ext cx="1316736" cy="237744"/>
          </a:xfrm>
          <a:prstGeom prst="rect">
            <a:avLst/>
          </a:prstGeom>
          <a:noFill/>
          <a:ln/>
        </p:spPr>
        <p:txBody>
          <a:bodyPr wrap="square" lIns="0" tIns="0" rIns="0" bIns="0" rtlCol="0" anchor="ctr"/>
          <a:lstStyle/>
          <a:p>
            <a:pPr marL="0" indent="0" algn="ctr">
              <a:buNone/>
            </a:pPr>
            <a:r>
              <a:rPr lang="en-US" sz="1000" dirty="0">
                <a:solidFill>
                  <a:srgbClr val="6E7681"/>
                </a:solidFill>
                <a:latin typeface="Calibri" pitchFamily="34" charset="0"/>
                <a:ea typeface="Calibri" pitchFamily="34" charset="-122"/>
                <a:cs typeface="Calibri" pitchFamily="34" charset="-120"/>
              </a:rPr>
              <a:t>71 Ep.</a:t>
            </a:r>
            <a:endParaRPr lang="en-US" sz="1000" dirty="0"/>
          </a:p>
        </p:txBody>
      </p:sp>
      <p:sp>
        <p:nvSpPr>
          <p:cNvPr id="15" name="Shape 13"/>
          <p:cNvSpPr/>
          <p:nvPr/>
        </p:nvSpPr>
        <p:spPr>
          <a:xfrm>
            <a:off x="3611880" y="1783080"/>
            <a:ext cx="1316736" cy="603504"/>
          </a:xfrm>
          <a:prstGeom prst="rect">
            <a:avLst/>
          </a:prstGeom>
          <a:solidFill>
            <a:srgbClr val="A9CFC4"/>
          </a:solidFill>
          <a:ln w="19050">
            <a:solidFill>
              <a:srgbClr val="FFFFFF"/>
            </a:solidFill>
            <a:prstDash val="solid"/>
          </a:ln>
        </p:spPr>
        <p:txBody>
          <a:bodyPr/>
          <a:lstStyle/>
          <a:p>
            <a:endParaRPr lang="de-DE"/>
          </a:p>
        </p:txBody>
      </p:sp>
      <p:sp>
        <p:nvSpPr>
          <p:cNvPr id="16" name="Text 14"/>
          <p:cNvSpPr/>
          <p:nvPr/>
        </p:nvSpPr>
        <p:spPr>
          <a:xfrm>
            <a:off x="3611880" y="1837944"/>
            <a:ext cx="1316736" cy="310896"/>
          </a:xfrm>
          <a:prstGeom prst="rect">
            <a:avLst/>
          </a:prstGeom>
          <a:noFill/>
          <a:ln/>
        </p:spPr>
        <p:txBody>
          <a:bodyPr wrap="square" lIns="0" tIns="0" rIns="0" bIns="0" rtlCol="0" anchor="ctr"/>
          <a:lstStyle/>
          <a:p>
            <a:pPr marL="0" indent="0" algn="ctr">
              <a:buNone/>
            </a:pPr>
            <a:r>
              <a:rPr lang="en-US" sz="1500" b="1" dirty="0">
                <a:solidFill>
                  <a:srgbClr val="23282F"/>
                </a:solidFill>
                <a:latin typeface="Calibri" pitchFamily="34" charset="0"/>
                <a:ea typeface="Calibri" pitchFamily="34" charset="-122"/>
                <a:cs typeface="Calibri" pitchFamily="34" charset="-120"/>
              </a:rPr>
              <a:t>5/5</a:t>
            </a:r>
            <a:endParaRPr lang="en-US" sz="1500" dirty="0"/>
          </a:p>
        </p:txBody>
      </p:sp>
      <p:sp>
        <p:nvSpPr>
          <p:cNvPr id="17" name="Text 15"/>
          <p:cNvSpPr/>
          <p:nvPr/>
        </p:nvSpPr>
        <p:spPr>
          <a:xfrm>
            <a:off x="3611880" y="2130552"/>
            <a:ext cx="1316736" cy="237744"/>
          </a:xfrm>
          <a:prstGeom prst="rect">
            <a:avLst/>
          </a:prstGeom>
          <a:noFill/>
          <a:ln/>
        </p:spPr>
        <p:txBody>
          <a:bodyPr wrap="square" lIns="0" tIns="0" rIns="0" bIns="0" rtlCol="0" anchor="ctr"/>
          <a:lstStyle/>
          <a:p>
            <a:pPr marL="0" indent="0" algn="ctr">
              <a:buNone/>
            </a:pPr>
            <a:r>
              <a:rPr lang="en-US" sz="1000" dirty="0">
                <a:solidFill>
                  <a:srgbClr val="6E7681"/>
                </a:solidFill>
                <a:latin typeface="Calibri" pitchFamily="34" charset="0"/>
                <a:ea typeface="Calibri" pitchFamily="34" charset="-122"/>
                <a:cs typeface="Calibri" pitchFamily="34" charset="-120"/>
              </a:rPr>
              <a:t>70 Ep.</a:t>
            </a:r>
            <a:endParaRPr lang="en-US" sz="1000" dirty="0"/>
          </a:p>
        </p:txBody>
      </p:sp>
      <p:sp>
        <p:nvSpPr>
          <p:cNvPr id="18" name="Shape 16"/>
          <p:cNvSpPr/>
          <p:nvPr/>
        </p:nvSpPr>
        <p:spPr>
          <a:xfrm>
            <a:off x="4983480" y="1783080"/>
            <a:ext cx="1316736" cy="603504"/>
          </a:xfrm>
          <a:prstGeom prst="rect">
            <a:avLst/>
          </a:prstGeom>
          <a:solidFill>
            <a:srgbClr val="A9CFC4"/>
          </a:solidFill>
          <a:ln w="19050">
            <a:solidFill>
              <a:srgbClr val="FFFFFF"/>
            </a:solidFill>
            <a:prstDash val="solid"/>
          </a:ln>
        </p:spPr>
        <p:txBody>
          <a:bodyPr/>
          <a:lstStyle/>
          <a:p>
            <a:endParaRPr lang="de-DE"/>
          </a:p>
        </p:txBody>
      </p:sp>
      <p:sp>
        <p:nvSpPr>
          <p:cNvPr id="19" name="Text 17"/>
          <p:cNvSpPr/>
          <p:nvPr/>
        </p:nvSpPr>
        <p:spPr>
          <a:xfrm>
            <a:off x="4983480" y="1837944"/>
            <a:ext cx="1316736" cy="310896"/>
          </a:xfrm>
          <a:prstGeom prst="rect">
            <a:avLst/>
          </a:prstGeom>
          <a:noFill/>
          <a:ln/>
        </p:spPr>
        <p:txBody>
          <a:bodyPr wrap="square" lIns="0" tIns="0" rIns="0" bIns="0" rtlCol="0" anchor="ctr"/>
          <a:lstStyle/>
          <a:p>
            <a:pPr marL="0" indent="0" algn="ctr">
              <a:buNone/>
            </a:pPr>
            <a:r>
              <a:rPr lang="en-US" sz="1500" b="1" dirty="0">
                <a:solidFill>
                  <a:srgbClr val="23282F"/>
                </a:solidFill>
                <a:latin typeface="Calibri" pitchFamily="34" charset="0"/>
                <a:ea typeface="Calibri" pitchFamily="34" charset="-122"/>
                <a:cs typeface="Calibri" pitchFamily="34" charset="-120"/>
              </a:rPr>
              <a:t>5/5</a:t>
            </a:r>
            <a:endParaRPr lang="en-US" sz="1500" dirty="0"/>
          </a:p>
        </p:txBody>
      </p:sp>
      <p:sp>
        <p:nvSpPr>
          <p:cNvPr id="20" name="Text 18"/>
          <p:cNvSpPr/>
          <p:nvPr/>
        </p:nvSpPr>
        <p:spPr>
          <a:xfrm>
            <a:off x="4983480" y="2130552"/>
            <a:ext cx="1316736" cy="237744"/>
          </a:xfrm>
          <a:prstGeom prst="rect">
            <a:avLst/>
          </a:prstGeom>
          <a:noFill/>
          <a:ln/>
        </p:spPr>
        <p:txBody>
          <a:bodyPr wrap="square" lIns="0" tIns="0" rIns="0" bIns="0" rtlCol="0" anchor="ctr"/>
          <a:lstStyle/>
          <a:p>
            <a:pPr marL="0" indent="0" algn="ctr">
              <a:buNone/>
            </a:pPr>
            <a:r>
              <a:rPr lang="en-US" sz="1000" dirty="0">
                <a:solidFill>
                  <a:srgbClr val="6E7681"/>
                </a:solidFill>
                <a:latin typeface="Calibri" pitchFamily="34" charset="0"/>
                <a:ea typeface="Calibri" pitchFamily="34" charset="-122"/>
                <a:cs typeface="Calibri" pitchFamily="34" charset="-120"/>
              </a:rPr>
              <a:t>65 Ep.</a:t>
            </a:r>
            <a:endParaRPr lang="en-US" sz="1000" dirty="0"/>
          </a:p>
        </p:txBody>
      </p:sp>
      <p:sp>
        <p:nvSpPr>
          <p:cNvPr id="21" name="Shape 19"/>
          <p:cNvSpPr/>
          <p:nvPr/>
        </p:nvSpPr>
        <p:spPr>
          <a:xfrm>
            <a:off x="6355080" y="1783080"/>
            <a:ext cx="1316736" cy="603504"/>
          </a:xfrm>
          <a:prstGeom prst="rect">
            <a:avLst/>
          </a:prstGeom>
          <a:solidFill>
            <a:srgbClr val="A9CFC4"/>
          </a:solidFill>
          <a:ln w="19050">
            <a:solidFill>
              <a:srgbClr val="FFFFFF"/>
            </a:solidFill>
            <a:prstDash val="solid"/>
          </a:ln>
        </p:spPr>
        <p:txBody>
          <a:bodyPr/>
          <a:lstStyle/>
          <a:p>
            <a:endParaRPr lang="de-DE"/>
          </a:p>
        </p:txBody>
      </p:sp>
      <p:sp>
        <p:nvSpPr>
          <p:cNvPr id="22" name="Text 20"/>
          <p:cNvSpPr/>
          <p:nvPr/>
        </p:nvSpPr>
        <p:spPr>
          <a:xfrm>
            <a:off x="6355080" y="1837944"/>
            <a:ext cx="1316736" cy="310896"/>
          </a:xfrm>
          <a:prstGeom prst="rect">
            <a:avLst/>
          </a:prstGeom>
          <a:noFill/>
          <a:ln/>
        </p:spPr>
        <p:txBody>
          <a:bodyPr wrap="square" lIns="0" tIns="0" rIns="0" bIns="0" rtlCol="0" anchor="ctr"/>
          <a:lstStyle/>
          <a:p>
            <a:pPr marL="0" indent="0" algn="ctr">
              <a:buNone/>
            </a:pPr>
            <a:r>
              <a:rPr lang="en-US" sz="1500" b="1" dirty="0">
                <a:solidFill>
                  <a:srgbClr val="23282F"/>
                </a:solidFill>
                <a:latin typeface="Calibri" pitchFamily="34" charset="0"/>
                <a:ea typeface="Calibri" pitchFamily="34" charset="-122"/>
                <a:cs typeface="Calibri" pitchFamily="34" charset="-120"/>
              </a:rPr>
              <a:t>5/5</a:t>
            </a:r>
            <a:endParaRPr lang="en-US" sz="1500" dirty="0"/>
          </a:p>
        </p:txBody>
      </p:sp>
      <p:sp>
        <p:nvSpPr>
          <p:cNvPr id="23" name="Text 21"/>
          <p:cNvSpPr/>
          <p:nvPr/>
        </p:nvSpPr>
        <p:spPr>
          <a:xfrm>
            <a:off x="6355080" y="2130552"/>
            <a:ext cx="1316736" cy="237744"/>
          </a:xfrm>
          <a:prstGeom prst="rect">
            <a:avLst/>
          </a:prstGeom>
          <a:noFill/>
          <a:ln/>
        </p:spPr>
        <p:txBody>
          <a:bodyPr wrap="square" lIns="0" tIns="0" rIns="0" bIns="0" rtlCol="0" anchor="ctr"/>
          <a:lstStyle/>
          <a:p>
            <a:pPr marL="0" indent="0" algn="ctr">
              <a:buNone/>
            </a:pPr>
            <a:r>
              <a:rPr lang="en-US" sz="1000" dirty="0">
                <a:solidFill>
                  <a:srgbClr val="6E7681"/>
                </a:solidFill>
                <a:latin typeface="Calibri" pitchFamily="34" charset="0"/>
                <a:ea typeface="Calibri" pitchFamily="34" charset="-122"/>
                <a:cs typeface="Calibri" pitchFamily="34" charset="-120"/>
              </a:rPr>
              <a:t>64 Ep.</a:t>
            </a:r>
            <a:endParaRPr lang="en-US" sz="1000" dirty="0"/>
          </a:p>
        </p:txBody>
      </p:sp>
      <p:sp>
        <p:nvSpPr>
          <p:cNvPr id="24" name="Shape 22"/>
          <p:cNvSpPr/>
          <p:nvPr/>
        </p:nvSpPr>
        <p:spPr>
          <a:xfrm>
            <a:off x="7726680" y="1783080"/>
            <a:ext cx="1316736" cy="603504"/>
          </a:xfrm>
          <a:prstGeom prst="rect">
            <a:avLst/>
          </a:prstGeom>
          <a:solidFill>
            <a:srgbClr val="A9CFC4"/>
          </a:solidFill>
          <a:ln w="19050">
            <a:solidFill>
              <a:srgbClr val="FFFFFF"/>
            </a:solidFill>
            <a:prstDash val="solid"/>
          </a:ln>
        </p:spPr>
        <p:txBody>
          <a:bodyPr/>
          <a:lstStyle/>
          <a:p>
            <a:endParaRPr lang="de-DE"/>
          </a:p>
        </p:txBody>
      </p:sp>
      <p:sp>
        <p:nvSpPr>
          <p:cNvPr id="25" name="Text 23"/>
          <p:cNvSpPr/>
          <p:nvPr/>
        </p:nvSpPr>
        <p:spPr>
          <a:xfrm>
            <a:off x="7726680" y="1837944"/>
            <a:ext cx="1316736" cy="310896"/>
          </a:xfrm>
          <a:prstGeom prst="rect">
            <a:avLst/>
          </a:prstGeom>
          <a:noFill/>
          <a:ln/>
        </p:spPr>
        <p:txBody>
          <a:bodyPr wrap="square" lIns="0" tIns="0" rIns="0" bIns="0" rtlCol="0" anchor="ctr"/>
          <a:lstStyle/>
          <a:p>
            <a:pPr marL="0" indent="0" algn="ctr">
              <a:buNone/>
            </a:pPr>
            <a:r>
              <a:rPr lang="en-US" sz="1500" b="1" dirty="0">
                <a:solidFill>
                  <a:srgbClr val="23282F"/>
                </a:solidFill>
                <a:latin typeface="Calibri" pitchFamily="34" charset="0"/>
                <a:ea typeface="Calibri" pitchFamily="34" charset="-122"/>
                <a:cs typeface="Calibri" pitchFamily="34" charset="-120"/>
              </a:rPr>
              <a:t>5/5</a:t>
            </a:r>
            <a:endParaRPr lang="en-US" sz="1500" dirty="0"/>
          </a:p>
        </p:txBody>
      </p:sp>
      <p:sp>
        <p:nvSpPr>
          <p:cNvPr id="26" name="Text 24"/>
          <p:cNvSpPr/>
          <p:nvPr/>
        </p:nvSpPr>
        <p:spPr>
          <a:xfrm>
            <a:off x="7726680" y="2130552"/>
            <a:ext cx="1316736" cy="237744"/>
          </a:xfrm>
          <a:prstGeom prst="rect">
            <a:avLst/>
          </a:prstGeom>
          <a:noFill/>
          <a:ln/>
        </p:spPr>
        <p:txBody>
          <a:bodyPr wrap="square" lIns="0" tIns="0" rIns="0" bIns="0" rtlCol="0" anchor="ctr"/>
          <a:lstStyle/>
          <a:p>
            <a:pPr marL="0" indent="0" algn="ctr">
              <a:buNone/>
            </a:pPr>
            <a:r>
              <a:rPr lang="en-US" sz="1000" dirty="0">
                <a:solidFill>
                  <a:srgbClr val="6E7681"/>
                </a:solidFill>
                <a:latin typeface="Calibri" pitchFamily="34" charset="0"/>
                <a:ea typeface="Calibri" pitchFamily="34" charset="-122"/>
                <a:cs typeface="Calibri" pitchFamily="34" charset="-120"/>
              </a:rPr>
              <a:t>58 Ep.</a:t>
            </a:r>
            <a:endParaRPr lang="en-US" sz="1000" dirty="0"/>
          </a:p>
        </p:txBody>
      </p:sp>
      <p:sp>
        <p:nvSpPr>
          <p:cNvPr id="27" name="Shape 25"/>
          <p:cNvSpPr/>
          <p:nvPr/>
        </p:nvSpPr>
        <p:spPr>
          <a:xfrm>
            <a:off x="9098280" y="1783080"/>
            <a:ext cx="1316736" cy="603504"/>
          </a:xfrm>
          <a:prstGeom prst="rect">
            <a:avLst/>
          </a:prstGeom>
          <a:solidFill>
            <a:srgbClr val="A9CFC4"/>
          </a:solidFill>
          <a:ln w="19050">
            <a:solidFill>
              <a:srgbClr val="FFFFFF"/>
            </a:solidFill>
            <a:prstDash val="solid"/>
          </a:ln>
        </p:spPr>
        <p:txBody>
          <a:bodyPr/>
          <a:lstStyle/>
          <a:p>
            <a:endParaRPr lang="de-DE"/>
          </a:p>
        </p:txBody>
      </p:sp>
      <p:sp>
        <p:nvSpPr>
          <p:cNvPr id="28" name="Text 26"/>
          <p:cNvSpPr/>
          <p:nvPr/>
        </p:nvSpPr>
        <p:spPr>
          <a:xfrm>
            <a:off x="9098280" y="1837944"/>
            <a:ext cx="1316736" cy="310896"/>
          </a:xfrm>
          <a:prstGeom prst="rect">
            <a:avLst/>
          </a:prstGeom>
          <a:noFill/>
          <a:ln/>
        </p:spPr>
        <p:txBody>
          <a:bodyPr wrap="square" lIns="0" tIns="0" rIns="0" bIns="0" rtlCol="0" anchor="ctr"/>
          <a:lstStyle/>
          <a:p>
            <a:pPr marL="0" indent="0" algn="ctr">
              <a:buNone/>
            </a:pPr>
            <a:r>
              <a:rPr lang="en-US" sz="1500" b="1" dirty="0">
                <a:solidFill>
                  <a:srgbClr val="23282F"/>
                </a:solidFill>
                <a:latin typeface="Calibri" pitchFamily="34" charset="0"/>
                <a:ea typeface="Calibri" pitchFamily="34" charset="-122"/>
                <a:cs typeface="Calibri" pitchFamily="34" charset="-120"/>
              </a:rPr>
              <a:t>5/5</a:t>
            </a:r>
            <a:endParaRPr lang="en-US" sz="1500" dirty="0"/>
          </a:p>
        </p:txBody>
      </p:sp>
      <p:sp>
        <p:nvSpPr>
          <p:cNvPr id="29" name="Text 27"/>
          <p:cNvSpPr/>
          <p:nvPr/>
        </p:nvSpPr>
        <p:spPr>
          <a:xfrm>
            <a:off x="9098280" y="2130552"/>
            <a:ext cx="1316736" cy="237744"/>
          </a:xfrm>
          <a:prstGeom prst="rect">
            <a:avLst/>
          </a:prstGeom>
          <a:noFill/>
          <a:ln/>
        </p:spPr>
        <p:txBody>
          <a:bodyPr wrap="square" lIns="0" tIns="0" rIns="0" bIns="0" rtlCol="0" anchor="ctr"/>
          <a:lstStyle/>
          <a:p>
            <a:pPr marL="0" indent="0" algn="ctr">
              <a:buNone/>
            </a:pPr>
            <a:r>
              <a:rPr lang="en-US" sz="1000" dirty="0">
                <a:solidFill>
                  <a:srgbClr val="6E7681"/>
                </a:solidFill>
                <a:latin typeface="Calibri" pitchFamily="34" charset="0"/>
                <a:ea typeface="Calibri" pitchFamily="34" charset="-122"/>
                <a:cs typeface="Calibri" pitchFamily="34" charset="-120"/>
              </a:rPr>
              <a:t>56 Ep.</a:t>
            </a:r>
            <a:endParaRPr lang="en-US" sz="1000" dirty="0"/>
          </a:p>
        </p:txBody>
      </p:sp>
      <p:sp>
        <p:nvSpPr>
          <p:cNvPr id="30" name="Text 28"/>
          <p:cNvSpPr/>
          <p:nvPr/>
        </p:nvSpPr>
        <p:spPr>
          <a:xfrm>
            <a:off x="10579608" y="1783080"/>
            <a:ext cx="914400" cy="658368"/>
          </a:xfrm>
          <a:prstGeom prst="rect">
            <a:avLst/>
          </a:prstGeom>
          <a:noFill/>
          <a:ln/>
        </p:spPr>
        <p:txBody>
          <a:bodyPr wrap="square" lIns="0" tIns="0" rIns="0" bIns="0" rtlCol="0" anchor="ctr"/>
          <a:lstStyle/>
          <a:p>
            <a:pPr marL="0" indent="0">
              <a:buNone/>
            </a:pPr>
            <a:r>
              <a:rPr lang="en-US" sz="1500" b="1" dirty="0">
                <a:solidFill>
                  <a:srgbClr val="1C6E8C"/>
                </a:solidFill>
                <a:latin typeface="Cambria" pitchFamily="34" charset="0"/>
                <a:ea typeface="Cambria" pitchFamily="34" charset="-122"/>
                <a:cs typeface="Cambria" pitchFamily="34" charset="-120"/>
              </a:rPr>
              <a:t>30/30</a:t>
            </a:r>
            <a:endParaRPr lang="en-US" sz="1500" dirty="0"/>
          </a:p>
        </p:txBody>
      </p:sp>
      <p:sp>
        <p:nvSpPr>
          <p:cNvPr id="31" name="Text 29"/>
          <p:cNvSpPr/>
          <p:nvPr/>
        </p:nvSpPr>
        <p:spPr>
          <a:xfrm>
            <a:off x="640080" y="2441448"/>
            <a:ext cx="1508760" cy="658368"/>
          </a:xfrm>
          <a:prstGeom prst="rect">
            <a:avLst/>
          </a:prstGeom>
          <a:noFill/>
          <a:ln/>
        </p:spPr>
        <p:txBody>
          <a:bodyPr wrap="square" lIns="0" tIns="0" rIns="0" bIns="0" rtlCol="0" anchor="ctr"/>
          <a:lstStyle/>
          <a:p>
            <a:pPr marL="0" indent="0" algn="r">
              <a:buNone/>
            </a:pPr>
            <a:r>
              <a:rPr lang="en-US" sz="1300" b="1" dirty="0">
                <a:solidFill>
                  <a:srgbClr val="23282F"/>
                </a:solidFill>
                <a:latin typeface="Calibri" pitchFamily="34" charset="0"/>
                <a:ea typeface="Calibri" pitchFamily="34" charset="-122"/>
                <a:cs typeface="Calibri" pitchFamily="34" charset="-120"/>
              </a:rPr>
              <a:t>Hub &amp; Spoke</a:t>
            </a:r>
            <a:endParaRPr lang="en-US" sz="1300" dirty="0"/>
          </a:p>
        </p:txBody>
      </p:sp>
      <p:sp>
        <p:nvSpPr>
          <p:cNvPr id="32" name="Shape 30"/>
          <p:cNvSpPr/>
          <p:nvPr/>
        </p:nvSpPr>
        <p:spPr>
          <a:xfrm>
            <a:off x="2240280" y="2441448"/>
            <a:ext cx="1316736" cy="603504"/>
          </a:xfrm>
          <a:prstGeom prst="rect">
            <a:avLst/>
          </a:prstGeom>
          <a:solidFill>
            <a:srgbClr val="A9CFC4"/>
          </a:solidFill>
          <a:ln w="19050">
            <a:solidFill>
              <a:srgbClr val="FFFFFF"/>
            </a:solidFill>
            <a:prstDash val="solid"/>
          </a:ln>
        </p:spPr>
        <p:txBody>
          <a:bodyPr/>
          <a:lstStyle/>
          <a:p>
            <a:endParaRPr lang="de-DE"/>
          </a:p>
        </p:txBody>
      </p:sp>
      <p:sp>
        <p:nvSpPr>
          <p:cNvPr id="33" name="Text 31"/>
          <p:cNvSpPr/>
          <p:nvPr/>
        </p:nvSpPr>
        <p:spPr>
          <a:xfrm>
            <a:off x="2240280" y="2496312"/>
            <a:ext cx="1316736" cy="310896"/>
          </a:xfrm>
          <a:prstGeom prst="rect">
            <a:avLst/>
          </a:prstGeom>
          <a:noFill/>
          <a:ln/>
        </p:spPr>
        <p:txBody>
          <a:bodyPr wrap="square" lIns="0" tIns="0" rIns="0" bIns="0" rtlCol="0" anchor="ctr"/>
          <a:lstStyle/>
          <a:p>
            <a:pPr marL="0" indent="0" algn="ctr">
              <a:buNone/>
            </a:pPr>
            <a:r>
              <a:rPr lang="en-US" sz="1500" b="1" dirty="0">
                <a:solidFill>
                  <a:srgbClr val="23282F"/>
                </a:solidFill>
                <a:latin typeface="Calibri" pitchFamily="34" charset="0"/>
                <a:ea typeface="Calibri" pitchFamily="34" charset="-122"/>
                <a:cs typeface="Calibri" pitchFamily="34" charset="-120"/>
              </a:rPr>
              <a:t>5/5</a:t>
            </a:r>
            <a:endParaRPr lang="en-US" sz="1500" dirty="0"/>
          </a:p>
        </p:txBody>
      </p:sp>
      <p:sp>
        <p:nvSpPr>
          <p:cNvPr id="34" name="Text 32"/>
          <p:cNvSpPr/>
          <p:nvPr/>
        </p:nvSpPr>
        <p:spPr>
          <a:xfrm>
            <a:off x="2240280" y="2788920"/>
            <a:ext cx="1316736" cy="237744"/>
          </a:xfrm>
          <a:prstGeom prst="rect">
            <a:avLst/>
          </a:prstGeom>
          <a:noFill/>
          <a:ln/>
        </p:spPr>
        <p:txBody>
          <a:bodyPr wrap="square" lIns="0" tIns="0" rIns="0" bIns="0" rtlCol="0" anchor="ctr"/>
          <a:lstStyle/>
          <a:p>
            <a:pPr marL="0" indent="0" algn="ctr">
              <a:buNone/>
            </a:pPr>
            <a:r>
              <a:rPr lang="en-US" sz="1000" dirty="0">
                <a:solidFill>
                  <a:srgbClr val="6E7681"/>
                </a:solidFill>
                <a:latin typeface="Calibri" pitchFamily="34" charset="0"/>
                <a:ea typeface="Calibri" pitchFamily="34" charset="-122"/>
                <a:cs typeface="Calibri" pitchFamily="34" charset="-120"/>
              </a:rPr>
              <a:t>55 Ep.</a:t>
            </a:r>
            <a:endParaRPr lang="en-US" sz="1000" dirty="0"/>
          </a:p>
        </p:txBody>
      </p:sp>
      <p:sp>
        <p:nvSpPr>
          <p:cNvPr id="35" name="Shape 33"/>
          <p:cNvSpPr/>
          <p:nvPr/>
        </p:nvSpPr>
        <p:spPr>
          <a:xfrm>
            <a:off x="3611880" y="2441448"/>
            <a:ext cx="1316736" cy="603504"/>
          </a:xfrm>
          <a:prstGeom prst="rect">
            <a:avLst/>
          </a:prstGeom>
          <a:solidFill>
            <a:srgbClr val="A9CFC4"/>
          </a:solidFill>
          <a:ln w="19050">
            <a:solidFill>
              <a:srgbClr val="FFFFFF"/>
            </a:solidFill>
            <a:prstDash val="solid"/>
          </a:ln>
        </p:spPr>
        <p:txBody>
          <a:bodyPr/>
          <a:lstStyle/>
          <a:p>
            <a:endParaRPr lang="de-DE"/>
          </a:p>
        </p:txBody>
      </p:sp>
      <p:sp>
        <p:nvSpPr>
          <p:cNvPr id="36" name="Text 34"/>
          <p:cNvSpPr/>
          <p:nvPr/>
        </p:nvSpPr>
        <p:spPr>
          <a:xfrm>
            <a:off x="3611880" y="2496312"/>
            <a:ext cx="1316736" cy="310896"/>
          </a:xfrm>
          <a:prstGeom prst="rect">
            <a:avLst/>
          </a:prstGeom>
          <a:noFill/>
          <a:ln/>
        </p:spPr>
        <p:txBody>
          <a:bodyPr wrap="square" lIns="0" tIns="0" rIns="0" bIns="0" rtlCol="0" anchor="ctr"/>
          <a:lstStyle/>
          <a:p>
            <a:pPr marL="0" indent="0" algn="ctr">
              <a:buNone/>
            </a:pPr>
            <a:r>
              <a:rPr lang="en-US" sz="1500" b="1" dirty="0">
                <a:solidFill>
                  <a:srgbClr val="23282F"/>
                </a:solidFill>
                <a:latin typeface="Calibri" pitchFamily="34" charset="0"/>
                <a:ea typeface="Calibri" pitchFamily="34" charset="-122"/>
                <a:cs typeface="Calibri" pitchFamily="34" charset="-120"/>
              </a:rPr>
              <a:t>5/5</a:t>
            </a:r>
            <a:endParaRPr lang="en-US" sz="1500" dirty="0"/>
          </a:p>
        </p:txBody>
      </p:sp>
      <p:sp>
        <p:nvSpPr>
          <p:cNvPr id="37" name="Text 35"/>
          <p:cNvSpPr/>
          <p:nvPr/>
        </p:nvSpPr>
        <p:spPr>
          <a:xfrm>
            <a:off x="3611880" y="2788920"/>
            <a:ext cx="1316736" cy="237744"/>
          </a:xfrm>
          <a:prstGeom prst="rect">
            <a:avLst/>
          </a:prstGeom>
          <a:noFill/>
          <a:ln/>
        </p:spPr>
        <p:txBody>
          <a:bodyPr wrap="square" lIns="0" tIns="0" rIns="0" bIns="0" rtlCol="0" anchor="ctr"/>
          <a:lstStyle/>
          <a:p>
            <a:pPr marL="0" indent="0" algn="ctr">
              <a:buNone/>
            </a:pPr>
            <a:r>
              <a:rPr lang="en-US" sz="1000" dirty="0">
                <a:solidFill>
                  <a:srgbClr val="6E7681"/>
                </a:solidFill>
                <a:latin typeface="Calibri" pitchFamily="34" charset="0"/>
                <a:ea typeface="Calibri" pitchFamily="34" charset="-122"/>
                <a:cs typeface="Calibri" pitchFamily="34" charset="-120"/>
              </a:rPr>
              <a:t>55 Ep.</a:t>
            </a:r>
            <a:endParaRPr lang="en-US" sz="1000" dirty="0"/>
          </a:p>
        </p:txBody>
      </p:sp>
      <p:sp>
        <p:nvSpPr>
          <p:cNvPr id="38" name="Shape 36"/>
          <p:cNvSpPr/>
          <p:nvPr/>
        </p:nvSpPr>
        <p:spPr>
          <a:xfrm>
            <a:off x="4983480" y="2441448"/>
            <a:ext cx="1316736" cy="603504"/>
          </a:xfrm>
          <a:prstGeom prst="rect">
            <a:avLst/>
          </a:prstGeom>
          <a:solidFill>
            <a:srgbClr val="C6DCD3"/>
          </a:solidFill>
          <a:ln w="19050">
            <a:solidFill>
              <a:srgbClr val="FFFFFF"/>
            </a:solidFill>
            <a:prstDash val="solid"/>
          </a:ln>
        </p:spPr>
        <p:txBody>
          <a:bodyPr/>
          <a:lstStyle/>
          <a:p>
            <a:endParaRPr lang="de-DE"/>
          </a:p>
        </p:txBody>
      </p:sp>
      <p:sp>
        <p:nvSpPr>
          <p:cNvPr id="39" name="Text 37"/>
          <p:cNvSpPr/>
          <p:nvPr/>
        </p:nvSpPr>
        <p:spPr>
          <a:xfrm>
            <a:off x="4983480" y="2496312"/>
            <a:ext cx="1316736" cy="310896"/>
          </a:xfrm>
          <a:prstGeom prst="rect">
            <a:avLst/>
          </a:prstGeom>
          <a:noFill/>
          <a:ln/>
        </p:spPr>
        <p:txBody>
          <a:bodyPr wrap="square" lIns="0" tIns="0" rIns="0" bIns="0" rtlCol="0" anchor="ctr"/>
          <a:lstStyle/>
          <a:p>
            <a:pPr marL="0" indent="0" algn="ctr">
              <a:buNone/>
            </a:pPr>
            <a:r>
              <a:rPr lang="en-US" sz="1500" b="1" dirty="0">
                <a:solidFill>
                  <a:srgbClr val="23282F"/>
                </a:solidFill>
                <a:latin typeface="Calibri" pitchFamily="34" charset="0"/>
                <a:ea typeface="Calibri" pitchFamily="34" charset="-122"/>
                <a:cs typeface="Calibri" pitchFamily="34" charset="-120"/>
              </a:rPr>
              <a:t>4/5</a:t>
            </a:r>
            <a:endParaRPr lang="en-US" sz="1500" dirty="0"/>
          </a:p>
        </p:txBody>
      </p:sp>
      <p:sp>
        <p:nvSpPr>
          <p:cNvPr id="40" name="Text 38"/>
          <p:cNvSpPr/>
          <p:nvPr/>
        </p:nvSpPr>
        <p:spPr>
          <a:xfrm>
            <a:off x="4983480" y="2788920"/>
            <a:ext cx="1316736" cy="237744"/>
          </a:xfrm>
          <a:prstGeom prst="rect">
            <a:avLst/>
          </a:prstGeom>
          <a:noFill/>
          <a:ln/>
        </p:spPr>
        <p:txBody>
          <a:bodyPr wrap="square" lIns="0" tIns="0" rIns="0" bIns="0" rtlCol="0" anchor="ctr"/>
          <a:lstStyle/>
          <a:p>
            <a:pPr marL="0" indent="0" algn="ctr">
              <a:buNone/>
            </a:pPr>
            <a:r>
              <a:rPr lang="en-US" sz="1000" dirty="0">
                <a:solidFill>
                  <a:srgbClr val="6E7681"/>
                </a:solidFill>
                <a:latin typeface="Calibri" pitchFamily="34" charset="0"/>
                <a:ea typeface="Calibri" pitchFamily="34" charset="-122"/>
                <a:cs typeface="Calibri" pitchFamily="34" charset="-120"/>
              </a:rPr>
              <a:t>161 Ep.</a:t>
            </a:r>
            <a:endParaRPr lang="en-US" sz="1000" dirty="0"/>
          </a:p>
        </p:txBody>
      </p:sp>
      <p:sp>
        <p:nvSpPr>
          <p:cNvPr id="41" name="Shape 39"/>
          <p:cNvSpPr/>
          <p:nvPr/>
        </p:nvSpPr>
        <p:spPr>
          <a:xfrm>
            <a:off x="6355080" y="2441448"/>
            <a:ext cx="1316736" cy="603504"/>
          </a:xfrm>
          <a:prstGeom prst="rect">
            <a:avLst/>
          </a:prstGeom>
          <a:solidFill>
            <a:srgbClr val="A9CFC4"/>
          </a:solidFill>
          <a:ln w="19050">
            <a:solidFill>
              <a:srgbClr val="FFFFFF"/>
            </a:solidFill>
            <a:prstDash val="solid"/>
          </a:ln>
        </p:spPr>
        <p:txBody>
          <a:bodyPr/>
          <a:lstStyle/>
          <a:p>
            <a:endParaRPr lang="de-DE"/>
          </a:p>
        </p:txBody>
      </p:sp>
      <p:sp>
        <p:nvSpPr>
          <p:cNvPr id="42" name="Text 40"/>
          <p:cNvSpPr/>
          <p:nvPr/>
        </p:nvSpPr>
        <p:spPr>
          <a:xfrm>
            <a:off x="6355080" y="2496312"/>
            <a:ext cx="1316736" cy="310896"/>
          </a:xfrm>
          <a:prstGeom prst="rect">
            <a:avLst/>
          </a:prstGeom>
          <a:noFill/>
          <a:ln/>
        </p:spPr>
        <p:txBody>
          <a:bodyPr wrap="square" lIns="0" tIns="0" rIns="0" bIns="0" rtlCol="0" anchor="ctr"/>
          <a:lstStyle/>
          <a:p>
            <a:pPr marL="0" indent="0" algn="ctr">
              <a:buNone/>
            </a:pPr>
            <a:r>
              <a:rPr lang="en-US" sz="1500" b="1" dirty="0">
                <a:solidFill>
                  <a:srgbClr val="23282F"/>
                </a:solidFill>
                <a:latin typeface="Calibri" pitchFamily="34" charset="0"/>
                <a:ea typeface="Calibri" pitchFamily="34" charset="-122"/>
                <a:cs typeface="Calibri" pitchFamily="34" charset="-120"/>
              </a:rPr>
              <a:t>5/5</a:t>
            </a:r>
            <a:endParaRPr lang="en-US" sz="1500" dirty="0"/>
          </a:p>
        </p:txBody>
      </p:sp>
      <p:sp>
        <p:nvSpPr>
          <p:cNvPr id="43" name="Text 41"/>
          <p:cNvSpPr/>
          <p:nvPr/>
        </p:nvSpPr>
        <p:spPr>
          <a:xfrm>
            <a:off x="6355080" y="2788920"/>
            <a:ext cx="1316736" cy="237744"/>
          </a:xfrm>
          <a:prstGeom prst="rect">
            <a:avLst/>
          </a:prstGeom>
          <a:noFill/>
          <a:ln/>
        </p:spPr>
        <p:txBody>
          <a:bodyPr wrap="square" lIns="0" tIns="0" rIns="0" bIns="0" rtlCol="0" anchor="ctr"/>
          <a:lstStyle/>
          <a:p>
            <a:pPr marL="0" indent="0" algn="ctr">
              <a:buNone/>
            </a:pPr>
            <a:r>
              <a:rPr lang="en-US" sz="1000" dirty="0">
                <a:solidFill>
                  <a:srgbClr val="6E7681"/>
                </a:solidFill>
                <a:latin typeface="Calibri" pitchFamily="34" charset="0"/>
                <a:ea typeface="Calibri" pitchFamily="34" charset="-122"/>
                <a:cs typeface="Calibri" pitchFamily="34" charset="-120"/>
              </a:rPr>
              <a:t>68 Ep.</a:t>
            </a:r>
            <a:endParaRPr lang="en-US" sz="1000" dirty="0"/>
          </a:p>
        </p:txBody>
      </p:sp>
      <p:sp>
        <p:nvSpPr>
          <p:cNvPr id="44" name="Shape 42"/>
          <p:cNvSpPr/>
          <p:nvPr/>
        </p:nvSpPr>
        <p:spPr>
          <a:xfrm>
            <a:off x="7726680" y="2441448"/>
            <a:ext cx="1316736" cy="603504"/>
          </a:xfrm>
          <a:prstGeom prst="rect">
            <a:avLst/>
          </a:prstGeom>
          <a:solidFill>
            <a:srgbClr val="A9CFC4"/>
          </a:solidFill>
          <a:ln w="19050">
            <a:solidFill>
              <a:srgbClr val="FFFFFF"/>
            </a:solidFill>
            <a:prstDash val="solid"/>
          </a:ln>
        </p:spPr>
        <p:txBody>
          <a:bodyPr/>
          <a:lstStyle/>
          <a:p>
            <a:endParaRPr lang="de-DE"/>
          </a:p>
        </p:txBody>
      </p:sp>
      <p:sp>
        <p:nvSpPr>
          <p:cNvPr id="45" name="Text 43"/>
          <p:cNvSpPr/>
          <p:nvPr/>
        </p:nvSpPr>
        <p:spPr>
          <a:xfrm>
            <a:off x="7726680" y="2496312"/>
            <a:ext cx="1316736" cy="310896"/>
          </a:xfrm>
          <a:prstGeom prst="rect">
            <a:avLst/>
          </a:prstGeom>
          <a:noFill/>
          <a:ln/>
        </p:spPr>
        <p:txBody>
          <a:bodyPr wrap="square" lIns="0" tIns="0" rIns="0" bIns="0" rtlCol="0" anchor="ctr"/>
          <a:lstStyle/>
          <a:p>
            <a:pPr marL="0" indent="0" algn="ctr">
              <a:buNone/>
            </a:pPr>
            <a:r>
              <a:rPr lang="en-US" sz="1500" b="1" dirty="0">
                <a:solidFill>
                  <a:srgbClr val="23282F"/>
                </a:solidFill>
                <a:latin typeface="Calibri" pitchFamily="34" charset="0"/>
                <a:ea typeface="Calibri" pitchFamily="34" charset="-122"/>
                <a:cs typeface="Calibri" pitchFamily="34" charset="-120"/>
              </a:rPr>
              <a:t>5/5</a:t>
            </a:r>
            <a:endParaRPr lang="en-US" sz="1500" dirty="0"/>
          </a:p>
        </p:txBody>
      </p:sp>
      <p:sp>
        <p:nvSpPr>
          <p:cNvPr id="46" name="Text 44"/>
          <p:cNvSpPr/>
          <p:nvPr/>
        </p:nvSpPr>
        <p:spPr>
          <a:xfrm>
            <a:off x="7726680" y="2788920"/>
            <a:ext cx="1316736" cy="237744"/>
          </a:xfrm>
          <a:prstGeom prst="rect">
            <a:avLst/>
          </a:prstGeom>
          <a:noFill/>
          <a:ln/>
        </p:spPr>
        <p:txBody>
          <a:bodyPr wrap="square" lIns="0" tIns="0" rIns="0" bIns="0" rtlCol="0" anchor="ctr"/>
          <a:lstStyle/>
          <a:p>
            <a:pPr marL="0" indent="0" algn="ctr">
              <a:buNone/>
            </a:pPr>
            <a:r>
              <a:rPr lang="en-US" sz="1000" dirty="0">
                <a:solidFill>
                  <a:srgbClr val="6E7681"/>
                </a:solidFill>
                <a:latin typeface="Calibri" pitchFamily="34" charset="0"/>
                <a:ea typeface="Calibri" pitchFamily="34" charset="-122"/>
                <a:cs typeface="Calibri" pitchFamily="34" charset="-120"/>
              </a:rPr>
              <a:t>60 Ep.</a:t>
            </a:r>
            <a:endParaRPr lang="en-US" sz="1000" dirty="0"/>
          </a:p>
        </p:txBody>
      </p:sp>
      <p:sp>
        <p:nvSpPr>
          <p:cNvPr id="47" name="Shape 45"/>
          <p:cNvSpPr/>
          <p:nvPr/>
        </p:nvSpPr>
        <p:spPr>
          <a:xfrm>
            <a:off x="9098280" y="2441448"/>
            <a:ext cx="1316736" cy="603504"/>
          </a:xfrm>
          <a:prstGeom prst="rect">
            <a:avLst/>
          </a:prstGeom>
          <a:solidFill>
            <a:srgbClr val="A9CFC4"/>
          </a:solidFill>
          <a:ln w="19050">
            <a:solidFill>
              <a:srgbClr val="FFFFFF"/>
            </a:solidFill>
            <a:prstDash val="solid"/>
          </a:ln>
        </p:spPr>
        <p:txBody>
          <a:bodyPr/>
          <a:lstStyle/>
          <a:p>
            <a:endParaRPr lang="de-DE"/>
          </a:p>
        </p:txBody>
      </p:sp>
      <p:sp>
        <p:nvSpPr>
          <p:cNvPr id="48" name="Text 46"/>
          <p:cNvSpPr/>
          <p:nvPr/>
        </p:nvSpPr>
        <p:spPr>
          <a:xfrm>
            <a:off x="9098280" y="2496312"/>
            <a:ext cx="1316736" cy="310896"/>
          </a:xfrm>
          <a:prstGeom prst="rect">
            <a:avLst/>
          </a:prstGeom>
          <a:noFill/>
          <a:ln/>
        </p:spPr>
        <p:txBody>
          <a:bodyPr wrap="square" lIns="0" tIns="0" rIns="0" bIns="0" rtlCol="0" anchor="ctr"/>
          <a:lstStyle/>
          <a:p>
            <a:pPr marL="0" indent="0" algn="ctr">
              <a:buNone/>
            </a:pPr>
            <a:r>
              <a:rPr lang="en-US" sz="1500" b="1" dirty="0">
                <a:solidFill>
                  <a:srgbClr val="23282F"/>
                </a:solidFill>
                <a:latin typeface="Calibri" pitchFamily="34" charset="0"/>
                <a:ea typeface="Calibri" pitchFamily="34" charset="-122"/>
                <a:cs typeface="Calibri" pitchFamily="34" charset="-120"/>
              </a:rPr>
              <a:t>5/5</a:t>
            </a:r>
            <a:endParaRPr lang="en-US" sz="1500" dirty="0"/>
          </a:p>
        </p:txBody>
      </p:sp>
      <p:sp>
        <p:nvSpPr>
          <p:cNvPr id="49" name="Text 47"/>
          <p:cNvSpPr/>
          <p:nvPr/>
        </p:nvSpPr>
        <p:spPr>
          <a:xfrm>
            <a:off x="9098280" y="2788920"/>
            <a:ext cx="1316736" cy="237744"/>
          </a:xfrm>
          <a:prstGeom prst="rect">
            <a:avLst/>
          </a:prstGeom>
          <a:noFill/>
          <a:ln/>
        </p:spPr>
        <p:txBody>
          <a:bodyPr wrap="square" lIns="0" tIns="0" rIns="0" bIns="0" rtlCol="0" anchor="ctr"/>
          <a:lstStyle/>
          <a:p>
            <a:pPr marL="0" indent="0" algn="ctr">
              <a:buNone/>
            </a:pPr>
            <a:r>
              <a:rPr lang="en-US" sz="1000" dirty="0">
                <a:solidFill>
                  <a:srgbClr val="6E7681"/>
                </a:solidFill>
                <a:latin typeface="Calibri" pitchFamily="34" charset="0"/>
                <a:ea typeface="Calibri" pitchFamily="34" charset="-122"/>
                <a:cs typeface="Calibri" pitchFamily="34" charset="-120"/>
              </a:rPr>
              <a:t>54 Ep.</a:t>
            </a:r>
            <a:endParaRPr lang="en-US" sz="1000" dirty="0"/>
          </a:p>
        </p:txBody>
      </p:sp>
      <p:sp>
        <p:nvSpPr>
          <p:cNvPr id="50" name="Text 48"/>
          <p:cNvSpPr/>
          <p:nvPr/>
        </p:nvSpPr>
        <p:spPr>
          <a:xfrm>
            <a:off x="10579608" y="2441448"/>
            <a:ext cx="914400" cy="658368"/>
          </a:xfrm>
          <a:prstGeom prst="rect">
            <a:avLst/>
          </a:prstGeom>
          <a:noFill/>
          <a:ln/>
        </p:spPr>
        <p:txBody>
          <a:bodyPr wrap="square" lIns="0" tIns="0" rIns="0" bIns="0" rtlCol="0" anchor="ctr"/>
          <a:lstStyle/>
          <a:p>
            <a:pPr marL="0" indent="0">
              <a:buNone/>
            </a:pPr>
            <a:r>
              <a:rPr lang="en-US" sz="1500" b="1" dirty="0">
                <a:solidFill>
                  <a:srgbClr val="1C6E8C"/>
                </a:solidFill>
                <a:latin typeface="Cambria" pitchFamily="34" charset="0"/>
                <a:ea typeface="Cambria" pitchFamily="34" charset="-122"/>
                <a:cs typeface="Cambria" pitchFamily="34" charset="-120"/>
              </a:rPr>
              <a:t>29/30</a:t>
            </a:r>
            <a:endParaRPr lang="en-US" sz="1500" dirty="0"/>
          </a:p>
        </p:txBody>
      </p:sp>
      <p:sp>
        <p:nvSpPr>
          <p:cNvPr id="51" name="Text 49"/>
          <p:cNvSpPr/>
          <p:nvPr/>
        </p:nvSpPr>
        <p:spPr>
          <a:xfrm>
            <a:off x="640080" y="3099816"/>
            <a:ext cx="1508760" cy="658368"/>
          </a:xfrm>
          <a:prstGeom prst="rect">
            <a:avLst/>
          </a:prstGeom>
          <a:noFill/>
          <a:ln/>
        </p:spPr>
        <p:txBody>
          <a:bodyPr wrap="square" lIns="0" tIns="0" rIns="0" bIns="0" rtlCol="0" anchor="ctr"/>
          <a:lstStyle/>
          <a:p>
            <a:pPr marL="0" indent="0" algn="r">
              <a:buNone/>
            </a:pPr>
            <a:r>
              <a:rPr lang="en-US" sz="1300" b="1" dirty="0">
                <a:solidFill>
                  <a:srgbClr val="23282F"/>
                </a:solidFill>
                <a:latin typeface="Calibri" pitchFamily="34" charset="0"/>
                <a:ea typeface="Calibri" pitchFamily="34" charset="-122"/>
                <a:cs typeface="Calibri" pitchFamily="34" charset="-120"/>
              </a:rPr>
              <a:t>DMZ</a:t>
            </a:r>
            <a:endParaRPr lang="en-US" sz="1300" dirty="0"/>
          </a:p>
        </p:txBody>
      </p:sp>
      <p:sp>
        <p:nvSpPr>
          <p:cNvPr id="52" name="Shape 50"/>
          <p:cNvSpPr/>
          <p:nvPr/>
        </p:nvSpPr>
        <p:spPr>
          <a:xfrm>
            <a:off x="2240280" y="3099816"/>
            <a:ext cx="1316736" cy="603504"/>
          </a:xfrm>
          <a:prstGeom prst="rect">
            <a:avLst/>
          </a:prstGeom>
          <a:solidFill>
            <a:srgbClr val="A9CFC4"/>
          </a:solidFill>
          <a:ln w="19050">
            <a:solidFill>
              <a:srgbClr val="FFFFFF"/>
            </a:solidFill>
            <a:prstDash val="solid"/>
          </a:ln>
        </p:spPr>
        <p:txBody>
          <a:bodyPr/>
          <a:lstStyle/>
          <a:p>
            <a:endParaRPr lang="de-DE"/>
          </a:p>
        </p:txBody>
      </p:sp>
      <p:sp>
        <p:nvSpPr>
          <p:cNvPr id="53" name="Text 51"/>
          <p:cNvSpPr/>
          <p:nvPr/>
        </p:nvSpPr>
        <p:spPr>
          <a:xfrm>
            <a:off x="2240280" y="3154680"/>
            <a:ext cx="1316736" cy="310896"/>
          </a:xfrm>
          <a:prstGeom prst="rect">
            <a:avLst/>
          </a:prstGeom>
          <a:noFill/>
          <a:ln/>
        </p:spPr>
        <p:txBody>
          <a:bodyPr wrap="square" lIns="0" tIns="0" rIns="0" bIns="0" rtlCol="0" anchor="ctr"/>
          <a:lstStyle/>
          <a:p>
            <a:pPr marL="0" indent="0" algn="ctr">
              <a:buNone/>
            </a:pPr>
            <a:r>
              <a:rPr lang="en-US" sz="1500" b="1" dirty="0">
                <a:solidFill>
                  <a:srgbClr val="23282F"/>
                </a:solidFill>
                <a:latin typeface="Calibri" pitchFamily="34" charset="0"/>
                <a:ea typeface="Calibri" pitchFamily="34" charset="-122"/>
                <a:cs typeface="Calibri" pitchFamily="34" charset="-120"/>
              </a:rPr>
              <a:t>5/5</a:t>
            </a:r>
            <a:endParaRPr lang="en-US" sz="1500" dirty="0"/>
          </a:p>
        </p:txBody>
      </p:sp>
      <p:sp>
        <p:nvSpPr>
          <p:cNvPr id="54" name="Text 52"/>
          <p:cNvSpPr/>
          <p:nvPr/>
        </p:nvSpPr>
        <p:spPr>
          <a:xfrm>
            <a:off x="2240280" y="3447288"/>
            <a:ext cx="1316736" cy="237744"/>
          </a:xfrm>
          <a:prstGeom prst="rect">
            <a:avLst/>
          </a:prstGeom>
          <a:noFill/>
          <a:ln/>
        </p:spPr>
        <p:txBody>
          <a:bodyPr wrap="square" lIns="0" tIns="0" rIns="0" bIns="0" rtlCol="0" anchor="ctr"/>
          <a:lstStyle/>
          <a:p>
            <a:pPr marL="0" indent="0" algn="ctr">
              <a:buNone/>
            </a:pPr>
            <a:r>
              <a:rPr lang="en-US" sz="1000" dirty="0">
                <a:solidFill>
                  <a:srgbClr val="6E7681"/>
                </a:solidFill>
                <a:latin typeface="Calibri" pitchFamily="34" charset="0"/>
                <a:ea typeface="Calibri" pitchFamily="34" charset="-122"/>
                <a:cs typeface="Calibri" pitchFamily="34" charset="-120"/>
              </a:rPr>
              <a:t>57 Ep.</a:t>
            </a:r>
            <a:endParaRPr lang="en-US" sz="1000" dirty="0"/>
          </a:p>
        </p:txBody>
      </p:sp>
      <p:sp>
        <p:nvSpPr>
          <p:cNvPr id="55" name="Shape 53"/>
          <p:cNvSpPr/>
          <p:nvPr/>
        </p:nvSpPr>
        <p:spPr>
          <a:xfrm>
            <a:off x="3611880" y="3099816"/>
            <a:ext cx="1316736" cy="603504"/>
          </a:xfrm>
          <a:prstGeom prst="rect">
            <a:avLst/>
          </a:prstGeom>
          <a:solidFill>
            <a:srgbClr val="A9CFC4"/>
          </a:solidFill>
          <a:ln w="19050">
            <a:solidFill>
              <a:srgbClr val="FFFFFF"/>
            </a:solidFill>
            <a:prstDash val="solid"/>
          </a:ln>
        </p:spPr>
        <p:txBody>
          <a:bodyPr/>
          <a:lstStyle/>
          <a:p>
            <a:endParaRPr lang="de-DE"/>
          </a:p>
        </p:txBody>
      </p:sp>
      <p:sp>
        <p:nvSpPr>
          <p:cNvPr id="56" name="Text 54"/>
          <p:cNvSpPr/>
          <p:nvPr/>
        </p:nvSpPr>
        <p:spPr>
          <a:xfrm>
            <a:off x="3611880" y="3154680"/>
            <a:ext cx="1316736" cy="310896"/>
          </a:xfrm>
          <a:prstGeom prst="rect">
            <a:avLst/>
          </a:prstGeom>
          <a:noFill/>
          <a:ln/>
        </p:spPr>
        <p:txBody>
          <a:bodyPr wrap="square" lIns="0" tIns="0" rIns="0" bIns="0" rtlCol="0" anchor="ctr"/>
          <a:lstStyle/>
          <a:p>
            <a:pPr marL="0" indent="0" algn="ctr">
              <a:buNone/>
            </a:pPr>
            <a:r>
              <a:rPr lang="en-US" sz="1500" b="1" dirty="0">
                <a:solidFill>
                  <a:srgbClr val="23282F"/>
                </a:solidFill>
                <a:latin typeface="Calibri" pitchFamily="34" charset="0"/>
                <a:ea typeface="Calibri" pitchFamily="34" charset="-122"/>
                <a:cs typeface="Calibri" pitchFamily="34" charset="-120"/>
              </a:rPr>
              <a:t>5/5</a:t>
            </a:r>
            <a:endParaRPr lang="en-US" sz="1500" dirty="0"/>
          </a:p>
        </p:txBody>
      </p:sp>
      <p:sp>
        <p:nvSpPr>
          <p:cNvPr id="57" name="Text 55"/>
          <p:cNvSpPr/>
          <p:nvPr/>
        </p:nvSpPr>
        <p:spPr>
          <a:xfrm>
            <a:off x="3611880" y="3447288"/>
            <a:ext cx="1316736" cy="237744"/>
          </a:xfrm>
          <a:prstGeom prst="rect">
            <a:avLst/>
          </a:prstGeom>
          <a:noFill/>
          <a:ln/>
        </p:spPr>
        <p:txBody>
          <a:bodyPr wrap="square" lIns="0" tIns="0" rIns="0" bIns="0" rtlCol="0" anchor="ctr"/>
          <a:lstStyle/>
          <a:p>
            <a:pPr marL="0" indent="0" algn="ctr">
              <a:buNone/>
            </a:pPr>
            <a:r>
              <a:rPr lang="en-US" sz="1000" dirty="0">
                <a:solidFill>
                  <a:srgbClr val="6E7681"/>
                </a:solidFill>
                <a:latin typeface="Calibri" pitchFamily="34" charset="0"/>
                <a:ea typeface="Calibri" pitchFamily="34" charset="-122"/>
                <a:cs typeface="Calibri" pitchFamily="34" charset="-120"/>
              </a:rPr>
              <a:t>57 Ep.</a:t>
            </a:r>
            <a:endParaRPr lang="en-US" sz="1000" dirty="0"/>
          </a:p>
        </p:txBody>
      </p:sp>
      <p:sp>
        <p:nvSpPr>
          <p:cNvPr id="58" name="Shape 56"/>
          <p:cNvSpPr/>
          <p:nvPr/>
        </p:nvSpPr>
        <p:spPr>
          <a:xfrm>
            <a:off x="4983480" y="3099816"/>
            <a:ext cx="1316736" cy="603504"/>
          </a:xfrm>
          <a:prstGeom prst="rect">
            <a:avLst/>
          </a:prstGeom>
          <a:solidFill>
            <a:srgbClr val="A9CFC4"/>
          </a:solidFill>
          <a:ln w="19050">
            <a:solidFill>
              <a:srgbClr val="FFFFFF"/>
            </a:solidFill>
            <a:prstDash val="solid"/>
          </a:ln>
        </p:spPr>
        <p:txBody>
          <a:bodyPr/>
          <a:lstStyle/>
          <a:p>
            <a:endParaRPr lang="de-DE"/>
          </a:p>
        </p:txBody>
      </p:sp>
      <p:sp>
        <p:nvSpPr>
          <p:cNvPr id="59" name="Text 57"/>
          <p:cNvSpPr/>
          <p:nvPr/>
        </p:nvSpPr>
        <p:spPr>
          <a:xfrm>
            <a:off x="4983480" y="3154680"/>
            <a:ext cx="1316736" cy="310896"/>
          </a:xfrm>
          <a:prstGeom prst="rect">
            <a:avLst/>
          </a:prstGeom>
          <a:noFill/>
          <a:ln/>
        </p:spPr>
        <p:txBody>
          <a:bodyPr wrap="square" lIns="0" tIns="0" rIns="0" bIns="0" rtlCol="0" anchor="ctr"/>
          <a:lstStyle/>
          <a:p>
            <a:pPr marL="0" indent="0" algn="ctr">
              <a:buNone/>
            </a:pPr>
            <a:r>
              <a:rPr lang="en-US" sz="1500" b="1" dirty="0">
                <a:solidFill>
                  <a:srgbClr val="23282F"/>
                </a:solidFill>
                <a:latin typeface="Calibri" pitchFamily="34" charset="0"/>
                <a:ea typeface="Calibri" pitchFamily="34" charset="-122"/>
                <a:cs typeface="Calibri" pitchFamily="34" charset="-120"/>
              </a:rPr>
              <a:t>5/5</a:t>
            </a:r>
            <a:endParaRPr lang="en-US" sz="1500" dirty="0"/>
          </a:p>
        </p:txBody>
      </p:sp>
      <p:sp>
        <p:nvSpPr>
          <p:cNvPr id="60" name="Text 58"/>
          <p:cNvSpPr/>
          <p:nvPr/>
        </p:nvSpPr>
        <p:spPr>
          <a:xfrm>
            <a:off x="4983480" y="3447288"/>
            <a:ext cx="1316736" cy="237744"/>
          </a:xfrm>
          <a:prstGeom prst="rect">
            <a:avLst/>
          </a:prstGeom>
          <a:noFill/>
          <a:ln/>
        </p:spPr>
        <p:txBody>
          <a:bodyPr wrap="square" lIns="0" tIns="0" rIns="0" bIns="0" rtlCol="0" anchor="ctr"/>
          <a:lstStyle/>
          <a:p>
            <a:pPr marL="0" indent="0" algn="ctr">
              <a:buNone/>
            </a:pPr>
            <a:r>
              <a:rPr lang="en-US" sz="1000" dirty="0">
                <a:solidFill>
                  <a:srgbClr val="6E7681"/>
                </a:solidFill>
                <a:latin typeface="Calibri" pitchFamily="34" charset="0"/>
                <a:ea typeface="Calibri" pitchFamily="34" charset="-122"/>
                <a:cs typeface="Calibri" pitchFamily="34" charset="-120"/>
              </a:rPr>
              <a:t>58 Ep.</a:t>
            </a:r>
            <a:endParaRPr lang="en-US" sz="1000" dirty="0"/>
          </a:p>
        </p:txBody>
      </p:sp>
      <p:sp>
        <p:nvSpPr>
          <p:cNvPr id="61" name="Shape 59"/>
          <p:cNvSpPr/>
          <p:nvPr/>
        </p:nvSpPr>
        <p:spPr>
          <a:xfrm>
            <a:off x="6355080" y="3099816"/>
            <a:ext cx="1316736" cy="603504"/>
          </a:xfrm>
          <a:prstGeom prst="rect">
            <a:avLst/>
          </a:prstGeom>
          <a:solidFill>
            <a:srgbClr val="C6DCD3"/>
          </a:solidFill>
          <a:ln w="19050">
            <a:solidFill>
              <a:srgbClr val="FFFFFF"/>
            </a:solidFill>
            <a:prstDash val="solid"/>
          </a:ln>
        </p:spPr>
        <p:txBody>
          <a:bodyPr/>
          <a:lstStyle/>
          <a:p>
            <a:endParaRPr lang="de-DE"/>
          </a:p>
        </p:txBody>
      </p:sp>
      <p:sp>
        <p:nvSpPr>
          <p:cNvPr id="62" name="Text 60"/>
          <p:cNvSpPr/>
          <p:nvPr/>
        </p:nvSpPr>
        <p:spPr>
          <a:xfrm>
            <a:off x="6355080" y="3154680"/>
            <a:ext cx="1316736" cy="310896"/>
          </a:xfrm>
          <a:prstGeom prst="rect">
            <a:avLst/>
          </a:prstGeom>
          <a:noFill/>
          <a:ln/>
        </p:spPr>
        <p:txBody>
          <a:bodyPr wrap="square" lIns="0" tIns="0" rIns="0" bIns="0" rtlCol="0" anchor="ctr"/>
          <a:lstStyle/>
          <a:p>
            <a:pPr marL="0" indent="0" algn="ctr">
              <a:buNone/>
            </a:pPr>
            <a:r>
              <a:rPr lang="en-US" sz="1500" b="1" dirty="0">
                <a:solidFill>
                  <a:srgbClr val="23282F"/>
                </a:solidFill>
                <a:latin typeface="Calibri" pitchFamily="34" charset="0"/>
                <a:ea typeface="Calibri" pitchFamily="34" charset="-122"/>
                <a:cs typeface="Calibri" pitchFamily="34" charset="-120"/>
              </a:rPr>
              <a:t>4/5</a:t>
            </a:r>
            <a:endParaRPr lang="en-US" sz="1500" dirty="0"/>
          </a:p>
        </p:txBody>
      </p:sp>
      <p:sp>
        <p:nvSpPr>
          <p:cNvPr id="63" name="Text 61"/>
          <p:cNvSpPr/>
          <p:nvPr/>
        </p:nvSpPr>
        <p:spPr>
          <a:xfrm>
            <a:off x="6355080" y="3447288"/>
            <a:ext cx="1316736" cy="237744"/>
          </a:xfrm>
          <a:prstGeom prst="rect">
            <a:avLst/>
          </a:prstGeom>
          <a:noFill/>
          <a:ln/>
        </p:spPr>
        <p:txBody>
          <a:bodyPr wrap="square" lIns="0" tIns="0" rIns="0" bIns="0" rtlCol="0" anchor="ctr"/>
          <a:lstStyle/>
          <a:p>
            <a:pPr marL="0" indent="0" algn="ctr">
              <a:buNone/>
            </a:pPr>
            <a:r>
              <a:rPr lang="en-US" sz="1000" dirty="0">
                <a:solidFill>
                  <a:srgbClr val="6E7681"/>
                </a:solidFill>
                <a:latin typeface="Calibri" pitchFamily="34" charset="0"/>
                <a:ea typeface="Calibri" pitchFamily="34" charset="-122"/>
                <a:cs typeface="Calibri" pitchFamily="34" charset="-120"/>
              </a:rPr>
              <a:t>213 Ep.</a:t>
            </a:r>
            <a:endParaRPr lang="en-US" sz="1000" dirty="0"/>
          </a:p>
        </p:txBody>
      </p:sp>
      <p:sp>
        <p:nvSpPr>
          <p:cNvPr id="64" name="Shape 62"/>
          <p:cNvSpPr/>
          <p:nvPr/>
        </p:nvSpPr>
        <p:spPr>
          <a:xfrm>
            <a:off x="7726680" y="3099816"/>
            <a:ext cx="1316736" cy="603504"/>
          </a:xfrm>
          <a:prstGeom prst="rect">
            <a:avLst/>
          </a:prstGeom>
          <a:solidFill>
            <a:srgbClr val="A9CFC4"/>
          </a:solidFill>
          <a:ln w="19050">
            <a:solidFill>
              <a:srgbClr val="FFFFFF"/>
            </a:solidFill>
            <a:prstDash val="solid"/>
          </a:ln>
        </p:spPr>
        <p:txBody>
          <a:bodyPr/>
          <a:lstStyle/>
          <a:p>
            <a:endParaRPr lang="de-DE"/>
          </a:p>
        </p:txBody>
      </p:sp>
      <p:sp>
        <p:nvSpPr>
          <p:cNvPr id="65" name="Text 63"/>
          <p:cNvSpPr/>
          <p:nvPr/>
        </p:nvSpPr>
        <p:spPr>
          <a:xfrm>
            <a:off x="7726680" y="3154680"/>
            <a:ext cx="1316736" cy="310896"/>
          </a:xfrm>
          <a:prstGeom prst="rect">
            <a:avLst/>
          </a:prstGeom>
          <a:noFill/>
          <a:ln/>
        </p:spPr>
        <p:txBody>
          <a:bodyPr wrap="square" lIns="0" tIns="0" rIns="0" bIns="0" rtlCol="0" anchor="ctr"/>
          <a:lstStyle/>
          <a:p>
            <a:pPr marL="0" indent="0" algn="ctr">
              <a:buNone/>
            </a:pPr>
            <a:r>
              <a:rPr lang="en-US" sz="1500" b="1" dirty="0">
                <a:solidFill>
                  <a:srgbClr val="23282F"/>
                </a:solidFill>
                <a:latin typeface="Calibri" pitchFamily="34" charset="0"/>
                <a:ea typeface="Calibri" pitchFamily="34" charset="-122"/>
                <a:cs typeface="Calibri" pitchFamily="34" charset="-120"/>
              </a:rPr>
              <a:t>5/5</a:t>
            </a:r>
            <a:endParaRPr lang="en-US" sz="1500" dirty="0"/>
          </a:p>
        </p:txBody>
      </p:sp>
      <p:sp>
        <p:nvSpPr>
          <p:cNvPr id="66" name="Text 64"/>
          <p:cNvSpPr/>
          <p:nvPr/>
        </p:nvSpPr>
        <p:spPr>
          <a:xfrm>
            <a:off x="7726680" y="3447288"/>
            <a:ext cx="1316736" cy="237744"/>
          </a:xfrm>
          <a:prstGeom prst="rect">
            <a:avLst/>
          </a:prstGeom>
          <a:noFill/>
          <a:ln/>
        </p:spPr>
        <p:txBody>
          <a:bodyPr wrap="square" lIns="0" tIns="0" rIns="0" bIns="0" rtlCol="0" anchor="ctr"/>
          <a:lstStyle/>
          <a:p>
            <a:pPr marL="0" indent="0" algn="ctr">
              <a:buNone/>
            </a:pPr>
            <a:r>
              <a:rPr lang="en-US" sz="1000" dirty="0">
                <a:solidFill>
                  <a:srgbClr val="6E7681"/>
                </a:solidFill>
                <a:latin typeface="Calibri" pitchFamily="34" charset="0"/>
                <a:ea typeface="Calibri" pitchFamily="34" charset="-122"/>
                <a:cs typeface="Calibri" pitchFamily="34" charset="-120"/>
              </a:rPr>
              <a:t>55 Ep.</a:t>
            </a:r>
            <a:endParaRPr lang="en-US" sz="1000" dirty="0"/>
          </a:p>
        </p:txBody>
      </p:sp>
      <p:sp>
        <p:nvSpPr>
          <p:cNvPr id="67" name="Shape 65"/>
          <p:cNvSpPr/>
          <p:nvPr/>
        </p:nvSpPr>
        <p:spPr>
          <a:xfrm>
            <a:off x="9098280" y="3099816"/>
            <a:ext cx="1316736" cy="603504"/>
          </a:xfrm>
          <a:prstGeom prst="rect">
            <a:avLst/>
          </a:prstGeom>
          <a:solidFill>
            <a:srgbClr val="A9CFC4"/>
          </a:solidFill>
          <a:ln w="19050">
            <a:solidFill>
              <a:srgbClr val="FFFFFF"/>
            </a:solidFill>
            <a:prstDash val="solid"/>
          </a:ln>
        </p:spPr>
        <p:txBody>
          <a:bodyPr/>
          <a:lstStyle/>
          <a:p>
            <a:endParaRPr lang="de-DE"/>
          </a:p>
        </p:txBody>
      </p:sp>
      <p:sp>
        <p:nvSpPr>
          <p:cNvPr id="68" name="Text 66"/>
          <p:cNvSpPr/>
          <p:nvPr/>
        </p:nvSpPr>
        <p:spPr>
          <a:xfrm>
            <a:off x="9098280" y="3154680"/>
            <a:ext cx="1316736" cy="310896"/>
          </a:xfrm>
          <a:prstGeom prst="rect">
            <a:avLst/>
          </a:prstGeom>
          <a:noFill/>
          <a:ln/>
        </p:spPr>
        <p:txBody>
          <a:bodyPr wrap="square" lIns="0" tIns="0" rIns="0" bIns="0" rtlCol="0" anchor="ctr"/>
          <a:lstStyle/>
          <a:p>
            <a:pPr marL="0" indent="0" algn="ctr">
              <a:buNone/>
            </a:pPr>
            <a:r>
              <a:rPr lang="en-US" sz="1500" b="1" dirty="0">
                <a:solidFill>
                  <a:srgbClr val="23282F"/>
                </a:solidFill>
                <a:latin typeface="Calibri" pitchFamily="34" charset="0"/>
                <a:ea typeface="Calibri" pitchFamily="34" charset="-122"/>
                <a:cs typeface="Calibri" pitchFamily="34" charset="-120"/>
              </a:rPr>
              <a:t>5/5</a:t>
            </a:r>
            <a:endParaRPr lang="en-US" sz="1500" dirty="0"/>
          </a:p>
        </p:txBody>
      </p:sp>
      <p:sp>
        <p:nvSpPr>
          <p:cNvPr id="69" name="Text 67"/>
          <p:cNvSpPr/>
          <p:nvPr/>
        </p:nvSpPr>
        <p:spPr>
          <a:xfrm>
            <a:off x="9098280" y="3447288"/>
            <a:ext cx="1316736" cy="237744"/>
          </a:xfrm>
          <a:prstGeom prst="rect">
            <a:avLst/>
          </a:prstGeom>
          <a:noFill/>
          <a:ln/>
        </p:spPr>
        <p:txBody>
          <a:bodyPr wrap="square" lIns="0" tIns="0" rIns="0" bIns="0" rtlCol="0" anchor="ctr"/>
          <a:lstStyle/>
          <a:p>
            <a:pPr marL="0" indent="0" algn="ctr">
              <a:buNone/>
            </a:pPr>
            <a:r>
              <a:rPr lang="en-US" sz="1000" dirty="0">
                <a:solidFill>
                  <a:srgbClr val="6E7681"/>
                </a:solidFill>
                <a:latin typeface="Calibri" pitchFamily="34" charset="0"/>
                <a:ea typeface="Calibri" pitchFamily="34" charset="-122"/>
                <a:cs typeface="Calibri" pitchFamily="34" charset="-120"/>
              </a:rPr>
              <a:t>64 Ep.</a:t>
            </a:r>
            <a:endParaRPr lang="en-US" sz="1000" dirty="0"/>
          </a:p>
        </p:txBody>
      </p:sp>
      <p:sp>
        <p:nvSpPr>
          <p:cNvPr id="70" name="Text 68"/>
          <p:cNvSpPr/>
          <p:nvPr/>
        </p:nvSpPr>
        <p:spPr>
          <a:xfrm>
            <a:off x="10579608" y="3099816"/>
            <a:ext cx="914400" cy="658368"/>
          </a:xfrm>
          <a:prstGeom prst="rect">
            <a:avLst/>
          </a:prstGeom>
          <a:noFill/>
          <a:ln/>
        </p:spPr>
        <p:txBody>
          <a:bodyPr wrap="square" lIns="0" tIns="0" rIns="0" bIns="0" rtlCol="0" anchor="ctr"/>
          <a:lstStyle/>
          <a:p>
            <a:pPr marL="0" indent="0">
              <a:buNone/>
            </a:pPr>
            <a:r>
              <a:rPr lang="en-US" sz="1500" b="1" dirty="0">
                <a:solidFill>
                  <a:srgbClr val="1C6E8C"/>
                </a:solidFill>
                <a:latin typeface="Cambria" pitchFamily="34" charset="0"/>
                <a:ea typeface="Cambria" pitchFamily="34" charset="-122"/>
                <a:cs typeface="Cambria" pitchFamily="34" charset="-120"/>
              </a:rPr>
              <a:t>29/30</a:t>
            </a:r>
            <a:endParaRPr lang="en-US" sz="1500" dirty="0"/>
          </a:p>
        </p:txBody>
      </p:sp>
      <p:sp>
        <p:nvSpPr>
          <p:cNvPr id="71" name="Text 69"/>
          <p:cNvSpPr/>
          <p:nvPr/>
        </p:nvSpPr>
        <p:spPr>
          <a:xfrm>
            <a:off x="640080" y="3758184"/>
            <a:ext cx="1508760" cy="658368"/>
          </a:xfrm>
          <a:prstGeom prst="rect">
            <a:avLst/>
          </a:prstGeom>
          <a:noFill/>
          <a:ln/>
        </p:spPr>
        <p:txBody>
          <a:bodyPr wrap="square" lIns="0" tIns="0" rIns="0" bIns="0" rtlCol="0" anchor="ctr"/>
          <a:lstStyle/>
          <a:p>
            <a:pPr marL="0" indent="0" algn="r">
              <a:buNone/>
            </a:pPr>
            <a:r>
              <a:rPr lang="en-US" sz="1300" b="1" dirty="0">
                <a:solidFill>
                  <a:srgbClr val="23282F"/>
                </a:solidFill>
                <a:latin typeface="Calibri" pitchFamily="34" charset="0"/>
                <a:ea typeface="Calibri" pitchFamily="34" charset="-122"/>
                <a:cs typeface="Calibri" pitchFamily="34" charset="-120"/>
              </a:rPr>
              <a:t>Micro-Seg.</a:t>
            </a:r>
            <a:endParaRPr lang="en-US" sz="1300" dirty="0"/>
          </a:p>
        </p:txBody>
      </p:sp>
      <p:sp>
        <p:nvSpPr>
          <p:cNvPr id="72" name="Shape 70"/>
          <p:cNvSpPr/>
          <p:nvPr/>
        </p:nvSpPr>
        <p:spPr>
          <a:xfrm>
            <a:off x="2240280" y="3758184"/>
            <a:ext cx="1316736" cy="603504"/>
          </a:xfrm>
          <a:prstGeom prst="rect">
            <a:avLst/>
          </a:prstGeom>
          <a:solidFill>
            <a:srgbClr val="A9CFC4"/>
          </a:solidFill>
          <a:ln w="19050">
            <a:solidFill>
              <a:srgbClr val="FFFFFF"/>
            </a:solidFill>
            <a:prstDash val="solid"/>
          </a:ln>
        </p:spPr>
        <p:txBody>
          <a:bodyPr/>
          <a:lstStyle/>
          <a:p>
            <a:endParaRPr lang="de-DE"/>
          </a:p>
        </p:txBody>
      </p:sp>
      <p:sp>
        <p:nvSpPr>
          <p:cNvPr id="73" name="Text 71"/>
          <p:cNvSpPr/>
          <p:nvPr/>
        </p:nvSpPr>
        <p:spPr>
          <a:xfrm>
            <a:off x="2240280" y="3813048"/>
            <a:ext cx="1316736" cy="310896"/>
          </a:xfrm>
          <a:prstGeom prst="rect">
            <a:avLst/>
          </a:prstGeom>
          <a:noFill/>
          <a:ln/>
        </p:spPr>
        <p:txBody>
          <a:bodyPr wrap="square" lIns="0" tIns="0" rIns="0" bIns="0" rtlCol="0" anchor="ctr"/>
          <a:lstStyle/>
          <a:p>
            <a:pPr marL="0" indent="0" algn="ctr">
              <a:buNone/>
            </a:pPr>
            <a:r>
              <a:rPr lang="en-US" sz="1500" b="1" dirty="0">
                <a:solidFill>
                  <a:srgbClr val="23282F"/>
                </a:solidFill>
                <a:latin typeface="Calibri" pitchFamily="34" charset="0"/>
                <a:ea typeface="Calibri" pitchFamily="34" charset="-122"/>
                <a:cs typeface="Calibri" pitchFamily="34" charset="-120"/>
              </a:rPr>
              <a:t>5/5</a:t>
            </a:r>
            <a:endParaRPr lang="en-US" sz="1500" dirty="0"/>
          </a:p>
        </p:txBody>
      </p:sp>
      <p:sp>
        <p:nvSpPr>
          <p:cNvPr id="74" name="Text 72"/>
          <p:cNvSpPr/>
          <p:nvPr/>
        </p:nvSpPr>
        <p:spPr>
          <a:xfrm>
            <a:off x="2240280" y="4105656"/>
            <a:ext cx="1316736" cy="237744"/>
          </a:xfrm>
          <a:prstGeom prst="rect">
            <a:avLst/>
          </a:prstGeom>
          <a:noFill/>
          <a:ln/>
        </p:spPr>
        <p:txBody>
          <a:bodyPr wrap="square" lIns="0" tIns="0" rIns="0" bIns="0" rtlCol="0" anchor="ctr"/>
          <a:lstStyle/>
          <a:p>
            <a:pPr marL="0" indent="0" algn="ctr">
              <a:buNone/>
            </a:pPr>
            <a:r>
              <a:rPr lang="en-US" sz="1000" dirty="0">
                <a:solidFill>
                  <a:srgbClr val="6E7681"/>
                </a:solidFill>
                <a:latin typeface="Calibri" pitchFamily="34" charset="0"/>
                <a:ea typeface="Calibri" pitchFamily="34" charset="-122"/>
                <a:cs typeface="Calibri" pitchFamily="34" charset="-120"/>
              </a:rPr>
              <a:t>55 Ep.</a:t>
            </a:r>
            <a:endParaRPr lang="en-US" sz="1000" dirty="0"/>
          </a:p>
        </p:txBody>
      </p:sp>
      <p:sp>
        <p:nvSpPr>
          <p:cNvPr id="75" name="Shape 73"/>
          <p:cNvSpPr/>
          <p:nvPr/>
        </p:nvSpPr>
        <p:spPr>
          <a:xfrm>
            <a:off x="3611880" y="3758184"/>
            <a:ext cx="1316736" cy="603504"/>
          </a:xfrm>
          <a:prstGeom prst="rect">
            <a:avLst/>
          </a:prstGeom>
          <a:solidFill>
            <a:srgbClr val="A9CFC4"/>
          </a:solidFill>
          <a:ln w="19050">
            <a:solidFill>
              <a:srgbClr val="FFFFFF"/>
            </a:solidFill>
            <a:prstDash val="solid"/>
          </a:ln>
        </p:spPr>
        <p:txBody>
          <a:bodyPr/>
          <a:lstStyle/>
          <a:p>
            <a:endParaRPr lang="de-DE"/>
          </a:p>
        </p:txBody>
      </p:sp>
      <p:sp>
        <p:nvSpPr>
          <p:cNvPr id="76" name="Text 74"/>
          <p:cNvSpPr/>
          <p:nvPr/>
        </p:nvSpPr>
        <p:spPr>
          <a:xfrm>
            <a:off x="3611880" y="3813048"/>
            <a:ext cx="1316736" cy="310896"/>
          </a:xfrm>
          <a:prstGeom prst="rect">
            <a:avLst/>
          </a:prstGeom>
          <a:noFill/>
          <a:ln/>
        </p:spPr>
        <p:txBody>
          <a:bodyPr wrap="square" lIns="0" tIns="0" rIns="0" bIns="0" rtlCol="0" anchor="ctr"/>
          <a:lstStyle/>
          <a:p>
            <a:pPr marL="0" indent="0" algn="ctr">
              <a:buNone/>
            </a:pPr>
            <a:r>
              <a:rPr lang="en-US" sz="1500" b="1" dirty="0">
                <a:solidFill>
                  <a:srgbClr val="23282F"/>
                </a:solidFill>
                <a:latin typeface="Calibri" pitchFamily="34" charset="0"/>
                <a:ea typeface="Calibri" pitchFamily="34" charset="-122"/>
                <a:cs typeface="Calibri" pitchFamily="34" charset="-120"/>
              </a:rPr>
              <a:t>5/5</a:t>
            </a:r>
            <a:endParaRPr lang="en-US" sz="1500" dirty="0"/>
          </a:p>
        </p:txBody>
      </p:sp>
      <p:sp>
        <p:nvSpPr>
          <p:cNvPr id="77" name="Text 75"/>
          <p:cNvSpPr/>
          <p:nvPr/>
        </p:nvSpPr>
        <p:spPr>
          <a:xfrm>
            <a:off x="3611880" y="4105656"/>
            <a:ext cx="1316736" cy="237744"/>
          </a:xfrm>
          <a:prstGeom prst="rect">
            <a:avLst/>
          </a:prstGeom>
          <a:noFill/>
          <a:ln/>
        </p:spPr>
        <p:txBody>
          <a:bodyPr wrap="square" lIns="0" tIns="0" rIns="0" bIns="0" rtlCol="0" anchor="ctr"/>
          <a:lstStyle/>
          <a:p>
            <a:pPr marL="0" indent="0" algn="ctr">
              <a:buNone/>
            </a:pPr>
            <a:r>
              <a:rPr lang="en-US" sz="1000" dirty="0">
                <a:solidFill>
                  <a:srgbClr val="6E7681"/>
                </a:solidFill>
                <a:latin typeface="Calibri" pitchFamily="34" charset="0"/>
                <a:ea typeface="Calibri" pitchFamily="34" charset="-122"/>
                <a:cs typeface="Calibri" pitchFamily="34" charset="-120"/>
              </a:rPr>
              <a:t>56 Ep.</a:t>
            </a:r>
            <a:endParaRPr lang="en-US" sz="1000" dirty="0"/>
          </a:p>
        </p:txBody>
      </p:sp>
      <p:sp>
        <p:nvSpPr>
          <p:cNvPr id="78" name="Shape 76"/>
          <p:cNvSpPr/>
          <p:nvPr/>
        </p:nvSpPr>
        <p:spPr>
          <a:xfrm>
            <a:off x="4983480" y="3758184"/>
            <a:ext cx="1316736" cy="603504"/>
          </a:xfrm>
          <a:prstGeom prst="rect">
            <a:avLst/>
          </a:prstGeom>
          <a:solidFill>
            <a:srgbClr val="A9CFC4"/>
          </a:solidFill>
          <a:ln w="19050">
            <a:solidFill>
              <a:srgbClr val="FFFFFF"/>
            </a:solidFill>
            <a:prstDash val="solid"/>
          </a:ln>
        </p:spPr>
        <p:txBody>
          <a:bodyPr/>
          <a:lstStyle/>
          <a:p>
            <a:endParaRPr lang="de-DE"/>
          </a:p>
        </p:txBody>
      </p:sp>
      <p:sp>
        <p:nvSpPr>
          <p:cNvPr id="79" name="Text 77"/>
          <p:cNvSpPr/>
          <p:nvPr/>
        </p:nvSpPr>
        <p:spPr>
          <a:xfrm>
            <a:off x="4983480" y="3813048"/>
            <a:ext cx="1316736" cy="310896"/>
          </a:xfrm>
          <a:prstGeom prst="rect">
            <a:avLst/>
          </a:prstGeom>
          <a:noFill/>
          <a:ln/>
        </p:spPr>
        <p:txBody>
          <a:bodyPr wrap="square" lIns="0" tIns="0" rIns="0" bIns="0" rtlCol="0" anchor="ctr"/>
          <a:lstStyle/>
          <a:p>
            <a:pPr marL="0" indent="0" algn="ctr">
              <a:buNone/>
            </a:pPr>
            <a:r>
              <a:rPr lang="en-US" sz="1500" b="1" dirty="0">
                <a:solidFill>
                  <a:srgbClr val="23282F"/>
                </a:solidFill>
                <a:latin typeface="Calibri" pitchFamily="34" charset="0"/>
                <a:ea typeface="Calibri" pitchFamily="34" charset="-122"/>
                <a:cs typeface="Calibri" pitchFamily="34" charset="-120"/>
              </a:rPr>
              <a:t>5/5</a:t>
            </a:r>
            <a:endParaRPr lang="en-US" sz="1500" dirty="0"/>
          </a:p>
        </p:txBody>
      </p:sp>
      <p:sp>
        <p:nvSpPr>
          <p:cNvPr id="80" name="Text 78"/>
          <p:cNvSpPr/>
          <p:nvPr/>
        </p:nvSpPr>
        <p:spPr>
          <a:xfrm>
            <a:off x="4983480" y="4105656"/>
            <a:ext cx="1316736" cy="237744"/>
          </a:xfrm>
          <a:prstGeom prst="rect">
            <a:avLst/>
          </a:prstGeom>
          <a:noFill/>
          <a:ln/>
        </p:spPr>
        <p:txBody>
          <a:bodyPr wrap="square" lIns="0" tIns="0" rIns="0" bIns="0" rtlCol="0" anchor="ctr"/>
          <a:lstStyle/>
          <a:p>
            <a:pPr marL="0" indent="0" algn="ctr">
              <a:buNone/>
            </a:pPr>
            <a:r>
              <a:rPr lang="en-US" sz="1000" dirty="0">
                <a:solidFill>
                  <a:srgbClr val="6E7681"/>
                </a:solidFill>
                <a:latin typeface="Calibri" pitchFamily="34" charset="0"/>
                <a:ea typeface="Calibri" pitchFamily="34" charset="-122"/>
                <a:cs typeface="Calibri" pitchFamily="34" charset="-120"/>
              </a:rPr>
              <a:t>58 Ep.</a:t>
            </a:r>
            <a:endParaRPr lang="en-US" sz="1000" dirty="0"/>
          </a:p>
        </p:txBody>
      </p:sp>
      <p:sp>
        <p:nvSpPr>
          <p:cNvPr id="81" name="Shape 79"/>
          <p:cNvSpPr/>
          <p:nvPr/>
        </p:nvSpPr>
        <p:spPr>
          <a:xfrm>
            <a:off x="6355080" y="3758184"/>
            <a:ext cx="1316736" cy="603504"/>
          </a:xfrm>
          <a:prstGeom prst="rect">
            <a:avLst/>
          </a:prstGeom>
          <a:solidFill>
            <a:srgbClr val="A9CFC4"/>
          </a:solidFill>
          <a:ln w="19050">
            <a:solidFill>
              <a:srgbClr val="FFFFFF"/>
            </a:solidFill>
            <a:prstDash val="solid"/>
          </a:ln>
        </p:spPr>
        <p:txBody>
          <a:bodyPr/>
          <a:lstStyle/>
          <a:p>
            <a:endParaRPr lang="de-DE"/>
          </a:p>
        </p:txBody>
      </p:sp>
      <p:sp>
        <p:nvSpPr>
          <p:cNvPr id="82" name="Text 80"/>
          <p:cNvSpPr/>
          <p:nvPr/>
        </p:nvSpPr>
        <p:spPr>
          <a:xfrm>
            <a:off x="6355080" y="3813048"/>
            <a:ext cx="1316736" cy="310896"/>
          </a:xfrm>
          <a:prstGeom prst="rect">
            <a:avLst/>
          </a:prstGeom>
          <a:noFill/>
          <a:ln/>
        </p:spPr>
        <p:txBody>
          <a:bodyPr wrap="square" lIns="0" tIns="0" rIns="0" bIns="0" rtlCol="0" anchor="ctr"/>
          <a:lstStyle/>
          <a:p>
            <a:pPr marL="0" indent="0" algn="ctr">
              <a:buNone/>
            </a:pPr>
            <a:r>
              <a:rPr lang="en-US" sz="1500" b="1" dirty="0">
                <a:solidFill>
                  <a:srgbClr val="23282F"/>
                </a:solidFill>
                <a:latin typeface="Calibri" pitchFamily="34" charset="0"/>
                <a:ea typeface="Calibri" pitchFamily="34" charset="-122"/>
                <a:cs typeface="Calibri" pitchFamily="34" charset="-120"/>
              </a:rPr>
              <a:t>5/5</a:t>
            </a:r>
            <a:endParaRPr lang="en-US" sz="1500" dirty="0"/>
          </a:p>
        </p:txBody>
      </p:sp>
      <p:sp>
        <p:nvSpPr>
          <p:cNvPr id="83" name="Text 81"/>
          <p:cNvSpPr/>
          <p:nvPr/>
        </p:nvSpPr>
        <p:spPr>
          <a:xfrm>
            <a:off x="6355080" y="4105656"/>
            <a:ext cx="1316736" cy="237744"/>
          </a:xfrm>
          <a:prstGeom prst="rect">
            <a:avLst/>
          </a:prstGeom>
          <a:noFill/>
          <a:ln/>
        </p:spPr>
        <p:txBody>
          <a:bodyPr wrap="square" lIns="0" tIns="0" rIns="0" bIns="0" rtlCol="0" anchor="ctr"/>
          <a:lstStyle/>
          <a:p>
            <a:pPr marL="0" indent="0" algn="ctr">
              <a:buNone/>
            </a:pPr>
            <a:r>
              <a:rPr lang="en-US" sz="1000" dirty="0">
                <a:solidFill>
                  <a:srgbClr val="6E7681"/>
                </a:solidFill>
                <a:latin typeface="Calibri" pitchFamily="34" charset="0"/>
                <a:ea typeface="Calibri" pitchFamily="34" charset="-122"/>
                <a:cs typeface="Calibri" pitchFamily="34" charset="-120"/>
              </a:rPr>
              <a:t>67 Ep.</a:t>
            </a:r>
            <a:endParaRPr lang="en-US" sz="1000" dirty="0"/>
          </a:p>
        </p:txBody>
      </p:sp>
      <p:sp>
        <p:nvSpPr>
          <p:cNvPr id="84" name="Shape 82"/>
          <p:cNvSpPr/>
          <p:nvPr/>
        </p:nvSpPr>
        <p:spPr>
          <a:xfrm>
            <a:off x="7726680" y="3758184"/>
            <a:ext cx="1316736" cy="603504"/>
          </a:xfrm>
          <a:prstGeom prst="rect">
            <a:avLst/>
          </a:prstGeom>
          <a:solidFill>
            <a:srgbClr val="A9CFC4"/>
          </a:solidFill>
          <a:ln w="19050">
            <a:solidFill>
              <a:srgbClr val="FFFFFF"/>
            </a:solidFill>
            <a:prstDash val="solid"/>
          </a:ln>
        </p:spPr>
        <p:txBody>
          <a:bodyPr/>
          <a:lstStyle/>
          <a:p>
            <a:endParaRPr lang="de-DE"/>
          </a:p>
        </p:txBody>
      </p:sp>
      <p:sp>
        <p:nvSpPr>
          <p:cNvPr id="85" name="Text 83"/>
          <p:cNvSpPr/>
          <p:nvPr/>
        </p:nvSpPr>
        <p:spPr>
          <a:xfrm>
            <a:off x="7726680" y="3813048"/>
            <a:ext cx="1316736" cy="310896"/>
          </a:xfrm>
          <a:prstGeom prst="rect">
            <a:avLst/>
          </a:prstGeom>
          <a:noFill/>
          <a:ln/>
        </p:spPr>
        <p:txBody>
          <a:bodyPr wrap="square" lIns="0" tIns="0" rIns="0" bIns="0" rtlCol="0" anchor="ctr"/>
          <a:lstStyle/>
          <a:p>
            <a:pPr marL="0" indent="0" algn="ctr">
              <a:buNone/>
            </a:pPr>
            <a:r>
              <a:rPr lang="en-US" sz="1500" b="1" dirty="0">
                <a:solidFill>
                  <a:srgbClr val="23282F"/>
                </a:solidFill>
                <a:latin typeface="Calibri" pitchFamily="34" charset="0"/>
                <a:ea typeface="Calibri" pitchFamily="34" charset="-122"/>
                <a:cs typeface="Calibri" pitchFamily="34" charset="-120"/>
              </a:rPr>
              <a:t>5/5</a:t>
            </a:r>
            <a:endParaRPr lang="en-US" sz="1500" dirty="0"/>
          </a:p>
        </p:txBody>
      </p:sp>
      <p:sp>
        <p:nvSpPr>
          <p:cNvPr id="86" name="Text 84"/>
          <p:cNvSpPr/>
          <p:nvPr/>
        </p:nvSpPr>
        <p:spPr>
          <a:xfrm>
            <a:off x="7726680" y="4105656"/>
            <a:ext cx="1316736" cy="237744"/>
          </a:xfrm>
          <a:prstGeom prst="rect">
            <a:avLst/>
          </a:prstGeom>
          <a:noFill/>
          <a:ln/>
        </p:spPr>
        <p:txBody>
          <a:bodyPr wrap="square" lIns="0" tIns="0" rIns="0" bIns="0" rtlCol="0" anchor="ctr"/>
          <a:lstStyle/>
          <a:p>
            <a:pPr marL="0" indent="0" algn="ctr">
              <a:buNone/>
            </a:pPr>
            <a:r>
              <a:rPr lang="en-US" sz="1000" dirty="0">
                <a:solidFill>
                  <a:srgbClr val="6E7681"/>
                </a:solidFill>
                <a:latin typeface="Calibri" pitchFamily="34" charset="0"/>
                <a:ea typeface="Calibri" pitchFamily="34" charset="-122"/>
                <a:cs typeface="Calibri" pitchFamily="34" charset="-120"/>
              </a:rPr>
              <a:t>68 Ep.</a:t>
            </a:r>
            <a:endParaRPr lang="en-US" sz="1000" dirty="0"/>
          </a:p>
        </p:txBody>
      </p:sp>
      <p:sp>
        <p:nvSpPr>
          <p:cNvPr id="87" name="Shape 85"/>
          <p:cNvSpPr/>
          <p:nvPr/>
        </p:nvSpPr>
        <p:spPr>
          <a:xfrm>
            <a:off x="9098280" y="3758184"/>
            <a:ext cx="1316736" cy="603504"/>
          </a:xfrm>
          <a:prstGeom prst="rect">
            <a:avLst/>
          </a:prstGeom>
          <a:solidFill>
            <a:srgbClr val="A9CFC4"/>
          </a:solidFill>
          <a:ln w="19050">
            <a:solidFill>
              <a:srgbClr val="FFFFFF"/>
            </a:solidFill>
            <a:prstDash val="solid"/>
          </a:ln>
        </p:spPr>
        <p:txBody>
          <a:bodyPr/>
          <a:lstStyle/>
          <a:p>
            <a:endParaRPr lang="de-DE"/>
          </a:p>
        </p:txBody>
      </p:sp>
      <p:sp>
        <p:nvSpPr>
          <p:cNvPr id="88" name="Text 86"/>
          <p:cNvSpPr/>
          <p:nvPr/>
        </p:nvSpPr>
        <p:spPr>
          <a:xfrm>
            <a:off x="9098280" y="3813048"/>
            <a:ext cx="1316736" cy="310896"/>
          </a:xfrm>
          <a:prstGeom prst="rect">
            <a:avLst/>
          </a:prstGeom>
          <a:noFill/>
          <a:ln/>
        </p:spPr>
        <p:txBody>
          <a:bodyPr wrap="square" lIns="0" tIns="0" rIns="0" bIns="0" rtlCol="0" anchor="ctr"/>
          <a:lstStyle/>
          <a:p>
            <a:pPr marL="0" indent="0" algn="ctr">
              <a:buNone/>
            </a:pPr>
            <a:r>
              <a:rPr lang="en-US" sz="1500" b="1" dirty="0">
                <a:solidFill>
                  <a:srgbClr val="23282F"/>
                </a:solidFill>
                <a:latin typeface="Calibri" pitchFamily="34" charset="0"/>
                <a:ea typeface="Calibri" pitchFamily="34" charset="-122"/>
                <a:cs typeface="Calibri" pitchFamily="34" charset="-120"/>
              </a:rPr>
              <a:t>5/5</a:t>
            </a:r>
            <a:endParaRPr lang="en-US" sz="1500" dirty="0"/>
          </a:p>
        </p:txBody>
      </p:sp>
      <p:sp>
        <p:nvSpPr>
          <p:cNvPr id="89" name="Text 87"/>
          <p:cNvSpPr/>
          <p:nvPr/>
        </p:nvSpPr>
        <p:spPr>
          <a:xfrm>
            <a:off x="9098280" y="4105656"/>
            <a:ext cx="1316736" cy="237744"/>
          </a:xfrm>
          <a:prstGeom prst="rect">
            <a:avLst/>
          </a:prstGeom>
          <a:noFill/>
          <a:ln/>
        </p:spPr>
        <p:txBody>
          <a:bodyPr wrap="square" lIns="0" tIns="0" rIns="0" bIns="0" rtlCol="0" anchor="ctr"/>
          <a:lstStyle/>
          <a:p>
            <a:pPr marL="0" indent="0" algn="ctr">
              <a:buNone/>
            </a:pPr>
            <a:r>
              <a:rPr lang="en-US" sz="1000" dirty="0">
                <a:solidFill>
                  <a:srgbClr val="6E7681"/>
                </a:solidFill>
                <a:latin typeface="Calibri" pitchFamily="34" charset="0"/>
                <a:ea typeface="Calibri" pitchFamily="34" charset="-122"/>
                <a:cs typeface="Calibri" pitchFamily="34" charset="-120"/>
              </a:rPr>
              <a:t>55 Ep.</a:t>
            </a:r>
            <a:endParaRPr lang="en-US" sz="1000" dirty="0"/>
          </a:p>
        </p:txBody>
      </p:sp>
      <p:sp>
        <p:nvSpPr>
          <p:cNvPr id="90" name="Text 88"/>
          <p:cNvSpPr/>
          <p:nvPr/>
        </p:nvSpPr>
        <p:spPr>
          <a:xfrm>
            <a:off x="10579608" y="3758184"/>
            <a:ext cx="914400" cy="658368"/>
          </a:xfrm>
          <a:prstGeom prst="rect">
            <a:avLst/>
          </a:prstGeom>
          <a:noFill/>
          <a:ln/>
        </p:spPr>
        <p:txBody>
          <a:bodyPr wrap="square" lIns="0" tIns="0" rIns="0" bIns="0" rtlCol="0" anchor="ctr"/>
          <a:lstStyle/>
          <a:p>
            <a:pPr marL="0" indent="0">
              <a:buNone/>
            </a:pPr>
            <a:r>
              <a:rPr lang="en-US" sz="1500" b="1" dirty="0">
                <a:solidFill>
                  <a:srgbClr val="1C6E8C"/>
                </a:solidFill>
                <a:latin typeface="Cambria" pitchFamily="34" charset="0"/>
                <a:ea typeface="Cambria" pitchFamily="34" charset="-122"/>
                <a:cs typeface="Cambria" pitchFamily="34" charset="-120"/>
              </a:rPr>
              <a:t>30/30</a:t>
            </a:r>
            <a:endParaRPr lang="en-US" sz="1500" dirty="0"/>
          </a:p>
        </p:txBody>
      </p:sp>
      <p:sp>
        <p:nvSpPr>
          <p:cNvPr id="91" name="Text 89"/>
          <p:cNvSpPr/>
          <p:nvPr/>
        </p:nvSpPr>
        <p:spPr>
          <a:xfrm>
            <a:off x="640080" y="4709160"/>
            <a:ext cx="10881360" cy="365760"/>
          </a:xfrm>
          <a:prstGeom prst="rect">
            <a:avLst/>
          </a:prstGeom>
          <a:noFill/>
          <a:ln/>
        </p:spPr>
        <p:txBody>
          <a:bodyPr wrap="square" lIns="0" tIns="0" rIns="0" bIns="0" rtlCol="0" anchor="ctr"/>
          <a:lstStyle/>
          <a:p>
            <a:pPr marL="0" indent="0">
              <a:buNone/>
            </a:pPr>
            <a:r>
              <a:rPr lang="en-US" sz="1400" b="1" dirty="0">
                <a:solidFill>
                  <a:srgbClr val="1C6E8C"/>
                </a:solidFill>
                <a:latin typeface="Calibri" pitchFamily="34" charset="0"/>
                <a:ea typeface="Calibri" pitchFamily="34" charset="-122"/>
                <a:cs typeface="Calibri" pitchFamily="34" charset="-120"/>
              </a:rPr>
              <a:t>Nach dem Reward-Fix konvergieren 118 von 120 Läufen. Die Konvergenz trennt die Topologien damit nicht mehr — der Unterschied muss aus dem Reward-Niveau und der Wirksamkeit kommen.</a:t>
            </a:r>
            <a:endParaRPr lang="en-US" sz="1400" dirty="0"/>
          </a:p>
        </p:txBody>
      </p:sp>
      <p:sp>
        <p:nvSpPr>
          <p:cNvPr id="92" name="Text 90"/>
          <p:cNvSpPr/>
          <p:nvPr/>
        </p:nvSpPr>
        <p:spPr>
          <a:xfrm>
            <a:off x="640080" y="6291072"/>
            <a:ext cx="10881360" cy="274320"/>
          </a:xfrm>
          <a:prstGeom prst="rect">
            <a:avLst/>
          </a:prstGeom>
          <a:noFill/>
          <a:ln/>
        </p:spPr>
        <p:txBody>
          <a:bodyPr wrap="square" lIns="0" tIns="0" rIns="0" bIns="0" rtlCol="0" anchor="ctr"/>
          <a:lstStyle/>
          <a:p>
            <a:pPr marL="0" indent="0">
              <a:buNone/>
            </a:pPr>
            <a:r>
              <a:rPr lang="en-US" sz="1000" i="1" dirty="0">
                <a:solidFill>
                  <a:srgbClr val="6E7681"/>
                </a:solidFill>
                <a:latin typeface="Calibri" pitchFamily="34" charset="0"/>
                <a:ea typeface="Calibri" pitchFamily="34" charset="-122"/>
                <a:cs typeface="Calibri" pitchFamily="34" charset="-120"/>
              </a:rPr>
              <a:t>Dunkleres Grün = mehr Seeds konvergiert. Zweite Zeile je Feld: mittlere Episodenzahl bis zum Stopp.</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40080" y="384048"/>
            <a:ext cx="10881360" cy="566928"/>
          </a:xfrm>
          <a:prstGeom prst="rect">
            <a:avLst/>
          </a:prstGeom>
          <a:noFill/>
          <a:ln/>
        </p:spPr>
        <p:txBody>
          <a:bodyPr wrap="square" lIns="0" tIns="0" rIns="0" bIns="0" rtlCol="0" anchor="ctr"/>
          <a:lstStyle/>
          <a:p>
            <a:pPr marL="0" indent="0">
              <a:buNone/>
            </a:pPr>
            <a:r>
              <a:rPr lang="en-US" sz="3400" b="1" dirty="0">
                <a:solidFill>
                  <a:srgbClr val="23282F"/>
                </a:solidFill>
                <a:latin typeface="Cambria" pitchFamily="34" charset="0"/>
                <a:ea typeface="Cambria" pitchFamily="34" charset="-122"/>
                <a:cs typeface="Cambria" pitchFamily="34" charset="-120"/>
              </a:rPr>
              <a:t>Lerneffizienz nach verteidigter Topologie</a:t>
            </a:r>
            <a:endParaRPr lang="en-US" sz="3400" dirty="0"/>
          </a:p>
        </p:txBody>
      </p:sp>
      <p:sp>
        <p:nvSpPr>
          <p:cNvPr id="3" name="Text 1"/>
          <p:cNvSpPr/>
          <p:nvPr/>
        </p:nvSpPr>
        <p:spPr>
          <a:xfrm>
            <a:off x="640080" y="969264"/>
            <a:ext cx="10881360" cy="493776"/>
          </a:xfrm>
          <a:prstGeom prst="rect">
            <a:avLst/>
          </a:prstGeom>
          <a:noFill/>
          <a:ln/>
        </p:spPr>
        <p:txBody>
          <a:bodyPr wrap="square" lIns="0" tIns="0" rIns="0" bIns="0" rtlCol="0" anchor="ctr"/>
          <a:lstStyle/>
          <a:p>
            <a:pPr marL="0" indent="0">
              <a:buNone/>
            </a:pPr>
            <a:r>
              <a:rPr lang="en-US" sz="1400" dirty="0">
                <a:solidFill>
                  <a:srgbClr val="6E7681"/>
                </a:solidFill>
                <a:latin typeface="Calibri" pitchFamily="34" charset="0"/>
                <a:ea typeface="Calibri" pitchFamily="34" charset="-122"/>
                <a:cs typeface="Calibri" pitchFamily="34" charset="-120"/>
              </a:rPr>
              <a:t>Summe der Auto-Stops über alle sechs Angreifer, maximal 30 — nahezu ausgereizt</a:t>
            </a:r>
            <a:endParaRPr lang="en-US" sz="1400" dirty="0"/>
          </a:p>
        </p:txBody>
      </p:sp>
      <p:graphicFrame>
        <p:nvGraphicFramePr>
          <p:cNvPr id="4" name="Chart 0"/>
          <p:cNvGraphicFramePr/>
          <p:nvPr>
            <p:extLst>
              <p:ext uri="{D42A27DB-BD31-4B8C-83A1-F6EECF244321}">
                <p14:modId xmlns:p14="http://schemas.microsoft.com/office/powerpoint/2010/main" val="963071662"/>
              </p:ext>
            </p:extLst>
          </p:nvPr>
        </p:nvGraphicFramePr>
        <p:xfrm>
          <a:off x="640080" y="1600200"/>
          <a:ext cx="6583680" cy="384048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p:nvPr/>
        </p:nvSpPr>
        <p:spPr>
          <a:xfrm>
            <a:off x="7589520" y="1783080"/>
            <a:ext cx="3931920" cy="274320"/>
          </a:xfrm>
          <a:prstGeom prst="rect">
            <a:avLst/>
          </a:prstGeom>
          <a:noFill/>
          <a:ln/>
        </p:spPr>
        <p:txBody>
          <a:bodyPr wrap="square" lIns="0" tIns="0" rIns="0" bIns="0" rtlCol="0" anchor="ctr"/>
          <a:lstStyle/>
          <a:p>
            <a:pPr marL="0" indent="0">
              <a:buNone/>
            </a:pPr>
            <a:r>
              <a:rPr lang="en-US" sz="1500" b="1" dirty="0">
                <a:latin typeface="Calibri" pitchFamily="34" charset="0"/>
                <a:ea typeface="Calibri" pitchFamily="34" charset="-122"/>
                <a:cs typeface="Calibri" pitchFamily="34" charset="-120"/>
              </a:rPr>
              <a:t>Flat 30/30</a:t>
            </a:r>
            <a:endParaRPr lang="en-US" sz="1500" dirty="0"/>
          </a:p>
        </p:txBody>
      </p:sp>
      <p:sp>
        <p:nvSpPr>
          <p:cNvPr id="6" name="Text 3"/>
          <p:cNvSpPr/>
          <p:nvPr/>
        </p:nvSpPr>
        <p:spPr>
          <a:xfrm>
            <a:off x="7589520" y="2057400"/>
            <a:ext cx="3931920" cy="502920"/>
          </a:xfrm>
          <a:prstGeom prst="rect">
            <a:avLst/>
          </a:prstGeom>
          <a:noFill/>
          <a:ln/>
        </p:spPr>
        <p:txBody>
          <a:bodyPr wrap="square" lIns="0" tIns="0" rIns="0" bIns="0" rtlCol="0" anchor="ctr"/>
          <a:lstStyle/>
          <a:p>
            <a:pPr marL="0" indent="0">
              <a:buNone/>
            </a:pPr>
            <a:r>
              <a:rPr lang="en-US" sz="1200" dirty="0">
                <a:solidFill>
                  <a:srgbClr val="6E7681"/>
                </a:solidFill>
                <a:latin typeface="Calibri" pitchFamily="34" charset="0"/>
                <a:ea typeface="Calibri" pitchFamily="34" charset="-122"/>
                <a:cs typeface="Calibri" pitchFamily="34" charset="-120"/>
              </a:rPr>
              <a:t>Im Mittel 64 Episoden bis zum Stopp.</a:t>
            </a:r>
            <a:endParaRPr lang="en-US" sz="1200" dirty="0"/>
          </a:p>
        </p:txBody>
      </p:sp>
      <p:sp>
        <p:nvSpPr>
          <p:cNvPr id="7" name="Text 4"/>
          <p:cNvSpPr/>
          <p:nvPr/>
        </p:nvSpPr>
        <p:spPr>
          <a:xfrm>
            <a:off x="7589520" y="2697480"/>
            <a:ext cx="3931920" cy="274320"/>
          </a:xfrm>
          <a:prstGeom prst="rect">
            <a:avLst/>
          </a:prstGeom>
          <a:noFill/>
          <a:ln/>
        </p:spPr>
        <p:txBody>
          <a:bodyPr wrap="square" lIns="0" tIns="0" rIns="0" bIns="0" rtlCol="0" anchor="ctr"/>
          <a:lstStyle/>
          <a:p>
            <a:pPr marL="0" indent="0">
              <a:buNone/>
            </a:pPr>
            <a:r>
              <a:rPr lang="en-US" sz="1500" b="1" dirty="0">
                <a:solidFill>
                  <a:srgbClr val="23282F"/>
                </a:solidFill>
                <a:latin typeface="Calibri" pitchFamily="34" charset="0"/>
                <a:ea typeface="Calibri" pitchFamily="34" charset="-122"/>
                <a:cs typeface="Calibri" pitchFamily="34" charset="-120"/>
              </a:rPr>
              <a:t>Micro-Seg. 30/30</a:t>
            </a:r>
            <a:endParaRPr lang="en-US" sz="1500" dirty="0"/>
          </a:p>
        </p:txBody>
      </p:sp>
      <p:sp>
        <p:nvSpPr>
          <p:cNvPr id="8" name="Text 5"/>
          <p:cNvSpPr/>
          <p:nvPr/>
        </p:nvSpPr>
        <p:spPr>
          <a:xfrm>
            <a:off x="7589520" y="2971800"/>
            <a:ext cx="3931920" cy="502920"/>
          </a:xfrm>
          <a:prstGeom prst="rect">
            <a:avLst/>
          </a:prstGeom>
          <a:noFill/>
          <a:ln/>
        </p:spPr>
        <p:txBody>
          <a:bodyPr wrap="square" lIns="0" tIns="0" rIns="0" bIns="0" rtlCol="0" anchor="ctr"/>
          <a:lstStyle/>
          <a:p>
            <a:pPr marL="0" indent="0">
              <a:buNone/>
            </a:pPr>
            <a:r>
              <a:rPr lang="en-US" sz="1200" dirty="0">
                <a:solidFill>
                  <a:srgbClr val="6E7681"/>
                </a:solidFill>
                <a:latin typeface="Calibri" pitchFamily="34" charset="0"/>
                <a:ea typeface="Calibri" pitchFamily="34" charset="-122"/>
                <a:cs typeface="Calibri" pitchFamily="34" charset="-120"/>
              </a:rPr>
              <a:t>Im Mittel 60 Episoden bis zum Stopp.</a:t>
            </a:r>
            <a:endParaRPr lang="en-US" sz="1200" dirty="0"/>
          </a:p>
        </p:txBody>
      </p:sp>
      <p:sp>
        <p:nvSpPr>
          <p:cNvPr id="9" name="Text 6"/>
          <p:cNvSpPr/>
          <p:nvPr/>
        </p:nvSpPr>
        <p:spPr>
          <a:xfrm>
            <a:off x="7589520" y="3611880"/>
            <a:ext cx="3931920" cy="274320"/>
          </a:xfrm>
          <a:prstGeom prst="rect">
            <a:avLst/>
          </a:prstGeom>
          <a:noFill/>
          <a:ln/>
        </p:spPr>
        <p:txBody>
          <a:bodyPr wrap="square" lIns="0" tIns="0" rIns="0" bIns="0" rtlCol="0" anchor="ctr"/>
          <a:lstStyle/>
          <a:p>
            <a:pPr marL="0" indent="0">
              <a:buNone/>
            </a:pPr>
            <a:r>
              <a:rPr lang="en-US" sz="1500" b="1" dirty="0">
                <a:solidFill>
                  <a:srgbClr val="23282F"/>
                </a:solidFill>
                <a:latin typeface="Calibri" pitchFamily="34" charset="0"/>
                <a:ea typeface="Calibri" pitchFamily="34" charset="-122"/>
                <a:cs typeface="Calibri" pitchFamily="34" charset="-120"/>
              </a:rPr>
              <a:t>Hub &amp; Spoke 29/30</a:t>
            </a:r>
            <a:endParaRPr lang="en-US" sz="1500" dirty="0"/>
          </a:p>
        </p:txBody>
      </p:sp>
      <p:sp>
        <p:nvSpPr>
          <p:cNvPr id="10" name="Text 7"/>
          <p:cNvSpPr/>
          <p:nvPr/>
        </p:nvSpPr>
        <p:spPr>
          <a:xfrm>
            <a:off x="7589520" y="3886200"/>
            <a:ext cx="3931920" cy="502920"/>
          </a:xfrm>
          <a:prstGeom prst="rect">
            <a:avLst/>
          </a:prstGeom>
          <a:noFill/>
          <a:ln/>
        </p:spPr>
        <p:txBody>
          <a:bodyPr wrap="square" lIns="0" tIns="0" rIns="0" bIns="0" rtlCol="0" anchor="ctr"/>
          <a:lstStyle/>
          <a:p>
            <a:pPr marL="0" indent="0">
              <a:buNone/>
            </a:pPr>
            <a:r>
              <a:rPr lang="en-US" sz="1200" dirty="0">
                <a:solidFill>
                  <a:srgbClr val="6E7681"/>
                </a:solidFill>
                <a:latin typeface="Calibri" pitchFamily="34" charset="0"/>
                <a:ea typeface="Calibri" pitchFamily="34" charset="-122"/>
                <a:cs typeface="Calibri" pitchFamily="34" charset="-120"/>
              </a:rPr>
              <a:t>Im Mittel 76 Episoden bis zum Stopp.</a:t>
            </a:r>
            <a:endParaRPr lang="en-US" sz="1200" dirty="0"/>
          </a:p>
        </p:txBody>
      </p:sp>
      <p:sp>
        <p:nvSpPr>
          <p:cNvPr id="11" name="Text 8"/>
          <p:cNvSpPr/>
          <p:nvPr/>
        </p:nvSpPr>
        <p:spPr>
          <a:xfrm>
            <a:off x="7589520" y="4526280"/>
            <a:ext cx="3931920" cy="274320"/>
          </a:xfrm>
          <a:prstGeom prst="rect">
            <a:avLst/>
          </a:prstGeom>
          <a:noFill/>
          <a:ln/>
        </p:spPr>
        <p:txBody>
          <a:bodyPr wrap="square" lIns="0" tIns="0" rIns="0" bIns="0" rtlCol="0" anchor="ctr"/>
          <a:lstStyle/>
          <a:p>
            <a:pPr marL="0" indent="0">
              <a:buNone/>
            </a:pPr>
            <a:r>
              <a:rPr lang="en-US" sz="1500" b="1" dirty="0">
                <a:solidFill>
                  <a:srgbClr val="23282F"/>
                </a:solidFill>
                <a:latin typeface="Calibri" pitchFamily="34" charset="0"/>
                <a:ea typeface="Calibri" pitchFamily="34" charset="-122"/>
                <a:cs typeface="Calibri" pitchFamily="34" charset="-120"/>
              </a:rPr>
              <a:t>DMZ 29/30</a:t>
            </a:r>
            <a:endParaRPr lang="en-US" sz="1500" dirty="0"/>
          </a:p>
        </p:txBody>
      </p:sp>
      <p:sp>
        <p:nvSpPr>
          <p:cNvPr id="12" name="Text 9"/>
          <p:cNvSpPr/>
          <p:nvPr/>
        </p:nvSpPr>
        <p:spPr>
          <a:xfrm>
            <a:off x="7589520" y="4800600"/>
            <a:ext cx="3931920" cy="502920"/>
          </a:xfrm>
          <a:prstGeom prst="rect">
            <a:avLst/>
          </a:prstGeom>
          <a:noFill/>
          <a:ln/>
        </p:spPr>
        <p:txBody>
          <a:bodyPr wrap="square" lIns="0" tIns="0" rIns="0" bIns="0" rtlCol="0" anchor="ctr"/>
          <a:lstStyle/>
          <a:p>
            <a:pPr marL="0" indent="0">
              <a:buNone/>
            </a:pPr>
            <a:r>
              <a:rPr lang="en-US" sz="1200" dirty="0">
                <a:solidFill>
                  <a:srgbClr val="6E7681"/>
                </a:solidFill>
                <a:latin typeface="Calibri" pitchFamily="34" charset="0"/>
                <a:ea typeface="Calibri" pitchFamily="34" charset="-122"/>
                <a:cs typeface="Calibri" pitchFamily="34" charset="-120"/>
              </a:rPr>
              <a:t>Im Mittel 84 Episoden bis zum Stopp.</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40080" y="384048"/>
            <a:ext cx="10881360" cy="566928"/>
          </a:xfrm>
          <a:prstGeom prst="rect">
            <a:avLst/>
          </a:prstGeom>
          <a:noFill/>
          <a:ln/>
        </p:spPr>
        <p:txBody>
          <a:bodyPr wrap="square" lIns="0" tIns="0" rIns="0" bIns="0" rtlCol="0" anchor="ctr"/>
          <a:lstStyle/>
          <a:p>
            <a:pPr marL="0" indent="0">
              <a:buNone/>
            </a:pPr>
            <a:r>
              <a:rPr lang="en-US" sz="3400" b="1" dirty="0">
                <a:solidFill>
                  <a:srgbClr val="23282F"/>
                </a:solidFill>
                <a:latin typeface="Cambria" pitchFamily="34" charset="0"/>
                <a:ea typeface="Cambria" pitchFamily="34" charset="-122"/>
                <a:cs typeface="Cambria" pitchFamily="34" charset="-120"/>
              </a:rPr>
              <a:t>Der Spezialist schlägt jede Topologie</a:t>
            </a:r>
            <a:endParaRPr lang="en-US" sz="3400" dirty="0"/>
          </a:p>
        </p:txBody>
      </p:sp>
      <p:sp>
        <p:nvSpPr>
          <p:cNvPr id="3" name="Text 1"/>
          <p:cNvSpPr/>
          <p:nvPr/>
        </p:nvSpPr>
        <p:spPr>
          <a:xfrm>
            <a:off x="640080" y="969264"/>
            <a:ext cx="10881360" cy="493776"/>
          </a:xfrm>
          <a:prstGeom prst="rect">
            <a:avLst/>
          </a:prstGeom>
          <a:noFill/>
          <a:ln/>
        </p:spPr>
        <p:txBody>
          <a:bodyPr wrap="square" lIns="0" tIns="0" rIns="0" bIns="0" rtlCol="0" anchor="ctr"/>
          <a:lstStyle/>
          <a:p>
            <a:pPr marL="0" indent="0">
              <a:buNone/>
            </a:pPr>
            <a:r>
              <a:rPr lang="en-US" sz="1400" dirty="0">
                <a:solidFill>
                  <a:srgbClr val="6E7681"/>
                </a:solidFill>
                <a:latin typeface="Calibri" pitchFamily="34" charset="0"/>
                <a:ea typeface="Calibri" pitchFamily="34" charset="-122"/>
                <a:cs typeface="Calibri" pitchFamily="34" charset="-120"/>
              </a:rPr>
              <a:t>Verteidiger-Reward gegen den eigenen Angreifer — je negativer, desto mehr erreicht er</a:t>
            </a:r>
            <a:endParaRPr lang="en-US" sz="1400" dirty="0"/>
          </a:p>
        </p:txBody>
      </p:sp>
      <p:sp>
        <p:nvSpPr>
          <p:cNvPr id="4" name="Shape 2"/>
          <p:cNvSpPr/>
          <p:nvPr/>
        </p:nvSpPr>
        <p:spPr>
          <a:xfrm>
            <a:off x="640080" y="1828800"/>
            <a:ext cx="2480310" cy="1874520"/>
          </a:xfrm>
          <a:prstGeom prst="roundRect">
            <a:avLst>
              <a:gd name="adj" fmla="val 4878"/>
            </a:avLst>
          </a:prstGeom>
          <a:solidFill>
            <a:srgbClr val="F4F6F8"/>
          </a:solidFill>
          <a:ln w="12700">
            <a:solidFill>
              <a:srgbClr val="DDE1E6"/>
            </a:solidFill>
            <a:prstDash val="solid"/>
          </a:ln>
        </p:spPr>
        <p:txBody>
          <a:bodyPr/>
          <a:lstStyle/>
          <a:p>
            <a:endParaRPr lang="de-DE"/>
          </a:p>
        </p:txBody>
      </p:sp>
      <p:sp>
        <p:nvSpPr>
          <p:cNvPr id="5" name="Text 3"/>
          <p:cNvSpPr/>
          <p:nvPr/>
        </p:nvSpPr>
        <p:spPr>
          <a:xfrm>
            <a:off x="640080" y="2011680"/>
            <a:ext cx="2480310" cy="310896"/>
          </a:xfrm>
          <a:prstGeom prst="rect">
            <a:avLst/>
          </a:prstGeom>
          <a:noFill/>
          <a:ln/>
        </p:spPr>
        <p:txBody>
          <a:bodyPr wrap="square" lIns="0" tIns="0" rIns="0" bIns="0" rtlCol="0" anchor="ctr"/>
          <a:lstStyle/>
          <a:p>
            <a:pPr marL="0" indent="0" algn="ctr">
              <a:buNone/>
            </a:pPr>
            <a:r>
              <a:rPr lang="en-US" sz="1400" b="1" dirty="0">
                <a:solidFill>
                  <a:srgbClr val="6E7681"/>
                </a:solidFill>
                <a:latin typeface="Calibri" pitchFamily="34" charset="0"/>
                <a:ea typeface="Calibri" pitchFamily="34" charset="-122"/>
                <a:cs typeface="Calibri" pitchFamily="34" charset="-120"/>
              </a:rPr>
              <a:t>Flat</a:t>
            </a:r>
            <a:endParaRPr lang="en-US" sz="1400" dirty="0"/>
          </a:p>
        </p:txBody>
      </p:sp>
      <p:sp>
        <p:nvSpPr>
          <p:cNvPr id="6" name="Text 4"/>
          <p:cNvSpPr/>
          <p:nvPr/>
        </p:nvSpPr>
        <p:spPr>
          <a:xfrm>
            <a:off x="640080" y="2395728"/>
            <a:ext cx="2480310" cy="777240"/>
          </a:xfrm>
          <a:prstGeom prst="rect">
            <a:avLst/>
          </a:prstGeom>
          <a:noFill/>
          <a:ln/>
        </p:spPr>
        <p:txBody>
          <a:bodyPr wrap="square" lIns="0" tIns="0" rIns="0" bIns="0" rtlCol="0" anchor="ctr"/>
          <a:lstStyle/>
          <a:p>
            <a:pPr marL="0" indent="0" algn="ctr">
              <a:buNone/>
            </a:pPr>
            <a:r>
              <a:rPr lang="en-US" sz="4000" b="1" dirty="0">
                <a:solidFill>
                  <a:srgbClr val="B3382C"/>
                </a:solidFill>
                <a:latin typeface="Cambria" pitchFamily="34" charset="0"/>
                <a:ea typeface="Cambria" pitchFamily="34" charset="-122"/>
                <a:cs typeface="Cambria" pitchFamily="34" charset="-120"/>
              </a:rPr>
              <a:t>-208</a:t>
            </a:r>
            <a:endParaRPr lang="en-US" sz="4000" dirty="0"/>
          </a:p>
        </p:txBody>
      </p:sp>
      <p:sp>
        <p:nvSpPr>
          <p:cNvPr id="7" name="Text 5"/>
          <p:cNvSpPr/>
          <p:nvPr/>
        </p:nvSpPr>
        <p:spPr>
          <a:xfrm>
            <a:off x="640080" y="3200400"/>
            <a:ext cx="2480310" cy="274320"/>
          </a:xfrm>
          <a:prstGeom prst="rect">
            <a:avLst/>
          </a:prstGeom>
          <a:noFill/>
          <a:ln/>
        </p:spPr>
        <p:txBody>
          <a:bodyPr wrap="square" lIns="0" tIns="0" rIns="0" bIns="0" rtlCol="0" anchor="ctr"/>
          <a:lstStyle/>
          <a:p>
            <a:pPr marL="0" indent="0" algn="ctr">
              <a:buNone/>
            </a:pPr>
            <a:r>
              <a:rPr lang="en-US" sz="1100" dirty="0">
                <a:solidFill>
                  <a:srgbClr val="6E7681"/>
                </a:solidFill>
                <a:latin typeface="Calibri" pitchFamily="34" charset="0"/>
                <a:ea typeface="Calibri" pitchFamily="34" charset="-122"/>
                <a:cs typeface="Calibri" pitchFamily="34" charset="-120"/>
              </a:rPr>
              <a:t>gegen sich selbst</a:t>
            </a:r>
            <a:endParaRPr lang="en-US" sz="1100" dirty="0"/>
          </a:p>
        </p:txBody>
      </p:sp>
      <p:sp>
        <p:nvSpPr>
          <p:cNvPr id="8" name="Shape 6"/>
          <p:cNvSpPr/>
          <p:nvPr/>
        </p:nvSpPr>
        <p:spPr>
          <a:xfrm>
            <a:off x="3440430" y="1828800"/>
            <a:ext cx="2480310" cy="1874520"/>
          </a:xfrm>
          <a:prstGeom prst="roundRect">
            <a:avLst>
              <a:gd name="adj" fmla="val 4878"/>
            </a:avLst>
          </a:prstGeom>
          <a:solidFill>
            <a:srgbClr val="F4F6F8"/>
          </a:solidFill>
          <a:ln w="12700">
            <a:solidFill>
              <a:srgbClr val="DDE1E6"/>
            </a:solidFill>
            <a:prstDash val="solid"/>
          </a:ln>
        </p:spPr>
        <p:txBody>
          <a:bodyPr/>
          <a:lstStyle/>
          <a:p>
            <a:endParaRPr lang="de-DE"/>
          </a:p>
        </p:txBody>
      </p:sp>
      <p:sp>
        <p:nvSpPr>
          <p:cNvPr id="9" name="Text 7"/>
          <p:cNvSpPr/>
          <p:nvPr/>
        </p:nvSpPr>
        <p:spPr>
          <a:xfrm>
            <a:off x="3440430" y="2011680"/>
            <a:ext cx="2480310" cy="310896"/>
          </a:xfrm>
          <a:prstGeom prst="rect">
            <a:avLst/>
          </a:prstGeom>
          <a:noFill/>
          <a:ln/>
        </p:spPr>
        <p:txBody>
          <a:bodyPr wrap="square" lIns="0" tIns="0" rIns="0" bIns="0" rtlCol="0" anchor="ctr"/>
          <a:lstStyle/>
          <a:p>
            <a:pPr marL="0" indent="0" algn="ctr">
              <a:buNone/>
            </a:pPr>
            <a:r>
              <a:rPr lang="en-US" sz="1400" b="1" dirty="0">
                <a:solidFill>
                  <a:srgbClr val="6E7681"/>
                </a:solidFill>
                <a:latin typeface="Calibri" pitchFamily="34" charset="0"/>
                <a:ea typeface="Calibri" pitchFamily="34" charset="-122"/>
                <a:cs typeface="Calibri" pitchFamily="34" charset="-120"/>
              </a:rPr>
              <a:t>Hub &amp; Spoke</a:t>
            </a:r>
            <a:endParaRPr lang="en-US" sz="1400" dirty="0"/>
          </a:p>
        </p:txBody>
      </p:sp>
      <p:sp>
        <p:nvSpPr>
          <p:cNvPr id="10" name="Text 8"/>
          <p:cNvSpPr/>
          <p:nvPr/>
        </p:nvSpPr>
        <p:spPr>
          <a:xfrm>
            <a:off x="3440430" y="2395728"/>
            <a:ext cx="2480310" cy="777240"/>
          </a:xfrm>
          <a:prstGeom prst="rect">
            <a:avLst/>
          </a:prstGeom>
          <a:noFill/>
          <a:ln/>
        </p:spPr>
        <p:txBody>
          <a:bodyPr wrap="square" lIns="0" tIns="0" rIns="0" bIns="0" rtlCol="0" anchor="ctr"/>
          <a:lstStyle/>
          <a:p>
            <a:pPr marL="0" indent="0" algn="ctr">
              <a:buNone/>
            </a:pPr>
            <a:r>
              <a:rPr lang="en-US" sz="4000" b="1" dirty="0">
                <a:solidFill>
                  <a:srgbClr val="23282F"/>
                </a:solidFill>
                <a:latin typeface="Cambria" pitchFamily="34" charset="0"/>
                <a:ea typeface="Cambria" pitchFamily="34" charset="-122"/>
                <a:cs typeface="Cambria" pitchFamily="34" charset="-120"/>
              </a:rPr>
              <a:t>-176</a:t>
            </a:r>
            <a:endParaRPr lang="en-US" sz="4000" dirty="0"/>
          </a:p>
        </p:txBody>
      </p:sp>
      <p:sp>
        <p:nvSpPr>
          <p:cNvPr id="11" name="Text 9"/>
          <p:cNvSpPr/>
          <p:nvPr/>
        </p:nvSpPr>
        <p:spPr>
          <a:xfrm>
            <a:off x="3440430" y="3200400"/>
            <a:ext cx="2480310" cy="274320"/>
          </a:xfrm>
          <a:prstGeom prst="rect">
            <a:avLst/>
          </a:prstGeom>
          <a:noFill/>
          <a:ln/>
        </p:spPr>
        <p:txBody>
          <a:bodyPr wrap="square" lIns="0" tIns="0" rIns="0" bIns="0" rtlCol="0" anchor="ctr"/>
          <a:lstStyle/>
          <a:p>
            <a:pPr marL="0" indent="0" algn="ctr">
              <a:buNone/>
            </a:pPr>
            <a:r>
              <a:rPr lang="en-US" sz="1100" dirty="0">
                <a:solidFill>
                  <a:srgbClr val="6E7681"/>
                </a:solidFill>
                <a:latin typeface="Calibri" pitchFamily="34" charset="0"/>
                <a:ea typeface="Calibri" pitchFamily="34" charset="-122"/>
                <a:cs typeface="Calibri" pitchFamily="34" charset="-120"/>
              </a:rPr>
              <a:t>gegen sich selbst</a:t>
            </a:r>
            <a:endParaRPr lang="en-US" sz="1100" dirty="0"/>
          </a:p>
        </p:txBody>
      </p:sp>
      <p:sp>
        <p:nvSpPr>
          <p:cNvPr id="12" name="Shape 10"/>
          <p:cNvSpPr/>
          <p:nvPr/>
        </p:nvSpPr>
        <p:spPr>
          <a:xfrm>
            <a:off x="6240780" y="1828800"/>
            <a:ext cx="2480310" cy="1874520"/>
          </a:xfrm>
          <a:prstGeom prst="roundRect">
            <a:avLst>
              <a:gd name="adj" fmla="val 4878"/>
            </a:avLst>
          </a:prstGeom>
          <a:solidFill>
            <a:srgbClr val="F4F6F8"/>
          </a:solidFill>
          <a:ln w="12700">
            <a:solidFill>
              <a:srgbClr val="DDE1E6"/>
            </a:solidFill>
            <a:prstDash val="solid"/>
          </a:ln>
        </p:spPr>
        <p:txBody>
          <a:bodyPr/>
          <a:lstStyle/>
          <a:p>
            <a:endParaRPr lang="de-DE"/>
          </a:p>
        </p:txBody>
      </p:sp>
      <p:sp>
        <p:nvSpPr>
          <p:cNvPr id="13" name="Text 11"/>
          <p:cNvSpPr/>
          <p:nvPr/>
        </p:nvSpPr>
        <p:spPr>
          <a:xfrm>
            <a:off x="6240780" y="2011680"/>
            <a:ext cx="2480310" cy="310896"/>
          </a:xfrm>
          <a:prstGeom prst="rect">
            <a:avLst/>
          </a:prstGeom>
          <a:noFill/>
          <a:ln/>
        </p:spPr>
        <p:txBody>
          <a:bodyPr wrap="square" lIns="0" tIns="0" rIns="0" bIns="0" rtlCol="0" anchor="ctr"/>
          <a:lstStyle/>
          <a:p>
            <a:pPr marL="0" indent="0" algn="ctr">
              <a:buNone/>
            </a:pPr>
            <a:r>
              <a:rPr lang="en-US" sz="1400" b="1" dirty="0">
                <a:solidFill>
                  <a:srgbClr val="6E7681"/>
                </a:solidFill>
                <a:latin typeface="Calibri" pitchFamily="34" charset="0"/>
                <a:ea typeface="Calibri" pitchFamily="34" charset="-122"/>
                <a:cs typeface="Calibri" pitchFamily="34" charset="-120"/>
              </a:rPr>
              <a:t>DMZ</a:t>
            </a:r>
            <a:endParaRPr lang="en-US" sz="1400" dirty="0"/>
          </a:p>
        </p:txBody>
      </p:sp>
      <p:sp>
        <p:nvSpPr>
          <p:cNvPr id="14" name="Text 12"/>
          <p:cNvSpPr/>
          <p:nvPr/>
        </p:nvSpPr>
        <p:spPr>
          <a:xfrm>
            <a:off x="6240780" y="2395728"/>
            <a:ext cx="2480310" cy="777240"/>
          </a:xfrm>
          <a:prstGeom prst="rect">
            <a:avLst/>
          </a:prstGeom>
          <a:noFill/>
          <a:ln/>
        </p:spPr>
        <p:txBody>
          <a:bodyPr wrap="square" lIns="0" tIns="0" rIns="0" bIns="0" rtlCol="0" anchor="ctr"/>
          <a:lstStyle/>
          <a:p>
            <a:pPr marL="0" indent="0" algn="ctr">
              <a:buNone/>
            </a:pPr>
            <a:r>
              <a:rPr lang="en-US" sz="4000" b="1" dirty="0">
                <a:solidFill>
                  <a:srgbClr val="B3382C"/>
                </a:solidFill>
                <a:latin typeface="Cambria" pitchFamily="34" charset="0"/>
                <a:ea typeface="Cambria" pitchFamily="34" charset="-122"/>
                <a:cs typeface="Cambria" pitchFamily="34" charset="-120"/>
              </a:rPr>
              <a:t>-202</a:t>
            </a:r>
            <a:endParaRPr lang="en-US" sz="4000" dirty="0"/>
          </a:p>
        </p:txBody>
      </p:sp>
      <p:sp>
        <p:nvSpPr>
          <p:cNvPr id="15" name="Text 13"/>
          <p:cNvSpPr/>
          <p:nvPr/>
        </p:nvSpPr>
        <p:spPr>
          <a:xfrm>
            <a:off x="6240780" y="3200400"/>
            <a:ext cx="2480310" cy="274320"/>
          </a:xfrm>
          <a:prstGeom prst="rect">
            <a:avLst/>
          </a:prstGeom>
          <a:noFill/>
          <a:ln/>
        </p:spPr>
        <p:txBody>
          <a:bodyPr wrap="square" lIns="0" tIns="0" rIns="0" bIns="0" rtlCol="0" anchor="ctr"/>
          <a:lstStyle/>
          <a:p>
            <a:pPr marL="0" indent="0" algn="ctr">
              <a:buNone/>
            </a:pPr>
            <a:r>
              <a:rPr lang="en-US" sz="1100" dirty="0">
                <a:solidFill>
                  <a:srgbClr val="6E7681"/>
                </a:solidFill>
                <a:latin typeface="Calibri" pitchFamily="34" charset="0"/>
                <a:ea typeface="Calibri" pitchFamily="34" charset="-122"/>
                <a:cs typeface="Calibri" pitchFamily="34" charset="-120"/>
              </a:rPr>
              <a:t>gegen sich selbst</a:t>
            </a:r>
            <a:endParaRPr lang="en-US" sz="1100" dirty="0"/>
          </a:p>
        </p:txBody>
      </p:sp>
      <p:sp>
        <p:nvSpPr>
          <p:cNvPr id="16" name="Shape 14"/>
          <p:cNvSpPr/>
          <p:nvPr/>
        </p:nvSpPr>
        <p:spPr>
          <a:xfrm>
            <a:off x="9041130" y="1828800"/>
            <a:ext cx="2480310" cy="1874520"/>
          </a:xfrm>
          <a:prstGeom prst="roundRect">
            <a:avLst>
              <a:gd name="adj" fmla="val 4878"/>
            </a:avLst>
          </a:prstGeom>
          <a:solidFill>
            <a:srgbClr val="F4F6F8"/>
          </a:solidFill>
          <a:ln w="12700">
            <a:solidFill>
              <a:srgbClr val="DDE1E6"/>
            </a:solidFill>
            <a:prstDash val="solid"/>
          </a:ln>
        </p:spPr>
        <p:txBody>
          <a:bodyPr/>
          <a:lstStyle/>
          <a:p>
            <a:endParaRPr lang="de-DE"/>
          </a:p>
        </p:txBody>
      </p:sp>
      <p:sp>
        <p:nvSpPr>
          <p:cNvPr id="17" name="Text 15"/>
          <p:cNvSpPr/>
          <p:nvPr/>
        </p:nvSpPr>
        <p:spPr>
          <a:xfrm>
            <a:off x="9041130" y="2011680"/>
            <a:ext cx="2480310" cy="310896"/>
          </a:xfrm>
          <a:prstGeom prst="rect">
            <a:avLst/>
          </a:prstGeom>
          <a:noFill/>
          <a:ln/>
        </p:spPr>
        <p:txBody>
          <a:bodyPr wrap="square" lIns="0" tIns="0" rIns="0" bIns="0" rtlCol="0" anchor="ctr"/>
          <a:lstStyle/>
          <a:p>
            <a:pPr marL="0" indent="0" algn="ctr">
              <a:buNone/>
            </a:pPr>
            <a:r>
              <a:rPr lang="en-US" sz="1400" b="1" dirty="0">
                <a:solidFill>
                  <a:srgbClr val="6E7681"/>
                </a:solidFill>
                <a:latin typeface="Calibri" pitchFamily="34" charset="0"/>
                <a:ea typeface="Calibri" pitchFamily="34" charset="-122"/>
                <a:cs typeface="Calibri" pitchFamily="34" charset="-120"/>
              </a:rPr>
              <a:t>Micro-Seg.</a:t>
            </a:r>
            <a:endParaRPr lang="en-US" sz="1400" dirty="0"/>
          </a:p>
        </p:txBody>
      </p:sp>
      <p:sp>
        <p:nvSpPr>
          <p:cNvPr id="18" name="Text 16"/>
          <p:cNvSpPr/>
          <p:nvPr/>
        </p:nvSpPr>
        <p:spPr>
          <a:xfrm>
            <a:off x="9041130" y="2395728"/>
            <a:ext cx="2480310" cy="777240"/>
          </a:xfrm>
          <a:prstGeom prst="rect">
            <a:avLst/>
          </a:prstGeom>
          <a:noFill/>
          <a:ln/>
        </p:spPr>
        <p:txBody>
          <a:bodyPr wrap="square" lIns="0" tIns="0" rIns="0" bIns="0" rtlCol="0" anchor="ctr"/>
          <a:lstStyle/>
          <a:p>
            <a:pPr marL="0" indent="0" algn="ctr">
              <a:buNone/>
            </a:pPr>
            <a:r>
              <a:rPr lang="en-US" sz="4000" b="1" dirty="0">
                <a:solidFill>
                  <a:srgbClr val="B3382C"/>
                </a:solidFill>
                <a:latin typeface="Cambria" pitchFamily="34" charset="0"/>
                <a:ea typeface="Cambria" pitchFamily="34" charset="-122"/>
                <a:cs typeface="Cambria" pitchFamily="34" charset="-120"/>
              </a:rPr>
              <a:t>-216</a:t>
            </a:r>
            <a:endParaRPr lang="en-US" sz="4000" dirty="0"/>
          </a:p>
        </p:txBody>
      </p:sp>
      <p:sp>
        <p:nvSpPr>
          <p:cNvPr id="19" name="Text 17"/>
          <p:cNvSpPr/>
          <p:nvPr/>
        </p:nvSpPr>
        <p:spPr>
          <a:xfrm>
            <a:off x="9041130" y="3200400"/>
            <a:ext cx="2480310" cy="274320"/>
          </a:xfrm>
          <a:prstGeom prst="rect">
            <a:avLst/>
          </a:prstGeom>
          <a:noFill/>
          <a:ln/>
        </p:spPr>
        <p:txBody>
          <a:bodyPr wrap="square" lIns="0" tIns="0" rIns="0" bIns="0" rtlCol="0" anchor="ctr"/>
          <a:lstStyle/>
          <a:p>
            <a:pPr marL="0" indent="0" algn="ctr">
              <a:buNone/>
            </a:pPr>
            <a:r>
              <a:rPr lang="en-US" sz="1100" dirty="0">
                <a:solidFill>
                  <a:srgbClr val="6E7681"/>
                </a:solidFill>
                <a:latin typeface="Calibri" pitchFamily="34" charset="0"/>
                <a:ea typeface="Calibri" pitchFamily="34" charset="-122"/>
                <a:cs typeface="Calibri" pitchFamily="34" charset="-120"/>
              </a:rPr>
              <a:t>gegen sich selbst</a:t>
            </a:r>
            <a:endParaRPr lang="en-US" sz="1100" dirty="0"/>
          </a:p>
        </p:txBody>
      </p:sp>
      <p:sp>
        <p:nvSpPr>
          <p:cNvPr id="20" name="Text 18"/>
          <p:cNvSpPr/>
          <p:nvPr/>
        </p:nvSpPr>
        <p:spPr>
          <a:xfrm>
            <a:off x="640080" y="4114800"/>
            <a:ext cx="10881360" cy="457200"/>
          </a:xfrm>
          <a:prstGeom prst="rect">
            <a:avLst/>
          </a:prstGeom>
          <a:noFill/>
          <a:ln/>
        </p:spPr>
        <p:txBody>
          <a:bodyPr wrap="square" lIns="0" tIns="0" rIns="0" bIns="0" rtlCol="0" anchor="ctr"/>
          <a:lstStyle/>
          <a:p>
            <a:pPr marL="0" indent="0">
              <a:buNone/>
            </a:pPr>
            <a:r>
              <a:rPr lang="en-US" sz="1500" dirty="0">
                <a:solidFill>
                  <a:srgbClr val="23282F"/>
                </a:solidFill>
                <a:latin typeface="Calibri" pitchFamily="34" charset="0"/>
                <a:ea typeface="Calibri" pitchFamily="34" charset="-122"/>
                <a:cs typeface="Calibri" pitchFamily="34" charset="-120"/>
              </a:rPr>
              <a:t>Zum Vergleich: Gegen den Chain-Angreifer, der auf einer neutralen Kette trainiert wurde, liegt derselbe Wert bei -44 bis -79. Der Angreifer ist dort also drei- bis fünfmal weniger erfolgreich.</a:t>
            </a:r>
            <a:endParaRPr lang="en-US" sz="1500" dirty="0"/>
          </a:p>
        </p:txBody>
      </p:sp>
      <p:sp>
        <p:nvSpPr>
          <p:cNvPr id="21" name="Text 19"/>
          <p:cNvSpPr/>
          <p:nvPr/>
        </p:nvSpPr>
        <p:spPr>
          <a:xfrm>
            <a:off x="640080" y="4663440"/>
            <a:ext cx="10881360" cy="731520"/>
          </a:xfrm>
          <a:prstGeom prst="rect">
            <a:avLst/>
          </a:prstGeom>
          <a:noFill/>
          <a:ln/>
        </p:spPr>
        <p:txBody>
          <a:bodyPr wrap="square" lIns="0" tIns="0" rIns="0" bIns="0" rtlCol="0" anchor="ctr"/>
          <a:lstStyle/>
          <a:p>
            <a:pPr marL="0" indent="0">
              <a:buNone/>
            </a:pPr>
            <a:r>
              <a:rPr lang="en-US" sz="1300" dirty="0">
                <a:solidFill>
                  <a:srgbClr val="6E7681"/>
                </a:solidFill>
                <a:latin typeface="Calibri" pitchFamily="34" charset="0"/>
                <a:ea typeface="Calibri" pitchFamily="34" charset="-122"/>
                <a:cs typeface="Calibri" pitchFamily="34" charset="-120"/>
              </a:rPr>
              <a:t>Die Schwierigkeit liegt damit nicht allein in der Topologie, sondern im Zusammenspiel aus Topologie und Angreiferherkunft. Für die Arbeit heißt das: Der Angreifer ist keine feste Umgebungseigenschaft, sondern eine zweite Variable.</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40080" y="384048"/>
            <a:ext cx="10881360" cy="566928"/>
          </a:xfrm>
          <a:prstGeom prst="rect">
            <a:avLst/>
          </a:prstGeom>
          <a:noFill/>
          <a:ln/>
        </p:spPr>
        <p:txBody>
          <a:bodyPr wrap="square" lIns="0" tIns="0" rIns="0" bIns="0" rtlCol="0" anchor="ctr"/>
          <a:lstStyle/>
          <a:p>
            <a:pPr marL="0" indent="0">
              <a:buNone/>
            </a:pPr>
            <a:r>
              <a:rPr lang="en-US" sz="3400" b="1" dirty="0">
                <a:solidFill>
                  <a:srgbClr val="23282F"/>
                </a:solidFill>
                <a:latin typeface="Cambria" pitchFamily="34" charset="0"/>
                <a:ea typeface="Cambria" pitchFamily="34" charset="-122"/>
                <a:cs typeface="Cambria" pitchFamily="34" charset="-120"/>
              </a:rPr>
              <a:t>Verteidiger-Reward — mit Vorsicht zu lesen</a:t>
            </a:r>
            <a:endParaRPr lang="en-US" sz="3400" dirty="0"/>
          </a:p>
        </p:txBody>
      </p:sp>
      <p:sp>
        <p:nvSpPr>
          <p:cNvPr id="3" name="Text 1"/>
          <p:cNvSpPr/>
          <p:nvPr/>
        </p:nvSpPr>
        <p:spPr>
          <a:xfrm>
            <a:off x="640080" y="969264"/>
            <a:ext cx="10881360" cy="493776"/>
          </a:xfrm>
          <a:prstGeom prst="rect">
            <a:avLst/>
          </a:prstGeom>
          <a:noFill/>
          <a:ln/>
        </p:spPr>
        <p:txBody>
          <a:bodyPr wrap="square" lIns="0" tIns="0" rIns="0" bIns="0" rtlCol="0" anchor="ctr"/>
          <a:lstStyle/>
          <a:p>
            <a:pPr marL="0" indent="0">
              <a:buNone/>
            </a:pPr>
            <a:r>
              <a:rPr lang="en-US" sz="1400" dirty="0">
                <a:solidFill>
                  <a:srgbClr val="6E7681"/>
                </a:solidFill>
                <a:latin typeface="Calibri" pitchFamily="34" charset="0"/>
                <a:ea typeface="Calibri" pitchFamily="34" charset="-122"/>
                <a:cs typeface="Calibri" pitchFamily="34" charset="-120"/>
              </a:rPr>
              <a:t>Median der letzten 20 Episoden, über 5 Seeds gemittelt</a:t>
            </a:r>
            <a:endParaRPr lang="en-US" sz="1400" dirty="0"/>
          </a:p>
        </p:txBody>
      </p:sp>
      <p:sp>
        <p:nvSpPr>
          <p:cNvPr id="4" name="Text 2"/>
          <p:cNvSpPr/>
          <p:nvPr/>
        </p:nvSpPr>
        <p:spPr>
          <a:xfrm>
            <a:off x="2240280" y="1417320"/>
            <a:ext cx="1371600" cy="310896"/>
          </a:xfrm>
          <a:prstGeom prst="rect">
            <a:avLst/>
          </a:prstGeom>
          <a:noFill/>
          <a:ln/>
        </p:spPr>
        <p:txBody>
          <a:bodyPr wrap="square" lIns="0" tIns="0" rIns="0" bIns="0" rtlCol="0" anchor="ctr"/>
          <a:lstStyle/>
          <a:p>
            <a:pPr marL="0" indent="0" algn="ctr">
              <a:buNone/>
            </a:pPr>
            <a:r>
              <a:rPr lang="en-US" sz="1200" b="1" dirty="0">
                <a:solidFill>
                  <a:srgbClr val="6E7681"/>
                </a:solidFill>
                <a:latin typeface="Calibri" pitchFamily="34" charset="0"/>
                <a:ea typeface="Calibri" pitchFamily="34" charset="-122"/>
                <a:cs typeface="Calibri" pitchFamily="34" charset="-120"/>
              </a:rPr>
              <a:t>Chain</a:t>
            </a:r>
            <a:endParaRPr lang="en-US" sz="1200" dirty="0"/>
          </a:p>
        </p:txBody>
      </p:sp>
      <p:sp>
        <p:nvSpPr>
          <p:cNvPr id="5" name="Text 3"/>
          <p:cNvSpPr/>
          <p:nvPr/>
        </p:nvSpPr>
        <p:spPr>
          <a:xfrm>
            <a:off x="3611880" y="1417320"/>
            <a:ext cx="1371600" cy="310896"/>
          </a:xfrm>
          <a:prstGeom prst="rect">
            <a:avLst/>
          </a:prstGeom>
          <a:noFill/>
          <a:ln/>
        </p:spPr>
        <p:txBody>
          <a:bodyPr wrap="square" lIns="0" tIns="0" rIns="0" bIns="0" rtlCol="0" anchor="ctr"/>
          <a:lstStyle/>
          <a:p>
            <a:pPr marL="0" indent="0" algn="ctr">
              <a:buNone/>
            </a:pPr>
            <a:r>
              <a:rPr lang="en-US" sz="1200" b="1" dirty="0">
                <a:solidFill>
                  <a:srgbClr val="6E7681"/>
                </a:solidFill>
                <a:latin typeface="Calibri" pitchFamily="34" charset="0"/>
                <a:ea typeface="Calibri" pitchFamily="34" charset="-122"/>
                <a:cs typeface="Calibri" pitchFamily="34" charset="-120"/>
              </a:rPr>
              <a:t>Flat</a:t>
            </a:r>
            <a:endParaRPr lang="en-US" sz="1200" dirty="0"/>
          </a:p>
        </p:txBody>
      </p:sp>
      <p:sp>
        <p:nvSpPr>
          <p:cNvPr id="6" name="Text 4"/>
          <p:cNvSpPr/>
          <p:nvPr/>
        </p:nvSpPr>
        <p:spPr>
          <a:xfrm>
            <a:off x="4983480" y="1417320"/>
            <a:ext cx="1371600" cy="310896"/>
          </a:xfrm>
          <a:prstGeom prst="rect">
            <a:avLst/>
          </a:prstGeom>
          <a:noFill/>
          <a:ln/>
        </p:spPr>
        <p:txBody>
          <a:bodyPr wrap="square" lIns="0" tIns="0" rIns="0" bIns="0" rtlCol="0" anchor="ctr"/>
          <a:lstStyle/>
          <a:p>
            <a:pPr marL="0" indent="0" algn="ctr">
              <a:buNone/>
            </a:pPr>
            <a:r>
              <a:rPr lang="en-US" sz="1200" b="1" dirty="0">
                <a:solidFill>
                  <a:srgbClr val="6E7681"/>
                </a:solidFill>
                <a:latin typeface="Calibri" pitchFamily="34" charset="0"/>
                <a:ea typeface="Calibri" pitchFamily="34" charset="-122"/>
                <a:cs typeface="Calibri" pitchFamily="34" charset="-120"/>
              </a:rPr>
              <a:t>Hub &amp; Spoke</a:t>
            </a:r>
            <a:endParaRPr lang="en-US" sz="1200" dirty="0"/>
          </a:p>
        </p:txBody>
      </p:sp>
      <p:sp>
        <p:nvSpPr>
          <p:cNvPr id="7" name="Text 5"/>
          <p:cNvSpPr/>
          <p:nvPr/>
        </p:nvSpPr>
        <p:spPr>
          <a:xfrm>
            <a:off x="6355080" y="1417320"/>
            <a:ext cx="1371600" cy="310896"/>
          </a:xfrm>
          <a:prstGeom prst="rect">
            <a:avLst/>
          </a:prstGeom>
          <a:noFill/>
          <a:ln/>
        </p:spPr>
        <p:txBody>
          <a:bodyPr wrap="square" lIns="0" tIns="0" rIns="0" bIns="0" rtlCol="0" anchor="ctr"/>
          <a:lstStyle/>
          <a:p>
            <a:pPr marL="0" indent="0" algn="ctr">
              <a:buNone/>
            </a:pPr>
            <a:r>
              <a:rPr lang="en-US" sz="1200" b="1" dirty="0">
                <a:solidFill>
                  <a:srgbClr val="6E7681"/>
                </a:solidFill>
                <a:latin typeface="Calibri" pitchFamily="34" charset="0"/>
                <a:ea typeface="Calibri" pitchFamily="34" charset="-122"/>
                <a:cs typeface="Calibri" pitchFamily="34" charset="-120"/>
              </a:rPr>
              <a:t>DMZ</a:t>
            </a:r>
            <a:endParaRPr lang="en-US" sz="1200" dirty="0"/>
          </a:p>
        </p:txBody>
      </p:sp>
      <p:sp>
        <p:nvSpPr>
          <p:cNvPr id="8" name="Text 6"/>
          <p:cNvSpPr/>
          <p:nvPr/>
        </p:nvSpPr>
        <p:spPr>
          <a:xfrm>
            <a:off x="7726680" y="1417320"/>
            <a:ext cx="1371600" cy="310896"/>
          </a:xfrm>
          <a:prstGeom prst="rect">
            <a:avLst/>
          </a:prstGeom>
          <a:noFill/>
          <a:ln/>
        </p:spPr>
        <p:txBody>
          <a:bodyPr wrap="square" lIns="0" tIns="0" rIns="0" bIns="0" rtlCol="0" anchor="ctr"/>
          <a:lstStyle/>
          <a:p>
            <a:pPr marL="0" indent="0" algn="ctr">
              <a:buNone/>
            </a:pPr>
            <a:r>
              <a:rPr lang="en-US" sz="1200" b="1" dirty="0">
                <a:solidFill>
                  <a:srgbClr val="6E7681"/>
                </a:solidFill>
                <a:latin typeface="Calibri" pitchFamily="34" charset="0"/>
                <a:ea typeface="Calibri" pitchFamily="34" charset="-122"/>
                <a:cs typeface="Calibri" pitchFamily="34" charset="-120"/>
              </a:rPr>
              <a:t>Micro-Seg.</a:t>
            </a:r>
            <a:endParaRPr lang="en-US" sz="1200" dirty="0"/>
          </a:p>
        </p:txBody>
      </p:sp>
      <p:sp>
        <p:nvSpPr>
          <p:cNvPr id="9" name="Text 7"/>
          <p:cNvSpPr/>
          <p:nvPr/>
        </p:nvSpPr>
        <p:spPr>
          <a:xfrm>
            <a:off x="9098280" y="1417320"/>
            <a:ext cx="1371600" cy="310896"/>
          </a:xfrm>
          <a:prstGeom prst="rect">
            <a:avLst/>
          </a:prstGeom>
          <a:noFill/>
          <a:ln/>
        </p:spPr>
        <p:txBody>
          <a:bodyPr wrap="square" lIns="0" tIns="0" rIns="0" bIns="0" rtlCol="0" anchor="ctr"/>
          <a:lstStyle/>
          <a:p>
            <a:pPr marL="0" indent="0" algn="ctr">
              <a:buNone/>
            </a:pPr>
            <a:r>
              <a:rPr lang="en-US" sz="1200" b="1" dirty="0">
                <a:solidFill>
                  <a:srgbClr val="6E7681"/>
                </a:solidFill>
                <a:latin typeface="Calibri" pitchFamily="34" charset="0"/>
                <a:ea typeface="Calibri" pitchFamily="34" charset="-122"/>
                <a:cs typeface="Calibri" pitchFamily="34" charset="-120"/>
              </a:rPr>
              <a:t>Super</a:t>
            </a:r>
            <a:endParaRPr lang="en-US" sz="1200" dirty="0"/>
          </a:p>
        </p:txBody>
      </p:sp>
      <p:sp>
        <p:nvSpPr>
          <p:cNvPr id="10" name="Text 8"/>
          <p:cNvSpPr/>
          <p:nvPr/>
        </p:nvSpPr>
        <p:spPr>
          <a:xfrm>
            <a:off x="640080" y="1783080"/>
            <a:ext cx="1508760" cy="566928"/>
          </a:xfrm>
          <a:prstGeom prst="rect">
            <a:avLst/>
          </a:prstGeom>
          <a:noFill/>
          <a:ln/>
        </p:spPr>
        <p:txBody>
          <a:bodyPr wrap="square" lIns="0" tIns="0" rIns="0" bIns="0" rtlCol="0" anchor="ctr"/>
          <a:lstStyle/>
          <a:p>
            <a:pPr marL="0" indent="0" algn="r">
              <a:buNone/>
            </a:pPr>
            <a:r>
              <a:rPr lang="en-US" sz="1300" b="1" dirty="0">
                <a:solidFill>
                  <a:srgbClr val="23282F"/>
                </a:solidFill>
                <a:latin typeface="Calibri" pitchFamily="34" charset="0"/>
                <a:ea typeface="Calibri" pitchFamily="34" charset="-122"/>
                <a:cs typeface="Calibri" pitchFamily="34" charset="-120"/>
              </a:rPr>
              <a:t>Flat</a:t>
            </a:r>
            <a:endParaRPr lang="en-US" sz="1300" dirty="0"/>
          </a:p>
        </p:txBody>
      </p:sp>
      <p:sp>
        <p:nvSpPr>
          <p:cNvPr id="11" name="Shape 9"/>
          <p:cNvSpPr/>
          <p:nvPr/>
        </p:nvSpPr>
        <p:spPr>
          <a:xfrm>
            <a:off x="2240280" y="1783080"/>
            <a:ext cx="1316736" cy="512064"/>
          </a:xfrm>
          <a:prstGeom prst="rect">
            <a:avLst/>
          </a:prstGeom>
          <a:solidFill>
            <a:srgbClr val="F7F8F9"/>
          </a:solidFill>
          <a:ln w="19050">
            <a:solidFill>
              <a:srgbClr val="FFFFFF"/>
            </a:solidFill>
            <a:prstDash val="solid"/>
          </a:ln>
        </p:spPr>
        <p:txBody>
          <a:bodyPr/>
          <a:lstStyle/>
          <a:p>
            <a:endParaRPr lang="de-DE"/>
          </a:p>
        </p:txBody>
      </p:sp>
      <p:sp>
        <p:nvSpPr>
          <p:cNvPr id="12" name="Text 10"/>
          <p:cNvSpPr/>
          <p:nvPr/>
        </p:nvSpPr>
        <p:spPr>
          <a:xfrm>
            <a:off x="2240280" y="1892808"/>
            <a:ext cx="1316736" cy="329184"/>
          </a:xfrm>
          <a:prstGeom prst="rect">
            <a:avLst/>
          </a:prstGeom>
          <a:noFill/>
          <a:ln/>
        </p:spPr>
        <p:txBody>
          <a:bodyPr wrap="square" lIns="0" tIns="0" rIns="0" bIns="0" rtlCol="0" anchor="ctr"/>
          <a:lstStyle/>
          <a:p>
            <a:pPr marL="0" indent="0" algn="ctr">
              <a:buNone/>
            </a:pPr>
            <a:r>
              <a:rPr lang="en-US" sz="1400" dirty="0">
                <a:solidFill>
                  <a:srgbClr val="B3382C"/>
                </a:solidFill>
                <a:latin typeface="Calibri" pitchFamily="34" charset="0"/>
                <a:ea typeface="Calibri" pitchFamily="34" charset="-122"/>
                <a:cs typeface="Calibri" pitchFamily="34" charset="-120"/>
              </a:rPr>
              <a:t>-49</a:t>
            </a:r>
            <a:endParaRPr lang="en-US" sz="1400" dirty="0"/>
          </a:p>
        </p:txBody>
      </p:sp>
      <p:sp>
        <p:nvSpPr>
          <p:cNvPr id="13" name="Shape 11"/>
          <p:cNvSpPr/>
          <p:nvPr/>
        </p:nvSpPr>
        <p:spPr>
          <a:xfrm>
            <a:off x="3611880" y="1783080"/>
            <a:ext cx="1316736" cy="512064"/>
          </a:xfrm>
          <a:prstGeom prst="rect">
            <a:avLst/>
          </a:prstGeom>
          <a:solidFill>
            <a:srgbClr val="F7F8F9"/>
          </a:solidFill>
          <a:ln w="19050">
            <a:solidFill>
              <a:srgbClr val="FFFFFF"/>
            </a:solidFill>
            <a:prstDash val="solid"/>
          </a:ln>
        </p:spPr>
        <p:txBody>
          <a:bodyPr/>
          <a:lstStyle/>
          <a:p>
            <a:endParaRPr lang="de-DE"/>
          </a:p>
        </p:txBody>
      </p:sp>
      <p:sp>
        <p:nvSpPr>
          <p:cNvPr id="14" name="Text 12"/>
          <p:cNvSpPr/>
          <p:nvPr/>
        </p:nvSpPr>
        <p:spPr>
          <a:xfrm>
            <a:off x="3611880" y="1892808"/>
            <a:ext cx="1316736" cy="329184"/>
          </a:xfrm>
          <a:prstGeom prst="rect">
            <a:avLst/>
          </a:prstGeom>
          <a:noFill/>
          <a:ln/>
        </p:spPr>
        <p:txBody>
          <a:bodyPr wrap="square" lIns="0" tIns="0" rIns="0" bIns="0" rtlCol="0" anchor="ctr"/>
          <a:lstStyle/>
          <a:p>
            <a:pPr marL="0" indent="0" algn="ctr">
              <a:buNone/>
            </a:pPr>
            <a:r>
              <a:rPr lang="en-US" sz="1400" dirty="0">
                <a:solidFill>
                  <a:srgbClr val="B3382C"/>
                </a:solidFill>
                <a:latin typeface="Calibri" pitchFamily="34" charset="0"/>
                <a:ea typeface="Calibri" pitchFamily="34" charset="-122"/>
                <a:cs typeface="Calibri" pitchFamily="34" charset="-120"/>
              </a:rPr>
              <a:t>-208</a:t>
            </a:r>
            <a:endParaRPr lang="en-US" sz="1400" dirty="0"/>
          </a:p>
        </p:txBody>
      </p:sp>
      <p:sp>
        <p:nvSpPr>
          <p:cNvPr id="15" name="Shape 13"/>
          <p:cNvSpPr/>
          <p:nvPr/>
        </p:nvSpPr>
        <p:spPr>
          <a:xfrm>
            <a:off x="4983480" y="1783080"/>
            <a:ext cx="1316736" cy="512064"/>
          </a:xfrm>
          <a:prstGeom prst="rect">
            <a:avLst/>
          </a:prstGeom>
          <a:solidFill>
            <a:srgbClr val="F7F8F9"/>
          </a:solidFill>
          <a:ln w="19050">
            <a:solidFill>
              <a:srgbClr val="FFFFFF"/>
            </a:solidFill>
            <a:prstDash val="solid"/>
          </a:ln>
        </p:spPr>
        <p:txBody>
          <a:bodyPr/>
          <a:lstStyle/>
          <a:p>
            <a:endParaRPr lang="de-DE"/>
          </a:p>
        </p:txBody>
      </p:sp>
      <p:sp>
        <p:nvSpPr>
          <p:cNvPr id="16" name="Text 14"/>
          <p:cNvSpPr/>
          <p:nvPr/>
        </p:nvSpPr>
        <p:spPr>
          <a:xfrm>
            <a:off x="4983480" y="1892808"/>
            <a:ext cx="1316736" cy="329184"/>
          </a:xfrm>
          <a:prstGeom prst="rect">
            <a:avLst/>
          </a:prstGeom>
          <a:noFill/>
          <a:ln/>
        </p:spPr>
        <p:txBody>
          <a:bodyPr wrap="square" lIns="0" tIns="0" rIns="0" bIns="0" rtlCol="0" anchor="ctr"/>
          <a:lstStyle/>
          <a:p>
            <a:pPr marL="0" indent="0" algn="ctr">
              <a:buNone/>
            </a:pPr>
            <a:r>
              <a:rPr lang="en-US" sz="1400" dirty="0">
                <a:solidFill>
                  <a:srgbClr val="B3382C"/>
                </a:solidFill>
                <a:latin typeface="Calibri" pitchFamily="34" charset="0"/>
                <a:ea typeface="Calibri" pitchFamily="34" charset="-122"/>
                <a:cs typeface="Calibri" pitchFamily="34" charset="-120"/>
              </a:rPr>
              <a:t>-219</a:t>
            </a:r>
            <a:endParaRPr lang="en-US" sz="1400" dirty="0"/>
          </a:p>
        </p:txBody>
      </p:sp>
      <p:sp>
        <p:nvSpPr>
          <p:cNvPr id="17" name="Shape 15"/>
          <p:cNvSpPr/>
          <p:nvPr/>
        </p:nvSpPr>
        <p:spPr>
          <a:xfrm>
            <a:off x="6355080" y="1783080"/>
            <a:ext cx="1316736" cy="512064"/>
          </a:xfrm>
          <a:prstGeom prst="rect">
            <a:avLst/>
          </a:prstGeom>
          <a:solidFill>
            <a:srgbClr val="F7F8F9"/>
          </a:solidFill>
          <a:ln w="19050">
            <a:solidFill>
              <a:srgbClr val="FFFFFF"/>
            </a:solidFill>
            <a:prstDash val="solid"/>
          </a:ln>
        </p:spPr>
        <p:txBody>
          <a:bodyPr/>
          <a:lstStyle/>
          <a:p>
            <a:endParaRPr lang="de-DE"/>
          </a:p>
        </p:txBody>
      </p:sp>
      <p:sp>
        <p:nvSpPr>
          <p:cNvPr id="18" name="Text 16"/>
          <p:cNvSpPr/>
          <p:nvPr/>
        </p:nvSpPr>
        <p:spPr>
          <a:xfrm>
            <a:off x="6355080" y="1892808"/>
            <a:ext cx="1316736" cy="329184"/>
          </a:xfrm>
          <a:prstGeom prst="rect">
            <a:avLst/>
          </a:prstGeom>
          <a:noFill/>
          <a:ln/>
        </p:spPr>
        <p:txBody>
          <a:bodyPr wrap="square" lIns="0" tIns="0" rIns="0" bIns="0" rtlCol="0" anchor="ctr"/>
          <a:lstStyle/>
          <a:p>
            <a:pPr marL="0" indent="0" algn="ctr">
              <a:buNone/>
            </a:pPr>
            <a:r>
              <a:rPr lang="en-US" sz="1400" dirty="0">
                <a:solidFill>
                  <a:srgbClr val="B3382C"/>
                </a:solidFill>
                <a:latin typeface="Calibri" pitchFamily="34" charset="0"/>
                <a:ea typeface="Calibri" pitchFamily="34" charset="-122"/>
                <a:cs typeface="Calibri" pitchFamily="34" charset="-120"/>
              </a:rPr>
              <a:t>-187</a:t>
            </a:r>
            <a:endParaRPr lang="en-US" sz="1400" dirty="0"/>
          </a:p>
        </p:txBody>
      </p:sp>
      <p:sp>
        <p:nvSpPr>
          <p:cNvPr id="19" name="Shape 17"/>
          <p:cNvSpPr/>
          <p:nvPr/>
        </p:nvSpPr>
        <p:spPr>
          <a:xfrm>
            <a:off x="7726680" y="1783080"/>
            <a:ext cx="1316736" cy="512064"/>
          </a:xfrm>
          <a:prstGeom prst="rect">
            <a:avLst/>
          </a:prstGeom>
          <a:solidFill>
            <a:srgbClr val="F7F8F9"/>
          </a:solidFill>
          <a:ln w="19050">
            <a:solidFill>
              <a:srgbClr val="FFFFFF"/>
            </a:solidFill>
            <a:prstDash val="solid"/>
          </a:ln>
        </p:spPr>
        <p:txBody>
          <a:bodyPr/>
          <a:lstStyle/>
          <a:p>
            <a:endParaRPr lang="de-DE"/>
          </a:p>
        </p:txBody>
      </p:sp>
      <p:sp>
        <p:nvSpPr>
          <p:cNvPr id="20" name="Text 18"/>
          <p:cNvSpPr/>
          <p:nvPr/>
        </p:nvSpPr>
        <p:spPr>
          <a:xfrm>
            <a:off x="7726680" y="1892808"/>
            <a:ext cx="1316736" cy="329184"/>
          </a:xfrm>
          <a:prstGeom prst="rect">
            <a:avLst/>
          </a:prstGeom>
          <a:noFill/>
          <a:ln/>
        </p:spPr>
        <p:txBody>
          <a:bodyPr wrap="square" lIns="0" tIns="0" rIns="0" bIns="0" rtlCol="0" anchor="ctr"/>
          <a:lstStyle/>
          <a:p>
            <a:pPr marL="0" indent="0" algn="ctr">
              <a:buNone/>
            </a:pPr>
            <a:r>
              <a:rPr lang="en-US" sz="1400" dirty="0">
                <a:solidFill>
                  <a:srgbClr val="B3382C"/>
                </a:solidFill>
                <a:latin typeface="Calibri" pitchFamily="34" charset="0"/>
                <a:ea typeface="Calibri" pitchFamily="34" charset="-122"/>
                <a:cs typeface="Calibri" pitchFamily="34" charset="-120"/>
              </a:rPr>
              <a:t>-152</a:t>
            </a:r>
            <a:endParaRPr lang="en-US" sz="1400" dirty="0"/>
          </a:p>
        </p:txBody>
      </p:sp>
      <p:sp>
        <p:nvSpPr>
          <p:cNvPr id="21" name="Shape 19"/>
          <p:cNvSpPr/>
          <p:nvPr/>
        </p:nvSpPr>
        <p:spPr>
          <a:xfrm>
            <a:off x="9098280" y="1783080"/>
            <a:ext cx="1316736" cy="512064"/>
          </a:xfrm>
          <a:prstGeom prst="rect">
            <a:avLst/>
          </a:prstGeom>
          <a:solidFill>
            <a:srgbClr val="F7F8F9"/>
          </a:solidFill>
          <a:ln w="19050">
            <a:solidFill>
              <a:srgbClr val="FFFFFF"/>
            </a:solidFill>
            <a:prstDash val="solid"/>
          </a:ln>
        </p:spPr>
        <p:txBody>
          <a:bodyPr/>
          <a:lstStyle/>
          <a:p>
            <a:endParaRPr lang="de-DE"/>
          </a:p>
        </p:txBody>
      </p:sp>
      <p:sp>
        <p:nvSpPr>
          <p:cNvPr id="22" name="Text 20"/>
          <p:cNvSpPr/>
          <p:nvPr/>
        </p:nvSpPr>
        <p:spPr>
          <a:xfrm>
            <a:off x="9098280" y="1892808"/>
            <a:ext cx="1316736" cy="329184"/>
          </a:xfrm>
          <a:prstGeom prst="rect">
            <a:avLst/>
          </a:prstGeom>
          <a:noFill/>
          <a:ln/>
        </p:spPr>
        <p:txBody>
          <a:bodyPr wrap="square" lIns="0" tIns="0" rIns="0" bIns="0" rtlCol="0" anchor="ctr"/>
          <a:lstStyle/>
          <a:p>
            <a:pPr marL="0" indent="0" algn="ctr">
              <a:buNone/>
            </a:pPr>
            <a:r>
              <a:rPr lang="en-US" sz="1400" dirty="0">
                <a:solidFill>
                  <a:srgbClr val="B3382C"/>
                </a:solidFill>
                <a:latin typeface="Calibri" pitchFamily="34" charset="0"/>
                <a:ea typeface="Calibri" pitchFamily="34" charset="-122"/>
                <a:cs typeface="Calibri" pitchFamily="34" charset="-120"/>
              </a:rPr>
              <a:t>-131</a:t>
            </a:r>
            <a:endParaRPr lang="en-US" sz="1400" dirty="0"/>
          </a:p>
        </p:txBody>
      </p:sp>
      <p:sp>
        <p:nvSpPr>
          <p:cNvPr id="23" name="Text 21"/>
          <p:cNvSpPr/>
          <p:nvPr/>
        </p:nvSpPr>
        <p:spPr>
          <a:xfrm>
            <a:off x="640080" y="2350008"/>
            <a:ext cx="1508760" cy="566928"/>
          </a:xfrm>
          <a:prstGeom prst="rect">
            <a:avLst/>
          </a:prstGeom>
          <a:noFill/>
          <a:ln/>
        </p:spPr>
        <p:txBody>
          <a:bodyPr wrap="square" lIns="0" tIns="0" rIns="0" bIns="0" rtlCol="0" anchor="ctr"/>
          <a:lstStyle/>
          <a:p>
            <a:pPr marL="0" indent="0" algn="r">
              <a:buNone/>
            </a:pPr>
            <a:r>
              <a:rPr lang="en-US" sz="1300" b="1" dirty="0">
                <a:solidFill>
                  <a:srgbClr val="23282F"/>
                </a:solidFill>
                <a:latin typeface="Calibri" pitchFamily="34" charset="0"/>
                <a:ea typeface="Calibri" pitchFamily="34" charset="-122"/>
                <a:cs typeface="Calibri" pitchFamily="34" charset="-120"/>
              </a:rPr>
              <a:t>Hub &amp; Spoke</a:t>
            </a:r>
            <a:endParaRPr lang="en-US" sz="1300" dirty="0"/>
          </a:p>
        </p:txBody>
      </p:sp>
      <p:sp>
        <p:nvSpPr>
          <p:cNvPr id="24" name="Shape 22"/>
          <p:cNvSpPr/>
          <p:nvPr/>
        </p:nvSpPr>
        <p:spPr>
          <a:xfrm>
            <a:off x="2240280" y="2350008"/>
            <a:ext cx="1316736" cy="512064"/>
          </a:xfrm>
          <a:prstGeom prst="rect">
            <a:avLst/>
          </a:prstGeom>
          <a:solidFill>
            <a:srgbClr val="F7F8F9"/>
          </a:solidFill>
          <a:ln w="19050">
            <a:solidFill>
              <a:srgbClr val="FFFFFF"/>
            </a:solidFill>
            <a:prstDash val="solid"/>
          </a:ln>
        </p:spPr>
        <p:txBody>
          <a:bodyPr/>
          <a:lstStyle/>
          <a:p>
            <a:endParaRPr lang="de-DE"/>
          </a:p>
        </p:txBody>
      </p:sp>
      <p:sp>
        <p:nvSpPr>
          <p:cNvPr id="25" name="Text 23"/>
          <p:cNvSpPr/>
          <p:nvPr/>
        </p:nvSpPr>
        <p:spPr>
          <a:xfrm>
            <a:off x="2240280" y="2459736"/>
            <a:ext cx="1316736" cy="329184"/>
          </a:xfrm>
          <a:prstGeom prst="rect">
            <a:avLst/>
          </a:prstGeom>
          <a:noFill/>
          <a:ln/>
        </p:spPr>
        <p:txBody>
          <a:bodyPr wrap="square" lIns="0" tIns="0" rIns="0" bIns="0" rtlCol="0" anchor="ctr"/>
          <a:lstStyle/>
          <a:p>
            <a:pPr marL="0" indent="0" algn="ctr">
              <a:buNone/>
            </a:pPr>
            <a:r>
              <a:rPr lang="en-US" sz="1400" dirty="0">
                <a:solidFill>
                  <a:srgbClr val="B3382C"/>
                </a:solidFill>
                <a:latin typeface="Calibri" pitchFamily="34" charset="0"/>
                <a:ea typeface="Calibri" pitchFamily="34" charset="-122"/>
                <a:cs typeface="Calibri" pitchFamily="34" charset="-120"/>
              </a:rPr>
              <a:t>-44</a:t>
            </a:r>
            <a:endParaRPr lang="en-US" sz="1400" dirty="0"/>
          </a:p>
        </p:txBody>
      </p:sp>
      <p:sp>
        <p:nvSpPr>
          <p:cNvPr id="26" name="Shape 24"/>
          <p:cNvSpPr/>
          <p:nvPr/>
        </p:nvSpPr>
        <p:spPr>
          <a:xfrm>
            <a:off x="3611880" y="2350008"/>
            <a:ext cx="1316736" cy="512064"/>
          </a:xfrm>
          <a:prstGeom prst="rect">
            <a:avLst/>
          </a:prstGeom>
          <a:solidFill>
            <a:srgbClr val="F7F8F9"/>
          </a:solidFill>
          <a:ln w="19050">
            <a:solidFill>
              <a:srgbClr val="FFFFFF"/>
            </a:solidFill>
            <a:prstDash val="solid"/>
          </a:ln>
        </p:spPr>
        <p:txBody>
          <a:bodyPr/>
          <a:lstStyle/>
          <a:p>
            <a:endParaRPr lang="de-DE"/>
          </a:p>
        </p:txBody>
      </p:sp>
      <p:sp>
        <p:nvSpPr>
          <p:cNvPr id="27" name="Text 25"/>
          <p:cNvSpPr/>
          <p:nvPr/>
        </p:nvSpPr>
        <p:spPr>
          <a:xfrm>
            <a:off x="3611880" y="2459736"/>
            <a:ext cx="1316736" cy="329184"/>
          </a:xfrm>
          <a:prstGeom prst="rect">
            <a:avLst/>
          </a:prstGeom>
          <a:noFill/>
          <a:ln/>
        </p:spPr>
        <p:txBody>
          <a:bodyPr wrap="square" lIns="0" tIns="0" rIns="0" bIns="0" rtlCol="0" anchor="ctr"/>
          <a:lstStyle/>
          <a:p>
            <a:pPr marL="0" indent="0" algn="ctr">
              <a:buNone/>
            </a:pPr>
            <a:r>
              <a:rPr lang="en-US" sz="1400" dirty="0">
                <a:solidFill>
                  <a:srgbClr val="B3382C"/>
                </a:solidFill>
                <a:latin typeface="Calibri" pitchFamily="34" charset="0"/>
                <a:ea typeface="Calibri" pitchFamily="34" charset="-122"/>
                <a:cs typeface="Calibri" pitchFamily="34" charset="-120"/>
              </a:rPr>
              <a:t>-158</a:t>
            </a:r>
            <a:endParaRPr lang="en-US" sz="1400" dirty="0"/>
          </a:p>
        </p:txBody>
      </p:sp>
      <p:sp>
        <p:nvSpPr>
          <p:cNvPr id="28" name="Shape 26"/>
          <p:cNvSpPr/>
          <p:nvPr/>
        </p:nvSpPr>
        <p:spPr>
          <a:xfrm>
            <a:off x="4983480" y="2350008"/>
            <a:ext cx="1316736" cy="512064"/>
          </a:xfrm>
          <a:prstGeom prst="rect">
            <a:avLst/>
          </a:prstGeom>
          <a:solidFill>
            <a:srgbClr val="F7F8F9"/>
          </a:solidFill>
          <a:ln w="19050">
            <a:solidFill>
              <a:srgbClr val="FFFFFF"/>
            </a:solidFill>
            <a:prstDash val="solid"/>
          </a:ln>
        </p:spPr>
        <p:txBody>
          <a:bodyPr/>
          <a:lstStyle/>
          <a:p>
            <a:endParaRPr lang="de-DE"/>
          </a:p>
        </p:txBody>
      </p:sp>
      <p:sp>
        <p:nvSpPr>
          <p:cNvPr id="29" name="Text 27"/>
          <p:cNvSpPr/>
          <p:nvPr/>
        </p:nvSpPr>
        <p:spPr>
          <a:xfrm>
            <a:off x="4983480" y="2459736"/>
            <a:ext cx="1316736" cy="329184"/>
          </a:xfrm>
          <a:prstGeom prst="rect">
            <a:avLst/>
          </a:prstGeom>
          <a:noFill/>
          <a:ln/>
        </p:spPr>
        <p:txBody>
          <a:bodyPr wrap="square" lIns="0" tIns="0" rIns="0" bIns="0" rtlCol="0" anchor="ctr"/>
          <a:lstStyle/>
          <a:p>
            <a:pPr marL="0" indent="0" algn="ctr">
              <a:buNone/>
            </a:pPr>
            <a:r>
              <a:rPr lang="en-US" sz="1400" dirty="0">
                <a:solidFill>
                  <a:srgbClr val="B3382C"/>
                </a:solidFill>
                <a:latin typeface="Calibri" pitchFamily="34" charset="0"/>
                <a:ea typeface="Calibri" pitchFamily="34" charset="-122"/>
                <a:cs typeface="Calibri" pitchFamily="34" charset="-120"/>
              </a:rPr>
              <a:t>-176</a:t>
            </a:r>
            <a:endParaRPr lang="en-US" sz="1400" dirty="0"/>
          </a:p>
        </p:txBody>
      </p:sp>
      <p:sp>
        <p:nvSpPr>
          <p:cNvPr id="30" name="Shape 28"/>
          <p:cNvSpPr/>
          <p:nvPr/>
        </p:nvSpPr>
        <p:spPr>
          <a:xfrm>
            <a:off x="6355080" y="2350008"/>
            <a:ext cx="1316736" cy="512064"/>
          </a:xfrm>
          <a:prstGeom prst="rect">
            <a:avLst/>
          </a:prstGeom>
          <a:solidFill>
            <a:srgbClr val="F7F8F9"/>
          </a:solidFill>
          <a:ln w="19050">
            <a:solidFill>
              <a:srgbClr val="FFFFFF"/>
            </a:solidFill>
            <a:prstDash val="solid"/>
          </a:ln>
        </p:spPr>
        <p:txBody>
          <a:bodyPr/>
          <a:lstStyle/>
          <a:p>
            <a:endParaRPr lang="de-DE"/>
          </a:p>
        </p:txBody>
      </p:sp>
      <p:sp>
        <p:nvSpPr>
          <p:cNvPr id="31" name="Text 29"/>
          <p:cNvSpPr/>
          <p:nvPr/>
        </p:nvSpPr>
        <p:spPr>
          <a:xfrm>
            <a:off x="6355080" y="2459736"/>
            <a:ext cx="1316736" cy="329184"/>
          </a:xfrm>
          <a:prstGeom prst="rect">
            <a:avLst/>
          </a:prstGeom>
          <a:noFill/>
          <a:ln/>
        </p:spPr>
        <p:txBody>
          <a:bodyPr wrap="square" lIns="0" tIns="0" rIns="0" bIns="0" rtlCol="0" anchor="ctr"/>
          <a:lstStyle/>
          <a:p>
            <a:pPr marL="0" indent="0" algn="ctr">
              <a:buNone/>
            </a:pPr>
            <a:r>
              <a:rPr lang="en-US" sz="1400" dirty="0">
                <a:solidFill>
                  <a:srgbClr val="B3382C"/>
                </a:solidFill>
                <a:latin typeface="Calibri" pitchFamily="34" charset="0"/>
                <a:ea typeface="Calibri" pitchFamily="34" charset="-122"/>
                <a:cs typeface="Calibri" pitchFamily="34" charset="-120"/>
              </a:rPr>
              <a:t>-82</a:t>
            </a:r>
            <a:endParaRPr lang="en-US" sz="1400" dirty="0"/>
          </a:p>
        </p:txBody>
      </p:sp>
      <p:sp>
        <p:nvSpPr>
          <p:cNvPr id="32" name="Shape 30"/>
          <p:cNvSpPr/>
          <p:nvPr/>
        </p:nvSpPr>
        <p:spPr>
          <a:xfrm>
            <a:off x="7726680" y="2350008"/>
            <a:ext cx="1316736" cy="512064"/>
          </a:xfrm>
          <a:prstGeom prst="rect">
            <a:avLst/>
          </a:prstGeom>
          <a:solidFill>
            <a:srgbClr val="F7F8F9"/>
          </a:solidFill>
          <a:ln w="19050">
            <a:solidFill>
              <a:srgbClr val="FFFFFF"/>
            </a:solidFill>
            <a:prstDash val="solid"/>
          </a:ln>
        </p:spPr>
        <p:txBody>
          <a:bodyPr/>
          <a:lstStyle/>
          <a:p>
            <a:endParaRPr lang="de-DE"/>
          </a:p>
        </p:txBody>
      </p:sp>
      <p:sp>
        <p:nvSpPr>
          <p:cNvPr id="33" name="Text 31"/>
          <p:cNvSpPr/>
          <p:nvPr/>
        </p:nvSpPr>
        <p:spPr>
          <a:xfrm>
            <a:off x="7726680" y="2459736"/>
            <a:ext cx="1316736" cy="329184"/>
          </a:xfrm>
          <a:prstGeom prst="rect">
            <a:avLst/>
          </a:prstGeom>
          <a:noFill/>
          <a:ln/>
        </p:spPr>
        <p:txBody>
          <a:bodyPr wrap="square" lIns="0" tIns="0" rIns="0" bIns="0" rtlCol="0" anchor="ctr"/>
          <a:lstStyle/>
          <a:p>
            <a:pPr marL="0" indent="0" algn="ctr">
              <a:buNone/>
            </a:pPr>
            <a:r>
              <a:rPr lang="en-US" sz="1400" dirty="0">
                <a:solidFill>
                  <a:srgbClr val="B3382C"/>
                </a:solidFill>
                <a:latin typeface="Calibri" pitchFamily="34" charset="0"/>
                <a:ea typeface="Calibri" pitchFamily="34" charset="-122"/>
                <a:cs typeface="Calibri" pitchFamily="34" charset="-120"/>
              </a:rPr>
              <a:t>-101</a:t>
            </a:r>
            <a:endParaRPr lang="en-US" sz="1400" dirty="0"/>
          </a:p>
        </p:txBody>
      </p:sp>
      <p:sp>
        <p:nvSpPr>
          <p:cNvPr id="34" name="Shape 32"/>
          <p:cNvSpPr/>
          <p:nvPr/>
        </p:nvSpPr>
        <p:spPr>
          <a:xfrm>
            <a:off x="9098280" y="2350008"/>
            <a:ext cx="1316736" cy="512064"/>
          </a:xfrm>
          <a:prstGeom prst="rect">
            <a:avLst/>
          </a:prstGeom>
          <a:solidFill>
            <a:srgbClr val="F7F8F9"/>
          </a:solidFill>
          <a:ln w="19050">
            <a:solidFill>
              <a:srgbClr val="FFFFFF"/>
            </a:solidFill>
            <a:prstDash val="solid"/>
          </a:ln>
        </p:spPr>
        <p:txBody>
          <a:bodyPr/>
          <a:lstStyle/>
          <a:p>
            <a:endParaRPr lang="de-DE"/>
          </a:p>
        </p:txBody>
      </p:sp>
      <p:sp>
        <p:nvSpPr>
          <p:cNvPr id="35" name="Text 33"/>
          <p:cNvSpPr/>
          <p:nvPr/>
        </p:nvSpPr>
        <p:spPr>
          <a:xfrm>
            <a:off x="9098280" y="2459736"/>
            <a:ext cx="1316736" cy="329184"/>
          </a:xfrm>
          <a:prstGeom prst="rect">
            <a:avLst/>
          </a:prstGeom>
          <a:noFill/>
          <a:ln/>
        </p:spPr>
        <p:txBody>
          <a:bodyPr wrap="square" lIns="0" tIns="0" rIns="0" bIns="0" rtlCol="0" anchor="ctr"/>
          <a:lstStyle/>
          <a:p>
            <a:pPr marL="0" indent="0" algn="ctr">
              <a:buNone/>
            </a:pPr>
            <a:r>
              <a:rPr lang="en-US" sz="1400" dirty="0">
                <a:solidFill>
                  <a:srgbClr val="B3382C"/>
                </a:solidFill>
                <a:latin typeface="Calibri" pitchFamily="34" charset="0"/>
                <a:ea typeface="Calibri" pitchFamily="34" charset="-122"/>
                <a:cs typeface="Calibri" pitchFamily="34" charset="-120"/>
              </a:rPr>
              <a:t>-199</a:t>
            </a:r>
            <a:endParaRPr lang="en-US" sz="1400" dirty="0"/>
          </a:p>
        </p:txBody>
      </p:sp>
      <p:sp>
        <p:nvSpPr>
          <p:cNvPr id="36" name="Text 34"/>
          <p:cNvSpPr/>
          <p:nvPr/>
        </p:nvSpPr>
        <p:spPr>
          <a:xfrm>
            <a:off x="640080" y="2916936"/>
            <a:ext cx="1508760" cy="566928"/>
          </a:xfrm>
          <a:prstGeom prst="rect">
            <a:avLst/>
          </a:prstGeom>
          <a:noFill/>
          <a:ln/>
        </p:spPr>
        <p:txBody>
          <a:bodyPr wrap="square" lIns="0" tIns="0" rIns="0" bIns="0" rtlCol="0" anchor="ctr"/>
          <a:lstStyle/>
          <a:p>
            <a:pPr marL="0" indent="0" algn="r">
              <a:buNone/>
            </a:pPr>
            <a:r>
              <a:rPr lang="en-US" sz="1300" b="1" dirty="0">
                <a:solidFill>
                  <a:srgbClr val="23282F"/>
                </a:solidFill>
                <a:latin typeface="Calibri" pitchFamily="34" charset="0"/>
                <a:ea typeface="Calibri" pitchFamily="34" charset="-122"/>
                <a:cs typeface="Calibri" pitchFamily="34" charset="-120"/>
              </a:rPr>
              <a:t>DMZ</a:t>
            </a:r>
            <a:endParaRPr lang="en-US" sz="1300" dirty="0"/>
          </a:p>
        </p:txBody>
      </p:sp>
      <p:sp>
        <p:nvSpPr>
          <p:cNvPr id="37" name="Shape 35"/>
          <p:cNvSpPr/>
          <p:nvPr/>
        </p:nvSpPr>
        <p:spPr>
          <a:xfrm>
            <a:off x="2240280" y="2916936"/>
            <a:ext cx="1316736" cy="512064"/>
          </a:xfrm>
          <a:prstGeom prst="rect">
            <a:avLst/>
          </a:prstGeom>
          <a:solidFill>
            <a:srgbClr val="F7F8F9"/>
          </a:solidFill>
          <a:ln w="19050">
            <a:solidFill>
              <a:srgbClr val="FFFFFF"/>
            </a:solidFill>
            <a:prstDash val="solid"/>
          </a:ln>
        </p:spPr>
        <p:txBody>
          <a:bodyPr/>
          <a:lstStyle/>
          <a:p>
            <a:endParaRPr lang="de-DE"/>
          </a:p>
        </p:txBody>
      </p:sp>
      <p:sp>
        <p:nvSpPr>
          <p:cNvPr id="38" name="Text 36"/>
          <p:cNvSpPr/>
          <p:nvPr/>
        </p:nvSpPr>
        <p:spPr>
          <a:xfrm>
            <a:off x="2240280" y="3026664"/>
            <a:ext cx="1316736" cy="329184"/>
          </a:xfrm>
          <a:prstGeom prst="rect">
            <a:avLst/>
          </a:prstGeom>
          <a:noFill/>
          <a:ln/>
        </p:spPr>
        <p:txBody>
          <a:bodyPr wrap="square" lIns="0" tIns="0" rIns="0" bIns="0" rtlCol="0" anchor="ctr"/>
          <a:lstStyle/>
          <a:p>
            <a:pPr marL="0" indent="0" algn="ctr">
              <a:buNone/>
            </a:pPr>
            <a:r>
              <a:rPr lang="en-US" sz="1400" dirty="0">
                <a:solidFill>
                  <a:srgbClr val="B3382C"/>
                </a:solidFill>
                <a:latin typeface="Calibri" pitchFamily="34" charset="0"/>
                <a:ea typeface="Calibri" pitchFamily="34" charset="-122"/>
                <a:cs typeface="Calibri" pitchFamily="34" charset="-120"/>
              </a:rPr>
              <a:t>-79</a:t>
            </a:r>
            <a:endParaRPr lang="en-US" sz="1400" dirty="0"/>
          </a:p>
        </p:txBody>
      </p:sp>
      <p:sp>
        <p:nvSpPr>
          <p:cNvPr id="39" name="Shape 37"/>
          <p:cNvSpPr/>
          <p:nvPr/>
        </p:nvSpPr>
        <p:spPr>
          <a:xfrm>
            <a:off x="3611880" y="2916936"/>
            <a:ext cx="1316736" cy="512064"/>
          </a:xfrm>
          <a:prstGeom prst="rect">
            <a:avLst/>
          </a:prstGeom>
          <a:solidFill>
            <a:srgbClr val="F7F8F9"/>
          </a:solidFill>
          <a:ln w="19050">
            <a:solidFill>
              <a:srgbClr val="FFFFFF"/>
            </a:solidFill>
            <a:prstDash val="solid"/>
          </a:ln>
        </p:spPr>
        <p:txBody>
          <a:bodyPr/>
          <a:lstStyle/>
          <a:p>
            <a:endParaRPr lang="de-DE"/>
          </a:p>
        </p:txBody>
      </p:sp>
      <p:sp>
        <p:nvSpPr>
          <p:cNvPr id="40" name="Text 38"/>
          <p:cNvSpPr/>
          <p:nvPr/>
        </p:nvSpPr>
        <p:spPr>
          <a:xfrm>
            <a:off x="3611880" y="3026664"/>
            <a:ext cx="1316736" cy="329184"/>
          </a:xfrm>
          <a:prstGeom prst="rect">
            <a:avLst/>
          </a:prstGeom>
          <a:noFill/>
          <a:ln/>
        </p:spPr>
        <p:txBody>
          <a:bodyPr wrap="square" lIns="0" tIns="0" rIns="0" bIns="0" rtlCol="0" anchor="ctr"/>
          <a:lstStyle/>
          <a:p>
            <a:pPr marL="0" indent="0" algn="ctr">
              <a:buNone/>
            </a:pPr>
            <a:r>
              <a:rPr lang="en-US" sz="1400" dirty="0">
                <a:solidFill>
                  <a:srgbClr val="B3382C"/>
                </a:solidFill>
                <a:latin typeface="Calibri" pitchFamily="34" charset="0"/>
                <a:ea typeface="Calibri" pitchFamily="34" charset="-122"/>
                <a:cs typeface="Calibri" pitchFamily="34" charset="-120"/>
              </a:rPr>
              <a:t>-126</a:t>
            </a:r>
            <a:endParaRPr lang="en-US" sz="1400" dirty="0"/>
          </a:p>
        </p:txBody>
      </p:sp>
      <p:sp>
        <p:nvSpPr>
          <p:cNvPr id="41" name="Shape 39"/>
          <p:cNvSpPr/>
          <p:nvPr/>
        </p:nvSpPr>
        <p:spPr>
          <a:xfrm>
            <a:off x="4983480" y="2916936"/>
            <a:ext cx="1316736" cy="512064"/>
          </a:xfrm>
          <a:prstGeom prst="rect">
            <a:avLst/>
          </a:prstGeom>
          <a:solidFill>
            <a:srgbClr val="F7F8F9"/>
          </a:solidFill>
          <a:ln w="19050">
            <a:solidFill>
              <a:srgbClr val="FFFFFF"/>
            </a:solidFill>
            <a:prstDash val="solid"/>
          </a:ln>
        </p:spPr>
        <p:txBody>
          <a:bodyPr/>
          <a:lstStyle/>
          <a:p>
            <a:endParaRPr lang="de-DE"/>
          </a:p>
        </p:txBody>
      </p:sp>
      <p:sp>
        <p:nvSpPr>
          <p:cNvPr id="42" name="Text 40"/>
          <p:cNvSpPr/>
          <p:nvPr/>
        </p:nvSpPr>
        <p:spPr>
          <a:xfrm>
            <a:off x="4983480" y="3026664"/>
            <a:ext cx="1316736" cy="329184"/>
          </a:xfrm>
          <a:prstGeom prst="rect">
            <a:avLst/>
          </a:prstGeom>
          <a:noFill/>
          <a:ln/>
        </p:spPr>
        <p:txBody>
          <a:bodyPr wrap="square" lIns="0" tIns="0" rIns="0" bIns="0" rtlCol="0" anchor="ctr"/>
          <a:lstStyle/>
          <a:p>
            <a:pPr marL="0" indent="0" algn="ctr">
              <a:buNone/>
            </a:pPr>
            <a:r>
              <a:rPr lang="en-US" sz="1400" dirty="0">
                <a:solidFill>
                  <a:srgbClr val="B3382C"/>
                </a:solidFill>
                <a:latin typeface="Calibri" pitchFamily="34" charset="0"/>
                <a:ea typeface="Calibri" pitchFamily="34" charset="-122"/>
                <a:cs typeface="Calibri" pitchFamily="34" charset="-120"/>
              </a:rPr>
              <a:t>-81</a:t>
            </a:r>
            <a:endParaRPr lang="en-US" sz="1400" dirty="0"/>
          </a:p>
        </p:txBody>
      </p:sp>
      <p:sp>
        <p:nvSpPr>
          <p:cNvPr id="43" name="Shape 41"/>
          <p:cNvSpPr/>
          <p:nvPr/>
        </p:nvSpPr>
        <p:spPr>
          <a:xfrm>
            <a:off x="6355080" y="2916936"/>
            <a:ext cx="1316736" cy="512064"/>
          </a:xfrm>
          <a:prstGeom prst="rect">
            <a:avLst/>
          </a:prstGeom>
          <a:solidFill>
            <a:srgbClr val="F7F8F9"/>
          </a:solidFill>
          <a:ln w="19050">
            <a:solidFill>
              <a:srgbClr val="FFFFFF"/>
            </a:solidFill>
            <a:prstDash val="solid"/>
          </a:ln>
        </p:spPr>
        <p:txBody>
          <a:bodyPr/>
          <a:lstStyle/>
          <a:p>
            <a:endParaRPr lang="de-DE"/>
          </a:p>
        </p:txBody>
      </p:sp>
      <p:sp>
        <p:nvSpPr>
          <p:cNvPr id="44" name="Text 42"/>
          <p:cNvSpPr/>
          <p:nvPr/>
        </p:nvSpPr>
        <p:spPr>
          <a:xfrm>
            <a:off x="6355080" y="3026664"/>
            <a:ext cx="1316736" cy="329184"/>
          </a:xfrm>
          <a:prstGeom prst="rect">
            <a:avLst/>
          </a:prstGeom>
          <a:noFill/>
          <a:ln/>
        </p:spPr>
        <p:txBody>
          <a:bodyPr wrap="square" lIns="0" tIns="0" rIns="0" bIns="0" rtlCol="0" anchor="ctr"/>
          <a:lstStyle/>
          <a:p>
            <a:pPr marL="0" indent="0" algn="ctr">
              <a:buNone/>
            </a:pPr>
            <a:r>
              <a:rPr lang="en-US" sz="1400" dirty="0">
                <a:solidFill>
                  <a:srgbClr val="B3382C"/>
                </a:solidFill>
                <a:latin typeface="Calibri" pitchFamily="34" charset="0"/>
                <a:ea typeface="Calibri" pitchFamily="34" charset="-122"/>
                <a:cs typeface="Calibri" pitchFamily="34" charset="-120"/>
              </a:rPr>
              <a:t>-202</a:t>
            </a:r>
            <a:endParaRPr lang="en-US" sz="1400" dirty="0"/>
          </a:p>
        </p:txBody>
      </p:sp>
      <p:sp>
        <p:nvSpPr>
          <p:cNvPr id="45" name="Shape 43"/>
          <p:cNvSpPr/>
          <p:nvPr/>
        </p:nvSpPr>
        <p:spPr>
          <a:xfrm>
            <a:off x="7726680" y="2916936"/>
            <a:ext cx="1316736" cy="512064"/>
          </a:xfrm>
          <a:prstGeom prst="rect">
            <a:avLst/>
          </a:prstGeom>
          <a:solidFill>
            <a:srgbClr val="F7F8F9"/>
          </a:solidFill>
          <a:ln w="19050">
            <a:solidFill>
              <a:srgbClr val="FFFFFF"/>
            </a:solidFill>
            <a:prstDash val="solid"/>
          </a:ln>
        </p:spPr>
        <p:txBody>
          <a:bodyPr/>
          <a:lstStyle/>
          <a:p>
            <a:endParaRPr lang="de-DE"/>
          </a:p>
        </p:txBody>
      </p:sp>
      <p:sp>
        <p:nvSpPr>
          <p:cNvPr id="46" name="Text 44"/>
          <p:cNvSpPr/>
          <p:nvPr/>
        </p:nvSpPr>
        <p:spPr>
          <a:xfrm>
            <a:off x="7726680" y="3026664"/>
            <a:ext cx="1316736" cy="329184"/>
          </a:xfrm>
          <a:prstGeom prst="rect">
            <a:avLst/>
          </a:prstGeom>
          <a:noFill/>
          <a:ln/>
        </p:spPr>
        <p:txBody>
          <a:bodyPr wrap="square" lIns="0" tIns="0" rIns="0" bIns="0" rtlCol="0" anchor="ctr"/>
          <a:lstStyle/>
          <a:p>
            <a:pPr marL="0" indent="0" algn="ctr">
              <a:buNone/>
            </a:pPr>
            <a:r>
              <a:rPr lang="en-US" sz="1400" dirty="0">
                <a:solidFill>
                  <a:srgbClr val="B3382C"/>
                </a:solidFill>
                <a:latin typeface="Calibri" pitchFamily="34" charset="0"/>
                <a:ea typeface="Calibri" pitchFamily="34" charset="-122"/>
                <a:cs typeface="Calibri" pitchFamily="34" charset="-120"/>
              </a:rPr>
              <a:t>-47</a:t>
            </a:r>
            <a:endParaRPr lang="en-US" sz="1400" dirty="0"/>
          </a:p>
        </p:txBody>
      </p:sp>
      <p:sp>
        <p:nvSpPr>
          <p:cNvPr id="47" name="Shape 45"/>
          <p:cNvSpPr/>
          <p:nvPr/>
        </p:nvSpPr>
        <p:spPr>
          <a:xfrm>
            <a:off x="9098280" y="2916936"/>
            <a:ext cx="1316736" cy="512064"/>
          </a:xfrm>
          <a:prstGeom prst="rect">
            <a:avLst/>
          </a:prstGeom>
          <a:solidFill>
            <a:srgbClr val="F7F8F9"/>
          </a:solidFill>
          <a:ln w="19050">
            <a:solidFill>
              <a:srgbClr val="FFFFFF"/>
            </a:solidFill>
            <a:prstDash val="solid"/>
          </a:ln>
        </p:spPr>
        <p:txBody>
          <a:bodyPr/>
          <a:lstStyle/>
          <a:p>
            <a:endParaRPr lang="de-DE"/>
          </a:p>
        </p:txBody>
      </p:sp>
      <p:sp>
        <p:nvSpPr>
          <p:cNvPr id="48" name="Text 46"/>
          <p:cNvSpPr/>
          <p:nvPr/>
        </p:nvSpPr>
        <p:spPr>
          <a:xfrm>
            <a:off x="9098280" y="3026664"/>
            <a:ext cx="1316736" cy="329184"/>
          </a:xfrm>
          <a:prstGeom prst="rect">
            <a:avLst/>
          </a:prstGeom>
          <a:noFill/>
          <a:ln/>
        </p:spPr>
        <p:txBody>
          <a:bodyPr wrap="square" lIns="0" tIns="0" rIns="0" bIns="0" rtlCol="0" anchor="ctr"/>
          <a:lstStyle/>
          <a:p>
            <a:pPr marL="0" indent="0" algn="ctr">
              <a:buNone/>
            </a:pPr>
            <a:r>
              <a:rPr lang="en-US" sz="1400" dirty="0">
                <a:solidFill>
                  <a:srgbClr val="B3382C"/>
                </a:solidFill>
                <a:latin typeface="Calibri" pitchFamily="34" charset="0"/>
                <a:ea typeface="Calibri" pitchFamily="34" charset="-122"/>
                <a:cs typeface="Calibri" pitchFamily="34" charset="-120"/>
              </a:rPr>
              <a:t>-199</a:t>
            </a:r>
            <a:endParaRPr lang="en-US" sz="1400" dirty="0"/>
          </a:p>
        </p:txBody>
      </p:sp>
      <p:sp>
        <p:nvSpPr>
          <p:cNvPr id="49" name="Text 47"/>
          <p:cNvSpPr/>
          <p:nvPr/>
        </p:nvSpPr>
        <p:spPr>
          <a:xfrm>
            <a:off x="640080" y="3483864"/>
            <a:ext cx="1508760" cy="566928"/>
          </a:xfrm>
          <a:prstGeom prst="rect">
            <a:avLst/>
          </a:prstGeom>
          <a:noFill/>
          <a:ln/>
        </p:spPr>
        <p:txBody>
          <a:bodyPr wrap="square" lIns="0" tIns="0" rIns="0" bIns="0" rtlCol="0" anchor="ctr"/>
          <a:lstStyle/>
          <a:p>
            <a:pPr marL="0" indent="0" algn="r">
              <a:buNone/>
            </a:pPr>
            <a:r>
              <a:rPr lang="en-US" sz="1300" b="1" dirty="0">
                <a:solidFill>
                  <a:srgbClr val="23282F"/>
                </a:solidFill>
                <a:latin typeface="Calibri" pitchFamily="34" charset="0"/>
                <a:ea typeface="Calibri" pitchFamily="34" charset="-122"/>
                <a:cs typeface="Calibri" pitchFamily="34" charset="-120"/>
              </a:rPr>
              <a:t>Micro-Seg.</a:t>
            </a:r>
            <a:endParaRPr lang="en-US" sz="1300" dirty="0"/>
          </a:p>
        </p:txBody>
      </p:sp>
      <p:sp>
        <p:nvSpPr>
          <p:cNvPr id="50" name="Shape 48"/>
          <p:cNvSpPr/>
          <p:nvPr/>
        </p:nvSpPr>
        <p:spPr>
          <a:xfrm>
            <a:off x="2240280" y="3483864"/>
            <a:ext cx="1316736" cy="512064"/>
          </a:xfrm>
          <a:prstGeom prst="rect">
            <a:avLst/>
          </a:prstGeom>
          <a:solidFill>
            <a:srgbClr val="F7F8F9"/>
          </a:solidFill>
          <a:ln w="19050">
            <a:solidFill>
              <a:srgbClr val="FFFFFF"/>
            </a:solidFill>
            <a:prstDash val="solid"/>
          </a:ln>
        </p:spPr>
        <p:txBody>
          <a:bodyPr/>
          <a:lstStyle/>
          <a:p>
            <a:endParaRPr lang="de-DE"/>
          </a:p>
        </p:txBody>
      </p:sp>
      <p:sp>
        <p:nvSpPr>
          <p:cNvPr id="51" name="Text 49"/>
          <p:cNvSpPr/>
          <p:nvPr/>
        </p:nvSpPr>
        <p:spPr>
          <a:xfrm>
            <a:off x="2240280" y="3593592"/>
            <a:ext cx="1316736" cy="329184"/>
          </a:xfrm>
          <a:prstGeom prst="rect">
            <a:avLst/>
          </a:prstGeom>
          <a:noFill/>
          <a:ln/>
        </p:spPr>
        <p:txBody>
          <a:bodyPr wrap="square" lIns="0" tIns="0" rIns="0" bIns="0" rtlCol="0" anchor="ctr"/>
          <a:lstStyle/>
          <a:p>
            <a:pPr marL="0" indent="0" algn="ctr">
              <a:buNone/>
            </a:pPr>
            <a:r>
              <a:rPr lang="en-US" sz="1400" dirty="0">
                <a:solidFill>
                  <a:srgbClr val="B3382C"/>
                </a:solidFill>
                <a:latin typeface="Calibri" pitchFamily="34" charset="0"/>
                <a:ea typeface="Calibri" pitchFamily="34" charset="-122"/>
                <a:cs typeface="Calibri" pitchFamily="34" charset="-120"/>
              </a:rPr>
              <a:t>-44</a:t>
            </a:r>
            <a:endParaRPr lang="en-US" sz="1400" dirty="0"/>
          </a:p>
        </p:txBody>
      </p:sp>
      <p:sp>
        <p:nvSpPr>
          <p:cNvPr id="52" name="Shape 50"/>
          <p:cNvSpPr/>
          <p:nvPr/>
        </p:nvSpPr>
        <p:spPr>
          <a:xfrm>
            <a:off x="3611880" y="3483864"/>
            <a:ext cx="1316736" cy="512064"/>
          </a:xfrm>
          <a:prstGeom prst="rect">
            <a:avLst/>
          </a:prstGeom>
          <a:solidFill>
            <a:srgbClr val="F7F8F9"/>
          </a:solidFill>
          <a:ln w="19050">
            <a:solidFill>
              <a:srgbClr val="FFFFFF"/>
            </a:solidFill>
            <a:prstDash val="solid"/>
          </a:ln>
        </p:spPr>
        <p:txBody>
          <a:bodyPr/>
          <a:lstStyle/>
          <a:p>
            <a:endParaRPr lang="de-DE"/>
          </a:p>
        </p:txBody>
      </p:sp>
      <p:sp>
        <p:nvSpPr>
          <p:cNvPr id="53" name="Text 51"/>
          <p:cNvSpPr/>
          <p:nvPr/>
        </p:nvSpPr>
        <p:spPr>
          <a:xfrm>
            <a:off x="3611880" y="3593592"/>
            <a:ext cx="1316736" cy="329184"/>
          </a:xfrm>
          <a:prstGeom prst="rect">
            <a:avLst/>
          </a:prstGeom>
          <a:noFill/>
          <a:ln/>
        </p:spPr>
        <p:txBody>
          <a:bodyPr wrap="square" lIns="0" tIns="0" rIns="0" bIns="0" rtlCol="0" anchor="ctr"/>
          <a:lstStyle/>
          <a:p>
            <a:pPr marL="0" indent="0" algn="ctr">
              <a:buNone/>
            </a:pPr>
            <a:r>
              <a:rPr lang="en-US" sz="1400" dirty="0">
                <a:solidFill>
                  <a:srgbClr val="B3382C"/>
                </a:solidFill>
                <a:latin typeface="Calibri" pitchFamily="34" charset="0"/>
                <a:ea typeface="Calibri" pitchFamily="34" charset="-122"/>
                <a:cs typeface="Calibri" pitchFamily="34" charset="-120"/>
              </a:rPr>
              <a:t>-128</a:t>
            </a:r>
            <a:endParaRPr lang="en-US" sz="1400" dirty="0"/>
          </a:p>
        </p:txBody>
      </p:sp>
      <p:sp>
        <p:nvSpPr>
          <p:cNvPr id="54" name="Shape 52"/>
          <p:cNvSpPr/>
          <p:nvPr/>
        </p:nvSpPr>
        <p:spPr>
          <a:xfrm>
            <a:off x="4983480" y="3483864"/>
            <a:ext cx="1316736" cy="512064"/>
          </a:xfrm>
          <a:prstGeom prst="rect">
            <a:avLst/>
          </a:prstGeom>
          <a:solidFill>
            <a:srgbClr val="F7F8F9"/>
          </a:solidFill>
          <a:ln w="19050">
            <a:solidFill>
              <a:srgbClr val="FFFFFF"/>
            </a:solidFill>
            <a:prstDash val="solid"/>
          </a:ln>
        </p:spPr>
        <p:txBody>
          <a:bodyPr/>
          <a:lstStyle/>
          <a:p>
            <a:endParaRPr lang="de-DE"/>
          </a:p>
        </p:txBody>
      </p:sp>
      <p:sp>
        <p:nvSpPr>
          <p:cNvPr id="55" name="Text 53"/>
          <p:cNvSpPr/>
          <p:nvPr/>
        </p:nvSpPr>
        <p:spPr>
          <a:xfrm>
            <a:off x="4983480" y="3593592"/>
            <a:ext cx="1316736" cy="329184"/>
          </a:xfrm>
          <a:prstGeom prst="rect">
            <a:avLst/>
          </a:prstGeom>
          <a:noFill/>
          <a:ln/>
        </p:spPr>
        <p:txBody>
          <a:bodyPr wrap="square" lIns="0" tIns="0" rIns="0" bIns="0" rtlCol="0" anchor="ctr"/>
          <a:lstStyle/>
          <a:p>
            <a:pPr marL="0" indent="0" algn="ctr">
              <a:buNone/>
            </a:pPr>
            <a:r>
              <a:rPr lang="en-US" sz="1400" dirty="0">
                <a:solidFill>
                  <a:srgbClr val="B3382C"/>
                </a:solidFill>
                <a:latin typeface="Calibri" pitchFamily="34" charset="0"/>
                <a:ea typeface="Calibri" pitchFamily="34" charset="-122"/>
                <a:cs typeface="Calibri" pitchFamily="34" charset="-120"/>
              </a:rPr>
              <a:t>-93</a:t>
            </a:r>
            <a:endParaRPr lang="en-US" sz="1400" dirty="0"/>
          </a:p>
        </p:txBody>
      </p:sp>
      <p:sp>
        <p:nvSpPr>
          <p:cNvPr id="56" name="Shape 54"/>
          <p:cNvSpPr/>
          <p:nvPr/>
        </p:nvSpPr>
        <p:spPr>
          <a:xfrm>
            <a:off x="6355080" y="3483864"/>
            <a:ext cx="1316736" cy="512064"/>
          </a:xfrm>
          <a:prstGeom prst="rect">
            <a:avLst/>
          </a:prstGeom>
          <a:solidFill>
            <a:srgbClr val="F7F8F9"/>
          </a:solidFill>
          <a:ln w="19050">
            <a:solidFill>
              <a:srgbClr val="FFFFFF"/>
            </a:solidFill>
            <a:prstDash val="solid"/>
          </a:ln>
        </p:spPr>
        <p:txBody>
          <a:bodyPr/>
          <a:lstStyle/>
          <a:p>
            <a:endParaRPr lang="de-DE"/>
          </a:p>
        </p:txBody>
      </p:sp>
      <p:sp>
        <p:nvSpPr>
          <p:cNvPr id="57" name="Text 55"/>
          <p:cNvSpPr/>
          <p:nvPr/>
        </p:nvSpPr>
        <p:spPr>
          <a:xfrm>
            <a:off x="6355080" y="3593592"/>
            <a:ext cx="1316736" cy="329184"/>
          </a:xfrm>
          <a:prstGeom prst="rect">
            <a:avLst/>
          </a:prstGeom>
          <a:noFill/>
          <a:ln/>
        </p:spPr>
        <p:txBody>
          <a:bodyPr wrap="square" lIns="0" tIns="0" rIns="0" bIns="0" rtlCol="0" anchor="ctr"/>
          <a:lstStyle/>
          <a:p>
            <a:pPr marL="0" indent="0" algn="ctr">
              <a:buNone/>
            </a:pPr>
            <a:r>
              <a:rPr lang="en-US" sz="1400" dirty="0">
                <a:solidFill>
                  <a:srgbClr val="B3382C"/>
                </a:solidFill>
                <a:latin typeface="Calibri" pitchFamily="34" charset="0"/>
                <a:ea typeface="Calibri" pitchFamily="34" charset="-122"/>
                <a:cs typeface="Calibri" pitchFamily="34" charset="-120"/>
              </a:rPr>
              <a:t>-81</a:t>
            </a:r>
            <a:endParaRPr lang="en-US" sz="1400" dirty="0"/>
          </a:p>
        </p:txBody>
      </p:sp>
      <p:sp>
        <p:nvSpPr>
          <p:cNvPr id="58" name="Shape 56"/>
          <p:cNvSpPr/>
          <p:nvPr/>
        </p:nvSpPr>
        <p:spPr>
          <a:xfrm>
            <a:off x="7726680" y="3483864"/>
            <a:ext cx="1316736" cy="512064"/>
          </a:xfrm>
          <a:prstGeom prst="rect">
            <a:avLst/>
          </a:prstGeom>
          <a:solidFill>
            <a:srgbClr val="F7F8F9"/>
          </a:solidFill>
          <a:ln w="19050">
            <a:solidFill>
              <a:srgbClr val="FFFFFF"/>
            </a:solidFill>
            <a:prstDash val="solid"/>
          </a:ln>
        </p:spPr>
        <p:txBody>
          <a:bodyPr/>
          <a:lstStyle/>
          <a:p>
            <a:endParaRPr lang="de-DE"/>
          </a:p>
        </p:txBody>
      </p:sp>
      <p:sp>
        <p:nvSpPr>
          <p:cNvPr id="59" name="Text 57"/>
          <p:cNvSpPr/>
          <p:nvPr/>
        </p:nvSpPr>
        <p:spPr>
          <a:xfrm>
            <a:off x="7726680" y="3593592"/>
            <a:ext cx="1316736" cy="329184"/>
          </a:xfrm>
          <a:prstGeom prst="rect">
            <a:avLst/>
          </a:prstGeom>
          <a:noFill/>
          <a:ln/>
        </p:spPr>
        <p:txBody>
          <a:bodyPr wrap="square" lIns="0" tIns="0" rIns="0" bIns="0" rtlCol="0" anchor="ctr"/>
          <a:lstStyle/>
          <a:p>
            <a:pPr marL="0" indent="0" algn="ctr">
              <a:buNone/>
            </a:pPr>
            <a:r>
              <a:rPr lang="en-US" sz="1400" dirty="0">
                <a:solidFill>
                  <a:srgbClr val="B3382C"/>
                </a:solidFill>
                <a:latin typeface="Calibri" pitchFamily="34" charset="0"/>
                <a:ea typeface="Calibri" pitchFamily="34" charset="-122"/>
                <a:cs typeface="Calibri" pitchFamily="34" charset="-120"/>
              </a:rPr>
              <a:t>-216</a:t>
            </a:r>
            <a:endParaRPr lang="en-US" sz="1400" dirty="0"/>
          </a:p>
        </p:txBody>
      </p:sp>
      <p:sp>
        <p:nvSpPr>
          <p:cNvPr id="60" name="Shape 58"/>
          <p:cNvSpPr/>
          <p:nvPr/>
        </p:nvSpPr>
        <p:spPr>
          <a:xfrm>
            <a:off x="9098280" y="3483864"/>
            <a:ext cx="1316736" cy="512064"/>
          </a:xfrm>
          <a:prstGeom prst="rect">
            <a:avLst/>
          </a:prstGeom>
          <a:solidFill>
            <a:srgbClr val="F7F8F9"/>
          </a:solidFill>
          <a:ln w="19050">
            <a:solidFill>
              <a:srgbClr val="FFFFFF"/>
            </a:solidFill>
            <a:prstDash val="solid"/>
          </a:ln>
        </p:spPr>
        <p:txBody>
          <a:bodyPr/>
          <a:lstStyle/>
          <a:p>
            <a:endParaRPr lang="de-DE"/>
          </a:p>
        </p:txBody>
      </p:sp>
      <p:sp>
        <p:nvSpPr>
          <p:cNvPr id="61" name="Text 59"/>
          <p:cNvSpPr/>
          <p:nvPr/>
        </p:nvSpPr>
        <p:spPr>
          <a:xfrm>
            <a:off x="9098280" y="3593592"/>
            <a:ext cx="1316736" cy="329184"/>
          </a:xfrm>
          <a:prstGeom prst="rect">
            <a:avLst/>
          </a:prstGeom>
          <a:noFill/>
          <a:ln/>
        </p:spPr>
        <p:txBody>
          <a:bodyPr wrap="square" lIns="0" tIns="0" rIns="0" bIns="0" rtlCol="0" anchor="ctr"/>
          <a:lstStyle/>
          <a:p>
            <a:pPr marL="0" indent="0" algn="ctr">
              <a:buNone/>
            </a:pPr>
            <a:r>
              <a:rPr lang="en-US" sz="1400" dirty="0">
                <a:solidFill>
                  <a:srgbClr val="B3382C"/>
                </a:solidFill>
                <a:latin typeface="Calibri" pitchFamily="34" charset="0"/>
                <a:ea typeface="Calibri" pitchFamily="34" charset="-122"/>
                <a:cs typeface="Calibri" pitchFamily="34" charset="-120"/>
              </a:rPr>
              <a:t>-185</a:t>
            </a:r>
            <a:endParaRPr lang="en-US" sz="1400" dirty="0"/>
          </a:p>
        </p:txBody>
      </p:sp>
      <p:sp>
        <p:nvSpPr>
          <p:cNvPr id="62" name="Shape 60"/>
          <p:cNvSpPr/>
          <p:nvPr/>
        </p:nvSpPr>
        <p:spPr>
          <a:xfrm>
            <a:off x="640080" y="4343400"/>
            <a:ext cx="10881360" cy="1371600"/>
          </a:xfrm>
          <a:prstGeom prst="roundRect">
            <a:avLst>
              <a:gd name="adj" fmla="val 6667"/>
            </a:avLst>
          </a:prstGeom>
          <a:solidFill>
            <a:srgbClr val="FBF3E4"/>
          </a:solidFill>
          <a:ln w="12700">
            <a:solidFill>
              <a:srgbClr val="EBD6AB"/>
            </a:solidFill>
            <a:prstDash val="solid"/>
          </a:ln>
        </p:spPr>
        <p:txBody>
          <a:bodyPr/>
          <a:lstStyle/>
          <a:p>
            <a:endParaRPr lang="de-DE"/>
          </a:p>
        </p:txBody>
      </p:sp>
      <p:sp>
        <p:nvSpPr>
          <p:cNvPr id="63" name="Text 61"/>
          <p:cNvSpPr/>
          <p:nvPr/>
        </p:nvSpPr>
        <p:spPr>
          <a:xfrm>
            <a:off x="960120" y="4526280"/>
            <a:ext cx="10241280" cy="320040"/>
          </a:xfrm>
          <a:prstGeom prst="rect">
            <a:avLst/>
          </a:prstGeom>
          <a:noFill/>
          <a:ln/>
        </p:spPr>
        <p:txBody>
          <a:bodyPr wrap="square" lIns="0" tIns="0" rIns="0" bIns="0" rtlCol="0" anchor="ctr"/>
          <a:lstStyle/>
          <a:p>
            <a:pPr marL="0" indent="0">
              <a:buNone/>
            </a:pPr>
            <a:r>
              <a:rPr lang="en-US" sz="1500" b="1" dirty="0">
                <a:solidFill>
                  <a:srgbClr val="8A6414"/>
                </a:solidFill>
                <a:latin typeface="Calibri" pitchFamily="34" charset="0"/>
                <a:ea typeface="Calibri" pitchFamily="34" charset="-122"/>
                <a:cs typeface="Calibri" pitchFamily="34" charset="-120"/>
              </a:rPr>
              <a:t>Diese Zahlen sind zwischen Topologien nicht vergleichbar</a:t>
            </a:r>
            <a:endParaRPr lang="en-US" sz="1500" dirty="0"/>
          </a:p>
        </p:txBody>
      </p:sp>
      <p:sp>
        <p:nvSpPr>
          <p:cNvPr id="64" name="Text 62"/>
          <p:cNvSpPr/>
          <p:nvPr/>
        </p:nvSpPr>
        <p:spPr>
          <a:xfrm>
            <a:off x="960120" y="4864608"/>
            <a:ext cx="10241280" cy="731520"/>
          </a:xfrm>
          <a:prstGeom prst="rect">
            <a:avLst/>
          </a:prstGeom>
          <a:noFill/>
          <a:ln/>
        </p:spPr>
        <p:txBody>
          <a:bodyPr wrap="square" lIns="0" tIns="0" rIns="0" bIns="0" rtlCol="0" anchor="ctr"/>
          <a:lstStyle/>
          <a:p>
            <a:pPr marL="0" indent="0">
              <a:buNone/>
            </a:pPr>
            <a:r>
              <a:rPr lang="en-US" sz="1200" dirty="0">
                <a:solidFill>
                  <a:srgbClr val="23282F"/>
                </a:solidFill>
                <a:latin typeface="Calibri" pitchFamily="34" charset="0"/>
                <a:ea typeface="Calibri" pitchFamily="34" charset="-122"/>
                <a:cs typeface="Calibri" pitchFamily="34" charset="-120"/>
              </a:rPr>
              <a:t>Der Verteidiger-Reward ist an den des Angreifers gekoppelt, und wie viel dort überhaupt zu holen ist, unterscheidet sich je Topologie erheblich. Ein Wert nahe null kann heißen, dass gut verteidigt wurde, oder dass dort ohnehin wenig zu erreichen war. Vergleichbar wird es erst durch die Evaluation gegen ein ungeschütztes Netz.</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40080" y="384048"/>
            <a:ext cx="10881360" cy="566928"/>
          </a:xfrm>
          <a:prstGeom prst="rect">
            <a:avLst/>
          </a:prstGeom>
          <a:noFill/>
          <a:ln/>
        </p:spPr>
        <p:txBody>
          <a:bodyPr wrap="square" lIns="0" tIns="0" rIns="0" bIns="0" rtlCol="0" anchor="ctr"/>
          <a:lstStyle/>
          <a:p>
            <a:pPr marL="0" indent="0">
              <a:buNone/>
            </a:pPr>
            <a:r>
              <a:rPr lang="en-US" sz="3400" b="1" dirty="0">
                <a:solidFill>
                  <a:srgbClr val="23282F"/>
                </a:solidFill>
                <a:latin typeface="Cambria" pitchFamily="34" charset="0"/>
                <a:ea typeface="Cambria" pitchFamily="34" charset="-122"/>
                <a:cs typeface="Cambria" pitchFamily="34" charset="-120"/>
              </a:rPr>
              <a:t>Verteidiger-Reward: Beginn und Ende des Trainings</a:t>
            </a:r>
            <a:endParaRPr lang="en-US" sz="3400" dirty="0"/>
          </a:p>
        </p:txBody>
      </p:sp>
      <p:sp>
        <p:nvSpPr>
          <p:cNvPr id="3" name="Text 1"/>
          <p:cNvSpPr/>
          <p:nvPr/>
        </p:nvSpPr>
        <p:spPr>
          <a:xfrm>
            <a:off x="640080" y="969264"/>
            <a:ext cx="10881360" cy="493776"/>
          </a:xfrm>
          <a:prstGeom prst="rect">
            <a:avLst/>
          </a:prstGeom>
          <a:noFill/>
          <a:ln/>
        </p:spPr>
        <p:txBody>
          <a:bodyPr wrap="square" lIns="0" tIns="0" rIns="0" bIns="0" rtlCol="0" anchor="ctr"/>
          <a:lstStyle/>
          <a:p>
            <a:pPr marL="0" indent="0">
              <a:buNone/>
            </a:pPr>
            <a:r>
              <a:rPr lang="en-US" sz="1400" dirty="0">
                <a:solidFill>
                  <a:srgbClr val="6E7681"/>
                </a:solidFill>
                <a:latin typeface="Calibri" pitchFamily="34" charset="0"/>
                <a:ea typeface="Calibri" pitchFamily="34" charset="-122"/>
                <a:cs typeface="Calibri" pitchFamily="34" charset="-120"/>
              </a:rPr>
              <a:t>Mittel der ersten 10 gegen die letzten 20 Episoden — konvergierte Seeds fortgeschrieben, am Schrittlimit beendete fallen heraus</a:t>
            </a:r>
            <a:endParaRPr lang="en-US" sz="1400" dirty="0"/>
          </a:p>
        </p:txBody>
      </p:sp>
      <p:sp>
        <p:nvSpPr>
          <p:cNvPr id="4" name="Text 2"/>
          <p:cNvSpPr/>
          <p:nvPr/>
        </p:nvSpPr>
        <p:spPr>
          <a:xfrm>
            <a:off x="2240280" y="1554480"/>
            <a:ext cx="1463040" cy="310896"/>
          </a:xfrm>
          <a:prstGeom prst="rect">
            <a:avLst/>
          </a:prstGeom>
          <a:noFill/>
          <a:ln/>
        </p:spPr>
        <p:txBody>
          <a:bodyPr wrap="square" lIns="0" tIns="0" rIns="0" bIns="0" rtlCol="0" anchor="ctr"/>
          <a:lstStyle/>
          <a:p>
            <a:pPr marL="0" indent="0" algn="ctr">
              <a:buNone/>
            </a:pPr>
            <a:r>
              <a:rPr lang="en-US" sz="1200" b="1" dirty="0">
                <a:solidFill>
                  <a:srgbClr val="6E7681"/>
                </a:solidFill>
                <a:latin typeface="Calibri" pitchFamily="34" charset="0"/>
                <a:ea typeface="Calibri" pitchFamily="34" charset="-122"/>
                <a:cs typeface="Calibri" pitchFamily="34" charset="-120"/>
              </a:rPr>
              <a:t>Chain</a:t>
            </a:r>
            <a:endParaRPr lang="en-US" sz="1200" dirty="0"/>
          </a:p>
        </p:txBody>
      </p:sp>
      <p:sp>
        <p:nvSpPr>
          <p:cNvPr id="5" name="Text 3"/>
          <p:cNvSpPr/>
          <p:nvPr/>
        </p:nvSpPr>
        <p:spPr>
          <a:xfrm>
            <a:off x="3703320" y="1554480"/>
            <a:ext cx="1463040" cy="310896"/>
          </a:xfrm>
          <a:prstGeom prst="rect">
            <a:avLst/>
          </a:prstGeom>
          <a:noFill/>
          <a:ln/>
        </p:spPr>
        <p:txBody>
          <a:bodyPr wrap="square" lIns="0" tIns="0" rIns="0" bIns="0" rtlCol="0" anchor="ctr"/>
          <a:lstStyle/>
          <a:p>
            <a:pPr marL="0" indent="0" algn="ctr">
              <a:buNone/>
            </a:pPr>
            <a:r>
              <a:rPr lang="en-US" sz="1200" b="1" dirty="0">
                <a:solidFill>
                  <a:srgbClr val="6E7681"/>
                </a:solidFill>
                <a:latin typeface="Calibri" pitchFamily="34" charset="0"/>
                <a:ea typeface="Calibri" pitchFamily="34" charset="-122"/>
                <a:cs typeface="Calibri" pitchFamily="34" charset="-120"/>
              </a:rPr>
              <a:t>Flat</a:t>
            </a:r>
            <a:endParaRPr lang="en-US" sz="1200" dirty="0"/>
          </a:p>
        </p:txBody>
      </p:sp>
      <p:sp>
        <p:nvSpPr>
          <p:cNvPr id="6" name="Text 4"/>
          <p:cNvSpPr/>
          <p:nvPr/>
        </p:nvSpPr>
        <p:spPr>
          <a:xfrm>
            <a:off x="5166360" y="1554480"/>
            <a:ext cx="1463040" cy="310896"/>
          </a:xfrm>
          <a:prstGeom prst="rect">
            <a:avLst/>
          </a:prstGeom>
          <a:noFill/>
          <a:ln/>
        </p:spPr>
        <p:txBody>
          <a:bodyPr wrap="square" lIns="0" tIns="0" rIns="0" bIns="0" rtlCol="0" anchor="ctr"/>
          <a:lstStyle/>
          <a:p>
            <a:pPr marL="0" indent="0" algn="ctr">
              <a:buNone/>
            </a:pPr>
            <a:r>
              <a:rPr lang="en-US" sz="1200" b="1" dirty="0">
                <a:solidFill>
                  <a:srgbClr val="6E7681"/>
                </a:solidFill>
                <a:latin typeface="Calibri" pitchFamily="34" charset="0"/>
                <a:ea typeface="Calibri" pitchFamily="34" charset="-122"/>
                <a:cs typeface="Calibri" pitchFamily="34" charset="-120"/>
              </a:rPr>
              <a:t>Hub &amp; Spoke</a:t>
            </a:r>
            <a:endParaRPr lang="en-US" sz="1200" dirty="0"/>
          </a:p>
        </p:txBody>
      </p:sp>
      <p:sp>
        <p:nvSpPr>
          <p:cNvPr id="7" name="Text 5"/>
          <p:cNvSpPr/>
          <p:nvPr/>
        </p:nvSpPr>
        <p:spPr>
          <a:xfrm>
            <a:off x="6629400" y="1554480"/>
            <a:ext cx="1463040" cy="310896"/>
          </a:xfrm>
          <a:prstGeom prst="rect">
            <a:avLst/>
          </a:prstGeom>
          <a:noFill/>
          <a:ln/>
        </p:spPr>
        <p:txBody>
          <a:bodyPr wrap="square" lIns="0" tIns="0" rIns="0" bIns="0" rtlCol="0" anchor="ctr"/>
          <a:lstStyle/>
          <a:p>
            <a:pPr marL="0" indent="0" algn="ctr">
              <a:buNone/>
            </a:pPr>
            <a:r>
              <a:rPr lang="en-US" sz="1200" b="1" dirty="0">
                <a:solidFill>
                  <a:srgbClr val="6E7681"/>
                </a:solidFill>
                <a:latin typeface="Calibri" pitchFamily="34" charset="0"/>
                <a:ea typeface="Calibri" pitchFamily="34" charset="-122"/>
                <a:cs typeface="Calibri" pitchFamily="34" charset="-120"/>
              </a:rPr>
              <a:t>DMZ</a:t>
            </a:r>
            <a:endParaRPr lang="en-US" sz="1200" dirty="0"/>
          </a:p>
        </p:txBody>
      </p:sp>
      <p:sp>
        <p:nvSpPr>
          <p:cNvPr id="8" name="Text 6"/>
          <p:cNvSpPr/>
          <p:nvPr/>
        </p:nvSpPr>
        <p:spPr>
          <a:xfrm>
            <a:off x="8092440" y="1554480"/>
            <a:ext cx="1463040" cy="310896"/>
          </a:xfrm>
          <a:prstGeom prst="rect">
            <a:avLst/>
          </a:prstGeom>
          <a:noFill/>
          <a:ln/>
        </p:spPr>
        <p:txBody>
          <a:bodyPr wrap="square" lIns="0" tIns="0" rIns="0" bIns="0" rtlCol="0" anchor="ctr"/>
          <a:lstStyle/>
          <a:p>
            <a:pPr marL="0" indent="0" algn="ctr">
              <a:buNone/>
            </a:pPr>
            <a:r>
              <a:rPr lang="en-US" sz="1200" b="1" dirty="0">
                <a:solidFill>
                  <a:srgbClr val="6E7681"/>
                </a:solidFill>
                <a:latin typeface="Calibri" pitchFamily="34" charset="0"/>
                <a:ea typeface="Calibri" pitchFamily="34" charset="-122"/>
                <a:cs typeface="Calibri" pitchFamily="34" charset="-120"/>
              </a:rPr>
              <a:t>Micro-Seg.</a:t>
            </a:r>
            <a:endParaRPr lang="en-US" sz="1200" dirty="0"/>
          </a:p>
        </p:txBody>
      </p:sp>
      <p:sp>
        <p:nvSpPr>
          <p:cNvPr id="9" name="Text 7"/>
          <p:cNvSpPr/>
          <p:nvPr/>
        </p:nvSpPr>
        <p:spPr>
          <a:xfrm>
            <a:off x="9555480" y="1554480"/>
            <a:ext cx="1463040" cy="310896"/>
          </a:xfrm>
          <a:prstGeom prst="rect">
            <a:avLst/>
          </a:prstGeom>
          <a:noFill/>
          <a:ln/>
        </p:spPr>
        <p:txBody>
          <a:bodyPr wrap="square" lIns="0" tIns="0" rIns="0" bIns="0" rtlCol="0" anchor="ctr"/>
          <a:lstStyle/>
          <a:p>
            <a:pPr marL="0" indent="0" algn="ctr">
              <a:buNone/>
            </a:pPr>
            <a:r>
              <a:rPr lang="en-US" sz="1200" b="1" dirty="0">
                <a:solidFill>
                  <a:srgbClr val="6E7681"/>
                </a:solidFill>
                <a:latin typeface="Calibri" pitchFamily="34" charset="0"/>
                <a:ea typeface="Calibri" pitchFamily="34" charset="-122"/>
                <a:cs typeface="Calibri" pitchFamily="34" charset="-120"/>
              </a:rPr>
              <a:t>Super</a:t>
            </a:r>
            <a:endParaRPr lang="en-US" sz="1200" dirty="0"/>
          </a:p>
        </p:txBody>
      </p:sp>
      <p:sp>
        <p:nvSpPr>
          <p:cNvPr id="10" name="Text 8"/>
          <p:cNvSpPr/>
          <p:nvPr/>
        </p:nvSpPr>
        <p:spPr>
          <a:xfrm>
            <a:off x="640080" y="1920240"/>
            <a:ext cx="1508760" cy="713232"/>
          </a:xfrm>
          <a:prstGeom prst="rect">
            <a:avLst/>
          </a:prstGeom>
          <a:noFill/>
          <a:ln/>
        </p:spPr>
        <p:txBody>
          <a:bodyPr wrap="square" lIns="0" tIns="0" rIns="0" bIns="0" rtlCol="0" anchor="ctr"/>
          <a:lstStyle/>
          <a:p>
            <a:pPr marL="0" indent="0" algn="r">
              <a:buNone/>
            </a:pPr>
            <a:r>
              <a:rPr lang="en-US" sz="1300" b="1" dirty="0">
                <a:solidFill>
                  <a:srgbClr val="23282F"/>
                </a:solidFill>
                <a:latin typeface="Calibri" pitchFamily="34" charset="0"/>
                <a:ea typeface="Calibri" pitchFamily="34" charset="-122"/>
                <a:cs typeface="Calibri" pitchFamily="34" charset="-120"/>
              </a:rPr>
              <a:t>Flat</a:t>
            </a:r>
            <a:endParaRPr lang="en-US" sz="1300" dirty="0"/>
          </a:p>
        </p:txBody>
      </p:sp>
      <p:sp>
        <p:nvSpPr>
          <p:cNvPr id="11" name="Shape 9"/>
          <p:cNvSpPr/>
          <p:nvPr/>
        </p:nvSpPr>
        <p:spPr>
          <a:xfrm>
            <a:off x="2240280" y="1920240"/>
            <a:ext cx="1408176" cy="658368"/>
          </a:xfrm>
          <a:prstGeom prst="rect">
            <a:avLst/>
          </a:prstGeom>
          <a:solidFill>
            <a:srgbClr val="E9F0F3"/>
          </a:solidFill>
          <a:ln w="19050">
            <a:solidFill>
              <a:srgbClr val="FFFFFF"/>
            </a:solidFill>
            <a:prstDash val="solid"/>
          </a:ln>
        </p:spPr>
        <p:txBody>
          <a:bodyPr/>
          <a:lstStyle/>
          <a:p>
            <a:endParaRPr lang="de-DE"/>
          </a:p>
        </p:txBody>
      </p:sp>
      <p:sp>
        <p:nvSpPr>
          <p:cNvPr id="12" name="Text 10"/>
          <p:cNvSpPr/>
          <p:nvPr/>
        </p:nvSpPr>
        <p:spPr>
          <a:xfrm>
            <a:off x="2240280" y="2011680"/>
            <a:ext cx="1408176" cy="310896"/>
          </a:xfrm>
          <a:prstGeom prst="rect">
            <a:avLst/>
          </a:prstGeom>
          <a:noFill/>
          <a:ln/>
        </p:spPr>
        <p:txBody>
          <a:bodyPr wrap="square" lIns="0" tIns="0" rIns="0" bIns="0" rtlCol="0" anchor="ctr"/>
          <a:lstStyle/>
          <a:p>
            <a:pPr marL="0" indent="0" algn="ctr">
              <a:buNone/>
            </a:pPr>
            <a:r>
              <a:rPr lang="en-US" sz="1200" dirty="0">
                <a:solidFill>
                  <a:srgbClr val="6E7681"/>
                </a:solidFill>
                <a:latin typeface="Calibri" pitchFamily="34" charset="0"/>
                <a:ea typeface="Calibri" pitchFamily="34" charset="-122"/>
                <a:cs typeface="Calibri" pitchFamily="34" charset="-120"/>
              </a:rPr>
              <a:t>-787  →  </a:t>
            </a:r>
            <a:r>
              <a:rPr lang="en-US" sz="1200" b="1" dirty="0">
                <a:solidFill>
                  <a:srgbClr val="1C6E8C"/>
                </a:solidFill>
                <a:latin typeface="Calibri" pitchFamily="34" charset="0"/>
                <a:ea typeface="Calibri" pitchFamily="34" charset="-122"/>
                <a:cs typeface="Calibri" pitchFamily="34" charset="-120"/>
              </a:rPr>
              <a:t>-51</a:t>
            </a:r>
            <a:endParaRPr lang="en-US" sz="1200" dirty="0"/>
          </a:p>
        </p:txBody>
      </p:sp>
      <p:sp>
        <p:nvSpPr>
          <p:cNvPr id="13" name="Text 11"/>
          <p:cNvSpPr/>
          <p:nvPr/>
        </p:nvSpPr>
        <p:spPr>
          <a:xfrm>
            <a:off x="2240280" y="2322576"/>
            <a:ext cx="1408176" cy="219456"/>
          </a:xfrm>
          <a:prstGeom prst="rect">
            <a:avLst/>
          </a:prstGeom>
          <a:noFill/>
          <a:ln/>
        </p:spPr>
        <p:txBody>
          <a:bodyPr wrap="square" lIns="0" tIns="0" rIns="0" bIns="0" rtlCol="0" anchor="ctr"/>
          <a:lstStyle/>
          <a:p>
            <a:pPr marL="0" indent="0" algn="ctr">
              <a:buNone/>
            </a:pPr>
            <a:r>
              <a:rPr lang="en-US" sz="900" dirty="0">
                <a:solidFill>
                  <a:srgbClr val="6E7681"/>
                </a:solidFill>
                <a:latin typeface="Calibri" pitchFamily="34" charset="0"/>
                <a:ea typeface="Calibri" pitchFamily="34" charset="-122"/>
                <a:cs typeface="Calibri" pitchFamily="34" charset="-120"/>
              </a:rPr>
              <a:t>106 Episoden</a:t>
            </a:r>
            <a:endParaRPr lang="en-US" sz="900" dirty="0"/>
          </a:p>
        </p:txBody>
      </p:sp>
      <p:sp>
        <p:nvSpPr>
          <p:cNvPr id="14" name="Shape 12"/>
          <p:cNvSpPr/>
          <p:nvPr/>
        </p:nvSpPr>
        <p:spPr>
          <a:xfrm>
            <a:off x="3703320" y="1920240"/>
            <a:ext cx="1408176" cy="658368"/>
          </a:xfrm>
          <a:prstGeom prst="rect">
            <a:avLst/>
          </a:prstGeom>
          <a:solidFill>
            <a:srgbClr val="E9F0F3"/>
          </a:solidFill>
          <a:ln w="19050">
            <a:solidFill>
              <a:srgbClr val="FFFFFF"/>
            </a:solidFill>
            <a:prstDash val="solid"/>
          </a:ln>
        </p:spPr>
        <p:txBody>
          <a:bodyPr/>
          <a:lstStyle/>
          <a:p>
            <a:endParaRPr lang="de-DE"/>
          </a:p>
        </p:txBody>
      </p:sp>
      <p:sp>
        <p:nvSpPr>
          <p:cNvPr id="15" name="Text 13"/>
          <p:cNvSpPr/>
          <p:nvPr/>
        </p:nvSpPr>
        <p:spPr>
          <a:xfrm>
            <a:off x="3703320" y="2011680"/>
            <a:ext cx="1408176" cy="310896"/>
          </a:xfrm>
          <a:prstGeom prst="rect">
            <a:avLst/>
          </a:prstGeom>
          <a:noFill/>
          <a:ln/>
        </p:spPr>
        <p:txBody>
          <a:bodyPr wrap="square" lIns="0" tIns="0" rIns="0" bIns="0" rtlCol="0" anchor="ctr"/>
          <a:lstStyle/>
          <a:p>
            <a:pPr marL="0" indent="0" algn="ctr">
              <a:buNone/>
            </a:pPr>
            <a:r>
              <a:rPr lang="en-US" sz="1200" dirty="0">
                <a:solidFill>
                  <a:srgbClr val="6E7681"/>
                </a:solidFill>
                <a:latin typeface="Calibri" pitchFamily="34" charset="0"/>
                <a:ea typeface="Calibri" pitchFamily="34" charset="-122"/>
                <a:cs typeface="Calibri" pitchFamily="34" charset="-120"/>
              </a:rPr>
              <a:t>-914  →  </a:t>
            </a:r>
            <a:r>
              <a:rPr lang="en-US" sz="1200" b="1" dirty="0">
                <a:solidFill>
                  <a:srgbClr val="1C6E8C"/>
                </a:solidFill>
                <a:latin typeface="Calibri" pitchFamily="34" charset="0"/>
                <a:ea typeface="Calibri" pitchFamily="34" charset="-122"/>
                <a:cs typeface="Calibri" pitchFamily="34" charset="-120"/>
              </a:rPr>
              <a:t>-174</a:t>
            </a:r>
            <a:endParaRPr lang="en-US" sz="1200" dirty="0"/>
          </a:p>
        </p:txBody>
      </p:sp>
      <p:sp>
        <p:nvSpPr>
          <p:cNvPr id="16" name="Text 14"/>
          <p:cNvSpPr/>
          <p:nvPr/>
        </p:nvSpPr>
        <p:spPr>
          <a:xfrm>
            <a:off x="3703320" y="2322576"/>
            <a:ext cx="1408176" cy="219456"/>
          </a:xfrm>
          <a:prstGeom prst="rect">
            <a:avLst/>
          </a:prstGeom>
          <a:noFill/>
          <a:ln/>
        </p:spPr>
        <p:txBody>
          <a:bodyPr wrap="square" lIns="0" tIns="0" rIns="0" bIns="0" rtlCol="0" anchor="ctr"/>
          <a:lstStyle/>
          <a:p>
            <a:pPr marL="0" indent="0" algn="ctr">
              <a:buNone/>
            </a:pPr>
            <a:r>
              <a:rPr lang="en-US" sz="900" dirty="0">
                <a:solidFill>
                  <a:srgbClr val="6E7681"/>
                </a:solidFill>
                <a:latin typeface="Calibri" pitchFamily="34" charset="0"/>
                <a:ea typeface="Calibri" pitchFamily="34" charset="-122"/>
                <a:cs typeface="Calibri" pitchFamily="34" charset="-120"/>
              </a:rPr>
              <a:t>95 Episoden</a:t>
            </a:r>
            <a:endParaRPr lang="en-US" sz="900" dirty="0"/>
          </a:p>
        </p:txBody>
      </p:sp>
      <p:sp>
        <p:nvSpPr>
          <p:cNvPr id="17" name="Shape 15"/>
          <p:cNvSpPr/>
          <p:nvPr/>
        </p:nvSpPr>
        <p:spPr>
          <a:xfrm>
            <a:off x="5166360" y="1920240"/>
            <a:ext cx="1408176" cy="658368"/>
          </a:xfrm>
          <a:prstGeom prst="rect">
            <a:avLst/>
          </a:prstGeom>
          <a:solidFill>
            <a:srgbClr val="E9F0F3"/>
          </a:solidFill>
          <a:ln w="19050">
            <a:solidFill>
              <a:srgbClr val="FFFFFF"/>
            </a:solidFill>
            <a:prstDash val="solid"/>
          </a:ln>
        </p:spPr>
        <p:txBody>
          <a:bodyPr/>
          <a:lstStyle/>
          <a:p>
            <a:endParaRPr lang="de-DE"/>
          </a:p>
        </p:txBody>
      </p:sp>
      <p:sp>
        <p:nvSpPr>
          <p:cNvPr id="18" name="Text 16"/>
          <p:cNvSpPr/>
          <p:nvPr/>
        </p:nvSpPr>
        <p:spPr>
          <a:xfrm>
            <a:off x="5166360" y="2011680"/>
            <a:ext cx="1408176" cy="310896"/>
          </a:xfrm>
          <a:prstGeom prst="rect">
            <a:avLst/>
          </a:prstGeom>
          <a:noFill/>
          <a:ln/>
        </p:spPr>
        <p:txBody>
          <a:bodyPr wrap="square" lIns="0" tIns="0" rIns="0" bIns="0" rtlCol="0" anchor="ctr"/>
          <a:lstStyle/>
          <a:p>
            <a:pPr marL="0" indent="0" algn="ctr">
              <a:buNone/>
            </a:pPr>
            <a:r>
              <a:rPr lang="en-US" sz="1200" dirty="0">
                <a:solidFill>
                  <a:srgbClr val="6E7681"/>
                </a:solidFill>
                <a:latin typeface="Calibri" pitchFamily="34" charset="0"/>
                <a:ea typeface="Calibri" pitchFamily="34" charset="-122"/>
                <a:cs typeface="Calibri" pitchFamily="34" charset="-120"/>
              </a:rPr>
              <a:t>-1.028  →  </a:t>
            </a:r>
            <a:r>
              <a:rPr lang="en-US" sz="1200" b="1" dirty="0">
                <a:solidFill>
                  <a:srgbClr val="1C6E8C"/>
                </a:solidFill>
                <a:latin typeface="Calibri" pitchFamily="34" charset="0"/>
                <a:ea typeface="Calibri" pitchFamily="34" charset="-122"/>
                <a:cs typeface="Calibri" pitchFamily="34" charset="-120"/>
              </a:rPr>
              <a:t>-209</a:t>
            </a:r>
            <a:endParaRPr lang="en-US" sz="1200" dirty="0"/>
          </a:p>
        </p:txBody>
      </p:sp>
      <p:sp>
        <p:nvSpPr>
          <p:cNvPr id="19" name="Text 17"/>
          <p:cNvSpPr/>
          <p:nvPr/>
        </p:nvSpPr>
        <p:spPr>
          <a:xfrm>
            <a:off x="5166360" y="2322576"/>
            <a:ext cx="1408176" cy="219456"/>
          </a:xfrm>
          <a:prstGeom prst="rect">
            <a:avLst/>
          </a:prstGeom>
          <a:noFill/>
          <a:ln/>
        </p:spPr>
        <p:txBody>
          <a:bodyPr wrap="square" lIns="0" tIns="0" rIns="0" bIns="0" rtlCol="0" anchor="ctr"/>
          <a:lstStyle/>
          <a:p>
            <a:pPr marL="0" indent="0" algn="ctr">
              <a:buNone/>
            </a:pPr>
            <a:r>
              <a:rPr lang="en-US" sz="900" dirty="0">
                <a:solidFill>
                  <a:srgbClr val="6E7681"/>
                </a:solidFill>
                <a:latin typeface="Calibri" pitchFamily="34" charset="0"/>
                <a:ea typeface="Calibri" pitchFamily="34" charset="-122"/>
                <a:cs typeface="Calibri" pitchFamily="34" charset="-120"/>
              </a:rPr>
              <a:t>71 Episoden</a:t>
            </a:r>
            <a:endParaRPr lang="en-US" sz="900" dirty="0"/>
          </a:p>
        </p:txBody>
      </p:sp>
      <p:sp>
        <p:nvSpPr>
          <p:cNvPr id="20" name="Shape 18"/>
          <p:cNvSpPr/>
          <p:nvPr/>
        </p:nvSpPr>
        <p:spPr>
          <a:xfrm>
            <a:off x="6629400" y="1920240"/>
            <a:ext cx="1408176" cy="658368"/>
          </a:xfrm>
          <a:prstGeom prst="rect">
            <a:avLst/>
          </a:prstGeom>
          <a:solidFill>
            <a:srgbClr val="E9F0F3"/>
          </a:solidFill>
          <a:ln w="19050">
            <a:solidFill>
              <a:srgbClr val="FFFFFF"/>
            </a:solidFill>
            <a:prstDash val="solid"/>
          </a:ln>
        </p:spPr>
        <p:txBody>
          <a:bodyPr/>
          <a:lstStyle/>
          <a:p>
            <a:endParaRPr lang="de-DE"/>
          </a:p>
        </p:txBody>
      </p:sp>
      <p:sp>
        <p:nvSpPr>
          <p:cNvPr id="21" name="Text 19"/>
          <p:cNvSpPr/>
          <p:nvPr/>
        </p:nvSpPr>
        <p:spPr>
          <a:xfrm>
            <a:off x="6629400" y="2011680"/>
            <a:ext cx="1408176" cy="310896"/>
          </a:xfrm>
          <a:prstGeom prst="rect">
            <a:avLst/>
          </a:prstGeom>
          <a:noFill/>
          <a:ln/>
        </p:spPr>
        <p:txBody>
          <a:bodyPr wrap="square" lIns="0" tIns="0" rIns="0" bIns="0" rtlCol="0" anchor="ctr"/>
          <a:lstStyle/>
          <a:p>
            <a:pPr marL="0" indent="0" algn="ctr">
              <a:buNone/>
            </a:pPr>
            <a:r>
              <a:rPr lang="en-US" sz="1200" dirty="0">
                <a:solidFill>
                  <a:srgbClr val="6E7681"/>
                </a:solidFill>
                <a:latin typeface="Calibri" pitchFamily="34" charset="0"/>
                <a:ea typeface="Calibri" pitchFamily="34" charset="-122"/>
                <a:cs typeface="Calibri" pitchFamily="34" charset="-120"/>
              </a:rPr>
              <a:t>-916  →  </a:t>
            </a:r>
            <a:r>
              <a:rPr lang="en-US" sz="1200" b="1" dirty="0">
                <a:solidFill>
                  <a:srgbClr val="1C6E8C"/>
                </a:solidFill>
                <a:latin typeface="Calibri" pitchFamily="34" charset="0"/>
                <a:ea typeface="Calibri" pitchFamily="34" charset="-122"/>
                <a:cs typeface="Calibri" pitchFamily="34" charset="-120"/>
              </a:rPr>
              <a:t>-182</a:t>
            </a:r>
            <a:endParaRPr lang="en-US" sz="1200" dirty="0"/>
          </a:p>
        </p:txBody>
      </p:sp>
      <p:sp>
        <p:nvSpPr>
          <p:cNvPr id="22" name="Text 20"/>
          <p:cNvSpPr/>
          <p:nvPr/>
        </p:nvSpPr>
        <p:spPr>
          <a:xfrm>
            <a:off x="6629400" y="2322576"/>
            <a:ext cx="1408176" cy="219456"/>
          </a:xfrm>
          <a:prstGeom prst="rect">
            <a:avLst/>
          </a:prstGeom>
          <a:noFill/>
          <a:ln/>
        </p:spPr>
        <p:txBody>
          <a:bodyPr wrap="square" lIns="0" tIns="0" rIns="0" bIns="0" rtlCol="0" anchor="ctr"/>
          <a:lstStyle/>
          <a:p>
            <a:pPr marL="0" indent="0" algn="ctr">
              <a:buNone/>
            </a:pPr>
            <a:r>
              <a:rPr lang="en-US" sz="900" dirty="0">
                <a:solidFill>
                  <a:srgbClr val="6E7681"/>
                </a:solidFill>
                <a:latin typeface="Calibri" pitchFamily="34" charset="0"/>
                <a:ea typeface="Calibri" pitchFamily="34" charset="-122"/>
                <a:cs typeface="Calibri" pitchFamily="34" charset="-120"/>
              </a:rPr>
              <a:t>71 Episoden</a:t>
            </a:r>
            <a:endParaRPr lang="en-US" sz="900" dirty="0"/>
          </a:p>
        </p:txBody>
      </p:sp>
      <p:sp>
        <p:nvSpPr>
          <p:cNvPr id="23" name="Shape 21"/>
          <p:cNvSpPr/>
          <p:nvPr/>
        </p:nvSpPr>
        <p:spPr>
          <a:xfrm>
            <a:off x="8092440" y="1920240"/>
            <a:ext cx="1408176" cy="658368"/>
          </a:xfrm>
          <a:prstGeom prst="rect">
            <a:avLst/>
          </a:prstGeom>
          <a:solidFill>
            <a:srgbClr val="E9F0F3"/>
          </a:solidFill>
          <a:ln w="19050">
            <a:solidFill>
              <a:srgbClr val="FFFFFF"/>
            </a:solidFill>
            <a:prstDash val="solid"/>
          </a:ln>
        </p:spPr>
        <p:txBody>
          <a:bodyPr/>
          <a:lstStyle/>
          <a:p>
            <a:endParaRPr lang="de-DE"/>
          </a:p>
        </p:txBody>
      </p:sp>
      <p:sp>
        <p:nvSpPr>
          <p:cNvPr id="24" name="Text 22"/>
          <p:cNvSpPr/>
          <p:nvPr/>
        </p:nvSpPr>
        <p:spPr>
          <a:xfrm>
            <a:off x="8092440" y="2011680"/>
            <a:ext cx="1408176" cy="310896"/>
          </a:xfrm>
          <a:prstGeom prst="rect">
            <a:avLst/>
          </a:prstGeom>
          <a:noFill/>
          <a:ln/>
        </p:spPr>
        <p:txBody>
          <a:bodyPr wrap="square" lIns="0" tIns="0" rIns="0" bIns="0" rtlCol="0" anchor="ctr"/>
          <a:lstStyle/>
          <a:p>
            <a:pPr marL="0" indent="0" algn="ctr">
              <a:buNone/>
            </a:pPr>
            <a:r>
              <a:rPr lang="en-US" sz="1200" dirty="0">
                <a:solidFill>
                  <a:srgbClr val="6E7681"/>
                </a:solidFill>
                <a:latin typeface="Calibri" pitchFamily="34" charset="0"/>
                <a:ea typeface="Calibri" pitchFamily="34" charset="-122"/>
                <a:cs typeface="Calibri" pitchFamily="34" charset="-120"/>
              </a:rPr>
              <a:t>-851  →  </a:t>
            </a:r>
            <a:r>
              <a:rPr lang="en-US" sz="1200" b="1" dirty="0">
                <a:solidFill>
                  <a:srgbClr val="1C6E8C"/>
                </a:solidFill>
                <a:latin typeface="Calibri" pitchFamily="34" charset="0"/>
                <a:ea typeface="Calibri" pitchFamily="34" charset="-122"/>
                <a:cs typeface="Calibri" pitchFamily="34" charset="-120"/>
              </a:rPr>
              <a:t>-133</a:t>
            </a:r>
            <a:endParaRPr lang="en-US" sz="1200" dirty="0"/>
          </a:p>
        </p:txBody>
      </p:sp>
      <p:sp>
        <p:nvSpPr>
          <p:cNvPr id="25" name="Text 23"/>
          <p:cNvSpPr/>
          <p:nvPr/>
        </p:nvSpPr>
        <p:spPr>
          <a:xfrm>
            <a:off x="8092440" y="2322576"/>
            <a:ext cx="1408176" cy="219456"/>
          </a:xfrm>
          <a:prstGeom prst="rect">
            <a:avLst/>
          </a:prstGeom>
          <a:noFill/>
          <a:ln/>
        </p:spPr>
        <p:txBody>
          <a:bodyPr wrap="square" lIns="0" tIns="0" rIns="0" bIns="0" rtlCol="0" anchor="ctr"/>
          <a:lstStyle/>
          <a:p>
            <a:pPr marL="0" indent="0" algn="ctr">
              <a:buNone/>
            </a:pPr>
            <a:r>
              <a:rPr lang="en-US" sz="900" dirty="0">
                <a:solidFill>
                  <a:srgbClr val="6E7681"/>
                </a:solidFill>
                <a:latin typeface="Calibri" pitchFamily="34" charset="0"/>
                <a:ea typeface="Calibri" pitchFamily="34" charset="-122"/>
                <a:cs typeface="Calibri" pitchFamily="34" charset="-120"/>
              </a:rPr>
              <a:t>63 Episoden</a:t>
            </a:r>
            <a:endParaRPr lang="en-US" sz="900" dirty="0"/>
          </a:p>
        </p:txBody>
      </p:sp>
      <p:sp>
        <p:nvSpPr>
          <p:cNvPr id="26" name="Shape 24"/>
          <p:cNvSpPr/>
          <p:nvPr/>
        </p:nvSpPr>
        <p:spPr>
          <a:xfrm>
            <a:off x="9555480" y="1920240"/>
            <a:ext cx="1408176" cy="658368"/>
          </a:xfrm>
          <a:prstGeom prst="rect">
            <a:avLst/>
          </a:prstGeom>
          <a:solidFill>
            <a:srgbClr val="E9F0F3"/>
          </a:solidFill>
          <a:ln w="19050">
            <a:solidFill>
              <a:srgbClr val="FFFFFF"/>
            </a:solidFill>
            <a:prstDash val="solid"/>
          </a:ln>
        </p:spPr>
        <p:txBody>
          <a:bodyPr/>
          <a:lstStyle/>
          <a:p>
            <a:endParaRPr lang="de-DE"/>
          </a:p>
        </p:txBody>
      </p:sp>
      <p:sp>
        <p:nvSpPr>
          <p:cNvPr id="27" name="Text 25"/>
          <p:cNvSpPr/>
          <p:nvPr/>
        </p:nvSpPr>
        <p:spPr>
          <a:xfrm>
            <a:off x="9555480" y="2011680"/>
            <a:ext cx="1408176" cy="310896"/>
          </a:xfrm>
          <a:prstGeom prst="rect">
            <a:avLst/>
          </a:prstGeom>
          <a:noFill/>
          <a:ln/>
        </p:spPr>
        <p:txBody>
          <a:bodyPr wrap="square" lIns="0" tIns="0" rIns="0" bIns="0" rtlCol="0" anchor="ctr"/>
          <a:lstStyle/>
          <a:p>
            <a:pPr marL="0" indent="0" algn="ctr">
              <a:buNone/>
            </a:pPr>
            <a:r>
              <a:rPr lang="en-US" sz="1200" dirty="0">
                <a:solidFill>
                  <a:srgbClr val="6E7681"/>
                </a:solidFill>
                <a:latin typeface="Calibri" pitchFamily="34" charset="0"/>
                <a:ea typeface="Calibri" pitchFamily="34" charset="-122"/>
                <a:cs typeface="Calibri" pitchFamily="34" charset="-120"/>
              </a:rPr>
              <a:t>-841  →  </a:t>
            </a:r>
            <a:r>
              <a:rPr lang="en-US" sz="1200" b="1" dirty="0">
                <a:solidFill>
                  <a:srgbClr val="1C6E8C"/>
                </a:solidFill>
                <a:latin typeface="Calibri" pitchFamily="34" charset="0"/>
                <a:ea typeface="Calibri" pitchFamily="34" charset="-122"/>
                <a:cs typeface="Calibri" pitchFamily="34" charset="-120"/>
              </a:rPr>
              <a:t>-136</a:t>
            </a:r>
            <a:endParaRPr lang="en-US" sz="1200" dirty="0"/>
          </a:p>
        </p:txBody>
      </p:sp>
      <p:sp>
        <p:nvSpPr>
          <p:cNvPr id="28" name="Text 26"/>
          <p:cNvSpPr/>
          <p:nvPr/>
        </p:nvSpPr>
        <p:spPr>
          <a:xfrm>
            <a:off x="9555480" y="2322576"/>
            <a:ext cx="1408176" cy="219456"/>
          </a:xfrm>
          <a:prstGeom prst="rect">
            <a:avLst/>
          </a:prstGeom>
          <a:noFill/>
          <a:ln/>
        </p:spPr>
        <p:txBody>
          <a:bodyPr wrap="square" lIns="0" tIns="0" rIns="0" bIns="0" rtlCol="0" anchor="ctr"/>
          <a:lstStyle/>
          <a:p>
            <a:pPr marL="0" indent="0" algn="ctr">
              <a:buNone/>
            </a:pPr>
            <a:r>
              <a:rPr lang="en-US" sz="900" dirty="0">
                <a:solidFill>
                  <a:srgbClr val="6E7681"/>
                </a:solidFill>
                <a:latin typeface="Calibri" pitchFamily="34" charset="0"/>
                <a:ea typeface="Calibri" pitchFamily="34" charset="-122"/>
                <a:cs typeface="Calibri" pitchFamily="34" charset="-120"/>
              </a:rPr>
              <a:t>58 Episoden</a:t>
            </a:r>
            <a:endParaRPr lang="en-US" sz="900" dirty="0"/>
          </a:p>
        </p:txBody>
      </p:sp>
      <p:sp>
        <p:nvSpPr>
          <p:cNvPr id="29" name="Text 27"/>
          <p:cNvSpPr/>
          <p:nvPr/>
        </p:nvSpPr>
        <p:spPr>
          <a:xfrm>
            <a:off x="640080" y="2633472"/>
            <a:ext cx="1508760" cy="713232"/>
          </a:xfrm>
          <a:prstGeom prst="rect">
            <a:avLst/>
          </a:prstGeom>
          <a:noFill/>
          <a:ln/>
        </p:spPr>
        <p:txBody>
          <a:bodyPr wrap="square" lIns="0" tIns="0" rIns="0" bIns="0" rtlCol="0" anchor="ctr"/>
          <a:lstStyle/>
          <a:p>
            <a:pPr marL="0" indent="0" algn="r">
              <a:buNone/>
            </a:pPr>
            <a:r>
              <a:rPr lang="en-US" sz="1300" b="1" dirty="0">
                <a:solidFill>
                  <a:srgbClr val="23282F"/>
                </a:solidFill>
                <a:latin typeface="Calibri" pitchFamily="34" charset="0"/>
                <a:ea typeface="Calibri" pitchFamily="34" charset="-122"/>
                <a:cs typeface="Calibri" pitchFamily="34" charset="-120"/>
              </a:rPr>
              <a:t>Hub &amp; Spoke</a:t>
            </a:r>
            <a:endParaRPr lang="en-US" sz="1300" dirty="0"/>
          </a:p>
        </p:txBody>
      </p:sp>
      <p:sp>
        <p:nvSpPr>
          <p:cNvPr id="30" name="Shape 28"/>
          <p:cNvSpPr/>
          <p:nvPr/>
        </p:nvSpPr>
        <p:spPr>
          <a:xfrm>
            <a:off x="2240280" y="2633472"/>
            <a:ext cx="1408176" cy="658368"/>
          </a:xfrm>
          <a:prstGeom prst="rect">
            <a:avLst/>
          </a:prstGeom>
          <a:solidFill>
            <a:srgbClr val="E9F0F3"/>
          </a:solidFill>
          <a:ln w="19050">
            <a:solidFill>
              <a:srgbClr val="FFFFFF"/>
            </a:solidFill>
            <a:prstDash val="solid"/>
          </a:ln>
        </p:spPr>
        <p:txBody>
          <a:bodyPr/>
          <a:lstStyle/>
          <a:p>
            <a:endParaRPr lang="de-DE"/>
          </a:p>
        </p:txBody>
      </p:sp>
      <p:sp>
        <p:nvSpPr>
          <p:cNvPr id="31" name="Text 29"/>
          <p:cNvSpPr/>
          <p:nvPr/>
        </p:nvSpPr>
        <p:spPr>
          <a:xfrm>
            <a:off x="2240280" y="2724912"/>
            <a:ext cx="1408176" cy="310896"/>
          </a:xfrm>
          <a:prstGeom prst="rect">
            <a:avLst/>
          </a:prstGeom>
          <a:noFill/>
          <a:ln/>
        </p:spPr>
        <p:txBody>
          <a:bodyPr wrap="square" lIns="0" tIns="0" rIns="0" bIns="0" rtlCol="0" anchor="ctr"/>
          <a:lstStyle/>
          <a:p>
            <a:pPr marL="0" indent="0" algn="ctr">
              <a:buNone/>
            </a:pPr>
            <a:r>
              <a:rPr lang="en-US" sz="1200" dirty="0">
                <a:solidFill>
                  <a:srgbClr val="6E7681"/>
                </a:solidFill>
                <a:latin typeface="Calibri" pitchFamily="34" charset="0"/>
                <a:ea typeface="Calibri" pitchFamily="34" charset="-122"/>
                <a:cs typeface="Calibri" pitchFamily="34" charset="-120"/>
              </a:rPr>
              <a:t>-732  →  </a:t>
            </a:r>
            <a:r>
              <a:rPr lang="en-US" sz="1200" b="1" dirty="0">
                <a:solidFill>
                  <a:srgbClr val="1C6E8C"/>
                </a:solidFill>
                <a:latin typeface="Calibri" pitchFamily="34" charset="0"/>
                <a:ea typeface="Calibri" pitchFamily="34" charset="-122"/>
                <a:cs typeface="Calibri" pitchFamily="34" charset="-120"/>
              </a:rPr>
              <a:t>-47</a:t>
            </a:r>
            <a:endParaRPr lang="en-US" sz="1200" dirty="0"/>
          </a:p>
        </p:txBody>
      </p:sp>
      <p:sp>
        <p:nvSpPr>
          <p:cNvPr id="32" name="Text 30"/>
          <p:cNvSpPr/>
          <p:nvPr/>
        </p:nvSpPr>
        <p:spPr>
          <a:xfrm>
            <a:off x="2240280" y="3035808"/>
            <a:ext cx="1408176" cy="219456"/>
          </a:xfrm>
          <a:prstGeom prst="rect">
            <a:avLst/>
          </a:prstGeom>
          <a:noFill/>
          <a:ln/>
        </p:spPr>
        <p:txBody>
          <a:bodyPr wrap="square" lIns="0" tIns="0" rIns="0" bIns="0" rtlCol="0" anchor="ctr"/>
          <a:lstStyle/>
          <a:p>
            <a:pPr marL="0" indent="0" algn="ctr">
              <a:buNone/>
            </a:pPr>
            <a:r>
              <a:rPr lang="en-US" sz="900" dirty="0">
                <a:solidFill>
                  <a:srgbClr val="6E7681"/>
                </a:solidFill>
                <a:latin typeface="Calibri" pitchFamily="34" charset="0"/>
                <a:ea typeface="Calibri" pitchFamily="34" charset="-122"/>
                <a:cs typeface="Calibri" pitchFamily="34" charset="-120"/>
              </a:rPr>
              <a:t>59 Episoden</a:t>
            </a:r>
            <a:endParaRPr lang="en-US" sz="900" dirty="0"/>
          </a:p>
        </p:txBody>
      </p:sp>
      <p:sp>
        <p:nvSpPr>
          <p:cNvPr id="33" name="Shape 31"/>
          <p:cNvSpPr/>
          <p:nvPr/>
        </p:nvSpPr>
        <p:spPr>
          <a:xfrm>
            <a:off x="3703320" y="2633472"/>
            <a:ext cx="1408176" cy="658368"/>
          </a:xfrm>
          <a:prstGeom prst="rect">
            <a:avLst/>
          </a:prstGeom>
          <a:solidFill>
            <a:srgbClr val="E9F0F3"/>
          </a:solidFill>
          <a:ln w="19050">
            <a:solidFill>
              <a:srgbClr val="FFFFFF"/>
            </a:solidFill>
            <a:prstDash val="solid"/>
          </a:ln>
        </p:spPr>
        <p:txBody>
          <a:bodyPr/>
          <a:lstStyle/>
          <a:p>
            <a:endParaRPr lang="de-DE"/>
          </a:p>
        </p:txBody>
      </p:sp>
      <p:sp>
        <p:nvSpPr>
          <p:cNvPr id="34" name="Text 32"/>
          <p:cNvSpPr/>
          <p:nvPr/>
        </p:nvSpPr>
        <p:spPr>
          <a:xfrm>
            <a:off x="3703320" y="2724912"/>
            <a:ext cx="1408176" cy="310896"/>
          </a:xfrm>
          <a:prstGeom prst="rect">
            <a:avLst/>
          </a:prstGeom>
          <a:noFill/>
          <a:ln/>
        </p:spPr>
        <p:txBody>
          <a:bodyPr wrap="square" lIns="0" tIns="0" rIns="0" bIns="0" rtlCol="0" anchor="ctr"/>
          <a:lstStyle/>
          <a:p>
            <a:pPr marL="0" indent="0" algn="ctr">
              <a:buNone/>
            </a:pPr>
            <a:r>
              <a:rPr lang="en-US" sz="1200" dirty="0">
                <a:solidFill>
                  <a:srgbClr val="6E7681"/>
                </a:solidFill>
                <a:latin typeface="Calibri" pitchFamily="34" charset="0"/>
                <a:ea typeface="Calibri" pitchFamily="34" charset="-122"/>
                <a:cs typeface="Calibri" pitchFamily="34" charset="-120"/>
              </a:rPr>
              <a:t>-807  →  </a:t>
            </a:r>
            <a:r>
              <a:rPr lang="en-US" sz="1200" b="1" dirty="0">
                <a:solidFill>
                  <a:srgbClr val="1C6E8C"/>
                </a:solidFill>
                <a:latin typeface="Calibri" pitchFamily="34" charset="0"/>
                <a:ea typeface="Calibri" pitchFamily="34" charset="-122"/>
                <a:cs typeface="Calibri" pitchFamily="34" charset="-120"/>
              </a:rPr>
              <a:t>-153</a:t>
            </a:r>
            <a:endParaRPr lang="en-US" sz="1200" dirty="0"/>
          </a:p>
        </p:txBody>
      </p:sp>
      <p:sp>
        <p:nvSpPr>
          <p:cNvPr id="35" name="Text 33"/>
          <p:cNvSpPr/>
          <p:nvPr/>
        </p:nvSpPr>
        <p:spPr>
          <a:xfrm>
            <a:off x="3703320" y="3035808"/>
            <a:ext cx="1408176" cy="219456"/>
          </a:xfrm>
          <a:prstGeom prst="rect">
            <a:avLst/>
          </a:prstGeom>
          <a:noFill/>
          <a:ln/>
        </p:spPr>
        <p:txBody>
          <a:bodyPr wrap="square" lIns="0" tIns="0" rIns="0" bIns="0" rtlCol="0" anchor="ctr"/>
          <a:lstStyle/>
          <a:p>
            <a:pPr marL="0" indent="0" algn="ctr">
              <a:buNone/>
            </a:pPr>
            <a:r>
              <a:rPr lang="en-US" sz="900" dirty="0">
                <a:solidFill>
                  <a:srgbClr val="6E7681"/>
                </a:solidFill>
                <a:latin typeface="Calibri" pitchFamily="34" charset="0"/>
                <a:ea typeface="Calibri" pitchFamily="34" charset="-122"/>
                <a:cs typeface="Calibri" pitchFamily="34" charset="-120"/>
              </a:rPr>
              <a:t>57 Episoden</a:t>
            </a:r>
            <a:endParaRPr lang="en-US" sz="900" dirty="0"/>
          </a:p>
        </p:txBody>
      </p:sp>
      <p:sp>
        <p:nvSpPr>
          <p:cNvPr id="36" name="Shape 34"/>
          <p:cNvSpPr/>
          <p:nvPr/>
        </p:nvSpPr>
        <p:spPr>
          <a:xfrm>
            <a:off x="5166360" y="2633472"/>
            <a:ext cx="1408176" cy="658368"/>
          </a:xfrm>
          <a:prstGeom prst="rect">
            <a:avLst/>
          </a:prstGeom>
          <a:solidFill>
            <a:srgbClr val="E9F0F3"/>
          </a:solidFill>
          <a:ln w="19050">
            <a:solidFill>
              <a:srgbClr val="FFFFFF"/>
            </a:solidFill>
            <a:prstDash val="solid"/>
          </a:ln>
        </p:spPr>
        <p:txBody>
          <a:bodyPr/>
          <a:lstStyle/>
          <a:p>
            <a:endParaRPr lang="de-DE"/>
          </a:p>
        </p:txBody>
      </p:sp>
      <p:sp>
        <p:nvSpPr>
          <p:cNvPr id="37" name="Text 35"/>
          <p:cNvSpPr/>
          <p:nvPr/>
        </p:nvSpPr>
        <p:spPr>
          <a:xfrm>
            <a:off x="5166360" y="2724912"/>
            <a:ext cx="1408176" cy="310896"/>
          </a:xfrm>
          <a:prstGeom prst="rect">
            <a:avLst/>
          </a:prstGeom>
          <a:noFill/>
          <a:ln/>
        </p:spPr>
        <p:txBody>
          <a:bodyPr wrap="square" lIns="0" tIns="0" rIns="0" bIns="0" rtlCol="0" anchor="ctr"/>
          <a:lstStyle/>
          <a:p>
            <a:pPr marL="0" indent="0" algn="ctr">
              <a:buNone/>
            </a:pPr>
            <a:r>
              <a:rPr lang="en-US" sz="1200" dirty="0">
                <a:solidFill>
                  <a:srgbClr val="6E7681"/>
                </a:solidFill>
                <a:latin typeface="Calibri" pitchFamily="34" charset="0"/>
                <a:ea typeface="Calibri" pitchFamily="34" charset="-122"/>
                <a:cs typeface="Calibri" pitchFamily="34" charset="-120"/>
              </a:rPr>
              <a:t>-5.534  →  </a:t>
            </a:r>
            <a:r>
              <a:rPr lang="en-US" sz="1200" b="1" dirty="0">
                <a:solidFill>
                  <a:srgbClr val="1C6E8C"/>
                </a:solidFill>
                <a:latin typeface="Calibri" pitchFamily="34" charset="0"/>
                <a:ea typeface="Calibri" pitchFamily="34" charset="-122"/>
                <a:cs typeface="Calibri" pitchFamily="34" charset="-120"/>
              </a:rPr>
              <a:t>-1.408</a:t>
            </a:r>
            <a:endParaRPr lang="en-US" sz="1200" dirty="0"/>
          </a:p>
        </p:txBody>
      </p:sp>
      <p:sp>
        <p:nvSpPr>
          <p:cNvPr id="38" name="Text 36"/>
          <p:cNvSpPr/>
          <p:nvPr/>
        </p:nvSpPr>
        <p:spPr>
          <a:xfrm>
            <a:off x="5166360" y="3035808"/>
            <a:ext cx="1408176" cy="219456"/>
          </a:xfrm>
          <a:prstGeom prst="rect">
            <a:avLst/>
          </a:prstGeom>
          <a:noFill/>
          <a:ln/>
        </p:spPr>
        <p:txBody>
          <a:bodyPr wrap="square" lIns="0" tIns="0" rIns="0" bIns="0" rtlCol="0" anchor="ctr"/>
          <a:lstStyle/>
          <a:p>
            <a:pPr marL="0" indent="0" algn="ctr">
              <a:buNone/>
            </a:pPr>
            <a:r>
              <a:rPr lang="en-US" sz="900" dirty="0">
                <a:solidFill>
                  <a:srgbClr val="6E7681"/>
                </a:solidFill>
                <a:latin typeface="Calibri" pitchFamily="34" charset="0"/>
                <a:ea typeface="Calibri" pitchFamily="34" charset="-122"/>
                <a:cs typeface="Calibri" pitchFamily="34" charset="-120"/>
              </a:rPr>
              <a:t>264 Episoden</a:t>
            </a:r>
            <a:endParaRPr lang="en-US" sz="900" dirty="0"/>
          </a:p>
        </p:txBody>
      </p:sp>
      <p:sp>
        <p:nvSpPr>
          <p:cNvPr id="39" name="Shape 37"/>
          <p:cNvSpPr/>
          <p:nvPr/>
        </p:nvSpPr>
        <p:spPr>
          <a:xfrm>
            <a:off x="6629400" y="2633472"/>
            <a:ext cx="1408176" cy="658368"/>
          </a:xfrm>
          <a:prstGeom prst="rect">
            <a:avLst/>
          </a:prstGeom>
          <a:solidFill>
            <a:srgbClr val="E9F0F3"/>
          </a:solidFill>
          <a:ln w="19050">
            <a:solidFill>
              <a:srgbClr val="FFFFFF"/>
            </a:solidFill>
            <a:prstDash val="solid"/>
          </a:ln>
        </p:spPr>
        <p:txBody>
          <a:bodyPr/>
          <a:lstStyle/>
          <a:p>
            <a:endParaRPr lang="de-DE"/>
          </a:p>
        </p:txBody>
      </p:sp>
      <p:sp>
        <p:nvSpPr>
          <p:cNvPr id="40" name="Text 38"/>
          <p:cNvSpPr/>
          <p:nvPr/>
        </p:nvSpPr>
        <p:spPr>
          <a:xfrm>
            <a:off x="6629400" y="2724912"/>
            <a:ext cx="1408176" cy="310896"/>
          </a:xfrm>
          <a:prstGeom prst="rect">
            <a:avLst/>
          </a:prstGeom>
          <a:noFill/>
          <a:ln/>
        </p:spPr>
        <p:txBody>
          <a:bodyPr wrap="square" lIns="0" tIns="0" rIns="0" bIns="0" rtlCol="0" anchor="ctr"/>
          <a:lstStyle/>
          <a:p>
            <a:pPr marL="0" indent="0" algn="ctr">
              <a:buNone/>
            </a:pPr>
            <a:r>
              <a:rPr lang="en-US" sz="1200" dirty="0">
                <a:solidFill>
                  <a:srgbClr val="6E7681"/>
                </a:solidFill>
                <a:latin typeface="Calibri" pitchFamily="34" charset="0"/>
                <a:ea typeface="Calibri" pitchFamily="34" charset="-122"/>
                <a:cs typeface="Calibri" pitchFamily="34" charset="-120"/>
              </a:rPr>
              <a:t>-778  →  </a:t>
            </a:r>
            <a:r>
              <a:rPr lang="en-US" sz="1200" b="1" dirty="0">
                <a:solidFill>
                  <a:srgbClr val="1C6E8C"/>
                </a:solidFill>
                <a:latin typeface="Calibri" pitchFamily="34" charset="0"/>
                <a:ea typeface="Calibri" pitchFamily="34" charset="-122"/>
                <a:cs typeface="Calibri" pitchFamily="34" charset="-120"/>
              </a:rPr>
              <a:t>-74</a:t>
            </a:r>
            <a:endParaRPr lang="en-US" sz="1200" dirty="0"/>
          </a:p>
        </p:txBody>
      </p:sp>
      <p:sp>
        <p:nvSpPr>
          <p:cNvPr id="41" name="Text 39"/>
          <p:cNvSpPr/>
          <p:nvPr/>
        </p:nvSpPr>
        <p:spPr>
          <a:xfrm>
            <a:off x="6629400" y="3035808"/>
            <a:ext cx="1408176" cy="219456"/>
          </a:xfrm>
          <a:prstGeom prst="rect">
            <a:avLst/>
          </a:prstGeom>
          <a:noFill/>
          <a:ln/>
        </p:spPr>
        <p:txBody>
          <a:bodyPr wrap="square" lIns="0" tIns="0" rIns="0" bIns="0" rtlCol="0" anchor="ctr"/>
          <a:lstStyle/>
          <a:p>
            <a:pPr marL="0" indent="0" algn="ctr">
              <a:buNone/>
            </a:pPr>
            <a:r>
              <a:rPr lang="en-US" sz="900" dirty="0">
                <a:solidFill>
                  <a:srgbClr val="6E7681"/>
                </a:solidFill>
                <a:latin typeface="Calibri" pitchFamily="34" charset="0"/>
                <a:ea typeface="Calibri" pitchFamily="34" charset="-122"/>
                <a:cs typeface="Calibri" pitchFamily="34" charset="-120"/>
              </a:rPr>
              <a:t>91 Episoden</a:t>
            </a:r>
            <a:endParaRPr lang="en-US" sz="900" dirty="0"/>
          </a:p>
        </p:txBody>
      </p:sp>
      <p:sp>
        <p:nvSpPr>
          <p:cNvPr id="42" name="Shape 40"/>
          <p:cNvSpPr/>
          <p:nvPr/>
        </p:nvSpPr>
        <p:spPr>
          <a:xfrm>
            <a:off x="8092440" y="2633472"/>
            <a:ext cx="1408176" cy="658368"/>
          </a:xfrm>
          <a:prstGeom prst="rect">
            <a:avLst/>
          </a:prstGeom>
          <a:solidFill>
            <a:srgbClr val="E9F0F3"/>
          </a:solidFill>
          <a:ln w="19050">
            <a:solidFill>
              <a:srgbClr val="FFFFFF"/>
            </a:solidFill>
            <a:prstDash val="solid"/>
          </a:ln>
        </p:spPr>
        <p:txBody>
          <a:bodyPr/>
          <a:lstStyle/>
          <a:p>
            <a:endParaRPr lang="de-DE"/>
          </a:p>
        </p:txBody>
      </p:sp>
      <p:sp>
        <p:nvSpPr>
          <p:cNvPr id="43" name="Text 41"/>
          <p:cNvSpPr/>
          <p:nvPr/>
        </p:nvSpPr>
        <p:spPr>
          <a:xfrm>
            <a:off x="8092440" y="2724912"/>
            <a:ext cx="1408176" cy="310896"/>
          </a:xfrm>
          <a:prstGeom prst="rect">
            <a:avLst/>
          </a:prstGeom>
          <a:noFill/>
          <a:ln/>
        </p:spPr>
        <p:txBody>
          <a:bodyPr wrap="square" lIns="0" tIns="0" rIns="0" bIns="0" rtlCol="0" anchor="ctr"/>
          <a:lstStyle/>
          <a:p>
            <a:pPr marL="0" indent="0" algn="ctr">
              <a:buNone/>
            </a:pPr>
            <a:r>
              <a:rPr lang="en-US" sz="1200" dirty="0">
                <a:solidFill>
                  <a:srgbClr val="6E7681"/>
                </a:solidFill>
                <a:latin typeface="Calibri" pitchFamily="34" charset="0"/>
                <a:ea typeface="Calibri" pitchFamily="34" charset="-122"/>
                <a:cs typeface="Calibri" pitchFamily="34" charset="-120"/>
              </a:rPr>
              <a:t>-794  →  </a:t>
            </a:r>
            <a:r>
              <a:rPr lang="en-US" sz="1200" b="1" dirty="0">
                <a:solidFill>
                  <a:srgbClr val="1C6E8C"/>
                </a:solidFill>
                <a:latin typeface="Calibri" pitchFamily="34" charset="0"/>
                <a:ea typeface="Calibri" pitchFamily="34" charset="-122"/>
                <a:cs typeface="Calibri" pitchFamily="34" charset="-120"/>
              </a:rPr>
              <a:t>-98</a:t>
            </a:r>
            <a:endParaRPr lang="en-US" sz="1200" dirty="0"/>
          </a:p>
        </p:txBody>
      </p:sp>
      <p:sp>
        <p:nvSpPr>
          <p:cNvPr id="44" name="Text 42"/>
          <p:cNvSpPr/>
          <p:nvPr/>
        </p:nvSpPr>
        <p:spPr>
          <a:xfrm>
            <a:off x="8092440" y="3035808"/>
            <a:ext cx="1408176" cy="219456"/>
          </a:xfrm>
          <a:prstGeom prst="rect">
            <a:avLst/>
          </a:prstGeom>
          <a:noFill/>
          <a:ln/>
        </p:spPr>
        <p:txBody>
          <a:bodyPr wrap="square" lIns="0" tIns="0" rIns="0" bIns="0" rtlCol="0" anchor="ctr"/>
          <a:lstStyle/>
          <a:p>
            <a:pPr marL="0" indent="0" algn="ctr">
              <a:buNone/>
            </a:pPr>
            <a:r>
              <a:rPr lang="en-US" sz="900" dirty="0">
                <a:solidFill>
                  <a:srgbClr val="6E7681"/>
                </a:solidFill>
                <a:latin typeface="Calibri" pitchFamily="34" charset="0"/>
                <a:ea typeface="Calibri" pitchFamily="34" charset="-122"/>
                <a:cs typeface="Calibri" pitchFamily="34" charset="-120"/>
              </a:rPr>
              <a:t>63 Episoden</a:t>
            </a:r>
            <a:endParaRPr lang="en-US" sz="900" dirty="0"/>
          </a:p>
        </p:txBody>
      </p:sp>
      <p:sp>
        <p:nvSpPr>
          <p:cNvPr id="45" name="Shape 43"/>
          <p:cNvSpPr/>
          <p:nvPr/>
        </p:nvSpPr>
        <p:spPr>
          <a:xfrm>
            <a:off x="9555480" y="2633472"/>
            <a:ext cx="1408176" cy="658368"/>
          </a:xfrm>
          <a:prstGeom prst="rect">
            <a:avLst/>
          </a:prstGeom>
          <a:solidFill>
            <a:srgbClr val="E9F0F3"/>
          </a:solidFill>
          <a:ln w="19050">
            <a:solidFill>
              <a:srgbClr val="FFFFFF"/>
            </a:solidFill>
            <a:prstDash val="solid"/>
          </a:ln>
        </p:spPr>
        <p:txBody>
          <a:bodyPr/>
          <a:lstStyle/>
          <a:p>
            <a:endParaRPr lang="de-DE"/>
          </a:p>
        </p:txBody>
      </p:sp>
      <p:sp>
        <p:nvSpPr>
          <p:cNvPr id="46" name="Text 44"/>
          <p:cNvSpPr/>
          <p:nvPr/>
        </p:nvSpPr>
        <p:spPr>
          <a:xfrm>
            <a:off x="9555480" y="2724912"/>
            <a:ext cx="1408176" cy="310896"/>
          </a:xfrm>
          <a:prstGeom prst="rect">
            <a:avLst/>
          </a:prstGeom>
          <a:noFill/>
          <a:ln/>
        </p:spPr>
        <p:txBody>
          <a:bodyPr wrap="square" lIns="0" tIns="0" rIns="0" bIns="0" rtlCol="0" anchor="ctr"/>
          <a:lstStyle/>
          <a:p>
            <a:pPr marL="0" indent="0" algn="ctr">
              <a:buNone/>
            </a:pPr>
            <a:r>
              <a:rPr lang="en-US" sz="1200" dirty="0">
                <a:solidFill>
                  <a:srgbClr val="6E7681"/>
                </a:solidFill>
                <a:latin typeface="Calibri" pitchFamily="34" charset="0"/>
                <a:ea typeface="Calibri" pitchFamily="34" charset="-122"/>
                <a:cs typeface="Calibri" pitchFamily="34" charset="-120"/>
              </a:rPr>
              <a:t>-834  →  </a:t>
            </a:r>
            <a:r>
              <a:rPr lang="en-US" sz="1200" b="1" dirty="0">
                <a:solidFill>
                  <a:srgbClr val="1C6E8C"/>
                </a:solidFill>
                <a:latin typeface="Calibri" pitchFamily="34" charset="0"/>
                <a:ea typeface="Calibri" pitchFamily="34" charset="-122"/>
                <a:cs typeface="Calibri" pitchFamily="34" charset="-120"/>
              </a:rPr>
              <a:t>-184</a:t>
            </a:r>
            <a:endParaRPr lang="en-US" sz="1200" dirty="0"/>
          </a:p>
        </p:txBody>
      </p:sp>
      <p:sp>
        <p:nvSpPr>
          <p:cNvPr id="47" name="Text 45"/>
          <p:cNvSpPr/>
          <p:nvPr/>
        </p:nvSpPr>
        <p:spPr>
          <a:xfrm>
            <a:off x="9555480" y="3035808"/>
            <a:ext cx="1408176" cy="219456"/>
          </a:xfrm>
          <a:prstGeom prst="rect">
            <a:avLst/>
          </a:prstGeom>
          <a:noFill/>
          <a:ln/>
        </p:spPr>
        <p:txBody>
          <a:bodyPr wrap="square" lIns="0" tIns="0" rIns="0" bIns="0" rtlCol="0" anchor="ctr"/>
          <a:lstStyle/>
          <a:p>
            <a:pPr marL="0" indent="0" algn="ctr">
              <a:buNone/>
            </a:pPr>
            <a:r>
              <a:rPr lang="en-US" sz="900" dirty="0">
                <a:solidFill>
                  <a:srgbClr val="6E7681"/>
                </a:solidFill>
                <a:latin typeface="Calibri" pitchFamily="34" charset="0"/>
                <a:ea typeface="Calibri" pitchFamily="34" charset="-122"/>
                <a:cs typeface="Calibri" pitchFamily="34" charset="-120"/>
              </a:rPr>
              <a:t>57 Episoden</a:t>
            </a:r>
            <a:endParaRPr lang="en-US" sz="900" dirty="0"/>
          </a:p>
        </p:txBody>
      </p:sp>
      <p:sp>
        <p:nvSpPr>
          <p:cNvPr id="48" name="Text 46"/>
          <p:cNvSpPr/>
          <p:nvPr/>
        </p:nvSpPr>
        <p:spPr>
          <a:xfrm>
            <a:off x="640080" y="3346704"/>
            <a:ext cx="1508760" cy="713232"/>
          </a:xfrm>
          <a:prstGeom prst="rect">
            <a:avLst/>
          </a:prstGeom>
          <a:noFill/>
          <a:ln/>
        </p:spPr>
        <p:txBody>
          <a:bodyPr wrap="square" lIns="0" tIns="0" rIns="0" bIns="0" rtlCol="0" anchor="ctr"/>
          <a:lstStyle/>
          <a:p>
            <a:pPr marL="0" indent="0" algn="r">
              <a:buNone/>
            </a:pPr>
            <a:r>
              <a:rPr lang="en-US" sz="1300" b="1" dirty="0">
                <a:solidFill>
                  <a:srgbClr val="23282F"/>
                </a:solidFill>
                <a:latin typeface="Calibri" pitchFamily="34" charset="0"/>
                <a:ea typeface="Calibri" pitchFamily="34" charset="-122"/>
                <a:cs typeface="Calibri" pitchFamily="34" charset="-120"/>
              </a:rPr>
              <a:t>DMZ</a:t>
            </a:r>
            <a:endParaRPr lang="en-US" sz="1300" dirty="0"/>
          </a:p>
        </p:txBody>
      </p:sp>
      <p:sp>
        <p:nvSpPr>
          <p:cNvPr id="49" name="Shape 47"/>
          <p:cNvSpPr/>
          <p:nvPr/>
        </p:nvSpPr>
        <p:spPr>
          <a:xfrm>
            <a:off x="2240280" y="3346704"/>
            <a:ext cx="1408176" cy="658368"/>
          </a:xfrm>
          <a:prstGeom prst="rect">
            <a:avLst/>
          </a:prstGeom>
          <a:solidFill>
            <a:srgbClr val="E9F0F3"/>
          </a:solidFill>
          <a:ln w="19050">
            <a:solidFill>
              <a:srgbClr val="FFFFFF"/>
            </a:solidFill>
            <a:prstDash val="solid"/>
          </a:ln>
        </p:spPr>
        <p:txBody>
          <a:bodyPr/>
          <a:lstStyle/>
          <a:p>
            <a:endParaRPr lang="de-DE"/>
          </a:p>
        </p:txBody>
      </p:sp>
      <p:sp>
        <p:nvSpPr>
          <p:cNvPr id="50" name="Text 48"/>
          <p:cNvSpPr/>
          <p:nvPr/>
        </p:nvSpPr>
        <p:spPr>
          <a:xfrm>
            <a:off x="2240280" y="3438144"/>
            <a:ext cx="1408176" cy="310896"/>
          </a:xfrm>
          <a:prstGeom prst="rect">
            <a:avLst/>
          </a:prstGeom>
          <a:noFill/>
          <a:ln/>
        </p:spPr>
        <p:txBody>
          <a:bodyPr wrap="square" lIns="0" tIns="0" rIns="0" bIns="0" rtlCol="0" anchor="ctr"/>
          <a:lstStyle/>
          <a:p>
            <a:pPr marL="0" indent="0" algn="ctr">
              <a:buNone/>
            </a:pPr>
            <a:r>
              <a:rPr lang="en-US" sz="1200" dirty="0">
                <a:solidFill>
                  <a:srgbClr val="6E7681"/>
                </a:solidFill>
                <a:latin typeface="Calibri" pitchFamily="34" charset="0"/>
                <a:ea typeface="Calibri" pitchFamily="34" charset="-122"/>
                <a:cs typeface="Calibri" pitchFamily="34" charset="-120"/>
              </a:rPr>
              <a:t>-764  →  </a:t>
            </a:r>
            <a:r>
              <a:rPr lang="en-US" sz="1200" b="1" dirty="0">
                <a:solidFill>
                  <a:srgbClr val="1C6E8C"/>
                </a:solidFill>
                <a:latin typeface="Calibri" pitchFamily="34" charset="0"/>
                <a:ea typeface="Calibri" pitchFamily="34" charset="-122"/>
                <a:cs typeface="Calibri" pitchFamily="34" charset="-120"/>
              </a:rPr>
              <a:t>-74</a:t>
            </a:r>
            <a:endParaRPr lang="en-US" sz="1200" dirty="0"/>
          </a:p>
        </p:txBody>
      </p:sp>
      <p:sp>
        <p:nvSpPr>
          <p:cNvPr id="51" name="Text 49"/>
          <p:cNvSpPr/>
          <p:nvPr/>
        </p:nvSpPr>
        <p:spPr>
          <a:xfrm>
            <a:off x="2240280" y="3749040"/>
            <a:ext cx="1408176" cy="219456"/>
          </a:xfrm>
          <a:prstGeom prst="rect">
            <a:avLst/>
          </a:prstGeom>
          <a:noFill/>
          <a:ln/>
        </p:spPr>
        <p:txBody>
          <a:bodyPr wrap="square" lIns="0" tIns="0" rIns="0" bIns="0" rtlCol="0" anchor="ctr"/>
          <a:lstStyle/>
          <a:p>
            <a:pPr marL="0" indent="0" algn="ctr">
              <a:buNone/>
            </a:pPr>
            <a:r>
              <a:rPr lang="en-US" sz="900" dirty="0">
                <a:solidFill>
                  <a:srgbClr val="6E7681"/>
                </a:solidFill>
                <a:latin typeface="Calibri" pitchFamily="34" charset="0"/>
                <a:ea typeface="Calibri" pitchFamily="34" charset="-122"/>
                <a:cs typeface="Calibri" pitchFamily="34" charset="-120"/>
              </a:rPr>
              <a:t>60 Episoden</a:t>
            </a:r>
            <a:endParaRPr lang="en-US" sz="900" dirty="0"/>
          </a:p>
        </p:txBody>
      </p:sp>
      <p:sp>
        <p:nvSpPr>
          <p:cNvPr id="52" name="Shape 50"/>
          <p:cNvSpPr/>
          <p:nvPr/>
        </p:nvSpPr>
        <p:spPr>
          <a:xfrm>
            <a:off x="3703320" y="3346704"/>
            <a:ext cx="1408176" cy="658368"/>
          </a:xfrm>
          <a:prstGeom prst="rect">
            <a:avLst/>
          </a:prstGeom>
          <a:solidFill>
            <a:srgbClr val="E9F0F3"/>
          </a:solidFill>
          <a:ln w="19050">
            <a:solidFill>
              <a:srgbClr val="FFFFFF"/>
            </a:solidFill>
            <a:prstDash val="solid"/>
          </a:ln>
        </p:spPr>
        <p:txBody>
          <a:bodyPr/>
          <a:lstStyle/>
          <a:p>
            <a:endParaRPr lang="de-DE"/>
          </a:p>
        </p:txBody>
      </p:sp>
      <p:sp>
        <p:nvSpPr>
          <p:cNvPr id="53" name="Text 51"/>
          <p:cNvSpPr/>
          <p:nvPr/>
        </p:nvSpPr>
        <p:spPr>
          <a:xfrm>
            <a:off x="3703320" y="3438144"/>
            <a:ext cx="1408176" cy="310896"/>
          </a:xfrm>
          <a:prstGeom prst="rect">
            <a:avLst/>
          </a:prstGeom>
          <a:noFill/>
          <a:ln/>
        </p:spPr>
        <p:txBody>
          <a:bodyPr wrap="square" lIns="0" tIns="0" rIns="0" bIns="0" rtlCol="0" anchor="ctr"/>
          <a:lstStyle/>
          <a:p>
            <a:pPr marL="0" indent="0" algn="ctr">
              <a:buNone/>
            </a:pPr>
            <a:r>
              <a:rPr lang="en-US" sz="1200" dirty="0">
                <a:solidFill>
                  <a:srgbClr val="6E7681"/>
                </a:solidFill>
                <a:latin typeface="Calibri" pitchFamily="34" charset="0"/>
                <a:ea typeface="Calibri" pitchFamily="34" charset="-122"/>
                <a:cs typeface="Calibri" pitchFamily="34" charset="-120"/>
              </a:rPr>
              <a:t>-809  →  </a:t>
            </a:r>
            <a:r>
              <a:rPr lang="en-US" sz="1200" b="1" dirty="0">
                <a:solidFill>
                  <a:srgbClr val="1C6E8C"/>
                </a:solidFill>
                <a:latin typeface="Calibri" pitchFamily="34" charset="0"/>
                <a:ea typeface="Calibri" pitchFamily="34" charset="-122"/>
                <a:cs typeface="Calibri" pitchFamily="34" charset="-120"/>
              </a:rPr>
              <a:t>-120</a:t>
            </a:r>
            <a:endParaRPr lang="en-US" sz="1200" dirty="0"/>
          </a:p>
        </p:txBody>
      </p:sp>
      <p:sp>
        <p:nvSpPr>
          <p:cNvPr id="54" name="Text 52"/>
          <p:cNvSpPr/>
          <p:nvPr/>
        </p:nvSpPr>
        <p:spPr>
          <a:xfrm>
            <a:off x="3703320" y="3749040"/>
            <a:ext cx="1408176" cy="219456"/>
          </a:xfrm>
          <a:prstGeom prst="rect">
            <a:avLst/>
          </a:prstGeom>
          <a:noFill/>
          <a:ln/>
        </p:spPr>
        <p:txBody>
          <a:bodyPr wrap="square" lIns="0" tIns="0" rIns="0" bIns="0" rtlCol="0" anchor="ctr"/>
          <a:lstStyle/>
          <a:p>
            <a:pPr marL="0" indent="0" algn="ctr">
              <a:buNone/>
            </a:pPr>
            <a:r>
              <a:rPr lang="en-US" sz="900" dirty="0">
                <a:solidFill>
                  <a:srgbClr val="6E7681"/>
                </a:solidFill>
                <a:latin typeface="Calibri" pitchFamily="34" charset="0"/>
                <a:ea typeface="Calibri" pitchFamily="34" charset="-122"/>
                <a:cs typeface="Calibri" pitchFamily="34" charset="-120"/>
              </a:rPr>
              <a:t>62 Episoden</a:t>
            </a:r>
            <a:endParaRPr lang="en-US" sz="900" dirty="0"/>
          </a:p>
        </p:txBody>
      </p:sp>
      <p:sp>
        <p:nvSpPr>
          <p:cNvPr id="55" name="Shape 53"/>
          <p:cNvSpPr/>
          <p:nvPr/>
        </p:nvSpPr>
        <p:spPr>
          <a:xfrm>
            <a:off x="5166360" y="3346704"/>
            <a:ext cx="1408176" cy="658368"/>
          </a:xfrm>
          <a:prstGeom prst="rect">
            <a:avLst/>
          </a:prstGeom>
          <a:solidFill>
            <a:srgbClr val="E9F0F3"/>
          </a:solidFill>
          <a:ln w="19050">
            <a:solidFill>
              <a:srgbClr val="FFFFFF"/>
            </a:solidFill>
            <a:prstDash val="solid"/>
          </a:ln>
        </p:spPr>
        <p:txBody>
          <a:bodyPr/>
          <a:lstStyle/>
          <a:p>
            <a:endParaRPr lang="de-DE"/>
          </a:p>
        </p:txBody>
      </p:sp>
      <p:sp>
        <p:nvSpPr>
          <p:cNvPr id="56" name="Text 54"/>
          <p:cNvSpPr/>
          <p:nvPr/>
        </p:nvSpPr>
        <p:spPr>
          <a:xfrm>
            <a:off x="5166360" y="3438144"/>
            <a:ext cx="1408176" cy="310896"/>
          </a:xfrm>
          <a:prstGeom prst="rect">
            <a:avLst/>
          </a:prstGeom>
          <a:noFill/>
          <a:ln/>
        </p:spPr>
        <p:txBody>
          <a:bodyPr wrap="square" lIns="0" tIns="0" rIns="0" bIns="0" rtlCol="0" anchor="ctr"/>
          <a:lstStyle/>
          <a:p>
            <a:pPr marL="0" indent="0" algn="ctr">
              <a:buNone/>
            </a:pPr>
            <a:r>
              <a:rPr lang="en-US" sz="1200" dirty="0">
                <a:solidFill>
                  <a:srgbClr val="6E7681"/>
                </a:solidFill>
                <a:latin typeface="Calibri" pitchFamily="34" charset="0"/>
                <a:ea typeface="Calibri" pitchFamily="34" charset="-122"/>
                <a:cs typeface="Calibri" pitchFamily="34" charset="-120"/>
              </a:rPr>
              <a:t>-775  →  </a:t>
            </a:r>
            <a:r>
              <a:rPr lang="en-US" sz="1200" b="1" dirty="0">
                <a:solidFill>
                  <a:srgbClr val="1C6E8C"/>
                </a:solidFill>
                <a:latin typeface="Calibri" pitchFamily="34" charset="0"/>
                <a:ea typeface="Calibri" pitchFamily="34" charset="-122"/>
                <a:cs typeface="Calibri" pitchFamily="34" charset="-120"/>
              </a:rPr>
              <a:t>-87</a:t>
            </a:r>
            <a:endParaRPr lang="en-US" sz="1200" dirty="0"/>
          </a:p>
        </p:txBody>
      </p:sp>
      <p:sp>
        <p:nvSpPr>
          <p:cNvPr id="57" name="Text 55"/>
          <p:cNvSpPr/>
          <p:nvPr/>
        </p:nvSpPr>
        <p:spPr>
          <a:xfrm>
            <a:off x="5166360" y="3749040"/>
            <a:ext cx="1408176" cy="219456"/>
          </a:xfrm>
          <a:prstGeom prst="rect">
            <a:avLst/>
          </a:prstGeom>
          <a:noFill/>
          <a:ln/>
        </p:spPr>
        <p:txBody>
          <a:bodyPr wrap="square" lIns="0" tIns="0" rIns="0" bIns="0" rtlCol="0" anchor="ctr"/>
          <a:lstStyle/>
          <a:p>
            <a:pPr marL="0" indent="0" algn="ctr">
              <a:buNone/>
            </a:pPr>
            <a:r>
              <a:rPr lang="en-US" sz="900" dirty="0">
                <a:solidFill>
                  <a:srgbClr val="6E7681"/>
                </a:solidFill>
                <a:latin typeface="Calibri" pitchFamily="34" charset="0"/>
                <a:ea typeface="Calibri" pitchFamily="34" charset="-122"/>
                <a:cs typeface="Calibri" pitchFamily="34" charset="-120"/>
              </a:rPr>
              <a:t>60 Episoden</a:t>
            </a:r>
            <a:endParaRPr lang="en-US" sz="900" dirty="0"/>
          </a:p>
        </p:txBody>
      </p:sp>
      <p:sp>
        <p:nvSpPr>
          <p:cNvPr id="58" name="Shape 56"/>
          <p:cNvSpPr/>
          <p:nvPr/>
        </p:nvSpPr>
        <p:spPr>
          <a:xfrm>
            <a:off x="6629400" y="3346704"/>
            <a:ext cx="1408176" cy="658368"/>
          </a:xfrm>
          <a:prstGeom prst="rect">
            <a:avLst/>
          </a:prstGeom>
          <a:solidFill>
            <a:srgbClr val="E9F0F3"/>
          </a:solidFill>
          <a:ln w="19050">
            <a:solidFill>
              <a:srgbClr val="FFFFFF"/>
            </a:solidFill>
            <a:prstDash val="solid"/>
          </a:ln>
        </p:spPr>
        <p:txBody>
          <a:bodyPr/>
          <a:lstStyle/>
          <a:p>
            <a:endParaRPr lang="de-DE"/>
          </a:p>
        </p:txBody>
      </p:sp>
      <p:sp>
        <p:nvSpPr>
          <p:cNvPr id="59" name="Text 57"/>
          <p:cNvSpPr/>
          <p:nvPr/>
        </p:nvSpPr>
        <p:spPr>
          <a:xfrm>
            <a:off x="6629400" y="3438144"/>
            <a:ext cx="1408176" cy="310896"/>
          </a:xfrm>
          <a:prstGeom prst="rect">
            <a:avLst/>
          </a:prstGeom>
          <a:noFill/>
          <a:ln/>
        </p:spPr>
        <p:txBody>
          <a:bodyPr wrap="square" lIns="0" tIns="0" rIns="0" bIns="0" rtlCol="0" anchor="ctr"/>
          <a:lstStyle/>
          <a:p>
            <a:pPr marL="0" indent="0" algn="ctr">
              <a:buNone/>
            </a:pPr>
            <a:r>
              <a:rPr lang="en-US" sz="1200" dirty="0">
                <a:solidFill>
                  <a:srgbClr val="6E7681"/>
                </a:solidFill>
                <a:latin typeface="Calibri" pitchFamily="34" charset="0"/>
                <a:ea typeface="Calibri" pitchFamily="34" charset="-122"/>
                <a:cs typeface="Calibri" pitchFamily="34" charset="-120"/>
              </a:rPr>
              <a:t>-6.066  →  </a:t>
            </a:r>
            <a:r>
              <a:rPr lang="en-US" sz="1200" b="1" dirty="0">
                <a:solidFill>
                  <a:srgbClr val="1C6E8C"/>
                </a:solidFill>
                <a:latin typeface="Calibri" pitchFamily="34" charset="0"/>
                <a:ea typeface="Calibri" pitchFamily="34" charset="-122"/>
                <a:cs typeface="Calibri" pitchFamily="34" charset="-120"/>
              </a:rPr>
              <a:t>-851</a:t>
            </a:r>
            <a:endParaRPr lang="en-US" sz="1200" dirty="0"/>
          </a:p>
        </p:txBody>
      </p:sp>
      <p:sp>
        <p:nvSpPr>
          <p:cNvPr id="60" name="Text 58"/>
          <p:cNvSpPr/>
          <p:nvPr/>
        </p:nvSpPr>
        <p:spPr>
          <a:xfrm>
            <a:off x="6629400" y="3749040"/>
            <a:ext cx="1408176" cy="219456"/>
          </a:xfrm>
          <a:prstGeom prst="rect">
            <a:avLst/>
          </a:prstGeom>
          <a:noFill/>
          <a:ln/>
        </p:spPr>
        <p:txBody>
          <a:bodyPr wrap="square" lIns="0" tIns="0" rIns="0" bIns="0" rtlCol="0" anchor="ctr"/>
          <a:lstStyle/>
          <a:p>
            <a:pPr marL="0" indent="0" algn="ctr">
              <a:buNone/>
            </a:pPr>
            <a:r>
              <a:rPr lang="en-US" sz="900" dirty="0">
                <a:solidFill>
                  <a:srgbClr val="6E7681"/>
                </a:solidFill>
                <a:latin typeface="Calibri" pitchFamily="34" charset="0"/>
                <a:ea typeface="Calibri" pitchFamily="34" charset="-122"/>
                <a:cs typeface="Calibri" pitchFamily="34" charset="-120"/>
              </a:rPr>
              <a:t>258 Episoden</a:t>
            </a:r>
            <a:endParaRPr lang="en-US" sz="900" dirty="0"/>
          </a:p>
        </p:txBody>
      </p:sp>
      <p:sp>
        <p:nvSpPr>
          <p:cNvPr id="61" name="Shape 59"/>
          <p:cNvSpPr/>
          <p:nvPr/>
        </p:nvSpPr>
        <p:spPr>
          <a:xfrm>
            <a:off x="8092440" y="3346704"/>
            <a:ext cx="1408176" cy="658368"/>
          </a:xfrm>
          <a:prstGeom prst="rect">
            <a:avLst/>
          </a:prstGeom>
          <a:solidFill>
            <a:srgbClr val="E9F0F3"/>
          </a:solidFill>
          <a:ln w="19050">
            <a:solidFill>
              <a:srgbClr val="FFFFFF"/>
            </a:solidFill>
            <a:prstDash val="solid"/>
          </a:ln>
        </p:spPr>
        <p:txBody>
          <a:bodyPr/>
          <a:lstStyle/>
          <a:p>
            <a:endParaRPr lang="de-DE"/>
          </a:p>
        </p:txBody>
      </p:sp>
      <p:sp>
        <p:nvSpPr>
          <p:cNvPr id="62" name="Text 60"/>
          <p:cNvSpPr/>
          <p:nvPr/>
        </p:nvSpPr>
        <p:spPr>
          <a:xfrm>
            <a:off x="8092440" y="3438144"/>
            <a:ext cx="1408176" cy="310896"/>
          </a:xfrm>
          <a:prstGeom prst="rect">
            <a:avLst/>
          </a:prstGeom>
          <a:noFill/>
          <a:ln/>
        </p:spPr>
        <p:txBody>
          <a:bodyPr wrap="square" lIns="0" tIns="0" rIns="0" bIns="0" rtlCol="0" anchor="ctr"/>
          <a:lstStyle/>
          <a:p>
            <a:pPr marL="0" indent="0" algn="ctr">
              <a:buNone/>
            </a:pPr>
            <a:r>
              <a:rPr lang="en-US" sz="1200" dirty="0">
                <a:solidFill>
                  <a:srgbClr val="6E7681"/>
                </a:solidFill>
                <a:latin typeface="Calibri" pitchFamily="34" charset="0"/>
                <a:ea typeface="Calibri" pitchFamily="34" charset="-122"/>
                <a:cs typeface="Calibri" pitchFamily="34" charset="-120"/>
              </a:rPr>
              <a:t>-723  →  </a:t>
            </a:r>
            <a:r>
              <a:rPr lang="en-US" sz="1200" b="1" dirty="0">
                <a:solidFill>
                  <a:srgbClr val="1C6E8C"/>
                </a:solidFill>
                <a:latin typeface="Calibri" pitchFamily="34" charset="0"/>
                <a:ea typeface="Calibri" pitchFamily="34" charset="-122"/>
                <a:cs typeface="Calibri" pitchFamily="34" charset="-120"/>
              </a:rPr>
              <a:t>-45</a:t>
            </a:r>
            <a:endParaRPr lang="en-US" sz="1200" dirty="0"/>
          </a:p>
        </p:txBody>
      </p:sp>
      <p:sp>
        <p:nvSpPr>
          <p:cNvPr id="63" name="Text 61"/>
          <p:cNvSpPr/>
          <p:nvPr/>
        </p:nvSpPr>
        <p:spPr>
          <a:xfrm>
            <a:off x="8092440" y="3749040"/>
            <a:ext cx="1408176" cy="219456"/>
          </a:xfrm>
          <a:prstGeom prst="rect">
            <a:avLst/>
          </a:prstGeom>
          <a:noFill/>
          <a:ln/>
        </p:spPr>
        <p:txBody>
          <a:bodyPr wrap="square" lIns="0" tIns="0" rIns="0" bIns="0" rtlCol="0" anchor="ctr"/>
          <a:lstStyle/>
          <a:p>
            <a:pPr marL="0" indent="0" algn="ctr">
              <a:buNone/>
            </a:pPr>
            <a:r>
              <a:rPr lang="en-US" sz="900" dirty="0">
                <a:solidFill>
                  <a:srgbClr val="6E7681"/>
                </a:solidFill>
                <a:latin typeface="Calibri" pitchFamily="34" charset="0"/>
                <a:ea typeface="Calibri" pitchFamily="34" charset="-122"/>
                <a:cs typeface="Calibri" pitchFamily="34" charset="-120"/>
              </a:rPr>
              <a:t>58 Episoden</a:t>
            </a:r>
            <a:endParaRPr lang="en-US" sz="900" dirty="0"/>
          </a:p>
        </p:txBody>
      </p:sp>
      <p:sp>
        <p:nvSpPr>
          <p:cNvPr id="64" name="Shape 62"/>
          <p:cNvSpPr/>
          <p:nvPr/>
        </p:nvSpPr>
        <p:spPr>
          <a:xfrm>
            <a:off x="9555480" y="3346704"/>
            <a:ext cx="1408176" cy="658368"/>
          </a:xfrm>
          <a:prstGeom prst="rect">
            <a:avLst/>
          </a:prstGeom>
          <a:solidFill>
            <a:srgbClr val="E9F0F3"/>
          </a:solidFill>
          <a:ln w="19050">
            <a:solidFill>
              <a:srgbClr val="FFFFFF"/>
            </a:solidFill>
            <a:prstDash val="solid"/>
          </a:ln>
        </p:spPr>
        <p:txBody>
          <a:bodyPr/>
          <a:lstStyle/>
          <a:p>
            <a:endParaRPr lang="de-DE"/>
          </a:p>
        </p:txBody>
      </p:sp>
      <p:sp>
        <p:nvSpPr>
          <p:cNvPr id="65" name="Text 63"/>
          <p:cNvSpPr/>
          <p:nvPr/>
        </p:nvSpPr>
        <p:spPr>
          <a:xfrm>
            <a:off x="9555480" y="3438144"/>
            <a:ext cx="1408176" cy="310896"/>
          </a:xfrm>
          <a:prstGeom prst="rect">
            <a:avLst/>
          </a:prstGeom>
          <a:noFill/>
          <a:ln/>
        </p:spPr>
        <p:txBody>
          <a:bodyPr wrap="square" lIns="0" tIns="0" rIns="0" bIns="0" rtlCol="0" anchor="ctr"/>
          <a:lstStyle/>
          <a:p>
            <a:pPr marL="0" indent="0" algn="ctr">
              <a:buNone/>
            </a:pPr>
            <a:r>
              <a:rPr lang="en-US" sz="1200" dirty="0">
                <a:solidFill>
                  <a:srgbClr val="6E7681"/>
                </a:solidFill>
                <a:latin typeface="Calibri" pitchFamily="34" charset="0"/>
                <a:ea typeface="Calibri" pitchFamily="34" charset="-122"/>
                <a:cs typeface="Calibri" pitchFamily="34" charset="-120"/>
              </a:rPr>
              <a:t>-833  →  </a:t>
            </a:r>
            <a:r>
              <a:rPr lang="en-US" sz="1200" b="1" dirty="0">
                <a:solidFill>
                  <a:srgbClr val="1C6E8C"/>
                </a:solidFill>
                <a:latin typeface="Calibri" pitchFamily="34" charset="0"/>
                <a:ea typeface="Calibri" pitchFamily="34" charset="-122"/>
                <a:cs typeface="Calibri" pitchFamily="34" charset="-120"/>
              </a:rPr>
              <a:t>-164</a:t>
            </a:r>
            <a:endParaRPr lang="en-US" sz="1200" dirty="0"/>
          </a:p>
        </p:txBody>
      </p:sp>
      <p:sp>
        <p:nvSpPr>
          <p:cNvPr id="66" name="Text 64"/>
          <p:cNvSpPr/>
          <p:nvPr/>
        </p:nvSpPr>
        <p:spPr>
          <a:xfrm>
            <a:off x="9555480" y="3749040"/>
            <a:ext cx="1408176" cy="219456"/>
          </a:xfrm>
          <a:prstGeom prst="rect">
            <a:avLst/>
          </a:prstGeom>
          <a:noFill/>
          <a:ln/>
        </p:spPr>
        <p:txBody>
          <a:bodyPr wrap="square" lIns="0" tIns="0" rIns="0" bIns="0" rtlCol="0" anchor="ctr"/>
          <a:lstStyle/>
          <a:p>
            <a:pPr marL="0" indent="0" algn="ctr">
              <a:buNone/>
            </a:pPr>
            <a:r>
              <a:rPr lang="en-US" sz="900" dirty="0">
                <a:solidFill>
                  <a:srgbClr val="6E7681"/>
                </a:solidFill>
                <a:latin typeface="Calibri" pitchFamily="34" charset="0"/>
                <a:ea typeface="Calibri" pitchFamily="34" charset="-122"/>
                <a:cs typeface="Calibri" pitchFamily="34" charset="-120"/>
              </a:rPr>
              <a:t>90 Episoden</a:t>
            </a:r>
            <a:endParaRPr lang="en-US" sz="900" dirty="0"/>
          </a:p>
        </p:txBody>
      </p:sp>
      <p:sp>
        <p:nvSpPr>
          <p:cNvPr id="67" name="Text 65"/>
          <p:cNvSpPr/>
          <p:nvPr/>
        </p:nvSpPr>
        <p:spPr>
          <a:xfrm>
            <a:off x="640080" y="4059936"/>
            <a:ext cx="1508760" cy="713232"/>
          </a:xfrm>
          <a:prstGeom prst="rect">
            <a:avLst/>
          </a:prstGeom>
          <a:noFill/>
          <a:ln/>
        </p:spPr>
        <p:txBody>
          <a:bodyPr wrap="square" lIns="0" tIns="0" rIns="0" bIns="0" rtlCol="0" anchor="ctr"/>
          <a:lstStyle/>
          <a:p>
            <a:pPr marL="0" indent="0" algn="r">
              <a:buNone/>
            </a:pPr>
            <a:r>
              <a:rPr lang="en-US" sz="1300" b="1" dirty="0">
                <a:solidFill>
                  <a:srgbClr val="23282F"/>
                </a:solidFill>
                <a:latin typeface="Calibri" pitchFamily="34" charset="0"/>
                <a:ea typeface="Calibri" pitchFamily="34" charset="-122"/>
                <a:cs typeface="Calibri" pitchFamily="34" charset="-120"/>
              </a:rPr>
              <a:t>Micro-Seg.</a:t>
            </a:r>
            <a:endParaRPr lang="en-US" sz="1300" dirty="0"/>
          </a:p>
        </p:txBody>
      </p:sp>
      <p:sp>
        <p:nvSpPr>
          <p:cNvPr id="68" name="Shape 66"/>
          <p:cNvSpPr/>
          <p:nvPr/>
        </p:nvSpPr>
        <p:spPr>
          <a:xfrm>
            <a:off x="2240280" y="4059936"/>
            <a:ext cx="1408176" cy="658368"/>
          </a:xfrm>
          <a:prstGeom prst="rect">
            <a:avLst/>
          </a:prstGeom>
          <a:solidFill>
            <a:srgbClr val="E9F0F3"/>
          </a:solidFill>
          <a:ln w="19050">
            <a:solidFill>
              <a:srgbClr val="FFFFFF"/>
            </a:solidFill>
            <a:prstDash val="solid"/>
          </a:ln>
        </p:spPr>
        <p:txBody>
          <a:bodyPr/>
          <a:lstStyle/>
          <a:p>
            <a:endParaRPr lang="de-DE"/>
          </a:p>
        </p:txBody>
      </p:sp>
      <p:sp>
        <p:nvSpPr>
          <p:cNvPr id="69" name="Text 67"/>
          <p:cNvSpPr/>
          <p:nvPr/>
        </p:nvSpPr>
        <p:spPr>
          <a:xfrm>
            <a:off x="2240280" y="4151376"/>
            <a:ext cx="1408176" cy="310896"/>
          </a:xfrm>
          <a:prstGeom prst="rect">
            <a:avLst/>
          </a:prstGeom>
          <a:noFill/>
          <a:ln/>
        </p:spPr>
        <p:txBody>
          <a:bodyPr wrap="square" lIns="0" tIns="0" rIns="0" bIns="0" rtlCol="0" anchor="ctr"/>
          <a:lstStyle/>
          <a:p>
            <a:pPr marL="0" indent="0" algn="ctr">
              <a:buNone/>
            </a:pPr>
            <a:r>
              <a:rPr lang="en-US" sz="1200" dirty="0">
                <a:solidFill>
                  <a:srgbClr val="6E7681"/>
                </a:solidFill>
                <a:latin typeface="Calibri" pitchFamily="34" charset="0"/>
                <a:ea typeface="Calibri" pitchFamily="34" charset="-122"/>
                <a:cs typeface="Calibri" pitchFamily="34" charset="-120"/>
              </a:rPr>
              <a:t>-717  →  </a:t>
            </a:r>
            <a:r>
              <a:rPr lang="en-US" sz="1200" b="1" dirty="0">
                <a:solidFill>
                  <a:srgbClr val="1C6E8C"/>
                </a:solidFill>
                <a:latin typeface="Calibri" pitchFamily="34" charset="0"/>
                <a:ea typeface="Calibri" pitchFamily="34" charset="-122"/>
                <a:cs typeface="Calibri" pitchFamily="34" charset="-120"/>
              </a:rPr>
              <a:t>-46</a:t>
            </a:r>
            <a:endParaRPr lang="en-US" sz="1200" dirty="0"/>
          </a:p>
        </p:txBody>
      </p:sp>
      <p:sp>
        <p:nvSpPr>
          <p:cNvPr id="70" name="Text 68"/>
          <p:cNvSpPr/>
          <p:nvPr/>
        </p:nvSpPr>
        <p:spPr>
          <a:xfrm>
            <a:off x="2240280" y="4462272"/>
            <a:ext cx="1408176" cy="219456"/>
          </a:xfrm>
          <a:prstGeom prst="rect">
            <a:avLst/>
          </a:prstGeom>
          <a:noFill/>
          <a:ln/>
        </p:spPr>
        <p:txBody>
          <a:bodyPr wrap="square" lIns="0" tIns="0" rIns="0" bIns="0" rtlCol="0" anchor="ctr"/>
          <a:lstStyle/>
          <a:p>
            <a:pPr marL="0" indent="0" algn="ctr">
              <a:buNone/>
            </a:pPr>
            <a:r>
              <a:rPr lang="en-US" sz="900" dirty="0">
                <a:solidFill>
                  <a:srgbClr val="6E7681"/>
                </a:solidFill>
                <a:latin typeface="Calibri" pitchFamily="34" charset="0"/>
                <a:ea typeface="Calibri" pitchFamily="34" charset="-122"/>
                <a:cs typeface="Calibri" pitchFamily="34" charset="-120"/>
              </a:rPr>
              <a:t>57 Episoden</a:t>
            </a:r>
            <a:endParaRPr lang="en-US" sz="900" dirty="0"/>
          </a:p>
        </p:txBody>
      </p:sp>
      <p:sp>
        <p:nvSpPr>
          <p:cNvPr id="71" name="Shape 69"/>
          <p:cNvSpPr/>
          <p:nvPr/>
        </p:nvSpPr>
        <p:spPr>
          <a:xfrm>
            <a:off x="3703320" y="4059936"/>
            <a:ext cx="1408176" cy="658368"/>
          </a:xfrm>
          <a:prstGeom prst="rect">
            <a:avLst/>
          </a:prstGeom>
          <a:solidFill>
            <a:srgbClr val="E9F0F3"/>
          </a:solidFill>
          <a:ln w="19050">
            <a:solidFill>
              <a:srgbClr val="FFFFFF"/>
            </a:solidFill>
            <a:prstDash val="solid"/>
          </a:ln>
        </p:spPr>
        <p:txBody>
          <a:bodyPr/>
          <a:lstStyle/>
          <a:p>
            <a:endParaRPr lang="de-DE"/>
          </a:p>
        </p:txBody>
      </p:sp>
      <p:sp>
        <p:nvSpPr>
          <p:cNvPr id="72" name="Text 70"/>
          <p:cNvSpPr/>
          <p:nvPr/>
        </p:nvSpPr>
        <p:spPr>
          <a:xfrm>
            <a:off x="3703320" y="4151376"/>
            <a:ext cx="1408176" cy="310896"/>
          </a:xfrm>
          <a:prstGeom prst="rect">
            <a:avLst/>
          </a:prstGeom>
          <a:noFill/>
          <a:ln/>
        </p:spPr>
        <p:txBody>
          <a:bodyPr wrap="square" lIns="0" tIns="0" rIns="0" bIns="0" rtlCol="0" anchor="ctr"/>
          <a:lstStyle/>
          <a:p>
            <a:pPr marL="0" indent="0" algn="ctr">
              <a:buNone/>
            </a:pPr>
            <a:r>
              <a:rPr lang="en-US" sz="1200" dirty="0">
                <a:solidFill>
                  <a:srgbClr val="6E7681"/>
                </a:solidFill>
                <a:latin typeface="Calibri" pitchFamily="34" charset="0"/>
                <a:ea typeface="Calibri" pitchFamily="34" charset="-122"/>
                <a:cs typeface="Calibri" pitchFamily="34" charset="-120"/>
              </a:rPr>
              <a:t>-796  →  </a:t>
            </a:r>
            <a:r>
              <a:rPr lang="en-US" sz="1200" b="1" dirty="0">
                <a:solidFill>
                  <a:srgbClr val="1C6E8C"/>
                </a:solidFill>
                <a:latin typeface="Calibri" pitchFamily="34" charset="0"/>
                <a:ea typeface="Calibri" pitchFamily="34" charset="-122"/>
                <a:cs typeface="Calibri" pitchFamily="34" charset="-120"/>
              </a:rPr>
              <a:t>-125</a:t>
            </a:r>
            <a:endParaRPr lang="en-US" sz="1200" dirty="0"/>
          </a:p>
        </p:txBody>
      </p:sp>
      <p:sp>
        <p:nvSpPr>
          <p:cNvPr id="73" name="Text 71"/>
          <p:cNvSpPr/>
          <p:nvPr/>
        </p:nvSpPr>
        <p:spPr>
          <a:xfrm>
            <a:off x="3703320" y="4462272"/>
            <a:ext cx="1408176" cy="219456"/>
          </a:xfrm>
          <a:prstGeom prst="rect">
            <a:avLst/>
          </a:prstGeom>
          <a:noFill/>
          <a:ln/>
        </p:spPr>
        <p:txBody>
          <a:bodyPr wrap="square" lIns="0" tIns="0" rIns="0" bIns="0" rtlCol="0" anchor="ctr"/>
          <a:lstStyle/>
          <a:p>
            <a:pPr marL="0" indent="0" algn="ctr">
              <a:buNone/>
            </a:pPr>
            <a:r>
              <a:rPr lang="en-US" sz="900" dirty="0">
                <a:solidFill>
                  <a:srgbClr val="6E7681"/>
                </a:solidFill>
                <a:latin typeface="Calibri" pitchFamily="34" charset="0"/>
                <a:ea typeface="Calibri" pitchFamily="34" charset="-122"/>
                <a:cs typeface="Calibri" pitchFamily="34" charset="-120"/>
              </a:rPr>
              <a:t>59 Episoden</a:t>
            </a:r>
            <a:endParaRPr lang="en-US" sz="900" dirty="0"/>
          </a:p>
        </p:txBody>
      </p:sp>
      <p:sp>
        <p:nvSpPr>
          <p:cNvPr id="74" name="Shape 72"/>
          <p:cNvSpPr/>
          <p:nvPr/>
        </p:nvSpPr>
        <p:spPr>
          <a:xfrm>
            <a:off x="5166360" y="4059936"/>
            <a:ext cx="1408176" cy="658368"/>
          </a:xfrm>
          <a:prstGeom prst="rect">
            <a:avLst/>
          </a:prstGeom>
          <a:solidFill>
            <a:srgbClr val="E9F0F3"/>
          </a:solidFill>
          <a:ln w="19050">
            <a:solidFill>
              <a:srgbClr val="FFFFFF"/>
            </a:solidFill>
            <a:prstDash val="solid"/>
          </a:ln>
        </p:spPr>
        <p:txBody>
          <a:bodyPr/>
          <a:lstStyle/>
          <a:p>
            <a:endParaRPr lang="de-DE"/>
          </a:p>
        </p:txBody>
      </p:sp>
      <p:sp>
        <p:nvSpPr>
          <p:cNvPr id="75" name="Text 73"/>
          <p:cNvSpPr/>
          <p:nvPr/>
        </p:nvSpPr>
        <p:spPr>
          <a:xfrm>
            <a:off x="5166360" y="4151376"/>
            <a:ext cx="1408176" cy="310896"/>
          </a:xfrm>
          <a:prstGeom prst="rect">
            <a:avLst/>
          </a:prstGeom>
          <a:noFill/>
          <a:ln/>
        </p:spPr>
        <p:txBody>
          <a:bodyPr wrap="square" lIns="0" tIns="0" rIns="0" bIns="0" rtlCol="0" anchor="ctr"/>
          <a:lstStyle/>
          <a:p>
            <a:pPr marL="0" indent="0" algn="ctr">
              <a:buNone/>
            </a:pPr>
            <a:r>
              <a:rPr lang="en-US" sz="1200" dirty="0">
                <a:solidFill>
                  <a:srgbClr val="6E7681"/>
                </a:solidFill>
                <a:latin typeface="Calibri" pitchFamily="34" charset="0"/>
                <a:ea typeface="Calibri" pitchFamily="34" charset="-122"/>
                <a:cs typeface="Calibri" pitchFamily="34" charset="-120"/>
              </a:rPr>
              <a:t>-798  →  </a:t>
            </a:r>
            <a:r>
              <a:rPr lang="en-US" sz="1200" b="1" dirty="0">
                <a:solidFill>
                  <a:srgbClr val="1C6E8C"/>
                </a:solidFill>
                <a:latin typeface="Calibri" pitchFamily="34" charset="0"/>
                <a:ea typeface="Calibri" pitchFamily="34" charset="-122"/>
                <a:cs typeface="Calibri" pitchFamily="34" charset="-120"/>
              </a:rPr>
              <a:t>-95</a:t>
            </a:r>
            <a:endParaRPr lang="en-US" sz="1200" dirty="0"/>
          </a:p>
        </p:txBody>
      </p:sp>
      <p:sp>
        <p:nvSpPr>
          <p:cNvPr id="76" name="Text 74"/>
          <p:cNvSpPr/>
          <p:nvPr/>
        </p:nvSpPr>
        <p:spPr>
          <a:xfrm>
            <a:off x="5166360" y="4462272"/>
            <a:ext cx="1408176" cy="219456"/>
          </a:xfrm>
          <a:prstGeom prst="rect">
            <a:avLst/>
          </a:prstGeom>
          <a:noFill/>
          <a:ln/>
        </p:spPr>
        <p:txBody>
          <a:bodyPr wrap="square" lIns="0" tIns="0" rIns="0" bIns="0" rtlCol="0" anchor="ctr"/>
          <a:lstStyle/>
          <a:p>
            <a:pPr marL="0" indent="0" algn="ctr">
              <a:buNone/>
            </a:pPr>
            <a:r>
              <a:rPr lang="en-US" sz="900" dirty="0">
                <a:solidFill>
                  <a:srgbClr val="6E7681"/>
                </a:solidFill>
                <a:latin typeface="Calibri" pitchFamily="34" charset="0"/>
                <a:ea typeface="Calibri" pitchFamily="34" charset="-122"/>
                <a:cs typeface="Calibri" pitchFamily="34" charset="-120"/>
              </a:rPr>
              <a:t>61 Episoden</a:t>
            </a:r>
            <a:endParaRPr lang="en-US" sz="900" dirty="0"/>
          </a:p>
        </p:txBody>
      </p:sp>
      <p:sp>
        <p:nvSpPr>
          <p:cNvPr id="77" name="Shape 75"/>
          <p:cNvSpPr/>
          <p:nvPr/>
        </p:nvSpPr>
        <p:spPr>
          <a:xfrm>
            <a:off x="6629400" y="4059936"/>
            <a:ext cx="1408176" cy="658368"/>
          </a:xfrm>
          <a:prstGeom prst="rect">
            <a:avLst/>
          </a:prstGeom>
          <a:solidFill>
            <a:srgbClr val="E9F0F3"/>
          </a:solidFill>
          <a:ln w="19050">
            <a:solidFill>
              <a:srgbClr val="FFFFFF"/>
            </a:solidFill>
            <a:prstDash val="solid"/>
          </a:ln>
        </p:spPr>
        <p:txBody>
          <a:bodyPr/>
          <a:lstStyle/>
          <a:p>
            <a:endParaRPr lang="de-DE"/>
          </a:p>
        </p:txBody>
      </p:sp>
      <p:sp>
        <p:nvSpPr>
          <p:cNvPr id="78" name="Text 76"/>
          <p:cNvSpPr/>
          <p:nvPr/>
        </p:nvSpPr>
        <p:spPr>
          <a:xfrm>
            <a:off x="6629400" y="4151376"/>
            <a:ext cx="1408176" cy="310896"/>
          </a:xfrm>
          <a:prstGeom prst="rect">
            <a:avLst/>
          </a:prstGeom>
          <a:noFill/>
          <a:ln/>
        </p:spPr>
        <p:txBody>
          <a:bodyPr wrap="square" lIns="0" tIns="0" rIns="0" bIns="0" rtlCol="0" anchor="ctr"/>
          <a:lstStyle/>
          <a:p>
            <a:pPr marL="0" indent="0" algn="ctr">
              <a:buNone/>
            </a:pPr>
            <a:r>
              <a:rPr lang="en-US" sz="1200" dirty="0">
                <a:solidFill>
                  <a:srgbClr val="6E7681"/>
                </a:solidFill>
                <a:latin typeface="Calibri" pitchFamily="34" charset="0"/>
                <a:ea typeface="Calibri" pitchFamily="34" charset="-122"/>
                <a:cs typeface="Calibri" pitchFamily="34" charset="-120"/>
              </a:rPr>
              <a:t>-760  →  </a:t>
            </a:r>
            <a:r>
              <a:rPr lang="en-US" sz="1200" b="1" dirty="0">
                <a:solidFill>
                  <a:srgbClr val="1C6E8C"/>
                </a:solidFill>
                <a:latin typeface="Calibri" pitchFamily="34" charset="0"/>
                <a:ea typeface="Calibri" pitchFamily="34" charset="-122"/>
                <a:cs typeface="Calibri" pitchFamily="34" charset="-120"/>
              </a:rPr>
              <a:t>-71</a:t>
            </a:r>
            <a:endParaRPr lang="en-US" sz="1200" dirty="0"/>
          </a:p>
        </p:txBody>
      </p:sp>
      <p:sp>
        <p:nvSpPr>
          <p:cNvPr id="79" name="Text 77"/>
          <p:cNvSpPr/>
          <p:nvPr/>
        </p:nvSpPr>
        <p:spPr>
          <a:xfrm>
            <a:off x="6629400" y="4462272"/>
            <a:ext cx="1408176" cy="219456"/>
          </a:xfrm>
          <a:prstGeom prst="rect">
            <a:avLst/>
          </a:prstGeom>
          <a:noFill/>
          <a:ln/>
        </p:spPr>
        <p:txBody>
          <a:bodyPr wrap="square" lIns="0" tIns="0" rIns="0" bIns="0" rtlCol="0" anchor="ctr"/>
          <a:lstStyle/>
          <a:p>
            <a:pPr marL="0" indent="0" algn="ctr">
              <a:buNone/>
            </a:pPr>
            <a:r>
              <a:rPr lang="en-US" sz="900" dirty="0">
                <a:solidFill>
                  <a:srgbClr val="6E7681"/>
                </a:solidFill>
                <a:latin typeface="Calibri" pitchFamily="34" charset="0"/>
                <a:ea typeface="Calibri" pitchFamily="34" charset="-122"/>
                <a:cs typeface="Calibri" pitchFamily="34" charset="-120"/>
              </a:rPr>
              <a:t>74 Episoden</a:t>
            </a:r>
            <a:endParaRPr lang="en-US" sz="900" dirty="0"/>
          </a:p>
        </p:txBody>
      </p:sp>
      <p:sp>
        <p:nvSpPr>
          <p:cNvPr id="80" name="Shape 78"/>
          <p:cNvSpPr/>
          <p:nvPr/>
        </p:nvSpPr>
        <p:spPr>
          <a:xfrm>
            <a:off x="8092440" y="4059936"/>
            <a:ext cx="1408176" cy="658368"/>
          </a:xfrm>
          <a:prstGeom prst="rect">
            <a:avLst/>
          </a:prstGeom>
          <a:solidFill>
            <a:srgbClr val="E9F0F3"/>
          </a:solidFill>
          <a:ln w="19050">
            <a:solidFill>
              <a:srgbClr val="FFFFFF"/>
            </a:solidFill>
            <a:prstDash val="solid"/>
          </a:ln>
        </p:spPr>
        <p:txBody>
          <a:bodyPr/>
          <a:lstStyle/>
          <a:p>
            <a:endParaRPr lang="de-DE"/>
          </a:p>
        </p:txBody>
      </p:sp>
      <p:sp>
        <p:nvSpPr>
          <p:cNvPr id="81" name="Text 79"/>
          <p:cNvSpPr/>
          <p:nvPr/>
        </p:nvSpPr>
        <p:spPr>
          <a:xfrm>
            <a:off x="8092440" y="4151376"/>
            <a:ext cx="1408176" cy="310896"/>
          </a:xfrm>
          <a:prstGeom prst="rect">
            <a:avLst/>
          </a:prstGeom>
          <a:noFill/>
          <a:ln/>
        </p:spPr>
        <p:txBody>
          <a:bodyPr wrap="square" lIns="0" tIns="0" rIns="0" bIns="0" rtlCol="0" anchor="ctr"/>
          <a:lstStyle/>
          <a:p>
            <a:pPr marL="0" indent="0" algn="ctr">
              <a:buNone/>
            </a:pPr>
            <a:r>
              <a:rPr lang="en-US" sz="1200" dirty="0">
                <a:solidFill>
                  <a:srgbClr val="6E7681"/>
                </a:solidFill>
                <a:latin typeface="Calibri" pitchFamily="34" charset="0"/>
                <a:ea typeface="Calibri" pitchFamily="34" charset="-122"/>
                <a:cs typeface="Calibri" pitchFamily="34" charset="-120"/>
              </a:rPr>
              <a:t>-930  →  </a:t>
            </a:r>
            <a:r>
              <a:rPr lang="en-US" sz="1200" b="1" dirty="0">
                <a:solidFill>
                  <a:srgbClr val="1C6E8C"/>
                </a:solidFill>
                <a:latin typeface="Calibri" pitchFamily="34" charset="0"/>
                <a:ea typeface="Calibri" pitchFamily="34" charset="-122"/>
                <a:cs typeface="Calibri" pitchFamily="34" charset="-120"/>
              </a:rPr>
              <a:t>-231</a:t>
            </a:r>
            <a:endParaRPr lang="en-US" sz="1200" dirty="0"/>
          </a:p>
        </p:txBody>
      </p:sp>
      <p:sp>
        <p:nvSpPr>
          <p:cNvPr id="82" name="Text 80"/>
          <p:cNvSpPr/>
          <p:nvPr/>
        </p:nvSpPr>
        <p:spPr>
          <a:xfrm>
            <a:off x="8092440" y="4462272"/>
            <a:ext cx="1408176" cy="219456"/>
          </a:xfrm>
          <a:prstGeom prst="rect">
            <a:avLst/>
          </a:prstGeom>
          <a:noFill/>
          <a:ln/>
        </p:spPr>
        <p:txBody>
          <a:bodyPr wrap="square" lIns="0" tIns="0" rIns="0" bIns="0" rtlCol="0" anchor="ctr"/>
          <a:lstStyle/>
          <a:p>
            <a:pPr marL="0" indent="0" algn="ctr">
              <a:buNone/>
            </a:pPr>
            <a:r>
              <a:rPr lang="en-US" sz="900" dirty="0">
                <a:solidFill>
                  <a:srgbClr val="6E7681"/>
                </a:solidFill>
                <a:latin typeface="Calibri" pitchFamily="34" charset="0"/>
                <a:ea typeface="Calibri" pitchFamily="34" charset="-122"/>
                <a:cs typeface="Calibri" pitchFamily="34" charset="-120"/>
              </a:rPr>
              <a:t>82 Episoden</a:t>
            </a:r>
            <a:endParaRPr lang="en-US" sz="900" dirty="0"/>
          </a:p>
        </p:txBody>
      </p:sp>
      <p:sp>
        <p:nvSpPr>
          <p:cNvPr id="83" name="Shape 81"/>
          <p:cNvSpPr/>
          <p:nvPr/>
        </p:nvSpPr>
        <p:spPr>
          <a:xfrm>
            <a:off x="9555480" y="4059936"/>
            <a:ext cx="1408176" cy="658368"/>
          </a:xfrm>
          <a:prstGeom prst="rect">
            <a:avLst/>
          </a:prstGeom>
          <a:solidFill>
            <a:srgbClr val="E9F0F3"/>
          </a:solidFill>
          <a:ln w="19050">
            <a:solidFill>
              <a:srgbClr val="FFFFFF"/>
            </a:solidFill>
            <a:prstDash val="solid"/>
          </a:ln>
        </p:spPr>
        <p:txBody>
          <a:bodyPr/>
          <a:lstStyle/>
          <a:p>
            <a:endParaRPr lang="de-DE"/>
          </a:p>
        </p:txBody>
      </p:sp>
      <p:sp>
        <p:nvSpPr>
          <p:cNvPr id="84" name="Text 82"/>
          <p:cNvSpPr/>
          <p:nvPr/>
        </p:nvSpPr>
        <p:spPr>
          <a:xfrm>
            <a:off x="9555480" y="4151376"/>
            <a:ext cx="1408176" cy="310896"/>
          </a:xfrm>
          <a:prstGeom prst="rect">
            <a:avLst/>
          </a:prstGeom>
          <a:noFill/>
          <a:ln/>
        </p:spPr>
        <p:txBody>
          <a:bodyPr wrap="square" lIns="0" tIns="0" rIns="0" bIns="0" rtlCol="0" anchor="ctr"/>
          <a:lstStyle/>
          <a:p>
            <a:pPr marL="0" indent="0" algn="ctr">
              <a:buNone/>
            </a:pPr>
            <a:r>
              <a:rPr lang="en-US" sz="1200" dirty="0">
                <a:solidFill>
                  <a:srgbClr val="6E7681"/>
                </a:solidFill>
                <a:latin typeface="Calibri" pitchFamily="34" charset="0"/>
                <a:ea typeface="Calibri" pitchFamily="34" charset="-122"/>
                <a:cs typeface="Calibri" pitchFamily="34" charset="-120"/>
              </a:rPr>
              <a:t>-850  →  </a:t>
            </a:r>
            <a:r>
              <a:rPr lang="en-US" sz="1200" b="1" dirty="0">
                <a:solidFill>
                  <a:srgbClr val="1C6E8C"/>
                </a:solidFill>
                <a:latin typeface="Calibri" pitchFamily="34" charset="0"/>
                <a:ea typeface="Calibri" pitchFamily="34" charset="-122"/>
                <a:cs typeface="Calibri" pitchFamily="34" charset="-120"/>
              </a:rPr>
              <a:t>-181</a:t>
            </a:r>
            <a:endParaRPr lang="en-US" sz="1200" dirty="0"/>
          </a:p>
        </p:txBody>
      </p:sp>
      <p:sp>
        <p:nvSpPr>
          <p:cNvPr id="85" name="Text 83"/>
          <p:cNvSpPr/>
          <p:nvPr/>
        </p:nvSpPr>
        <p:spPr>
          <a:xfrm>
            <a:off x="9555480" y="4462272"/>
            <a:ext cx="1408176" cy="219456"/>
          </a:xfrm>
          <a:prstGeom prst="rect">
            <a:avLst/>
          </a:prstGeom>
          <a:noFill/>
          <a:ln/>
        </p:spPr>
        <p:txBody>
          <a:bodyPr wrap="square" lIns="0" tIns="0" rIns="0" bIns="0" rtlCol="0" anchor="ctr"/>
          <a:lstStyle/>
          <a:p>
            <a:pPr marL="0" indent="0" algn="ctr">
              <a:buNone/>
            </a:pPr>
            <a:r>
              <a:rPr lang="en-US" sz="900" dirty="0">
                <a:solidFill>
                  <a:srgbClr val="6E7681"/>
                </a:solidFill>
                <a:latin typeface="Calibri" pitchFamily="34" charset="0"/>
                <a:ea typeface="Calibri" pitchFamily="34" charset="-122"/>
                <a:cs typeface="Calibri" pitchFamily="34" charset="-120"/>
              </a:rPr>
              <a:t>58 Episoden</a:t>
            </a:r>
            <a:endParaRPr lang="en-US" sz="900" dirty="0"/>
          </a:p>
        </p:txBody>
      </p:sp>
      <p:sp>
        <p:nvSpPr>
          <p:cNvPr id="86" name="Text 84"/>
          <p:cNvSpPr/>
          <p:nvPr/>
        </p:nvSpPr>
        <p:spPr>
          <a:xfrm>
            <a:off x="640080" y="5029200"/>
            <a:ext cx="10881360" cy="320040"/>
          </a:xfrm>
          <a:prstGeom prst="rect">
            <a:avLst/>
          </a:prstGeom>
          <a:noFill/>
          <a:ln/>
        </p:spPr>
        <p:txBody>
          <a:bodyPr wrap="square" lIns="0" tIns="0" rIns="0" bIns="0" rtlCol="0" anchor="ctr"/>
          <a:lstStyle/>
          <a:p>
            <a:pPr marL="0" indent="0">
              <a:buNone/>
            </a:pPr>
            <a:r>
              <a:rPr lang="en-US" sz="1300" dirty="0">
                <a:solidFill>
                  <a:srgbClr val="23282F"/>
                </a:solidFill>
                <a:latin typeface="Calibri" pitchFamily="34" charset="0"/>
                <a:ea typeface="Calibri" pitchFamily="34" charset="-122"/>
                <a:cs typeface="Calibri" pitchFamily="34" charset="-120"/>
              </a:rPr>
              <a:t>Blau = der Verteidiger verbessert sich im Lauf des Trainings. Rot = er verliert an Boden.</a:t>
            </a:r>
            <a:endParaRPr lang="en-US" sz="1300" dirty="0"/>
          </a:p>
        </p:txBody>
      </p:sp>
      <p:sp>
        <p:nvSpPr>
          <p:cNvPr id="87" name="Text 85"/>
          <p:cNvSpPr/>
          <p:nvPr/>
        </p:nvSpPr>
        <p:spPr>
          <a:xfrm>
            <a:off x="640080" y="5349240"/>
            <a:ext cx="10881360" cy="640080"/>
          </a:xfrm>
          <a:prstGeom prst="rect">
            <a:avLst/>
          </a:prstGeom>
          <a:noFill/>
          <a:ln/>
        </p:spPr>
        <p:txBody>
          <a:bodyPr wrap="square" lIns="0" tIns="0" rIns="0" bIns="0" rtlCol="0" anchor="ctr"/>
          <a:lstStyle/>
          <a:p>
            <a:pPr marL="0" indent="0">
              <a:buNone/>
            </a:pPr>
            <a:r>
              <a:rPr lang="en-US" sz="1200" dirty="0">
                <a:solidFill>
                  <a:srgbClr val="6E7681"/>
                </a:solidFill>
                <a:latin typeface="Calibri" pitchFamily="34" charset="0"/>
                <a:ea typeface="Calibri" pitchFamily="34" charset="-122"/>
                <a:cs typeface="Calibri" pitchFamily="34" charset="-120"/>
              </a:rPr>
              <a:t>Die DMZ-Zeile bleibt durchgehend nahe null: Der Verteidiger startet bei rund −730 und landet zwischen −40 und −100. Er lernt also, den Schaden auf fast nichts zu drücken. In Flat und Hub &amp; Spoke laufen die Werte dagegen weit auseinander — von −3.846 auf −31.889 gegen den eigenen Angreifer, aber von −738 auf +4.649 gegen den Super-Angreifer.</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40080" y="384048"/>
            <a:ext cx="10881360" cy="566928"/>
          </a:xfrm>
          <a:prstGeom prst="rect">
            <a:avLst/>
          </a:prstGeom>
          <a:noFill/>
          <a:ln/>
        </p:spPr>
        <p:txBody>
          <a:bodyPr wrap="square" lIns="0" tIns="0" rIns="0" bIns="0" rtlCol="0" anchor="ctr"/>
          <a:lstStyle/>
          <a:p>
            <a:pPr marL="0" indent="0">
              <a:buNone/>
            </a:pPr>
            <a:r>
              <a:rPr lang="en-US" sz="3400" b="1" dirty="0">
                <a:solidFill>
                  <a:srgbClr val="23282F"/>
                </a:solidFill>
                <a:latin typeface="Cambria" pitchFamily="34" charset="0"/>
                <a:ea typeface="Cambria" pitchFamily="34" charset="-122"/>
                <a:cs typeface="Cambria" pitchFamily="34" charset="-120"/>
              </a:rPr>
              <a:t>Angreifer-Reward: Beginn und Ende des Trainings</a:t>
            </a:r>
            <a:endParaRPr lang="en-US" sz="3400" dirty="0"/>
          </a:p>
        </p:txBody>
      </p:sp>
      <p:sp>
        <p:nvSpPr>
          <p:cNvPr id="3" name="Text 1"/>
          <p:cNvSpPr/>
          <p:nvPr/>
        </p:nvSpPr>
        <p:spPr>
          <a:xfrm>
            <a:off x="640080" y="969264"/>
            <a:ext cx="10881360" cy="493776"/>
          </a:xfrm>
          <a:prstGeom prst="rect">
            <a:avLst/>
          </a:prstGeom>
          <a:noFill/>
          <a:ln/>
        </p:spPr>
        <p:txBody>
          <a:bodyPr wrap="square" lIns="0" tIns="0" rIns="0" bIns="0" rtlCol="0" anchor="ctr"/>
          <a:lstStyle/>
          <a:p>
            <a:pPr marL="0" indent="0">
              <a:buNone/>
            </a:pPr>
            <a:r>
              <a:rPr lang="en-US" sz="1400" dirty="0">
                <a:solidFill>
                  <a:srgbClr val="6E7681"/>
                </a:solidFill>
                <a:latin typeface="Calibri" pitchFamily="34" charset="0"/>
                <a:ea typeface="Calibri" pitchFamily="34" charset="-122"/>
                <a:cs typeface="Calibri" pitchFamily="34" charset="-120"/>
              </a:rPr>
              <a:t>Dieselbe Rechnung für die Gegenseite — zeigt, ob der Verteidiger den Angreifer über die Zeit zurückdrängt</a:t>
            </a:r>
            <a:endParaRPr lang="en-US" sz="1400" dirty="0"/>
          </a:p>
        </p:txBody>
      </p:sp>
      <p:sp>
        <p:nvSpPr>
          <p:cNvPr id="4" name="Text 2"/>
          <p:cNvSpPr/>
          <p:nvPr/>
        </p:nvSpPr>
        <p:spPr>
          <a:xfrm>
            <a:off x="2240280" y="1554480"/>
            <a:ext cx="1463040" cy="310896"/>
          </a:xfrm>
          <a:prstGeom prst="rect">
            <a:avLst/>
          </a:prstGeom>
          <a:noFill/>
          <a:ln/>
        </p:spPr>
        <p:txBody>
          <a:bodyPr wrap="square" lIns="0" tIns="0" rIns="0" bIns="0" rtlCol="0" anchor="ctr"/>
          <a:lstStyle/>
          <a:p>
            <a:pPr marL="0" indent="0" algn="ctr">
              <a:buNone/>
            </a:pPr>
            <a:r>
              <a:rPr lang="en-US" sz="1200" b="1" dirty="0">
                <a:solidFill>
                  <a:srgbClr val="6E7681"/>
                </a:solidFill>
                <a:latin typeface="Calibri" pitchFamily="34" charset="0"/>
                <a:ea typeface="Calibri" pitchFamily="34" charset="-122"/>
                <a:cs typeface="Calibri" pitchFamily="34" charset="-120"/>
              </a:rPr>
              <a:t>Chain</a:t>
            </a:r>
            <a:endParaRPr lang="en-US" sz="1200" dirty="0"/>
          </a:p>
        </p:txBody>
      </p:sp>
      <p:sp>
        <p:nvSpPr>
          <p:cNvPr id="5" name="Text 3"/>
          <p:cNvSpPr/>
          <p:nvPr/>
        </p:nvSpPr>
        <p:spPr>
          <a:xfrm>
            <a:off x="3703320" y="1554480"/>
            <a:ext cx="1463040" cy="310896"/>
          </a:xfrm>
          <a:prstGeom prst="rect">
            <a:avLst/>
          </a:prstGeom>
          <a:noFill/>
          <a:ln/>
        </p:spPr>
        <p:txBody>
          <a:bodyPr wrap="square" lIns="0" tIns="0" rIns="0" bIns="0" rtlCol="0" anchor="ctr"/>
          <a:lstStyle/>
          <a:p>
            <a:pPr marL="0" indent="0" algn="ctr">
              <a:buNone/>
            </a:pPr>
            <a:r>
              <a:rPr lang="en-US" sz="1200" b="1" dirty="0">
                <a:solidFill>
                  <a:srgbClr val="6E7681"/>
                </a:solidFill>
                <a:latin typeface="Calibri" pitchFamily="34" charset="0"/>
                <a:ea typeface="Calibri" pitchFamily="34" charset="-122"/>
                <a:cs typeface="Calibri" pitchFamily="34" charset="-120"/>
              </a:rPr>
              <a:t>Flat</a:t>
            </a:r>
            <a:endParaRPr lang="en-US" sz="1200" dirty="0"/>
          </a:p>
        </p:txBody>
      </p:sp>
      <p:sp>
        <p:nvSpPr>
          <p:cNvPr id="6" name="Text 4"/>
          <p:cNvSpPr/>
          <p:nvPr/>
        </p:nvSpPr>
        <p:spPr>
          <a:xfrm>
            <a:off x="5166360" y="1554480"/>
            <a:ext cx="1463040" cy="310896"/>
          </a:xfrm>
          <a:prstGeom prst="rect">
            <a:avLst/>
          </a:prstGeom>
          <a:noFill/>
          <a:ln/>
        </p:spPr>
        <p:txBody>
          <a:bodyPr wrap="square" lIns="0" tIns="0" rIns="0" bIns="0" rtlCol="0" anchor="ctr"/>
          <a:lstStyle/>
          <a:p>
            <a:pPr marL="0" indent="0" algn="ctr">
              <a:buNone/>
            </a:pPr>
            <a:r>
              <a:rPr lang="en-US" sz="1200" b="1" dirty="0">
                <a:solidFill>
                  <a:srgbClr val="6E7681"/>
                </a:solidFill>
                <a:latin typeface="Calibri" pitchFamily="34" charset="0"/>
                <a:ea typeface="Calibri" pitchFamily="34" charset="-122"/>
                <a:cs typeface="Calibri" pitchFamily="34" charset="-120"/>
              </a:rPr>
              <a:t>Hub &amp; Spoke</a:t>
            </a:r>
            <a:endParaRPr lang="en-US" sz="1200" dirty="0"/>
          </a:p>
        </p:txBody>
      </p:sp>
      <p:sp>
        <p:nvSpPr>
          <p:cNvPr id="7" name="Text 5"/>
          <p:cNvSpPr/>
          <p:nvPr/>
        </p:nvSpPr>
        <p:spPr>
          <a:xfrm>
            <a:off x="6629400" y="1554480"/>
            <a:ext cx="1463040" cy="310896"/>
          </a:xfrm>
          <a:prstGeom prst="rect">
            <a:avLst/>
          </a:prstGeom>
          <a:noFill/>
          <a:ln/>
        </p:spPr>
        <p:txBody>
          <a:bodyPr wrap="square" lIns="0" tIns="0" rIns="0" bIns="0" rtlCol="0" anchor="ctr"/>
          <a:lstStyle/>
          <a:p>
            <a:pPr marL="0" indent="0" algn="ctr">
              <a:buNone/>
            </a:pPr>
            <a:r>
              <a:rPr lang="en-US" sz="1200" b="1" dirty="0">
                <a:solidFill>
                  <a:srgbClr val="6E7681"/>
                </a:solidFill>
                <a:latin typeface="Calibri" pitchFamily="34" charset="0"/>
                <a:ea typeface="Calibri" pitchFamily="34" charset="-122"/>
                <a:cs typeface="Calibri" pitchFamily="34" charset="-120"/>
              </a:rPr>
              <a:t>DMZ</a:t>
            </a:r>
            <a:endParaRPr lang="en-US" sz="1200" dirty="0"/>
          </a:p>
        </p:txBody>
      </p:sp>
      <p:sp>
        <p:nvSpPr>
          <p:cNvPr id="8" name="Text 6"/>
          <p:cNvSpPr/>
          <p:nvPr/>
        </p:nvSpPr>
        <p:spPr>
          <a:xfrm>
            <a:off x="8092440" y="1554480"/>
            <a:ext cx="1463040" cy="310896"/>
          </a:xfrm>
          <a:prstGeom prst="rect">
            <a:avLst/>
          </a:prstGeom>
          <a:noFill/>
          <a:ln/>
        </p:spPr>
        <p:txBody>
          <a:bodyPr wrap="square" lIns="0" tIns="0" rIns="0" bIns="0" rtlCol="0" anchor="ctr"/>
          <a:lstStyle/>
          <a:p>
            <a:pPr marL="0" indent="0" algn="ctr">
              <a:buNone/>
            </a:pPr>
            <a:r>
              <a:rPr lang="en-US" sz="1200" b="1" dirty="0">
                <a:solidFill>
                  <a:srgbClr val="6E7681"/>
                </a:solidFill>
                <a:latin typeface="Calibri" pitchFamily="34" charset="0"/>
                <a:ea typeface="Calibri" pitchFamily="34" charset="-122"/>
                <a:cs typeface="Calibri" pitchFamily="34" charset="-120"/>
              </a:rPr>
              <a:t>Micro-Seg.</a:t>
            </a:r>
            <a:endParaRPr lang="en-US" sz="1200" dirty="0"/>
          </a:p>
        </p:txBody>
      </p:sp>
      <p:sp>
        <p:nvSpPr>
          <p:cNvPr id="9" name="Text 7"/>
          <p:cNvSpPr/>
          <p:nvPr/>
        </p:nvSpPr>
        <p:spPr>
          <a:xfrm>
            <a:off x="9555480" y="1554480"/>
            <a:ext cx="1463040" cy="310896"/>
          </a:xfrm>
          <a:prstGeom prst="rect">
            <a:avLst/>
          </a:prstGeom>
          <a:noFill/>
          <a:ln/>
        </p:spPr>
        <p:txBody>
          <a:bodyPr wrap="square" lIns="0" tIns="0" rIns="0" bIns="0" rtlCol="0" anchor="ctr"/>
          <a:lstStyle/>
          <a:p>
            <a:pPr marL="0" indent="0" algn="ctr">
              <a:buNone/>
            </a:pPr>
            <a:r>
              <a:rPr lang="en-US" sz="1200" b="1" dirty="0">
                <a:solidFill>
                  <a:srgbClr val="6E7681"/>
                </a:solidFill>
                <a:latin typeface="Calibri" pitchFamily="34" charset="0"/>
                <a:ea typeface="Calibri" pitchFamily="34" charset="-122"/>
                <a:cs typeface="Calibri" pitchFamily="34" charset="-120"/>
              </a:rPr>
              <a:t>Super</a:t>
            </a:r>
            <a:endParaRPr lang="en-US" sz="1200" dirty="0"/>
          </a:p>
        </p:txBody>
      </p:sp>
      <p:sp>
        <p:nvSpPr>
          <p:cNvPr id="10" name="Text 8"/>
          <p:cNvSpPr/>
          <p:nvPr/>
        </p:nvSpPr>
        <p:spPr>
          <a:xfrm>
            <a:off x="640080" y="1920240"/>
            <a:ext cx="1508760" cy="713232"/>
          </a:xfrm>
          <a:prstGeom prst="rect">
            <a:avLst/>
          </a:prstGeom>
          <a:noFill/>
          <a:ln/>
        </p:spPr>
        <p:txBody>
          <a:bodyPr wrap="square" lIns="0" tIns="0" rIns="0" bIns="0" rtlCol="0" anchor="ctr"/>
          <a:lstStyle/>
          <a:p>
            <a:pPr marL="0" indent="0" algn="r">
              <a:buNone/>
            </a:pPr>
            <a:r>
              <a:rPr lang="en-US" sz="1300" b="1" dirty="0">
                <a:solidFill>
                  <a:srgbClr val="23282F"/>
                </a:solidFill>
                <a:latin typeface="Calibri" pitchFamily="34" charset="0"/>
                <a:ea typeface="Calibri" pitchFamily="34" charset="-122"/>
                <a:cs typeface="Calibri" pitchFamily="34" charset="-120"/>
              </a:rPr>
              <a:t>Flat</a:t>
            </a:r>
            <a:endParaRPr lang="en-US" sz="1300" dirty="0"/>
          </a:p>
        </p:txBody>
      </p:sp>
      <p:sp>
        <p:nvSpPr>
          <p:cNvPr id="11" name="Shape 9"/>
          <p:cNvSpPr/>
          <p:nvPr/>
        </p:nvSpPr>
        <p:spPr>
          <a:xfrm>
            <a:off x="2240280" y="1920240"/>
            <a:ext cx="1408176" cy="658368"/>
          </a:xfrm>
          <a:prstGeom prst="rect">
            <a:avLst/>
          </a:prstGeom>
          <a:solidFill>
            <a:srgbClr val="E9F0F3"/>
          </a:solidFill>
          <a:ln w="19050">
            <a:solidFill>
              <a:srgbClr val="FFFFFF"/>
            </a:solidFill>
            <a:prstDash val="solid"/>
          </a:ln>
        </p:spPr>
        <p:txBody>
          <a:bodyPr/>
          <a:lstStyle/>
          <a:p>
            <a:endParaRPr lang="de-DE"/>
          </a:p>
        </p:txBody>
      </p:sp>
      <p:sp>
        <p:nvSpPr>
          <p:cNvPr id="12" name="Text 10"/>
          <p:cNvSpPr/>
          <p:nvPr/>
        </p:nvSpPr>
        <p:spPr>
          <a:xfrm>
            <a:off x="2240280" y="2011680"/>
            <a:ext cx="1408176" cy="310896"/>
          </a:xfrm>
          <a:prstGeom prst="rect">
            <a:avLst/>
          </a:prstGeom>
          <a:noFill/>
          <a:ln/>
        </p:spPr>
        <p:txBody>
          <a:bodyPr wrap="square" lIns="0" tIns="0" rIns="0" bIns="0" rtlCol="0" anchor="ctr"/>
          <a:lstStyle/>
          <a:p>
            <a:pPr marL="0" indent="0" algn="ctr">
              <a:buNone/>
            </a:pPr>
            <a:r>
              <a:rPr lang="en-US" sz="1200" dirty="0">
                <a:solidFill>
                  <a:srgbClr val="6E7681"/>
                </a:solidFill>
                <a:latin typeface="Calibri" pitchFamily="34" charset="0"/>
                <a:ea typeface="Calibri" pitchFamily="34" charset="-122"/>
                <a:cs typeface="Calibri" pitchFamily="34" charset="-120"/>
              </a:rPr>
              <a:t>49  →  </a:t>
            </a:r>
            <a:r>
              <a:rPr lang="en-US" sz="1200" b="1" dirty="0">
                <a:solidFill>
                  <a:srgbClr val="1C6E8C"/>
                </a:solidFill>
                <a:latin typeface="Calibri" pitchFamily="34" charset="0"/>
                <a:ea typeface="Calibri" pitchFamily="34" charset="-122"/>
                <a:cs typeface="Calibri" pitchFamily="34" charset="-120"/>
              </a:rPr>
              <a:t>43</a:t>
            </a:r>
            <a:endParaRPr lang="en-US" sz="1200" dirty="0"/>
          </a:p>
        </p:txBody>
      </p:sp>
      <p:sp>
        <p:nvSpPr>
          <p:cNvPr id="13" name="Text 11"/>
          <p:cNvSpPr/>
          <p:nvPr/>
        </p:nvSpPr>
        <p:spPr>
          <a:xfrm>
            <a:off x="2240280" y="2322576"/>
            <a:ext cx="1408176" cy="219456"/>
          </a:xfrm>
          <a:prstGeom prst="rect">
            <a:avLst/>
          </a:prstGeom>
          <a:noFill/>
          <a:ln/>
        </p:spPr>
        <p:txBody>
          <a:bodyPr wrap="square" lIns="0" tIns="0" rIns="0" bIns="0" rtlCol="0" anchor="ctr"/>
          <a:lstStyle/>
          <a:p>
            <a:pPr marL="0" indent="0" algn="ctr">
              <a:buNone/>
            </a:pPr>
            <a:r>
              <a:rPr lang="en-US" sz="900" dirty="0">
                <a:solidFill>
                  <a:srgbClr val="6E7681"/>
                </a:solidFill>
                <a:latin typeface="Calibri" pitchFamily="34" charset="0"/>
                <a:ea typeface="Calibri" pitchFamily="34" charset="-122"/>
                <a:cs typeface="Calibri" pitchFamily="34" charset="-120"/>
              </a:rPr>
              <a:t>106 Episoden</a:t>
            </a:r>
            <a:endParaRPr lang="en-US" sz="900" dirty="0"/>
          </a:p>
        </p:txBody>
      </p:sp>
      <p:sp>
        <p:nvSpPr>
          <p:cNvPr id="14" name="Shape 12"/>
          <p:cNvSpPr/>
          <p:nvPr/>
        </p:nvSpPr>
        <p:spPr>
          <a:xfrm>
            <a:off x="3703320" y="1920240"/>
            <a:ext cx="1408176" cy="658368"/>
          </a:xfrm>
          <a:prstGeom prst="rect">
            <a:avLst/>
          </a:prstGeom>
          <a:solidFill>
            <a:srgbClr val="E9F0F3"/>
          </a:solidFill>
          <a:ln w="19050">
            <a:solidFill>
              <a:srgbClr val="FFFFFF"/>
            </a:solidFill>
            <a:prstDash val="solid"/>
          </a:ln>
        </p:spPr>
        <p:txBody>
          <a:bodyPr/>
          <a:lstStyle/>
          <a:p>
            <a:endParaRPr lang="de-DE"/>
          </a:p>
        </p:txBody>
      </p:sp>
      <p:sp>
        <p:nvSpPr>
          <p:cNvPr id="15" name="Text 13"/>
          <p:cNvSpPr/>
          <p:nvPr/>
        </p:nvSpPr>
        <p:spPr>
          <a:xfrm>
            <a:off x="3703320" y="2011680"/>
            <a:ext cx="1408176" cy="310896"/>
          </a:xfrm>
          <a:prstGeom prst="rect">
            <a:avLst/>
          </a:prstGeom>
          <a:noFill/>
          <a:ln/>
        </p:spPr>
        <p:txBody>
          <a:bodyPr wrap="square" lIns="0" tIns="0" rIns="0" bIns="0" rtlCol="0" anchor="ctr"/>
          <a:lstStyle/>
          <a:p>
            <a:pPr marL="0" indent="0" algn="ctr">
              <a:buNone/>
            </a:pPr>
            <a:r>
              <a:rPr lang="en-US" sz="1200" dirty="0">
                <a:solidFill>
                  <a:srgbClr val="6E7681"/>
                </a:solidFill>
                <a:latin typeface="Calibri" pitchFamily="34" charset="0"/>
                <a:ea typeface="Calibri" pitchFamily="34" charset="-122"/>
                <a:cs typeface="Calibri" pitchFamily="34" charset="-120"/>
              </a:rPr>
              <a:t>171  →  </a:t>
            </a:r>
            <a:r>
              <a:rPr lang="en-US" sz="1200" b="1" dirty="0">
                <a:solidFill>
                  <a:srgbClr val="1C6E8C"/>
                </a:solidFill>
                <a:latin typeface="Calibri" pitchFamily="34" charset="0"/>
                <a:ea typeface="Calibri" pitchFamily="34" charset="-122"/>
                <a:cs typeface="Calibri" pitchFamily="34" charset="-120"/>
              </a:rPr>
              <a:t>158</a:t>
            </a:r>
            <a:endParaRPr lang="en-US" sz="1200" dirty="0"/>
          </a:p>
        </p:txBody>
      </p:sp>
      <p:sp>
        <p:nvSpPr>
          <p:cNvPr id="16" name="Text 14"/>
          <p:cNvSpPr/>
          <p:nvPr/>
        </p:nvSpPr>
        <p:spPr>
          <a:xfrm>
            <a:off x="3703320" y="2322576"/>
            <a:ext cx="1408176" cy="219456"/>
          </a:xfrm>
          <a:prstGeom prst="rect">
            <a:avLst/>
          </a:prstGeom>
          <a:noFill/>
          <a:ln/>
        </p:spPr>
        <p:txBody>
          <a:bodyPr wrap="square" lIns="0" tIns="0" rIns="0" bIns="0" rtlCol="0" anchor="ctr"/>
          <a:lstStyle/>
          <a:p>
            <a:pPr marL="0" indent="0" algn="ctr">
              <a:buNone/>
            </a:pPr>
            <a:r>
              <a:rPr lang="en-US" sz="900" dirty="0">
                <a:solidFill>
                  <a:srgbClr val="6E7681"/>
                </a:solidFill>
                <a:latin typeface="Calibri" pitchFamily="34" charset="0"/>
                <a:ea typeface="Calibri" pitchFamily="34" charset="-122"/>
                <a:cs typeface="Calibri" pitchFamily="34" charset="-120"/>
              </a:rPr>
              <a:t>95 Episoden</a:t>
            </a:r>
            <a:endParaRPr lang="en-US" sz="900" dirty="0"/>
          </a:p>
        </p:txBody>
      </p:sp>
      <p:sp>
        <p:nvSpPr>
          <p:cNvPr id="17" name="Shape 15"/>
          <p:cNvSpPr/>
          <p:nvPr/>
        </p:nvSpPr>
        <p:spPr>
          <a:xfrm>
            <a:off x="5166360" y="1920240"/>
            <a:ext cx="1408176" cy="658368"/>
          </a:xfrm>
          <a:prstGeom prst="rect">
            <a:avLst/>
          </a:prstGeom>
          <a:solidFill>
            <a:srgbClr val="E9F0F3"/>
          </a:solidFill>
          <a:ln w="19050">
            <a:solidFill>
              <a:srgbClr val="FFFFFF"/>
            </a:solidFill>
            <a:prstDash val="solid"/>
          </a:ln>
        </p:spPr>
        <p:txBody>
          <a:bodyPr/>
          <a:lstStyle/>
          <a:p>
            <a:endParaRPr lang="de-DE"/>
          </a:p>
        </p:txBody>
      </p:sp>
      <p:sp>
        <p:nvSpPr>
          <p:cNvPr id="18" name="Text 16"/>
          <p:cNvSpPr/>
          <p:nvPr/>
        </p:nvSpPr>
        <p:spPr>
          <a:xfrm>
            <a:off x="5166360" y="2011680"/>
            <a:ext cx="1408176" cy="310896"/>
          </a:xfrm>
          <a:prstGeom prst="rect">
            <a:avLst/>
          </a:prstGeom>
          <a:noFill/>
          <a:ln/>
        </p:spPr>
        <p:txBody>
          <a:bodyPr wrap="square" lIns="0" tIns="0" rIns="0" bIns="0" rtlCol="0" anchor="ctr"/>
          <a:lstStyle/>
          <a:p>
            <a:pPr marL="0" indent="0" algn="ctr">
              <a:buNone/>
            </a:pPr>
            <a:r>
              <a:rPr lang="en-US" sz="1200" dirty="0">
                <a:solidFill>
                  <a:srgbClr val="6E7681"/>
                </a:solidFill>
                <a:latin typeface="Calibri" pitchFamily="34" charset="0"/>
                <a:ea typeface="Calibri" pitchFamily="34" charset="-122"/>
                <a:cs typeface="Calibri" pitchFamily="34" charset="-120"/>
              </a:rPr>
              <a:t>244  →  </a:t>
            </a:r>
            <a:r>
              <a:rPr lang="en-US" sz="1200" b="1" dirty="0">
                <a:solidFill>
                  <a:srgbClr val="1C6E8C"/>
                </a:solidFill>
                <a:latin typeface="Calibri" pitchFamily="34" charset="0"/>
                <a:ea typeface="Calibri" pitchFamily="34" charset="-122"/>
                <a:cs typeface="Calibri" pitchFamily="34" charset="-120"/>
              </a:rPr>
              <a:t>187</a:t>
            </a:r>
            <a:endParaRPr lang="en-US" sz="1200" dirty="0"/>
          </a:p>
        </p:txBody>
      </p:sp>
      <p:sp>
        <p:nvSpPr>
          <p:cNvPr id="19" name="Text 17"/>
          <p:cNvSpPr/>
          <p:nvPr/>
        </p:nvSpPr>
        <p:spPr>
          <a:xfrm>
            <a:off x="5166360" y="2322576"/>
            <a:ext cx="1408176" cy="219456"/>
          </a:xfrm>
          <a:prstGeom prst="rect">
            <a:avLst/>
          </a:prstGeom>
          <a:noFill/>
          <a:ln/>
        </p:spPr>
        <p:txBody>
          <a:bodyPr wrap="square" lIns="0" tIns="0" rIns="0" bIns="0" rtlCol="0" anchor="ctr"/>
          <a:lstStyle/>
          <a:p>
            <a:pPr marL="0" indent="0" algn="ctr">
              <a:buNone/>
            </a:pPr>
            <a:r>
              <a:rPr lang="en-US" sz="900" dirty="0">
                <a:solidFill>
                  <a:srgbClr val="6E7681"/>
                </a:solidFill>
                <a:latin typeface="Calibri" pitchFamily="34" charset="0"/>
                <a:ea typeface="Calibri" pitchFamily="34" charset="-122"/>
                <a:cs typeface="Calibri" pitchFamily="34" charset="-120"/>
              </a:rPr>
              <a:t>71 Episoden</a:t>
            </a:r>
            <a:endParaRPr lang="en-US" sz="900" dirty="0"/>
          </a:p>
        </p:txBody>
      </p:sp>
      <p:sp>
        <p:nvSpPr>
          <p:cNvPr id="20" name="Shape 18"/>
          <p:cNvSpPr/>
          <p:nvPr/>
        </p:nvSpPr>
        <p:spPr>
          <a:xfrm>
            <a:off x="6629400" y="1920240"/>
            <a:ext cx="1408176" cy="658368"/>
          </a:xfrm>
          <a:prstGeom prst="rect">
            <a:avLst/>
          </a:prstGeom>
          <a:solidFill>
            <a:srgbClr val="E9F0F3"/>
          </a:solidFill>
          <a:ln w="19050">
            <a:solidFill>
              <a:srgbClr val="FFFFFF"/>
            </a:solidFill>
            <a:prstDash val="solid"/>
          </a:ln>
        </p:spPr>
        <p:txBody>
          <a:bodyPr/>
          <a:lstStyle/>
          <a:p>
            <a:endParaRPr lang="de-DE"/>
          </a:p>
        </p:txBody>
      </p:sp>
      <p:sp>
        <p:nvSpPr>
          <p:cNvPr id="21" name="Text 19"/>
          <p:cNvSpPr/>
          <p:nvPr/>
        </p:nvSpPr>
        <p:spPr>
          <a:xfrm>
            <a:off x="6629400" y="2011680"/>
            <a:ext cx="1408176" cy="310896"/>
          </a:xfrm>
          <a:prstGeom prst="rect">
            <a:avLst/>
          </a:prstGeom>
          <a:noFill/>
          <a:ln/>
        </p:spPr>
        <p:txBody>
          <a:bodyPr wrap="square" lIns="0" tIns="0" rIns="0" bIns="0" rtlCol="0" anchor="ctr"/>
          <a:lstStyle/>
          <a:p>
            <a:pPr marL="0" indent="0" algn="ctr">
              <a:buNone/>
            </a:pPr>
            <a:r>
              <a:rPr lang="en-US" sz="1200" dirty="0">
                <a:solidFill>
                  <a:srgbClr val="6E7681"/>
                </a:solidFill>
                <a:latin typeface="Calibri" pitchFamily="34" charset="0"/>
                <a:ea typeface="Calibri" pitchFamily="34" charset="-122"/>
                <a:cs typeface="Calibri" pitchFamily="34" charset="-120"/>
              </a:rPr>
              <a:t>175  →  </a:t>
            </a:r>
            <a:r>
              <a:rPr lang="en-US" sz="1200" b="1" dirty="0">
                <a:solidFill>
                  <a:srgbClr val="1C6E8C"/>
                </a:solidFill>
                <a:latin typeface="Calibri" pitchFamily="34" charset="0"/>
                <a:ea typeface="Calibri" pitchFamily="34" charset="-122"/>
                <a:cs typeface="Calibri" pitchFamily="34" charset="-120"/>
              </a:rPr>
              <a:t>168</a:t>
            </a:r>
            <a:endParaRPr lang="en-US" sz="1200" dirty="0"/>
          </a:p>
        </p:txBody>
      </p:sp>
      <p:sp>
        <p:nvSpPr>
          <p:cNvPr id="22" name="Text 20"/>
          <p:cNvSpPr/>
          <p:nvPr/>
        </p:nvSpPr>
        <p:spPr>
          <a:xfrm>
            <a:off x="6629400" y="2322576"/>
            <a:ext cx="1408176" cy="219456"/>
          </a:xfrm>
          <a:prstGeom prst="rect">
            <a:avLst/>
          </a:prstGeom>
          <a:noFill/>
          <a:ln/>
        </p:spPr>
        <p:txBody>
          <a:bodyPr wrap="square" lIns="0" tIns="0" rIns="0" bIns="0" rtlCol="0" anchor="ctr"/>
          <a:lstStyle/>
          <a:p>
            <a:pPr marL="0" indent="0" algn="ctr">
              <a:buNone/>
            </a:pPr>
            <a:r>
              <a:rPr lang="en-US" sz="900" dirty="0">
                <a:solidFill>
                  <a:srgbClr val="6E7681"/>
                </a:solidFill>
                <a:latin typeface="Calibri" pitchFamily="34" charset="0"/>
                <a:ea typeface="Calibri" pitchFamily="34" charset="-122"/>
                <a:cs typeface="Calibri" pitchFamily="34" charset="-120"/>
              </a:rPr>
              <a:t>71 Episoden</a:t>
            </a:r>
            <a:endParaRPr lang="en-US" sz="900" dirty="0"/>
          </a:p>
        </p:txBody>
      </p:sp>
      <p:sp>
        <p:nvSpPr>
          <p:cNvPr id="23" name="Shape 21"/>
          <p:cNvSpPr/>
          <p:nvPr/>
        </p:nvSpPr>
        <p:spPr>
          <a:xfrm>
            <a:off x="8092440" y="1920240"/>
            <a:ext cx="1408176" cy="658368"/>
          </a:xfrm>
          <a:prstGeom prst="rect">
            <a:avLst/>
          </a:prstGeom>
          <a:solidFill>
            <a:srgbClr val="E9F0F3"/>
          </a:solidFill>
          <a:ln w="19050">
            <a:solidFill>
              <a:srgbClr val="FFFFFF"/>
            </a:solidFill>
            <a:prstDash val="solid"/>
          </a:ln>
        </p:spPr>
        <p:txBody>
          <a:bodyPr/>
          <a:lstStyle/>
          <a:p>
            <a:endParaRPr lang="de-DE"/>
          </a:p>
        </p:txBody>
      </p:sp>
      <p:sp>
        <p:nvSpPr>
          <p:cNvPr id="24" name="Text 22"/>
          <p:cNvSpPr/>
          <p:nvPr/>
        </p:nvSpPr>
        <p:spPr>
          <a:xfrm>
            <a:off x="8092440" y="2011680"/>
            <a:ext cx="1408176" cy="310896"/>
          </a:xfrm>
          <a:prstGeom prst="rect">
            <a:avLst/>
          </a:prstGeom>
          <a:noFill/>
          <a:ln/>
        </p:spPr>
        <p:txBody>
          <a:bodyPr wrap="square" lIns="0" tIns="0" rIns="0" bIns="0" rtlCol="0" anchor="ctr"/>
          <a:lstStyle/>
          <a:p>
            <a:pPr marL="0" indent="0" algn="ctr">
              <a:buNone/>
            </a:pPr>
            <a:r>
              <a:rPr lang="en-US" sz="1200" dirty="0">
                <a:solidFill>
                  <a:srgbClr val="6E7681"/>
                </a:solidFill>
                <a:latin typeface="Calibri" pitchFamily="34" charset="0"/>
                <a:ea typeface="Calibri" pitchFamily="34" charset="-122"/>
                <a:cs typeface="Calibri" pitchFamily="34" charset="-120"/>
              </a:rPr>
              <a:t>142  →  </a:t>
            </a:r>
            <a:r>
              <a:rPr lang="en-US" sz="1200" b="1" dirty="0">
                <a:solidFill>
                  <a:srgbClr val="1C6E8C"/>
                </a:solidFill>
                <a:latin typeface="Calibri" pitchFamily="34" charset="0"/>
                <a:ea typeface="Calibri" pitchFamily="34" charset="-122"/>
                <a:cs typeface="Calibri" pitchFamily="34" charset="-120"/>
              </a:rPr>
              <a:t>113</a:t>
            </a:r>
            <a:endParaRPr lang="en-US" sz="1200" dirty="0"/>
          </a:p>
        </p:txBody>
      </p:sp>
      <p:sp>
        <p:nvSpPr>
          <p:cNvPr id="25" name="Text 23"/>
          <p:cNvSpPr/>
          <p:nvPr/>
        </p:nvSpPr>
        <p:spPr>
          <a:xfrm>
            <a:off x="8092440" y="2322576"/>
            <a:ext cx="1408176" cy="219456"/>
          </a:xfrm>
          <a:prstGeom prst="rect">
            <a:avLst/>
          </a:prstGeom>
          <a:noFill/>
          <a:ln/>
        </p:spPr>
        <p:txBody>
          <a:bodyPr wrap="square" lIns="0" tIns="0" rIns="0" bIns="0" rtlCol="0" anchor="ctr"/>
          <a:lstStyle/>
          <a:p>
            <a:pPr marL="0" indent="0" algn="ctr">
              <a:buNone/>
            </a:pPr>
            <a:r>
              <a:rPr lang="en-US" sz="900" dirty="0">
                <a:solidFill>
                  <a:srgbClr val="6E7681"/>
                </a:solidFill>
                <a:latin typeface="Calibri" pitchFamily="34" charset="0"/>
                <a:ea typeface="Calibri" pitchFamily="34" charset="-122"/>
                <a:cs typeface="Calibri" pitchFamily="34" charset="-120"/>
              </a:rPr>
              <a:t>63 Episoden</a:t>
            </a:r>
            <a:endParaRPr lang="en-US" sz="900" dirty="0"/>
          </a:p>
        </p:txBody>
      </p:sp>
      <p:sp>
        <p:nvSpPr>
          <p:cNvPr id="26" name="Shape 24"/>
          <p:cNvSpPr/>
          <p:nvPr/>
        </p:nvSpPr>
        <p:spPr>
          <a:xfrm>
            <a:off x="9555480" y="1920240"/>
            <a:ext cx="1408176" cy="658368"/>
          </a:xfrm>
          <a:prstGeom prst="rect">
            <a:avLst/>
          </a:prstGeom>
          <a:solidFill>
            <a:srgbClr val="E9F0F3"/>
          </a:solidFill>
          <a:ln w="19050">
            <a:solidFill>
              <a:srgbClr val="FFFFFF"/>
            </a:solidFill>
            <a:prstDash val="solid"/>
          </a:ln>
        </p:spPr>
        <p:txBody>
          <a:bodyPr/>
          <a:lstStyle/>
          <a:p>
            <a:endParaRPr lang="de-DE"/>
          </a:p>
        </p:txBody>
      </p:sp>
      <p:sp>
        <p:nvSpPr>
          <p:cNvPr id="27" name="Text 25"/>
          <p:cNvSpPr/>
          <p:nvPr/>
        </p:nvSpPr>
        <p:spPr>
          <a:xfrm>
            <a:off x="9555480" y="2011680"/>
            <a:ext cx="1408176" cy="310896"/>
          </a:xfrm>
          <a:prstGeom prst="rect">
            <a:avLst/>
          </a:prstGeom>
          <a:noFill/>
          <a:ln/>
        </p:spPr>
        <p:txBody>
          <a:bodyPr wrap="square" lIns="0" tIns="0" rIns="0" bIns="0" rtlCol="0" anchor="ctr"/>
          <a:lstStyle/>
          <a:p>
            <a:pPr marL="0" indent="0" algn="ctr">
              <a:buNone/>
            </a:pPr>
            <a:r>
              <a:rPr lang="en-US" sz="1200" dirty="0">
                <a:solidFill>
                  <a:srgbClr val="6E7681"/>
                </a:solidFill>
                <a:latin typeface="Calibri" pitchFamily="34" charset="0"/>
                <a:ea typeface="Calibri" pitchFamily="34" charset="-122"/>
                <a:cs typeface="Calibri" pitchFamily="34" charset="-120"/>
              </a:rPr>
              <a:t>114  →  </a:t>
            </a:r>
            <a:r>
              <a:rPr lang="en-US" sz="1200" b="1" dirty="0">
                <a:solidFill>
                  <a:srgbClr val="1C6E8C"/>
                </a:solidFill>
                <a:latin typeface="Calibri" pitchFamily="34" charset="0"/>
                <a:ea typeface="Calibri" pitchFamily="34" charset="-122"/>
                <a:cs typeface="Calibri" pitchFamily="34" charset="-120"/>
              </a:rPr>
              <a:t>107</a:t>
            </a:r>
            <a:endParaRPr lang="en-US" sz="1200" dirty="0"/>
          </a:p>
        </p:txBody>
      </p:sp>
      <p:sp>
        <p:nvSpPr>
          <p:cNvPr id="28" name="Text 26"/>
          <p:cNvSpPr/>
          <p:nvPr/>
        </p:nvSpPr>
        <p:spPr>
          <a:xfrm>
            <a:off x="9555480" y="2322576"/>
            <a:ext cx="1408176" cy="219456"/>
          </a:xfrm>
          <a:prstGeom prst="rect">
            <a:avLst/>
          </a:prstGeom>
          <a:noFill/>
          <a:ln/>
        </p:spPr>
        <p:txBody>
          <a:bodyPr wrap="square" lIns="0" tIns="0" rIns="0" bIns="0" rtlCol="0" anchor="ctr"/>
          <a:lstStyle/>
          <a:p>
            <a:pPr marL="0" indent="0" algn="ctr">
              <a:buNone/>
            </a:pPr>
            <a:r>
              <a:rPr lang="en-US" sz="900" dirty="0">
                <a:solidFill>
                  <a:srgbClr val="6E7681"/>
                </a:solidFill>
                <a:latin typeface="Calibri" pitchFamily="34" charset="0"/>
                <a:ea typeface="Calibri" pitchFamily="34" charset="-122"/>
                <a:cs typeface="Calibri" pitchFamily="34" charset="-120"/>
              </a:rPr>
              <a:t>58 Episoden</a:t>
            </a:r>
            <a:endParaRPr lang="en-US" sz="900" dirty="0"/>
          </a:p>
        </p:txBody>
      </p:sp>
      <p:sp>
        <p:nvSpPr>
          <p:cNvPr id="29" name="Text 27"/>
          <p:cNvSpPr/>
          <p:nvPr/>
        </p:nvSpPr>
        <p:spPr>
          <a:xfrm>
            <a:off x="640080" y="2633472"/>
            <a:ext cx="1508760" cy="713232"/>
          </a:xfrm>
          <a:prstGeom prst="rect">
            <a:avLst/>
          </a:prstGeom>
          <a:noFill/>
          <a:ln/>
        </p:spPr>
        <p:txBody>
          <a:bodyPr wrap="square" lIns="0" tIns="0" rIns="0" bIns="0" rtlCol="0" anchor="ctr"/>
          <a:lstStyle/>
          <a:p>
            <a:pPr marL="0" indent="0" algn="r">
              <a:buNone/>
            </a:pPr>
            <a:r>
              <a:rPr lang="en-US" sz="1300" b="1" dirty="0">
                <a:solidFill>
                  <a:srgbClr val="23282F"/>
                </a:solidFill>
                <a:latin typeface="Calibri" pitchFamily="34" charset="0"/>
                <a:ea typeface="Calibri" pitchFamily="34" charset="-122"/>
                <a:cs typeface="Calibri" pitchFamily="34" charset="-120"/>
              </a:rPr>
              <a:t>Hub &amp; Spoke</a:t>
            </a:r>
            <a:endParaRPr lang="en-US" sz="1300" dirty="0"/>
          </a:p>
        </p:txBody>
      </p:sp>
      <p:sp>
        <p:nvSpPr>
          <p:cNvPr id="30" name="Shape 28"/>
          <p:cNvSpPr/>
          <p:nvPr/>
        </p:nvSpPr>
        <p:spPr>
          <a:xfrm>
            <a:off x="2240280" y="2633472"/>
            <a:ext cx="1408176" cy="658368"/>
          </a:xfrm>
          <a:prstGeom prst="rect">
            <a:avLst/>
          </a:prstGeom>
          <a:solidFill>
            <a:srgbClr val="FBEEEC"/>
          </a:solidFill>
          <a:ln w="19050">
            <a:solidFill>
              <a:srgbClr val="FFFFFF"/>
            </a:solidFill>
            <a:prstDash val="solid"/>
          </a:ln>
        </p:spPr>
        <p:txBody>
          <a:bodyPr/>
          <a:lstStyle/>
          <a:p>
            <a:endParaRPr lang="de-DE"/>
          </a:p>
        </p:txBody>
      </p:sp>
      <p:sp>
        <p:nvSpPr>
          <p:cNvPr id="31" name="Text 29"/>
          <p:cNvSpPr/>
          <p:nvPr/>
        </p:nvSpPr>
        <p:spPr>
          <a:xfrm>
            <a:off x="2240280" y="2724912"/>
            <a:ext cx="1408176" cy="310896"/>
          </a:xfrm>
          <a:prstGeom prst="rect">
            <a:avLst/>
          </a:prstGeom>
          <a:noFill/>
          <a:ln/>
        </p:spPr>
        <p:txBody>
          <a:bodyPr wrap="square" lIns="0" tIns="0" rIns="0" bIns="0" rtlCol="0" anchor="ctr"/>
          <a:lstStyle/>
          <a:p>
            <a:pPr marL="0" indent="0" algn="ctr">
              <a:buNone/>
            </a:pPr>
            <a:r>
              <a:rPr lang="en-US" sz="1200" dirty="0">
                <a:solidFill>
                  <a:srgbClr val="6E7681"/>
                </a:solidFill>
                <a:latin typeface="Calibri" pitchFamily="34" charset="0"/>
                <a:ea typeface="Calibri" pitchFamily="34" charset="-122"/>
                <a:cs typeface="Calibri" pitchFamily="34" charset="-120"/>
              </a:rPr>
              <a:t>26  →  </a:t>
            </a:r>
            <a:r>
              <a:rPr lang="en-US" sz="1200" b="1" dirty="0">
                <a:solidFill>
                  <a:srgbClr val="B3382C"/>
                </a:solidFill>
                <a:latin typeface="Calibri" pitchFamily="34" charset="0"/>
                <a:ea typeface="Calibri" pitchFamily="34" charset="-122"/>
                <a:cs typeface="Calibri" pitchFamily="34" charset="-120"/>
              </a:rPr>
              <a:t>28</a:t>
            </a:r>
            <a:endParaRPr lang="en-US" sz="1200" dirty="0"/>
          </a:p>
        </p:txBody>
      </p:sp>
      <p:sp>
        <p:nvSpPr>
          <p:cNvPr id="32" name="Text 30"/>
          <p:cNvSpPr/>
          <p:nvPr/>
        </p:nvSpPr>
        <p:spPr>
          <a:xfrm>
            <a:off x="2240280" y="3035808"/>
            <a:ext cx="1408176" cy="219456"/>
          </a:xfrm>
          <a:prstGeom prst="rect">
            <a:avLst/>
          </a:prstGeom>
          <a:noFill/>
          <a:ln/>
        </p:spPr>
        <p:txBody>
          <a:bodyPr wrap="square" lIns="0" tIns="0" rIns="0" bIns="0" rtlCol="0" anchor="ctr"/>
          <a:lstStyle/>
          <a:p>
            <a:pPr marL="0" indent="0" algn="ctr">
              <a:buNone/>
            </a:pPr>
            <a:r>
              <a:rPr lang="en-US" sz="900" dirty="0">
                <a:solidFill>
                  <a:srgbClr val="6E7681"/>
                </a:solidFill>
                <a:latin typeface="Calibri" pitchFamily="34" charset="0"/>
                <a:ea typeface="Calibri" pitchFamily="34" charset="-122"/>
                <a:cs typeface="Calibri" pitchFamily="34" charset="-120"/>
              </a:rPr>
              <a:t>59 Episoden</a:t>
            </a:r>
            <a:endParaRPr lang="en-US" sz="900" dirty="0"/>
          </a:p>
        </p:txBody>
      </p:sp>
      <p:sp>
        <p:nvSpPr>
          <p:cNvPr id="33" name="Shape 31"/>
          <p:cNvSpPr/>
          <p:nvPr/>
        </p:nvSpPr>
        <p:spPr>
          <a:xfrm>
            <a:off x="3703320" y="2633472"/>
            <a:ext cx="1408176" cy="658368"/>
          </a:xfrm>
          <a:prstGeom prst="rect">
            <a:avLst/>
          </a:prstGeom>
          <a:solidFill>
            <a:srgbClr val="E9F0F3"/>
          </a:solidFill>
          <a:ln w="19050">
            <a:solidFill>
              <a:srgbClr val="FFFFFF"/>
            </a:solidFill>
            <a:prstDash val="solid"/>
          </a:ln>
        </p:spPr>
        <p:txBody>
          <a:bodyPr/>
          <a:lstStyle/>
          <a:p>
            <a:endParaRPr lang="de-DE"/>
          </a:p>
        </p:txBody>
      </p:sp>
      <p:sp>
        <p:nvSpPr>
          <p:cNvPr id="34" name="Text 32"/>
          <p:cNvSpPr/>
          <p:nvPr/>
        </p:nvSpPr>
        <p:spPr>
          <a:xfrm>
            <a:off x="3703320" y="2724912"/>
            <a:ext cx="1408176" cy="310896"/>
          </a:xfrm>
          <a:prstGeom prst="rect">
            <a:avLst/>
          </a:prstGeom>
          <a:noFill/>
          <a:ln/>
        </p:spPr>
        <p:txBody>
          <a:bodyPr wrap="square" lIns="0" tIns="0" rIns="0" bIns="0" rtlCol="0" anchor="ctr"/>
          <a:lstStyle/>
          <a:p>
            <a:pPr marL="0" indent="0" algn="ctr">
              <a:buNone/>
            </a:pPr>
            <a:r>
              <a:rPr lang="en-US" sz="1200" dirty="0">
                <a:solidFill>
                  <a:srgbClr val="6E7681"/>
                </a:solidFill>
                <a:latin typeface="Calibri" pitchFamily="34" charset="0"/>
                <a:ea typeface="Calibri" pitchFamily="34" charset="-122"/>
                <a:cs typeface="Calibri" pitchFamily="34" charset="-120"/>
              </a:rPr>
              <a:t>128  →  </a:t>
            </a:r>
            <a:r>
              <a:rPr lang="en-US" sz="1200" b="1" dirty="0">
                <a:solidFill>
                  <a:srgbClr val="1C6E8C"/>
                </a:solidFill>
                <a:latin typeface="Calibri" pitchFamily="34" charset="0"/>
                <a:ea typeface="Calibri" pitchFamily="34" charset="-122"/>
                <a:cs typeface="Calibri" pitchFamily="34" charset="-120"/>
              </a:rPr>
              <a:t>126</a:t>
            </a:r>
            <a:endParaRPr lang="en-US" sz="1200" dirty="0"/>
          </a:p>
        </p:txBody>
      </p:sp>
      <p:sp>
        <p:nvSpPr>
          <p:cNvPr id="35" name="Text 33"/>
          <p:cNvSpPr/>
          <p:nvPr/>
        </p:nvSpPr>
        <p:spPr>
          <a:xfrm>
            <a:off x="3703320" y="3035808"/>
            <a:ext cx="1408176" cy="219456"/>
          </a:xfrm>
          <a:prstGeom prst="rect">
            <a:avLst/>
          </a:prstGeom>
          <a:noFill/>
          <a:ln/>
        </p:spPr>
        <p:txBody>
          <a:bodyPr wrap="square" lIns="0" tIns="0" rIns="0" bIns="0" rtlCol="0" anchor="ctr"/>
          <a:lstStyle/>
          <a:p>
            <a:pPr marL="0" indent="0" algn="ctr">
              <a:buNone/>
            </a:pPr>
            <a:r>
              <a:rPr lang="en-US" sz="900" dirty="0">
                <a:solidFill>
                  <a:srgbClr val="6E7681"/>
                </a:solidFill>
                <a:latin typeface="Calibri" pitchFamily="34" charset="0"/>
                <a:ea typeface="Calibri" pitchFamily="34" charset="-122"/>
                <a:cs typeface="Calibri" pitchFamily="34" charset="-120"/>
              </a:rPr>
              <a:t>57 Episoden</a:t>
            </a:r>
            <a:endParaRPr lang="en-US" sz="900" dirty="0"/>
          </a:p>
        </p:txBody>
      </p:sp>
      <p:sp>
        <p:nvSpPr>
          <p:cNvPr id="36" name="Shape 34"/>
          <p:cNvSpPr/>
          <p:nvPr/>
        </p:nvSpPr>
        <p:spPr>
          <a:xfrm>
            <a:off x="5166360" y="2633472"/>
            <a:ext cx="1408176" cy="658368"/>
          </a:xfrm>
          <a:prstGeom prst="rect">
            <a:avLst/>
          </a:prstGeom>
          <a:solidFill>
            <a:srgbClr val="E9F0F3"/>
          </a:solidFill>
          <a:ln w="19050">
            <a:solidFill>
              <a:srgbClr val="FFFFFF"/>
            </a:solidFill>
            <a:prstDash val="solid"/>
          </a:ln>
        </p:spPr>
        <p:txBody>
          <a:bodyPr/>
          <a:lstStyle/>
          <a:p>
            <a:endParaRPr lang="de-DE"/>
          </a:p>
        </p:txBody>
      </p:sp>
      <p:sp>
        <p:nvSpPr>
          <p:cNvPr id="37" name="Text 35"/>
          <p:cNvSpPr/>
          <p:nvPr/>
        </p:nvSpPr>
        <p:spPr>
          <a:xfrm>
            <a:off x="5166360" y="2724912"/>
            <a:ext cx="1408176" cy="310896"/>
          </a:xfrm>
          <a:prstGeom prst="rect">
            <a:avLst/>
          </a:prstGeom>
          <a:noFill/>
          <a:ln/>
        </p:spPr>
        <p:txBody>
          <a:bodyPr wrap="square" lIns="0" tIns="0" rIns="0" bIns="0" rtlCol="0" anchor="ctr"/>
          <a:lstStyle/>
          <a:p>
            <a:pPr marL="0" indent="0" algn="ctr">
              <a:buNone/>
            </a:pPr>
            <a:r>
              <a:rPr lang="en-US" sz="1200" dirty="0">
                <a:solidFill>
                  <a:srgbClr val="6E7681"/>
                </a:solidFill>
                <a:latin typeface="Calibri" pitchFamily="34" charset="0"/>
                <a:ea typeface="Calibri" pitchFamily="34" charset="-122"/>
                <a:cs typeface="Calibri" pitchFamily="34" charset="-120"/>
              </a:rPr>
              <a:t>444  →  </a:t>
            </a:r>
            <a:r>
              <a:rPr lang="en-US" sz="1200" b="1" dirty="0">
                <a:solidFill>
                  <a:srgbClr val="1C6E8C"/>
                </a:solidFill>
                <a:latin typeface="Calibri" pitchFamily="34" charset="0"/>
                <a:ea typeface="Calibri" pitchFamily="34" charset="-122"/>
                <a:cs typeface="Calibri" pitchFamily="34" charset="-120"/>
              </a:rPr>
              <a:t>211</a:t>
            </a:r>
            <a:endParaRPr lang="en-US" sz="1200" dirty="0"/>
          </a:p>
        </p:txBody>
      </p:sp>
      <p:sp>
        <p:nvSpPr>
          <p:cNvPr id="38" name="Text 36"/>
          <p:cNvSpPr/>
          <p:nvPr/>
        </p:nvSpPr>
        <p:spPr>
          <a:xfrm>
            <a:off x="5166360" y="3035808"/>
            <a:ext cx="1408176" cy="219456"/>
          </a:xfrm>
          <a:prstGeom prst="rect">
            <a:avLst/>
          </a:prstGeom>
          <a:noFill/>
          <a:ln/>
        </p:spPr>
        <p:txBody>
          <a:bodyPr wrap="square" lIns="0" tIns="0" rIns="0" bIns="0" rtlCol="0" anchor="ctr"/>
          <a:lstStyle/>
          <a:p>
            <a:pPr marL="0" indent="0" algn="ctr">
              <a:buNone/>
            </a:pPr>
            <a:r>
              <a:rPr lang="en-US" sz="900" dirty="0">
                <a:solidFill>
                  <a:srgbClr val="6E7681"/>
                </a:solidFill>
                <a:latin typeface="Calibri" pitchFamily="34" charset="0"/>
                <a:ea typeface="Calibri" pitchFamily="34" charset="-122"/>
                <a:cs typeface="Calibri" pitchFamily="34" charset="-120"/>
              </a:rPr>
              <a:t>264 Episoden</a:t>
            </a:r>
            <a:endParaRPr lang="en-US" sz="900" dirty="0"/>
          </a:p>
        </p:txBody>
      </p:sp>
      <p:sp>
        <p:nvSpPr>
          <p:cNvPr id="39" name="Shape 37"/>
          <p:cNvSpPr/>
          <p:nvPr/>
        </p:nvSpPr>
        <p:spPr>
          <a:xfrm>
            <a:off x="6629400" y="2633472"/>
            <a:ext cx="1408176" cy="658368"/>
          </a:xfrm>
          <a:prstGeom prst="rect">
            <a:avLst/>
          </a:prstGeom>
          <a:solidFill>
            <a:srgbClr val="E9F0F3"/>
          </a:solidFill>
          <a:ln w="19050">
            <a:solidFill>
              <a:srgbClr val="FFFFFF"/>
            </a:solidFill>
            <a:prstDash val="solid"/>
          </a:ln>
        </p:spPr>
        <p:txBody>
          <a:bodyPr/>
          <a:lstStyle/>
          <a:p>
            <a:endParaRPr lang="de-DE"/>
          </a:p>
        </p:txBody>
      </p:sp>
      <p:sp>
        <p:nvSpPr>
          <p:cNvPr id="40" name="Text 38"/>
          <p:cNvSpPr/>
          <p:nvPr/>
        </p:nvSpPr>
        <p:spPr>
          <a:xfrm>
            <a:off x="6629400" y="2724912"/>
            <a:ext cx="1408176" cy="310896"/>
          </a:xfrm>
          <a:prstGeom prst="rect">
            <a:avLst/>
          </a:prstGeom>
          <a:noFill/>
          <a:ln/>
        </p:spPr>
        <p:txBody>
          <a:bodyPr wrap="square" lIns="0" tIns="0" rIns="0" bIns="0" rtlCol="0" anchor="ctr"/>
          <a:lstStyle/>
          <a:p>
            <a:pPr marL="0" indent="0" algn="ctr">
              <a:buNone/>
            </a:pPr>
            <a:r>
              <a:rPr lang="en-US" sz="1200" dirty="0">
                <a:solidFill>
                  <a:srgbClr val="6E7681"/>
                </a:solidFill>
                <a:latin typeface="Calibri" pitchFamily="34" charset="0"/>
                <a:ea typeface="Calibri" pitchFamily="34" charset="-122"/>
                <a:cs typeface="Calibri" pitchFamily="34" charset="-120"/>
              </a:rPr>
              <a:t>91  →  </a:t>
            </a:r>
            <a:r>
              <a:rPr lang="en-US" sz="1200" b="1" dirty="0">
                <a:solidFill>
                  <a:srgbClr val="1C6E8C"/>
                </a:solidFill>
                <a:latin typeface="Calibri" pitchFamily="34" charset="0"/>
                <a:ea typeface="Calibri" pitchFamily="34" charset="-122"/>
                <a:cs typeface="Calibri" pitchFamily="34" charset="-120"/>
              </a:rPr>
              <a:t>55</a:t>
            </a:r>
            <a:endParaRPr lang="en-US" sz="1200" dirty="0"/>
          </a:p>
        </p:txBody>
      </p:sp>
      <p:sp>
        <p:nvSpPr>
          <p:cNvPr id="41" name="Text 39"/>
          <p:cNvSpPr/>
          <p:nvPr/>
        </p:nvSpPr>
        <p:spPr>
          <a:xfrm>
            <a:off x="6629400" y="3035808"/>
            <a:ext cx="1408176" cy="219456"/>
          </a:xfrm>
          <a:prstGeom prst="rect">
            <a:avLst/>
          </a:prstGeom>
          <a:noFill/>
          <a:ln/>
        </p:spPr>
        <p:txBody>
          <a:bodyPr wrap="square" lIns="0" tIns="0" rIns="0" bIns="0" rtlCol="0" anchor="ctr"/>
          <a:lstStyle/>
          <a:p>
            <a:pPr marL="0" indent="0" algn="ctr">
              <a:buNone/>
            </a:pPr>
            <a:r>
              <a:rPr lang="en-US" sz="900" dirty="0">
                <a:solidFill>
                  <a:srgbClr val="6E7681"/>
                </a:solidFill>
                <a:latin typeface="Calibri" pitchFamily="34" charset="0"/>
                <a:ea typeface="Calibri" pitchFamily="34" charset="-122"/>
                <a:cs typeface="Calibri" pitchFamily="34" charset="-120"/>
              </a:rPr>
              <a:t>91 Episoden</a:t>
            </a:r>
            <a:endParaRPr lang="en-US" sz="900" dirty="0"/>
          </a:p>
        </p:txBody>
      </p:sp>
      <p:sp>
        <p:nvSpPr>
          <p:cNvPr id="42" name="Shape 40"/>
          <p:cNvSpPr/>
          <p:nvPr/>
        </p:nvSpPr>
        <p:spPr>
          <a:xfrm>
            <a:off x="8092440" y="2633472"/>
            <a:ext cx="1408176" cy="658368"/>
          </a:xfrm>
          <a:prstGeom prst="rect">
            <a:avLst/>
          </a:prstGeom>
          <a:solidFill>
            <a:srgbClr val="E9F0F3"/>
          </a:solidFill>
          <a:ln w="19050">
            <a:solidFill>
              <a:srgbClr val="FFFFFF"/>
            </a:solidFill>
            <a:prstDash val="solid"/>
          </a:ln>
        </p:spPr>
        <p:txBody>
          <a:bodyPr/>
          <a:lstStyle/>
          <a:p>
            <a:endParaRPr lang="de-DE"/>
          </a:p>
        </p:txBody>
      </p:sp>
      <p:sp>
        <p:nvSpPr>
          <p:cNvPr id="43" name="Text 41"/>
          <p:cNvSpPr/>
          <p:nvPr/>
        </p:nvSpPr>
        <p:spPr>
          <a:xfrm>
            <a:off x="8092440" y="2724912"/>
            <a:ext cx="1408176" cy="310896"/>
          </a:xfrm>
          <a:prstGeom prst="rect">
            <a:avLst/>
          </a:prstGeom>
          <a:noFill/>
          <a:ln/>
        </p:spPr>
        <p:txBody>
          <a:bodyPr wrap="square" lIns="0" tIns="0" rIns="0" bIns="0" rtlCol="0" anchor="ctr"/>
          <a:lstStyle/>
          <a:p>
            <a:pPr marL="0" indent="0" algn="ctr">
              <a:buNone/>
            </a:pPr>
            <a:r>
              <a:rPr lang="en-US" sz="1200" dirty="0">
                <a:solidFill>
                  <a:srgbClr val="6E7681"/>
                </a:solidFill>
                <a:latin typeface="Calibri" pitchFamily="34" charset="0"/>
                <a:ea typeface="Calibri" pitchFamily="34" charset="-122"/>
                <a:cs typeface="Calibri" pitchFamily="34" charset="-120"/>
              </a:rPr>
              <a:t>112  →  </a:t>
            </a:r>
            <a:r>
              <a:rPr lang="en-US" sz="1200" b="1" dirty="0">
                <a:solidFill>
                  <a:srgbClr val="1C6E8C"/>
                </a:solidFill>
                <a:latin typeface="Calibri" pitchFamily="34" charset="0"/>
                <a:ea typeface="Calibri" pitchFamily="34" charset="-122"/>
                <a:cs typeface="Calibri" pitchFamily="34" charset="-120"/>
              </a:rPr>
              <a:t>83</a:t>
            </a:r>
            <a:endParaRPr lang="en-US" sz="1200" dirty="0"/>
          </a:p>
        </p:txBody>
      </p:sp>
      <p:sp>
        <p:nvSpPr>
          <p:cNvPr id="44" name="Text 42"/>
          <p:cNvSpPr/>
          <p:nvPr/>
        </p:nvSpPr>
        <p:spPr>
          <a:xfrm>
            <a:off x="8092440" y="3035808"/>
            <a:ext cx="1408176" cy="219456"/>
          </a:xfrm>
          <a:prstGeom prst="rect">
            <a:avLst/>
          </a:prstGeom>
          <a:noFill/>
          <a:ln/>
        </p:spPr>
        <p:txBody>
          <a:bodyPr wrap="square" lIns="0" tIns="0" rIns="0" bIns="0" rtlCol="0" anchor="ctr"/>
          <a:lstStyle/>
          <a:p>
            <a:pPr marL="0" indent="0" algn="ctr">
              <a:buNone/>
            </a:pPr>
            <a:r>
              <a:rPr lang="en-US" sz="900" dirty="0">
                <a:solidFill>
                  <a:srgbClr val="6E7681"/>
                </a:solidFill>
                <a:latin typeface="Calibri" pitchFamily="34" charset="0"/>
                <a:ea typeface="Calibri" pitchFamily="34" charset="-122"/>
                <a:cs typeface="Calibri" pitchFamily="34" charset="-120"/>
              </a:rPr>
              <a:t>63 Episoden</a:t>
            </a:r>
            <a:endParaRPr lang="en-US" sz="900" dirty="0"/>
          </a:p>
        </p:txBody>
      </p:sp>
      <p:sp>
        <p:nvSpPr>
          <p:cNvPr id="45" name="Shape 43"/>
          <p:cNvSpPr/>
          <p:nvPr/>
        </p:nvSpPr>
        <p:spPr>
          <a:xfrm>
            <a:off x="9555480" y="2633472"/>
            <a:ext cx="1408176" cy="658368"/>
          </a:xfrm>
          <a:prstGeom prst="rect">
            <a:avLst/>
          </a:prstGeom>
          <a:solidFill>
            <a:srgbClr val="E9F0F3"/>
          </a:solidFill>
          <a:ln w="19050">
            <a:solidFill>
              <a:srgbClr val="FFFFFF"/>
            </a:solidFill>
            <a:prstDash val="solid"/>
          </a:ln>
        </p:spPr>
        <p:txBody>
          <a:bodyPr/>
          <a:lstStyle/>
          <a:p>
            <a:endParaRPr lang="de-DE"/>
          </a:p>
        </p:txBody>
      </p:sp>
      <p:sp>
        <p:nvSpPr>
          <p:cNvPr id="46" name="Text 44"/>
          <p:cNvSpPr/>
          <p:nvPr/>
        </p:nvSpPr>
        <p:spPr>
          <a:xfrm>
            <a:off x="9555480" y="2724912"/>
            <a:ext cx="1408176" cy="310896"/>
          </a:xfrm>
          <a:prstGeom prst="rect">
            <a:avLst/>
          </a:prstGeom>
          <a:noFill/>
          <a:ln/>
        </p:spPr>
        <p:txBody>
          <a:bodyPr wrap="square" lIns="0" tIns="0" rIns="0" bIns="0" rtlCol="0" anchor="ctr"/>
          <a:lstStyle/>
          <a:p>
            <a:pPr marL="0" indent="0" algn="ctr">
              <a:buNone/>
            </a:pPr>
            <a:r>
              <a:rPr lang="en-US" sz="1200" dirty="0">
                <a:solidFill>
                  <a:srgbClr val="6E7681"/>
                </a:solidFill>
                <a:latin typeface="Calibri" pitchFamily="34" charset="0"/>
                <a:ea typeface="Calibri" pitchFamily="34" charset="-122"/>
                <a:cs typeface="Calibri" pitchFamily="34" charset="-120"/>
              </a:rPr>
              <a:t>166  →  </a:t>
            </a:r>
            <a:r>
              <a:rPr lang="en-US" sz="1200" b="1" dirty="0">
                <a:solidFill>
                  <a:srgbClr val="1C6E8C"/>
                </a:solidFill>
                <a:latin typeface="Calibri" pitchFamily="34" charset="0"/>
                <a:ea typeface="Calibri" pitchFamily="34" charset="-122"/>
                <a:cs typeface="Calibri" pitchFamily="34" charset="-120"/>
              </a:rPr>
              <a:t>159</a:t>
            </a:r>
            <a:endParaRPr lang="en-US" sz="1200" dirty="0"/>
          </a:p>
        </p:txBody>
      </p:sp>
      <p:sp>
        <p:nvSpPr>
          <p:cNvPr id="47" name="Text 45"/>
          <p:cNvSpPr/>
          <p:nvPr/>
        </p:nvSpPr>
        <p:spPr>
          <a:xfrm>
            <a:off x="9555480" y="3035808"/>
            <a:ext cx="1408176" cy="219456"/>
          </a:xfrm>
          <a:prstGeom prst="rect">
            <a:avLst/>
          </a:prstGeom>
          <a:noFill/>
          <a:ln/>
        </p:spPr>
        <p:txBody>
          <a:bodyPr wrap="square" lIns="0" tIns="0" rIns="0" bIns="0" rtlCol="0" anchor="ctr"/>
          <a:lstStyle/>
          <a:p>
            <a:pPr marL="0" indent="0" algn="ctr">
              <a:buNone/>
            </a:pPr>
            <a:r>
              <a:rPr lang="en-US" sz="900" dirty="0">
                <a:solidFill>
                  <a:srgbClr val="6E7681"/>
                </a:solidFill>
                <a:latin typeface="Calibri" pitchFamily="34" charset="0"/>
                <a:ea typeface="Calibri" pitchFamily="34" charset="-122"/>
                <a:cs typeface="Calibri" pitchFamily="34" charset="-120"/>
              </a:rPr>
              <a:t>57 Episoden</a:t>
            </a:r>
            <a:endParaRPr lang="en-US" sz="900" dirty="0"/>
          </a:p>
        </p:txBody>
      </p:sp>
      <p:sp>
        <p:nvSpPr>
          <p:cNvPr id="48" name="Text 46"/>
          <p:cNvSpPr/>
          <p:nvPr/>
        </p:nvSpPr>
        <p:spPr>
          <a:xfrm>
            <a:off x="640080" y="3346704"/>
            <a:ext cx="1508760" cy="713232"/>
          </a:xfrm>
          <a:prstGeom prst="rect">
            <a:avLst/>
          </a:prstGeom>
          <a:noFill/>
          <a:ln/>
        </p:spPr>
        <p:txBody>
          <a:bodyPr wrap="square" lIns="0" tIns="0" rIns="0" bIns="0" rtlCol="0" anchor="ctr"/>
          <a:lstStyle/>
          <a:p>
            <a:pPr marL="0" indent="0" algn="r">
              <a:buNone/>
            </a:pPr>
            <a:r>
              <a:rPr lang="en-US" sz="1300" b="1" dirty="0">
                <a:solidFill>
                  <a:srgbClr val="23282F"/>
                </a:solidFill>
                <a:latin typeface="Calibri" pitchFamily="34" charset="0"/>
                <a:ea typeface="Calibri" pitchFamily="34" charset="-122"/>
                <a:cs typeface="Calibri" pitchFamily="34" charset="-120"/>
              </a:rPr>
              <a:t>DMZ</a:t>
            </a:r>
            <a:endParaRPr lang="en-US" sz="1300" dirty="0"/>
          </a:p>
        </p:txBody>
      </p:sp>
      <p:sp>
        <p:nvSpPr>
          <p:cNvPr id="49" name="Shape 47"/>
          <p:cNvSpPr/>
          <p:nvPr/>
        </p:nvSpPr>
        <p:spPr>
          <a:xfrm>
            <a:off x="2240280" y="3346704"/>
            <a:ext cx="1408176" cy="658368"/>
          </a:xfrm>
          <a:prstGeom prst="rect">
            <a:avLst/>
          </a:prstGeom>
          <a:solidFill>
            <a:srgbClr val="E9F0F3"/>
          </a:solidFill>
          <a:ln w="19050">
            <a:solidFill>
              <a:srgbClr val="FFFFFF"/>
            </a:solidFill>
            <a:prstDash val="solid"/>
          </a:ln>
        </p:spPr>
        <p:txBody>
          <a:bodyPr/>
          <a:lstStyle/>
          <a:p>
            <a:endParaRPr lang="de-DE"/>
          </a:p>
        </p:txBody>
      </p:sp>
      <p:sp>
        <p:nvSpPr>
          <p:cNvPr id="50" name="Text 48"/>
          <p:cNvSpPr/>
          <p:nvPr/>
        </p:nvSpPr>
        <p:spPr>
          <a:xfrm>
            <a:off x="2240280" y="3438144"/>
            <a:ext cx="1408176" cy="310896"/>
          </a:xfrm>
          <a:prstGeom prst="rect">
            <a:avLst/>
          </a:prstGeom>
          <a:noFill/>
          <a:ln/>
        </p:spPr>
        <p:txBody>
          <a:bodyPr wrap="square" lIns="0" tIns="0" rIns="0" bIns="0" rtlCol="0" anchor="ctr"/>
          <a:lstStyle/>
          <a:p>
            <a:pPr marL="0" indent="0" algn="ctr">
              <a:buNone/>
            </a:pPr>
            <a:r>
              <a:rPr lang="en-US" sz="1200" dirty="0">
                <a:solidFill>
                  <a:srgbClr val="6E7681"/>
                </a:solidFill>
                <a:latin typeface="Calibri" pitchFamily="34" charset="0"/>
                <a:ea typeface="Calibri" pitchFamily="34" charset="-122"/>
                <a:cs typeface="Calibri" pitchFamily="34" charset="-120"/>
              </a:rPr>
              <a:t>63  →  </a:t>
            </a:r>
            <a:r>
              <a:rPr lang="en-US" sz="1200" b="1" dirty="0">
                <a:solidFill>
                  <a:srgbClr val="1C6E8C"/>
                </a:solidFill>
                <a:latin typeface="Calibri" pitchFamily="34" charset="0"/>
                <a:ea typeface="Calibri" pitchFamily="34" charset="-122"/>
                <a:cs typeface="Calibri" pitchFamily="34" charset="-120"/>
              </a:rPr>
              <a:t>58</a:t>
            </a:r>
            <a:endParaRPr lang="en-US" sz="1200" dirty="0"/>
          </a:p>
        </p:txBody>
      </p:sp>
      <p:sp>
        <p:nvSpPr>
          <p:cNvPr id="51" name="Text 49"/>
          <p:cNvSpPr/>
          <p:nvPr/>
        </p:nvSpPr>
        <p:spPr>
          <a:xfrm>
            <a:off x="2240280" y="3749040"/>
            <a:ext cx="1408176" cy="219456"/>
          </a:xfrm>
          <a:prstGeom prst="rect">
            <a:avLst/>
          </a:prstGeom>
          <a:noFill/>
          <a:ln/>
        </p:spPr>
        <p:txBody>
          <a:bodyPr wrap="square" lIns="0" tIns="0" rIns="0" bIns="0" rtlCol="0" anchor="ctr"/>
          <a:lstStyle/>
          <a:p>
            <a:pPr marL="0" indent="0" algn="ctr">
              <a:buNone/>
            </a:pPr>
            <a:r>
              <a:rPr lang="en-US" sz="900" dirty="0">
                <a:solidFill>
                  <a:srgbClr val="6E7681"/>
                </a:solidFill>
                <a:latin typeface="Calibri" pitchFamily="34" charset="0"/>
                <a:ea typeface="Calibri" pitchFamily="34" charset="-122"/>
                <a:cs typeface="Calibri" pitchFamily="34" charset="-120"/>
              </a:rPr>
              <a:t>60 Episoden</a:t>
            </a:r>
            <a:endParaRPr lang="en-US" sz="900" dirty="0"/>
          </a:p>
        </p:txBody>
      </p:sp>
      <p:sp>
        <p:nvSpPr>
          <p:cNvPr id="52" name="Shape 50"/>
          <p:cNvSpPr/>
          <p:nvPr/>
        </p:nvSpPr>
        <p:spPr>
          <a:xfrm>
            <a:off x="3703320" y="3346704"/>
            <a:ext cx="1408176" cy="658368"/>
          </a:xfrm>
          <a:prstGeom prst="rect">
            <a:avLst/>
          </a:prstGeom>
          <a:solidFill>
            <a:srgbClr val="E9F0F3"/>
          </a:solidFill>
          <a:ln w="19050">
            <a:solidFill>
              <a:srgbClr val="FFFFFF"/>
            </a:solidFill>
            <a:prstDash val="solid"/>
          </a:ln>
        </p:spPr>
        <p:txBody>
          <a:bodyPr/>
          <a:lstStyle/>
          <a:p>
            <a:endParaRPr lang="de-DE"/>
          </a:p>
        </p:txBody>
      </p:sp>
      <p:sp>
        <p:nvSpPr>
          <p:cNvPr id="53" name="Text 51"/>
          <p:cNvSpPr/>
          <p:nvPr/>
        </p:nvSpPr>
        <p:spPr>
          <a:xfrm>
            <a:off x="3703320" y="3438144"/>
            <a:ext cx="1408176" cy="310896"/>
          </a:xfrm>
          <a:prstGeom prst="rect">
            <a:avLst/>
          </a:prstGeom>
          <a:noFill/>
          <a:ln/>
        </p:spPr>
        <p:txBody>
          <a:bodyPr wrap="square" lIns="0" tIns="0" rIns="0" bIns="0" rtlCol="0" anchor="ctr"/>
          <a:lstStyle/>
          <a:p>
            <a:pPr marL="0" indent="0" algn="ctr">
              <a:buNone/>
            </a:pPr>
            <a:r>
              <a:rPr lang="en-US" sz="1200" dirty="0">
                <a:solidFill>
                  <a:srgbClr val="6E7681"/>
                </a:solidFill>
                <a:latin typeface="Calibri" pitchFamily="34" charset="0"/>
                <a:ea typeface="Calibri" pitchFamily="34" charset="-122"/>
                <a:cs typeface="Calibri" pitchFamily="34" charset="-120"/>
              </a:rPr>
              <a:t>106  →  </a:t>
            </a:r>
            <a:r>
              <a:rPr lang="en-US" sz="1200" b="1" dirty="0">
                <a:solidFill>
                  <a:srgbClr val="1C6E8C"/>
                </a:solidFill>
                <a:latin typeface="Calibri" pitchFamily="34" charset="0"/>
                <a:ea typeface="Calibri" pitchFamily="34" charset="-122"/>
                <a:cs typeface="Calibri" pitchFamily="34" charset="-120"/>
              </a:rPr>
              <a:t>101</a:t>
            </a:r>
            <a:endParaRPr lang="en-US" sz="1200" dirty="0"/>
          </a:p>
        </p:txBody>
      </p:sp>
      <p:sp>
        <p:nvSpPr>
          <p:cNvPr id="54" name="Text 52"/>
          <p:cNvSpPr/>
          <p:nvPr/>
        </p:nvSpPr>
        <p:spPr>
          <a:xfrm>
            <a:off x="3703320" y="3749040"/>
            <a:ext cx="1408176" cy="219456"/>
          </a:xfrm>
          <a:prstGeom prst="rect">
            <a:avLst/>
          </a:prstGeom>
          <a:noFill/>
          <a:ln/>
        </p:spPr>
        <p:txBody>
          <a:bodyPr wrap="square" lIns="0" tIns="0" rIns="0" bIns="0" rtlCol="0" anchor="ctr"/>
          <a:lstStyle/>
          <a:p>
            <a:pPr marL="0" indent="0" algn="ctr">
              <a:buNone/>
            </a:pPr>
            <a:r>
              <a:rPr lang="en-US" sz="900" dirty="0">
                <a:solidFill>
                  <a:srgbClr val="6E7681"/>
                </a:solidFill>
                <a:latin typeface="Calibri" pitchFamily="34" charset="0"/>
                <a:ea typeface="Calibri" pitchFamily="34" charset="-122"/>
                <a:cs typeface="Calibri" pitchFamily="34" charset="-120"/>
              </a:rPr>
              <a:t>62 Episoden</a:t>
            </a:r>
            <a:endParaRPr lang="en-US" sz="900" dirty="0"/>
          </a:p>
        </p:txBody>
      </p:sp>
      <p:sp>
        <p:nvSpPr>
          <p:cNvPr id="55" name="Shape 53"/>
          <p:cNvSpPr/>
          <p:nvPr/>
        </p:nvSpPr>
        <p:spPr>
          <a:xfrm>
            <a:off x="5166360" y="3346704"/>
            <a:ext cx="1408176" cy="658368"/>
          </a:xfrm>
          <a:prstGeom prst="rect">
            <a:avLst/>
          </a:prstGeom>
          <a:solidFill>
            <a:srgbClr val="E9F0F3"/>
          </a:solidFill>
          <a:ln w="19050">
            <a:solidFill>
              <a:srgbClr val="FFFFFF"/>
            </a:solidFill>
            <a:prstDash val="solid"/>
          </a:ln>
        </p:spPr>
        <p:txBody>
          <a:bodyPr/>
          <a:lstStyle/>
          <a:p>
            <a:endParaRPr lang="de-DE"/>
          </a:p>
        </p:txBody>
      </p:sp>
      <p:sp>
        <p:nvSpPr>
          <p:cNvPr id="56" name="Text 54"/>
          <p:cNvSpPr/>
          <p:nvPr/>
        </p:nvSpPr>
        <p:spPr>
          <a:xfrm>
            <a:off x="5166360" y="3438144"/>
            <a:ext cx="1408176" cy="310896"/>
          </a:xfrm>
          <a:prstGeom prst="rect">
            <a:avLst/>
          </a:prstGeom>
          <a:noFill/>
          <a:ln/>
        </p:spPr>
        <p:txBody>
          <a:bodyPr wrap="square" lIns="0" tIns="0" rIns="0" bIns="0" rtlCol="0" anchor="ctr"/>
          <a:lstStyle/>
          <a:p>
            <a:pPr marL="0" indent="0" algn="ctr">
              <a:buNone/>
            </a:pPr>
            <a:r>
              <a:rPr lang="en-US" sz="1200" dirty="0">
                <a:solidFill>
                  <a:srgbClr val="6E7681"/>
                </a:solidFill>
                <a:latin typeface="Calibri" pitchFamily="34" charset="0"/>
                <a:ea typeface="Calibri" pitchFamily="34" charset="-122"/>
                <a:cs typeface="Calibri" pitchFamily="34" charset="-120"/>
              </a:rPr>
              <a:t>69  →  </a:t>
            </a:r>
            <a:r>
              <a:rPr lang="en-US" sz="1200" b="1" dirty="0">
                <a:solidFill>
                  <a:srgbClr val="1C6E8C"/>
                </a:solidFill>
                <a:latin typeface="Calibri" pitchFamily="34" charset="0"/>
                <a:ea typeface="Calibri" pitchFamily="34" charset="-122"/>
                <a:cs typeface="Calibri" pitchFamily="34" charset="-120"/>
              </a:rPr>
              <a:t>64</a:t>
            </a:r>
            <a:endParaRPr lang="en-US" sz="1200" dirty="0"/>
          </a:p>
        </p:txBody>
      </p:sp>
      <p:sp>
        <p:nvSpPr>
          <p:cNvPr id="57" name="Text 55"/>
          <p:cNvSpPr/>
          <p:nvPr/>
        </p:nvSpPr>
        <p:spPr>
          <a:xfrm>
            <a:off x="5166360" y="3749040"/>
            <a:ext cx="1408176" cy="219456"/>
          </a:xfrm>
          <a:prstGeom prst="rect">
            <a:avLst/>
          </a:prstGeom>
          <a:noFill/>
          <a:ln/>
        </p:spPr>
        <p:txBody>
          <a:bodyPr wrap="square" lIns="0" tIns="0" rIns="0" bIns="0" rtlCol="0" anchor="ctr"/>
          <a:lstStyle/>
          <a:p>
            <a:pPr marL="0" indent="0" algn="ctr">
              <a:buNone/>
            </a:pPr>
            <a:r>
              <a:rPr lang="en-US" sz="900" dirty="0">
                <a:solidFill>
                  <a:srgbClr val="6E7681"/>
                </a:solidFill>
                <a:latin typeface="Calibri" pitchFamily="34" charset="0"/>
                <a:ea typeface="Calibri" pitchFamily="34" charset="-122"/>
                <a:cs typeface="Calibri" pitchFamily="34" charset="-120"/>
              </a:rPr>
              <a:t>60 Episoden</a:t>
            </a:r>
            <a:endParaRPr lang="en-US" sz="900" dirty="0"/>
          </a:p>
        </p:txBody>
      </p:sp>
      <p:sp>
        <p:nvSpPr>
          <p:cNvPr id="58" name="Shape 56"/>
          <p:cNvSpPr/>
          <p:nvPr/>
        </p:nvSpPr>
        <p:spPr>
          <a:xfrm>
            <a:off x="6629400" y="3346704"/>
            <a:ext cx="1408176" cy="658368"/>
          </a:xfrm>
          <a:prstGeom prst="rect">
            <a:avLst/>
          </a:prstGeom>
          <a:solidFill>
            <a:srgbClr val="E9F0F3"/>
          </a:solidFill>
          <a:ln w="19050">
            <a:solidFill>
              <a:srgbClr val="FFFFFF"/>
            </a:solidFill>
            <a:prstDash val="solid"/>
          </a:ln>
        </p:spPr>
        <p:txBody>
          <a:bodyPr/>
          <a:lstStyle/>
          <a:p>
            <a:endParaRPr lang="de-DE"/>
          </a:p>
        </p:txBody>
      </p:sp>
      <p:sp>
        <p:nvSpPr>
          <p:cNvPr id="59" name="Text 57"/>
          <p:cNvSpPr/>
          <p:nvPr/>
        </p:nvSpPr>
        <p:spPr>
          <a:xfrm>
            <a:off x="6629400" y="3438144"/>
            <a:ext cx="1408176" cy="310896"/>
          </a:xfrm>
          <a:prstGeom prst="rect">
            <a:avLst/>
          </a:prstGeom>
          <a:noFill/>
          <a:ln/>
        </p:spPr>
        <p:txBody>
          <a:bodyPr wrap="square" lIns="0" tIns="0" rIns="0" bIns="0" rtlCol="0" anchor="ctr"/>
          <a:lstStyle/>
          <a:p>
            <a:pPr marL="0" indent="0" algn="ctr">
              <a:buNone/>
            </a:pPr>
            <a:r>
              <a:rPr lang="en-US" sz="1200" dirty="0">
                <a:solidFill>
                  <a:srgbClr val="6E7681"/>
                </a:solidFill>
                <a:latin typeface="Calibri" pitchFamily="34" charset="0"/>
                <a:ea typeface="Calibri" pitchFamily="34" charset="-122"/>
                <a:cs typeface="Calibri" pitchFamily="34" charset="-120"/>
              </a:rPr>
              <a:t>1.105  →  </a:t>
            </a:r>
            <a:r>
              <a:rPr lang="en-US" sz="1200" b="1" dirty="0">
                <a:solidFill>
                  <a:srgbClr val="1C6E8C"/>
                </a:solidFill>
                <a:latin typeface="Calibri" pitchFamily="34" charset="0"/>
                <a:ea typeface="Calibri" pitchFamily="34" charset="-122"/>
                <a:cs typeface="Calibri" pitchFamily="34" charset="-120"/>
              </a:rPr>
              <a:t>198</a:t>
            </a:r>
            <a:endParaRPr lang="en-US" sz="1200" dirty="0"/>
          </a:p>
        </p:txBody>
      </p:sp>
      <p:sp>
        <p:nvSpPr>
          <p:cNvPr id="60" name="Text 58"/>
          <p:cNvSpPr/>
          <p:nvPr/>
        </p:nvSpPr>
        <p:spPr>
          <a:xfrm>
            <a:off x="6629400" y="3749040"/>
            <a:ext cx="1408176" cy="219456"/>
          </a:xfrm>
          <a:prstGeom prst="rect">
            <a:avLst/>
          </a:prstGeom>
          <a:noFill/>
          <a:ln/>
        </p:spPr>
        <p:txBody>
          <a:bodyPr wrap="square" lIns="0" tIns="0" rIns="0" bIns="0" rtlCol="0" anchor="ctr"/>
          <a:lstStyle/>
          <a:p>
            <a:pPr marL="0" indent="0" algn="ctr">
              <a:buNone/>
            </a:pPr>
            <a:r>
              <a:rPr lang="en-US" sz="900" dirty="0">
                <a:solidFill>
                  <a:srgbClr val="6E7681"/>
                </a:solidFill>
                <a:latin typeface="Calibri" pitchFamily="34" charset="0"/>
                <a:ea typeface="Calibri" pitchFamily="34" charset="-122"/>
                <a:cs typeface="Calibri" pitchFamily="34" charset="-120"/>
              </a:rPr>
              <a:t>258 Episoden</a:t>
            </a:r>
            <a:endParaRPr lang="en-US" sz="900" dirty="0"/>
          </a:p>
        </p:txBody>
      </p:sp>
      <p:sp>
        <p:nvSpPr>
          <p:cNvPr id="61" name="Shape 59"/>
          <p:cNvSpPr/>
          <p:nvPr/>
        </p:nvSpPr>
        <p:spPr>
          <a:xfrm>
            <a:off x="8092440" y="3346704"/>
            <a:ext cx="1408176" cy="658368"/>
          </a:xfrm>
          <a:prstGeom prst="rect">
            <a:avLst/>
          </a:prstGeom>
          <a:solidFill>
            <a:srgbClr val="E9F0F3"/>
          </a:solidFill>
          <a:ln w="19050">
            <a:solidFill>
              <a:srgbClr val="FFFFFF"/>
            </a:solidFill>
            <a:prstDash val="solid"/>
          </a:ln>
        </p:spPr>
        <p:txBody>
          <a:bodyPr/>
          <a:lstStyle/>
          <a:p>
            <a:endParaRPr lang="de-DE"/>
          </a:p>
        </p:txBody>
      </p:sp>
      <p:sp>
        <p:nvSpPr>
          <p:cNvPr id="62" name="Text 60"/>
          <p:cNvSpPr/>
          <p:nvPr/>
        </p:nvSpPr>
        <p:spPr>
          <a:xfrm>
            <a:off x="8092440" y="3438144"/>
            <a:ext cx="1408176" cy="310896"/>
          </a:xfrm>
          <a:prstGeom prst="rect">
            <a:avLst/>
          </a:prstGeom>
          <a:noFill/>
          <a:ln/>
        </p:spPr>
        <p:txBody>
          <a:bodyPr wrap="square" lIns="0" tIns="0" rIns="0" bIns="0" rtlCol="0" anchor="ctr"/>
          <a:lstStyle/>
          <a:p>
            <a:pPr marL="0" indent="0" algn="ctr">
              <a:buNone/>
            </a:pPr>
            <a:r>
              <a:rPr lang="en-US" sz="1200" dirty="0">
                <a:solidFill>
                  <a:srgbClr val="6E7681"/>
                </a:solidFill>
                <a:latin typeface="Calibri" pitchFamily="34" charset="0"/>
                <a:ea typeface="Calibri" pitchFamily="34" charset="-122"/>
                <a:cs typeface="Calibri" pitchFamily="34" charset="-120"/>
              </a:rPr>
              <a:t>23  →  </a:t>
            </a:r>
            <a:r>
              <a:rPr lang="en-US" sz="1200" b="1" dirty="0">
                <a:solidFill>
                  <a:srgbClr val="1C6E8C"/>
                </a:solidFill>
                <a:latin typeface="Calibri" pitchFamily="34" charset="0"/>
                <a:ea typeface="Calibri" pitchFamily="34" charset="-122"/>
                <a:cs typeface="Calibri" pitchFamily="34" charset="-120"/>
              </a:rPr>
              <a:t>23</a:t>
            </a:r>
            <a:endParaRPr lang="en-US" sz="1200" dirty="0"/>
          </a:p>
        </p:txBody>
      </p:sp>
      <p:sp>
        <p:nvSpPr>
          <p:cNvPr id="63" name="Text 61"/>
          <p:cNvSpPr/>
          <p:nvPr/>
        </p:nvSpPr>
        <p:spPr>
          <a:xfrm>
            <a:off x="8092440" y="3749040"/>
            <a:ext cx="1408176" cy="219456"/>
          </a:xfrm>
          <a:prstGeom prst="rect">
            <a:avLst/>
          </a:prstGeom>
          <a:noFill/>
          <a:ln/>
        </p:spPr>
        <p:txBody>
          <a:bodyPr wrap="square" lIns="0" tIns="0" rIns="0" bIns="0" rtlCol="0" anchor="ctr"/>
          <a:lstStyle/>
          <a:p>
            <a:pPr marL="0" indent="0" algn="ctr">
              <a:buNone/>
            </a:pPr>
            <a:r>
              <a:rPr lang="en-US" sz="900" dirty="0">
                <a:solidFill>
                  <a:srgbClr val="6E7681"/>
                </a:solidFill>
                <a:latin typeface="Calibri" pitchFamily="34" charset="0"/>
                <a:ea typeface="Calibri" pitchFamily="34" charset="-122"/>
                <a:cs typeface="Calibri" pitchFamily="34" charset="-120"/>
              </a:rPr>
              <a:t>58 Episoden</a:t>
            </a:r>
            <a:endParaRPr lang="en-US" sz="900" dirty="0"/>
          </a:p>
        </p:txBody>
      </p:sp>
      <p:sp>
        <p:nvSpPr>
          <p:cNvPr id="64" name="Shape 62"/>
          <p:cNvSpPr/>
          <p:nvPr/>
        </p:nvSpPr>
        <p:spPr>
          <a:xfrm>
            <a:off x="9555480" y="3346704"/>
            <a:ext cx="1408176" cy="658368"/>
          </a:xfrm>
          <a:prstGeom prst="rect">
            <a:avLst/>
          </a:prstGeom>
          <a:solidFill>
            <a:srgbClr val="E9F0F3"/>
          </a:solidFill>
          <a:ln w="19050">
            <a:solidFill>
              <a:srgbClr val="FFFFFF"/>
            </a:solidFill>
            <a:prstDash val="solid"/>
          </a:ln>
        </p:spPr>
        <p:txBody>
          <a:bodyPr/>
          <a:lstStyle/>
          <a:p>
            <a:endParaRPr lang="de-DE"/>
          </a:p>
        </p:txBody>
      </p:sp>
      <p:sp>
        <p:nvSpPr>
          <p:cNvPr id="65" name="Text 63"/>
          <p:cNvSpPr/>
          <p:nvPr/>
        </p:nvSpPr>
        <p:spPr>
          <a:xfrm>
            <a:off x="9555480" y="3438144"/>
            <a:ext cx="1408176" cy="310896"/>
          </a:xfrm>
          <a:prstGeom prst="rect">
            <a:avLst/>
          </a:prstGeom>
          <a:noFill/>
          <a:ln/>
        </p:spPr>
        <p:txBody>
          <a:bodyPr wrap="square" lIns="0" tIns="0" rIns="0" bIns="0" rtlCol="0" anchor="ctr"/>
          <a:lstStyle/>
          <a:p>
            <a:pPr marL="0" indent="0" algn="ctr">
              <a:buNone/>
            </a:pPr>
            <a:r>
              <a:rPr lang="en-US" sz="1200" dirty="0">
                <a:solidFill>
                  <a:srgbClr val="6E7681"/>
                </a:solidFill>
                <a:latin typeface="Calibri" pitchFamily="34" charset="0"/>
                <a:ea typeface="Calibri" pitchFamily="34" charset="-122"/>
                <a:cs typeface="Calibri" pitchFamily="34" charset="-120"/>
              </a:rPr>
              <a:t>159  →  </a:t>
            </a:r>
            <a:r>
              <a:rPr lang="en-US" sz="1200" b="1" dirty="0">
                <a:solidFill>
                  <a:srgbClr val="1C6E8C"/>
                </a:solidFill>
                <a:latin typeface="Calibri" pitchFamily="34" charset="0"/>
                <a:ea typeface="Calibri" pitchFamily="34" charset="-122"/>
                <a:cs typeface="Calibri" pitchFamily="34" charset="-120"/>
              </a:rPr>
              <a:t>144</a:t>
            </a:r>
            <a:endParaRPr lang="en-US" sz="1200" dirty="0"/>
          </a:p>
        </p:txBody>
      </p:sp>
      <p:sp>
        <p:nvSpPr>
          <p:cNvPr id="66" name="Text 64"/>
          <p:cNvSpPr/>
          <p:nvPr/>
        </p:nvSpPr>
        <p:spPr>
          <a:xfrm>
            <a:off x="9555480" y="3749040"/>
            <a:ext cx="1408176" cy="219456"/>
          </a:xfrm>
          <a:prstGeom prst="rect">
            <a:avLst/>
          </a:prstGeom>
          <a:noFill/>
          <a:ln/>
        </p:spPr>
        <p:txBody>
          <a:bodyPr wrap="square" lIns="0" tIns="0" rIns="0" bIns="0" rtlCol="0" anchor="ctr"/>
          <a:lstStyle/>
          <a:p>
            <a:pPr marL="0" indent="0" algn="ctr">
              <a:buNone/>
            </a:pPr>
            <a:r>
              <a:rPr lang="en-US" sz="900" dirty="0">
                <a:solidFill>
                  <a:srgbClr val="6E7681"/>
                </a:solidFill>
                <a:latin typeface="Calibri" pitchFamily="34" charset="0"/>
                <a:ea typeface="Calibri" pitchFamily="34" charset="-122"/>
                <a:cs typeface="Calibri" pitchFamily="34" charset="-120"/>
              </a:rPr>
              <a:t>90 Episoden</a:t>
            </a:r>
            <a:endParaRPr lang="en-US" sz="900" dirty="0"/>
          </a:p>
        </p:txBody>
      </p:sp>
      <p:sp>
        <p:nvSpPr>
          <p:cNvPr id="67" name="Text 65"/>
          <p:cNvSpPr/>
          <p:nvPr/>
        </p:nvSpPr>
        <p:spPr>
          <a:xfrm>
            <a:off x="640080" y="4059936"/>
            <a:ext cx="1508760" cy="713232"/>
          </a:xfrm>
          <a:prstGeom prst="rect">
            <a:avLst/>
          </a:prstGeom>
          <a:noFill/>
          <a:ln/>
        </p:spPr>
        <p:txBody>
          <a:bodyPr wrap="square" lIns="0" tIns="0" rIns="0" bIns="0" rtlCol="0" anchor="ctr"/>
          <a:lstStyle/>
          <a:p>
            <a:pPr marL="0" indent="0" algn="r">
              <a:buNone/>
            </a:pPr>
            <a:r>
              <a:rPr lang="en-US" sz="1300" b="1" dirty="0">
                <a:solidFill>
                  <a:srgbClr val="23282F"/>
                </a:solidFill>
                <a:latin typeface="Calibri" pitchFamily="34" charset="0"/>
                <a:ea typeface="Calibri" pitchFamily="34" charset="-122"/>
                <a:cs typeface="Calibri" pitchFamily="34" charset="-120"/>
              </a:rPr>
              <a:t>Micro-Seg.</a:t>
            </a:r>
            <a:endParaRPr lang="en-US" sz="1300" dirty="0"/>
          </a:p>
        </p:txBody>
      </p:sp>
      <p:sp>
        <p:nvSpPr>
          <p:cNvPr id="68" name="Shape 66"/>
          <p:cNvSpPr/>
          <p:nvPr/>
        </p:nvSpPr>
        <p:spPr>
          <a:xfrm>
            <a:off x="2240280" y="4059936"/>
            <a:ext cx="1408176" cy="658368"/>
          </a:xfrm>
          <a:prstGeom prst="rect">
            <a:avLst/>
          </a:prstGeom>
          <a:solidFill>
            <a:srgbClr val="FBEEEC"/>
          </a:solidFill>
          <a:ln w="19050">
            <a:solidFill>
              <a:srgbClr val="FFFFFF"/>
            </a:solidFill>
            <a:prstDash val="solid"/>
          </a:ln>
        </p:spPr>
        <p:txBody>
          <a:bodyPr/>
          <a:lstStyle/>
          <a:p>
            <a:endParaRPr lang="de-DE"/>
          </a:p>
        </p:txBody>
      </p:sp>
      <p:sp>
        <p:nvSpPr>
          <p:cNvPr id="69" name="Text 67"/>
          <p:cNvSpPr/>
          <p:nvPr/>
        </p:nvSpPr>
        <p:spPr>
          <a:xfrm>
            <a:off x="2240280" y="4151376"/>
            <a:ext cx="1408176" cy="310896"/>
          </a:xfrm>
          <a:prstGeom prst="rect">
            <a:avLst/>
          </a:prstGeom>
          <a:noFill/>
          <a:ln/>
        </p:spPr>
        <p:txBody>
          <a:bodyPr wrap="square" lIns="0" tIns="0" rIns="0" bIns="0" rtlCol="0" anchor="ctr"/>
          <a:lstStyle/>
          <a:p>
            <a:pPr marL="0" indent="0" algn="ctr">
              <a:buNone/>
            </a:pPr>
            <a:r>
              <a:rPr lang="en-US" sz="1200" dirty="0">
                <a:solidFill>
                  <a:srgbClr val="6E7681"/>
                </a:solidFill>
                <a:latin typeface="Calibri" pitchFamily="34" charset="0"/>
                <a:ea typeface="Calibri" pitchFamily="34" charset="-122"/>
                <a:cs typeface="Calibri" pitchFamily="34" charset="-120"/>
              </a:rPr>
              <a:t>25  →  </a:t>
            </a:r>
            <a:r>
              <a:rPr lang="en-US" sz="1200" b="1" dirty="0">
                <a:solidFill>
                  <a:srgbClr val="B3382C"/>
                </a:solidFill>
                <a:latin typeface="Calibri" pitchFamily="34" charset="0"/>
                <a:ea typeface="Calibri" pitchFamily="34" charset="-122"/>
                <a:cs typeface="Calibri" pitchFamily="34" charset="-120"/>
              </a:rPr>
              <a:t>26</a:t>
            </a:r>
            <a:endParaRPr lang="en-US" sz="1200" dirty="0"/>
          </a:p>
        </p:txBody>
      </p:sp>
      <p:sp>
        <p:nvSpPr>
          <p:cNvPr id="70" name="Text 68"/>
          <p:cNvSpPr/>
          <p:nvPr/>
        </p:nvSpPr>
        <p:spPr>
          <a:xfrm>
            <a:off x="2240280" y="4462272"/>
            <a:ext cx="1408176" cy="219456"/>
          </a:xfrm>
          <a:prstGeom prst="rect">
            <a:avLst/>
          </a:prstGeom>
          <a:noFill/>
          <a:ln/>
        </p:spPr>
        <p:txBody>
          <a:bodyPr wrap="square" lIns="0" tIns="0" rIns="0" bIns="0" rtlCol="0" anchor="ctr"/>
          <a:lstStyle/>
          <a:p>
            <a:pPr marL="0" indent="0" algn="ctr">
              <a:buNone/>
            </a:pPr>
            <a:r>
              <a:rPr lang="en-US" sz="900" dirty="0">
                <a:solidFill>
                  <a:srgbClr val="6E7681"/>
                </a:solidFill>
                <a:latin typeface="Calibri" pitchFamily="34" charset="0"/>
                <a:ea typeface="Calibri" pitchFamily="34" charset="-122"/>
                <a:cs typeface="Calibri" pitchFamily="34" charset="-120"/>
              </a:rPr>
              <a:t>57 Episoden</a:t>
            </a:r>
            <a:endParaRPr lang="en-US" sz="900" dirty="0"/>
          </a:p>
        </p:txBody>
      </p:sp>
      <p:sp>
        <p:nvSpPr>
          <p:cNvPr id="71" name="Shape 69"/>
          <p:cNvSpPr/>
          <p:nvPr/>
        </p:nvSpPr>
        <p:spPr>
          <a:xfrm>
            <a:off x="3703320" y="4059936"/>
            <a:ext cx="1408176" cy="658368"/>
          </a:xfrm>
          <a:prstGeom prst="rect">
            <a:avLst/>
          </a:prstGeom>
          <a:solidFill>
            <a:srgbClr val="E9F0F3"/>
          </a:solidFill>
          <a:ln w="19050">
            <a:solidFill>
              <a:srgbClr val="FFFFFF"/>
            </a:solidFill>
            <a:prstDash val="solid"/>
          </a:ln>
        </p:spPr>
        <p:txBody>
          <a:bodyPr/>
          <a:lstStyle/>
          <a:p>
            <a:endParaRPr lang="de-DE"/>
          </a:p>
        </p:txBody>
      </p:sp>
      <p:sp>
        <p:nvSpPr>
          <p:cNvPr id="72" name="Text 70"/>
          <p:cNvSpPr/>
          <p:nvPr/>
        </p:nvSpPr>
        <p:spPr>
          <a:xfrm>
            <a:off x="3703320" y="4151376"/>
            <a:ext cx="1408176" cy="310896"/>
          </a:xfrm>
          <a:prstGeom prst="rect">
            <a:avLst/>
          </a:prstGeom>
          <a:noFill/>
          <a:ln/>
        </p:spPr>
        <p:txBody>
          <a:bodyPr wrap="square" lIns="0" tIns="0" rIns="0" bIns="0" rtlCol="0" anchor="ctr"/>
          <a:lstStyle/>
          <a:p>
            <a:pPr marL="0" indent="0" algn="ctr">
              <a:buNone/>
            </a:pPr>
            <a:r>
              <a:rPr lang="en-US" sz="1200" dirty="0">
                <a:solidFill>
                  <a:srgbClr val="6E7681"/>
                </a:solidFill>
                <a:latin typeface="Calibri" pitchFamily="34" charset="0"/>
                <a:ea typeface="Calibri" pitchFamily="34" charset="-122"/>
                <a:cs typeface="Calibri" pitchFamily="34" charset="-120"/>
              </a:rPr>
              <a:t>114  →  </a:t>
            </a:r>
            <a:r>
              <a:rPr lang="en-US" sz="1200" b="1" dirty="0">
                <a:solidFill>
                  <a:srgbClr val="1C6E8C"/>
                </a:solidFill>
                <a:latin typeface="Calibri" pitchFamily="34" charset="0"/>
                <a:ea typeface="Calibri" pitchFamily="34" charset="-122"/>
                <a:cs typeface="Calibri" pitchFamily="34" charset="-120"/>
              </a:rPr>
              <a:t>107</a:t>
            </a:r>
            <a:endParaRPr lang="en-US" sz="1200" dirty="0"/>
          </a:p>
        </p:txBody>
      </p:sp>
      <p:sp>
        <p:nvSpPr>
          <p:cNvPr id="73" name="Text 71"/>
          <p:cNvSpPr/>
          <p:nvPr/>
        </p:nvSpPr>
        <p:spPr>
          <a:xfrm>
            <a:off x="3703320" y="4462272"/>
            <a:ext cx="1408176" cy="219456"/>
          </a:xfrm>
          <a:prstGeom prst="rect">
            <a:avLst/>
          </a:prstGeom>
          <a:noFill/>
          <a:ln/>
        </p:spPr>
        <p:txBody>
          <a:bodyPr wrap="square" lIns="0" tIns="0" rIns="0" bIns="0" rtlCol="0" anchor="ctr"/>
          <a:lstStyle/>
          <a:p>
            <a:pPr marL="0" indent="0" algn="ctr">
              <a:buNone/>
            </a:pPr>
            <a:r>
              <a:rPr lang="en-US" sz="900" dirty="0">
                <a:solidFill>
                  <a:srgbClr val="6E7681"/>
                </a:solidFill>
                <a:latin typeface="Calibri" pitchFamily="34" charset="0"/>
                <a:ea typeface="Calibri" pitchFamily="34" charset="-122"/>
                <a:cs typeface="Calibri" pitchFamily="34" charset="-120"/>
              </a:rPr>
              <a:t>59 Episoden</a:t>
            </a:r>
            <a:endParaRPr lang="en-US" sz="900" dirty="0"/>
          </a:p>
        </p:txBody>
      </p:sp>
      <p:sp>
        <p:nvSpPr>
          <p:cNvPr id="74" name="Shape 72"/>
          <p:cNvSpPr/>
          <p:nvPr/>
        </p:nvSpPr>
        <p:spPr>
          <a:xfrm>
            <a:off x="5166360" y="4059936"/>
            <a:ext cx="1408176" cy="658368"/>
          </a:xfrm>
          <a:prstGeom prst="rect">
            <a:avLst/>
          </a:prstGeom>
          <a:solidFill>
            <a:srgbClr val="E9F0F3"/>
          </a:solidFill>
          <a:ln w="19050">
            <a:solidFill>
              <a:srgbClr val="FFFFFF"/>
            </a:solidFill>
            <a:prstDash val="solid"/>
          </a:ln>
        </p:spPr>
        <p:txBody>
          <a:bodyPr/>
          <a:lstStyle/>
          <a:p>
            <a:endParaRPr lang="de-DE"/>
          </a:p>
        </p:txBody>
      </p:sp>
      <p:sp>
        <p:nvSpPr>
          <p:cNvPr id="75" name="Text 73"/>
          <p:cNvSpPr/>
          <p:nvPr/>
        </p:nvSpPr>
        <p:spPr>
          <a:xfrm>
            <a:off x="5166360" y="4151376"/>
            <a:ext cx="1408176" cy="310896"/>
          </a:xfrm>
          <a:prstGeom prst="rect">
            <a:avLst/>
          </a:prstGeom>
          <a:noFill/>
          <a:ln/>
        </p:spPr>
        <p:txBody>
          <a:bodyPr wrap="square" lIns="0" tIns="0" rIns="0" bIns="0" rtlCol="0" anchor="ctr"/>
          <a:lstStyle/>
          <a:p>
            <a:pPr marL="0" indent="0" algn="ctr">
              <a:buNone/>
            </a:pPr>
            <a:r>
              <a:rPr lang="en-US" sz="1200" dirty="0">
                <a:solidFill>
                  <a:srgbClr val="6E7681"/>
                </a:solidFill>
                <a:latin typeface="Calibri" pitchFamily="34" charset="0"/>
                <a:ea typeface="Calibri" pitchFamily="34" charset="-122"/>
                <a:cs typeface="Calibri" pitchFamily="34" charset="-120"/>
              </a:rPr>
              <a:t>103  →  </a:t>
            </a:r>
            <a:r>
              <a:rPr lang="en-US" sz="1200" b="1" dirty="0">
                <a:solidFill>
                  <a:srgbClr val="1C6E8C"/>
                </a:solidFill>
                <a:latin typeface="Calibri" pitchFamily="34" charset="0"/>
                <a:ea typeface="Calibri" pitchFamily="34" charset="-122"/>
                <a:cs typeface="Calibri" pitchFamily="34" charset="-120"/>
              </a:rPr>
              <a:t>74</a:t>
            </a:r>
            <a:endParaRPr lang="en-US" sz="1200" dirty="0"/>
          </a:p>
        </p:txBody>
      </p:sp>
      <p:sp>
        <p:nvSpPr>
          <p:cNvPr id="76" name="Text 74"/>
          <p:cNvSpPr/>
          <p:nvPr/>
        </p:nvSpPr>
        <p:spPr>
          <a:xfrm>
            <a:off x="5166360" y="4462272"/>
            <a:ext cx="1408176" cy="219456"/>
          </a:xfrm>
          <a:prstGeom prst="rect">
            <a:avLst/>
          </a:prstGeom>
          <a:noFill/>
          <a:ln/>
        </p:spPr>
        <p:txBody>
          <a:bodyPr wrap="square" lIns="0" tIns="0" rIns="0" bIns="0" rtlCol="0" anchor="ctr"/>
          <a:lstStyle/>
          <a:p>
            <a:pPr marL="0" indent="0" algn="ctr">
              <a:buNone/>
            </a:pPr>
            <a:r>
              <a:rPr lang="en-US" sz="900" dirty="0">
                <a:solidFill>
                  <a:srgbClr val="6E7681"/>
                </a:solidFill>
                <a:latin typeface="Calibri" pitchFamily="34" charset="0"/>
                <a:ea typeface="Calibri" pitchFamily="34" charset="-122"/>
                <a:cs typeface="Calibri" pitchFamily="34" charset="-120"/>
              </a:rPr>
              <a:t>61 Episoden</a:t>
            </a:r>
            <a:endParaRPr lang="en-US" sz="900" dirty="0"/>
          </a:p>
        </p:txBody>
      </p:sp>
      <p:sp>
        <p:nvSpPr>
          <p:cNvPr id="77" name="Shape 75"/>
          <p:cNvSpPr/>
          <p:nvPr/>
        </p:nvSpPr>
        <p:spPr>
          <a:xfrm>
            <a:off x="6629400" y="4059936"/>
            <a:ext cx="1408176" cy="658368"/>
          </a:xfrm>
          <a:prstGeom prst="rect">
            <a:avLst/>
          </a:prstGeom>
          <a:solidFill>
            <a:srgbClr val="E9F0F3"/>
          </a:solidFill>
          <a:ln w="19050">
            <a:solidFill>
              <a:srgbClr val="FFFFFF"/>
            </a:solidFill>
            <a:prstDash val="solid"/>
          </a:ln>
        </p:spPr>
        <p:txBody>
          <a:bodyPr/>
          <a:lstStyle/>
          <a:p>
            <a:endParaRPr lang="de-DE"/>
          </a:p>
        </p:txBody>
      </p:sp>
      <p:sp>
        <p:nvSpPr>
          <p:cNvPr id="78" name="Text 76"/>
          <p:cNvSpPr/>
          <p:nvPr/>
        </p:nvSpPr>
        <p:spPr>
          <a:xfrm>
            <a:off x="6629400" y="4151376"/>
            <a:ext cx="1408176" cy="310896"/>
          </a:xfrm>
          <a:prstGeom prst="rect">
            <a:avLst/>
          </a:prstGeom>
          <a:noFill/>
          <a:ln/>
        </p:spPr>
        <p:txBody>
          <a:bodyPr wrap="square" lIns="0" tIns="0" rIns="0" bIns="0" rtlCol="0" anchor="ctr"/>
          <a:lstStyle/>
          <a:p>
            <a:pPr marL="0" indent="0" algn="ctr">
              <a:buNone/>
            </a:pPr>
            <a:r>
              <a:rPr lang="en-US" sz="1200" dirty="0">
                <a:solidFill>
                  <a:srgbClr val="6E7681"/>
                </a:solidFill>
                <a:latin typeface="Calibri" pitchFamily="34" charset="0"/>
                <a:ea typeface="Calibri" pitchFamily="34" charset="-122"/>
                <a:cs typeface="Calibri" pitchFamily="34" charset="-120"/>
              </a:rPr>
              <a:t>74  →  </a:t>
            </a:r>
            <a:r>
              <a:rPr lang="en-US" sz="1200" b="1" dirty="0">
                <a:solidFill>
                  <a:srgbClr val="1C6E8C"/>
                </a:solidFill>
                <a:latin typeface="Calibri" pitchFamily="34" charset="0"/>
                <a:ea typeface="Calibri" pitchFamily="34" charset="-122"/>
                <a:cs typeface="Calibri" pitchFamily="34" charset="-120"/>
              </a:rPr>
              <a:t>59</a:t>
            </a:r>
            <a:endParaRPr lang="en-US" sz="1200" dirty="0"/>
          </a:p>
        </p:txBody>
      </p:sp>
      <p:sp>
        <p:nvSpPr>
          <p:cNvPr id="79" name="Text 77"/>
          <p:cNvSpPr/>
          <p:nvPr/>
        </p:nvSpPr>
        <p:spPr>
          <a:xfrm>
            <a:off x="6629400" y="4462272"/>
            <a:ext cx="1408176" cy="219456"/>
          </a:xfrm>
          <a:prstGeom prst="rect">
            <a:avLst/>
          </a:prstGeom>
          <a:noFill/>
          <a:ln/>
        </p:spPr>
        <p:txBody>
          <a:bodyPr wrap="square" lIns="0" tIns="0" rIns="0" bIns="0" rtlCol="0" anchor="ctr"/>
          <a:lstStyle/>
          <a:p>
            <a:pPr marL="0" indent="0" algn="ctr">
              <a:buNone/>
            </a:pPr>
            <a:r>
              <a:rPr lang="en-US" sz="900" dirty="0">
                <a:solidFill>
                  <a:srgbClr val="6E7681"/>
                </a:solidFill>
                <a:latin typeface="Calibri" pitchFamily="34" charset="0"/>
                <a:ea typeface="Calibri" pitchFamily="34" charset="-122"/>
                <a:cs typeface="Calibri" pitchFamily="34" charset="-120"/>
              </a:rPr>
              <a:t>74 Episoden</a:t>
            </a:r>
            <a:endParaRPr lang="en-US" sz="900" dirty="0"/>
          </a:p>
        </p:txBody>
      </p:sp>
      <p:sp>
        <p:nvSpPr>
          <p:cNvPr id="80" name="Shape 78"/>
          <p:cNvSpPr/>
          <p:nvPr/>
        </p:nvSpPr>
        <p:spPr>
          <a:xfrm>
            <a:off x="8092440" y="4059936"/>
            <a:ext cx="1408176" cy="658368"/>
          </a:xfrm>
          <a:prstGeom prst="rect">
            <a:avLst/>
          </a:prstGeom>
          <a:solidFill>
            <a:srgbClr val="E9F0F3"/>
          </a:solidFill>
          <a:ln w="19050">
            <a:solidFill>
              <a:srgbClr val="FFFFFF"/>
            </a:solidFill>
            <a:prstDash val="solid"/>
          </a:ln>
        </p:spPr>
        <p:txBody>
          <a:bodyPr/>
          <a:lstStyle/>
          <a:p>
            <a:endParaRPr lang="de-DE"/>
          </a:p>
        </p:txBody>
      </p:sp>
      <p:sp>
        <p:nvSpPr>
          <p:cNvPr id="81" name="Text 79"/>
          <p:cNvSpPr/>
          <p:nvPr/>
        </p:nvSpPr>
        <p:spPr>
          <a:xfrm>
            <a:off x="8092440" y="4151376"/>
            <a:ext cx="1408176" cy="310896"/>
          </a:xfrm>
          <a:prstGeom prst="rect">
            <a:avLst/>
          </a:prstGeom>
          <a:noFill/>
          <a:ln/>
        </p:spPr>
        <p:txBody>
          <a:bodyPr wrap="square" lIns="0" tIns="0" rIns="0" bIns="0" rtlCol="0" anchor="ctr"/>
          <a:lstStyle/>
          <a:p>
            <a:pPr marL="0" indent="0" algn="ctr">
              <a:buNone/>
            </a:pPr>
            <a:r>
              <a:rPr lang="en-US" sz="1200" dirty="0">
                <a:solidFill>
                  <a:srgbClr val="6E7681"/>
                </a:solidFill>
                <a:latin typeface="Calibri" pitchFamily="34" charset="0"/>
                <a:ea typeface="Calibri" pitchFamily="34" charset="-122"/>
                <a:cs typeface="Calibri" pitchFamily="34" charset="-120"/>
              </a:rPr>
              <a:t>229  →  </a:t>
            </a:r>
            <a:r>
              <a:rPr lang="en-US" sz="1200" b="1" dirty="0">
                <a:solidFill>
                  <a:srgbClr val="1C6E8C"/>
                </a:solidFill>
                <a:latin typeface="Calibri" pitchFamily="34" charset="0"/>
                <a:ea typeface="Calibri" pitchFamily="34" charset="-122"/>
                <a:cs typeface="Calibri" pitchFamily="34" charset="-120"/>
              </a:rPr>
              <a:t>217</a:t>
            </a:r>
            <a:endParaRPr lang="en-US" sz="1200" dirty="0"/>
          </a:p>
        </p:txBody>
      </p:sp>
      <p:sp>
        <p:nvSpPr>
          <p:cNvPr id="82" name="Text 80"/>
          <p:cNvSpPr/>
          <p:nvPr/>
        </p:nvSpPr>
        <p:spPr>
          <a:xfrm>
            <a:off x="8092440" y="4462272"/>
            <a:ext cx="1408176" cy="219456"/>
          </a:xfrm>
          <a:prstGeom prst="rect">
            <a:avLst/>
          </a:prstGeom>
          <a:noFill/>
          <a:ln/>
        </p:spPr>
        <p:txBody>
          <a:bodyPr wrap="square" lIns="0" tIns="0" rIns="0" bIns="0" rtlCol="0" anchor="ctr"/>
          <a:lstStyle/>
          <a:p>
            <a:pPr marL="0" indent="0" algn="ctr">
              <a:buNone/>
            </a:pPr>
            <a:r>
              <a:rPr lang="en-US" sz="900" dirty="0">
                <a:solidFill>
                  <a:srgbClr val="6E7681"/>
                </a:solidFill>
                <a:latin typeface="Calibri" pitchFamily="34" charset="0"/>
                <a:ea typeface="Calibri" pitchFamily="34" charset="-122"/>
                <a:cs typeface="Calibri" pitchFamily="34" charset="-120"/>
              </a:rPr>
              <a:t>82 Episoden</a:t>
            </a:r>
            <a:endParaRPr lang="en-US" sz="900" dirty="0"/>
          </a:p>
        </p:txBody>
      </p:sp>
      <p:sp>
        <p:nvSpPr>
          <p:cNvPr id="83" name="Shape 81"/>
          <p:cNvSpPr/>
          <p:nvPr/>
        </p:nvSpPr>
        <p:spPr>
          <a:xfrm>
            <a:off x="9555480" y="4059936"/>
            <a:ext cx="1408176" cy="658368"/>
          </a:xfrm>
          <a:prstGeom prst="rect">
            <a:avLst/>
          </a:prstGeom>
          <a:solidFill>
            <a:srgbClr val="E9F0F3"/>
          </a:solidFill>
          <a:ln w="19050">
            <a:solidFill>
              <a:srgbClr val="FFFFFF"/>
            </a:solidFill>
            <a:prstDash val="solid"/>
          </a:ln>
        </p:spPr>
        <p:txBody>
          <a:bodyPr/>
          <a:lstStyle/>
          <a:p>
            <a:endParaRPr lang="de-DE"/>
          </a:p>
        </p:txBody>
      </p:sp>
      <p:sp>
        <p:nvSpPr>
          <p:cNvPr id="84" name="Text 82"/>
          <p:cNvSpPr/>
          <p:nvPr/>
        </p:nvSpPr>
        <p:spPr>
          <a:xfrm>
            <a:off x="9555480" y="4151376"/>
            <a:ext cx="1408176" cy="310896"/>
          </a:xfrm>
          <a:prstGeom prst="rect">
            <a:avLst/>
          </a:prstGeom>
          <a:noFill/>
          <a:ln/>
        </p:spPr>
        <p:txBody>
          <a:bodyPr wrap="square" lIns="0" tIns="0" rIns="0" bIns="0" rtlCol="0" anchor="ctr"/>
          <a:lstStyle/>
          <a:p>
            <a:pPr marL="0" indent="0" algn="ctr">
              <a:buNone/>
            </a:pPr>
            <a:r>
              <a:rPr lang="en-US" sz="1200" dirty="0">
                <a:solidFill>
                  <a:srgbClr val="6E7681"/>
                </a:solidFill>
                <a:latin typeface="Calibri" pitchFamily="34" charset="0"/>
                <a:ea typeface="Calibri" pitchFamily="34" charset="-122"/>
                <a:cs typeface="Calibri" pitchFamily="34" charset="-120"/>
              </a:rPr>
              <a:t>163  →  </a:t>
            </a:r>
            <a:r>
              <a:rPr lang="en-US" sz="1200" b="1" dirty="0">
                <a:solidFill>
                  <a:srgbClr val="1C6E8C"/>
                </a:solidFill>
                <a:latin typeface="Calibri" pitchFamily="34" charset="0"/>
                <a:ea typeface="Calibri" pitchFamily="34" charset="-122"/>
                <a:cs typeface="Calibri" pitchFamily="34" charset="-120"/>
              </a:rPr>
              <a:t>157</a:t>
            </a:r>
            <a:endParaRPr lang="en-US" sz="1200" dirty="0"/>
          </a:p>
        </p:txBody>
      </p:sp>
      <p:sp>
        <p:nvSpPr>
          <p:cNvPr id="85" name="Text 83"/>
          <p:cNvSpPr/>
          <p:nvPr/>
        </p:nvSpPr>
        <p:spPr>
          <a:xfrm>
            <a:off x="9555480" y="4462272"/>
            <a:ext cx="1408176" cy="219456"/>
          </a:xfrm>
          <a:prstGeom prst="rect">
            <a:avLst/>
          </a:prstGeom>
          <a:noFill/>
          <a:ln/>
        </p:spPr>
        <p:txBody>
          <a:bodyPr wrap="square" lIns="0" tIns="0" rIns="0" bIns="0" rtlCol="0" anchor="ctr"/>
          <a:lstStyle/>
          <a:p>
            <a:pPr marL="0" indent="0" algn="ctr">
              <a:buNone/>
            </a:pPr>
            <a:r>
              <a:rPr lang="en-US" sz="900" dirty="0">
                <a:solidFill>
                  <a:srgbClr val="6E7681"/>
                </a:solidFill>
                <a:latin typeface="Calibri" pitchFamily="34" charset="0"/>
                <a:ea typeface="Calibri" pitchFamily="34" charset="-122"/>
                <a:cs typeface="Calibri" pitchFamily="34" charset="-120"/>
              </a:rPr>
              <a:t>58 Episoden</a:t>
            </a:r>
            <a:endParaRPr lang="en-US" sz="900" dirty="0"/>
          </a:p>
        </p:txBody>
      </p:sp>
      <p:sp>
        <p:nvSpPr>
          <p:cNvPr id="86" name="Text 84"/>
          <p:cNvSpPr/>
          <p:nvPr/>
        </p:nvSpPr>
        <p:spPr>
          <a:xfrm>
            <a:off x="640080" y="5029200"/>
            <a:ext cx="10881360" cy="320040"/>
          </a:xfrm>
          <a:prstGeom prst="rect">
            <a:avLst/>
          </a:prstGeom>
          <a:noFill/>
          <a:ln/>
        </p:spPr>
        <p:txBody>
          <a:bodyPr wrap="square" lIns="0" tIns="0" rIns="0" bIns="0" rtlCol="0" anchor="ctr"/>
          <a:lstStyle/>
          <a:p>
            <a:pPr marL="0" indent="0">
              <a:buNone/>
            </a:pPr>
            <a:r>
              <a:rPr lang="en-US" sz="1300" dirty="0">
                <a:solidFill>
                  <a:srgbClr val="23282F"/>
                </a:solidFill>
                <a:latin typeface="Calibri" pitchFamily="34" charset="0"/>
                <a:ea typeface="Calibri" pitchFamily="34" charset="-122"/>
                <a:cs typeface="Calibri" pitchFamily="34" charset="-120"/>
              </a:rPr>
              <a:t>Blau = der Angreifer verliert im Lauf des Trainings an Boden. Rot = er hält sein Niveau oder verbessert sich.</a:t>
            </a:r>
            <a:endParaRPr lang="en-US" sz="1300" dirty="0"/>
          </a:p>
        </p:txBody>
      </p:sp>
      <p:sp>
        <p:nvSpPr>
          <p:cNvPr id="87" name="Text 85"/>
          <p:cNvSpPr/>
          <p:nvPr/>
        </p:nvSpPr>
        <p:spPr>
          <a:xfrm>
            <a:off x="640080" y="5349240"/>
            <a:ext cx="10881360" cy="640080"/>
          </a:xfrm>
          <a:prstGeom prst="rect">
            <a:avLst/>
          </a:prstGeom>
          <a:noFill/>
          <a:ln/>
        </p:spPr>
        <p:txBody>
          <a:bodyPr wrap="square" lIns="0" tIns="0" rIns="0" bIns="0" rtlCol="0" anchor="ctr"/>
          <a:lstStyle/>
          <a:p>
            <a:pPr marL="0" indent="0">
              <a:buNone/>
            </a:pPr>
            <a:r>
              <a:rPr lang="en-US" sz="1200" dirty="0">
                <a:solidFill>
                  <a:srgbClr val="6E7681"/>
                </a:solidFill>
                <a:latin typeface="Calibri" pitchFamily="34" charset="0"/>
                <a:ea typeface="Calibri" pitchFamily="34" charset="-122"/>
                <a:cs typeface="Calibri" pitchFamily="34" charset="-120"/>
              </a:rPr>
              <a:t>Auffällig ist erneut die DMZ-Zeile: Dort bleibt der Angreifer-Reward über das gesamte Training nahezu unverändert. Der Verteidiger drängt ihn nicht zurück — er hält ihn von Anfang an klein. Die einzige Ausnahme ist der DMZ-Angreifer selbst, gegen den der Reward von 1.617 auf −2.406 kippt.</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40080" y="384048"/>
            <a:ext cx="10881360" cy="566928"/>
          </a:xfrm>
          <a:prstGeom prst="rect">
            <a:avLst/>
          </a:prstGeom>
          <a:noFill/>
          <a:ln/>
        </p:spPr>
        <p:txBody>
          <a:bodyPr wrap="square" lIns="0" tIns="0" rIns="0" bIns="0" rtlCol="0" anchor="ctr"/>
          <a:lstStyle/>
          <a:p>
            <a:pPr marL="0" indent="0">
              <a:buNone/>
            </a:pPr>
            <a:r>
              <a:rPr lang="en-US" sz="3400" b="1" dirty="0">
                <a:solidFill>
                  <a:srgbClr val="23282F"/>
                </a:solidFill>
                <a:latin typeface="Cambria" pitchFamily="34" charset="0"/>
                <a:ea typeface="Cambria" pitchFamily="34" charset="-122"/>
                <a:cs typeface="Cambria" pitchFamily="34" charset="-120"/>
              </a:rPr>
              <a:t>Wie weit kommt der Angreifer?</a:t>
            </a:r>
            <a:endParaRPr lang="en-US" sz="3400" dirty="0"/>
          </a:p>
        </p:txBody>
      </p:sp>
      <p:sp>
        <p:nvSpPr>
          <p:cNvPr id="3" name="Text 1"/>
          <p:cNvSpPr/>
          <p:nvPr/>
        </p:nvSpPr>
        <p:spPr>
          <a:xfrm>
            <a:off x="640080" y="969264"/>
            <a:ext cx="10881360" cy="493776"/>
          </a:xfrm>
          <a:prstGeom prst="rect">
            <a:avLst/>
          </a:prstGeom>
          <a:noFill/>
          <a:ln/>
        </p:spPr>
        <p:txBody>
          <a:bodyPr wrap="square" lIns="0" tIns="0" rIns="0" bIns="0" rtlCol="0" anchor="ctr"/>
          <a:lstStyle/>
          <a:p>
            <a:pPr marL="0" indent="0">
              <a:buNone/>
            </a:pPr>
            <a:r>
              <a:rPr lang="en-US" sz="1400" dirty="0">
                <a:solidFill>
                  <a:srgbClr val="6E7681"/>
                </a:solidFill>
                <a:latin typeface="Calibri" pitchFamily="34" charset="0"/>
                <a:ea typeface="Calibri" pitchFamily="34" charset="-122"/>
                <a:cs typeface="Calibri" pitchFamily="34" charset="-120"/>
              </a:rPr>
              <a:t>Anteil der Episoden mit erreichtem Crown Jewel, je Matchup</a:t>
            </a:r>
            <a:endParaRPr lang="en-US" sz="1400" dirty="0"/>
          </a:p>
        </p:txBody>
      </p:sp>
      <p:graphicFrame>
        <p:nvGraphicFramePr>
          <p:cNvPr id="4" name="Chart 0"/>
          <p:cNvGraphicFramePr/>
          <p:nvPr/>
        </p:nvGraphicFramePr>
        <p:xfrm>
          <a:off x="640080" y="1645920"/>
          <a:ext cx="10881360" cy="365760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p:nvPr/>
        </p:nvSpPr>
        <p:spPr>
          <a:xfrm>
            <a:off x="640080" y="6291072"/>
            <a:ext cx="10881360" cy="274320"/>
          </a:xfrm>
          <a:prstGeom prst="rect">
            <a:avLst/>
          </a:prstGeom>
          <a:noFill/>
          <a:ln/>
        </p:spPr>
        <p:txBody>
          <a:bodyPr wrap="square" lIns="0" tIns="0" rIns="0" bIns="0" rtlCol="0" anchor="ctr"/>
          <a:lstStyle/>
          <a:p>
            <a:pPr marL="0" indent="0">
              <a:buNone/>
            </a:pPr>
            <a:r>
              <a:rPr lang="en-US" sz="1000" i="1" dirty="0">
                <a:solidFill>
                  <a:srgbClr val="6E7681"/>
                </a:solidFill>
                <a:latin typeface="Calibri" pitchFamily="34" charset="0"/>
                <a:ea typeface="Calibri" pitchFamily="34" charset="-122"/>
                <a:cs typeface="Calibri" pitchFamily="34" charset="-120"/>
              </a:rPr>
              <a:t>Der Crown Jewel beendet die Episode nicht — sie läuft bis zur Übernahme aller Knoten oder ins Schrittlimit.</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40080" y="384048"/>
            <a:ext cx="10881360" cy="566928"/>
          </a:xfrm>
          <a:prstGeom prst="rect">
            <a:avLst/>
          </a:prstGeom>
          <a:noFill/>
          <a:ln/>
        </p:spPr>
        <p:txBody>
          <a:bodyPr wrap="square" lIns="0" tIns="0" rIns="0" bIns="0" rtlCol="0" anchor="ctr"/>
          <a:lstStyle/>
          <a:p>
            <a:pPr marL="0" indent="0">
              <a:buNone/>
            </a:pPr>
            <a:r>
              <a:rPr lang="en-US" sz="3400" b="1" dirty="0">
                <a:solidFill>
                  <a:srgbClr val="23282F"/>
                </a:solidFill>
                <a:latin typeface="Cambria" pitchFamily="34" charset="0"/>
                <a:ea typeface="Cambria" pitchFamily="34" charset="-122"/>
                <a:cs typeface="Cambria" pitchFamily="34" charset="-120"/>
              </a:rPr>
              <a:t>Wie viele Knoten hält der Angreifer?</a:t>
            </a:r>
            <a:endParaRPr lang="en-US" sz="3400" dirty="0"/>
          </a:p>
        </p:txBody>
      </p:sp>
      <p:sp>
        <p:nvSpPr>
          <p:cNvPr id="3" name="Text 1"/>
          <p:cNvSpPr/>
          <p:nvPr/>
        </p:nvSpPr>
        <p:spPr>
          <a:xfrm>
            <a:off x="640080" y="969264"/>
            <a:ext cx="10881360" cy="493776"/>
          </a:xfrm>
          <a:prstGeom prst="rect">
            <a:avLst/>
          </a:prstGeom>
          <a:noFill/>
          <a:ln/>
        </p:spPr>
        <p:txBody>
          <a:bodyPr wrap="square" lIns="0" tIns="0" rIns="0" bIns="0" rtlCol="0" anchor="ctr"/>
          <a:lstStyle/>
          <a:p>
            <a:pPr marL="0" indent="0">
              <a:buNone/>
            </a:pPr>
            <a:r>
              <a:rPr lang="en-US" sz="1400" dirty="0">
                <a:solidFill>
                  <a:srgbClr val="6E7681"/>
                </a:solidFill>
                <a:latin typeface="Calibri" pitchFamily="34" charset="0"/>
                <a:ea typeface="Calibri" pitchFamily="34" charset="-122"/>
                <a:cs typeface="Calibri" pitchFamily="34" charset="-120"/>
              </a:rPr>
              <a:t>Mittel je Matchup, von zehn Knoten im Netz — Zeile = verteidigte Topologie, Spalte = Angreifer</a:t>
            </a:r>
            <a:endParaRPr lang="en-US" sz="1400" dirty="0"/>
          </a:p>
        </p:txBody>
      </p:sp>
      <p:sp>
        <p:nvSpPr>
          <p:cNvPr id="4" name="Text 2"/>
          <p:cNvSpPr/>
          <p:nvPr/>
        </p:nvSpPr>
        <p:spPr>
          <a:xfrm>
            <a:off x="2240280" y="1399032"/>
            <a:ext cx="1371600" cy="329184"/>
          </a:xfrm>
          <a:prstGeom prst="rect">
            <a:avLst/>
          </a:prstGeom>
          <a:noFill/>
          <a:ln/>
        </p:spPr>
        <p:txBody>
          <a:bodyPr wrap="square" lIns="0" tIns="0" rIns="0" bIns="0" rtlCol="0" anchor="ctr"/>
          <a:lstStyle/>
          <a:p>
            <a:pPr marL="0" indent="0" algn="ctr">
              <a:buNone/>
            </a:pPr>
            <a:r>
              <a:rPr lang="en-US" sz="1200" b="1" dirty="0">
                <a:solidFill>
                  <a:srgbClr val="6E7681"/>
                </a:solidFill>
                <a:latin typeface="Calibri" pitchFamily="34" charset="0"/>
                <a:ea typeface="Calibri" pitchFamily="34" charset="-122"/>
                <a:cs typeface="Calibri" pitchFamily="34" charset="-120"/>
              </a:rPr>
              <a:t>Chain</a:t>
            </a:r>
            <a:endParaRPr lang="en-US" sz="1200" dirty="0"/>
          </a:p>
        </p:txBody>
      </p:sp>
      <p:sp>
        <p:nvSpPr>
          <p:cNvPr id="5" name="Text 3"/>
          <p:cNvSpPr/>
          <p:nvPr/>
        </p:nvSpPr>
        <p:spPr>
          <a:xfrm>
            <a:off x="3611880" y="1399032"/>
            <a:ext cx="1371600" cy="329184"/>
          </a:xfrm>
          <a:prstGeom prst="rect">
            <a:avLst/>
          </a:prstGeom>
          <a:noFill/>
          <a:ln/>
        </p:spPr>
        <p:txBody>
          <a:bodyPr wrap="square" lIns="0" tIns="0" rIns="0" bIns="0" rtlCol="0" anchor="ctr"/>
          <a:lstStyle/>
          <a:p>
            <a:pPr marL="0" indent="0" algn="ctr">
              <a:buNone/>
            </a:pPr>
            <a:r>
              <a:rPr lang="en-US" sz="1200" b="1" dirty="0">
                <a:solidFill>
                  <a:srgbClr val="6E7681"/>
                </a:solidFill>
                <a:latin typeface="Calibri" pitchFamily="34" charset="0"/>
                <a:ea typeface="Calibri" pitchFamily="34" charset="-122"/>
                <a:cs typeface="Calibri" pitchFamily="34" charset="-120"/>
              </a:rPr>
              <a:t>Flat</a:t>
            </a:r>
            <a:endParaRPr lang="en-US" sz="1200" dirty="0"/>
          </a:p>
        </p:txBody>
      </p:sp>
      <p:sp>
        <p:nvSpPr>
          <p:cNvPr id="6" name="Text 4"/>
          <p:cNvSpPr/>
          <p:nvPr/>
        </p:nvSpPr>
        <p:spPr>
          <a:xfrm>
            <a:off x="4983480" y="1399032"/>
            <a:ext cx="1371600" cy="329184"/>
          </a:xfrm>
          <a:prstGeom prst="rect">
            <a:avLst/>
          </a:prstGeom>
          <a:noFill/>
          <a:ln/>
        </p:spPr>
        <p:txBody>
          <a:bodyPr wrap="square" lIns="0" tIns="0" rIns="0" bIns="0" rtlCol="0" anchor="ctr"/>
          <a:lstStyle/>
          <a:p>
            <a:pPr marL="0" indent="0" algn="ctr">
              <a:buNone/>
            </a:pPr>
            <a:r>
              <a:rPr lang="en-US" sz="1200" b="1" dirty="0">
                <a:solidFill>
                  <a:srgbClr val="6E7681"/>
                </a:solidFill>
                <a:latin typeface="Calibri" pitchFamily="34" charset="0"/>
                <a:ea typeface="Calibri" pitchFamily="34" charset="-122"/>
                <a:cs typeface="Calibri" pitchFamily="34" charset="-120"/>
              </a:rPr>
              <a:t>Hub &amp; Spoke</a:t>
            </a:r>
            <a:endParaRPr lang="en-US" sz="1200" dirty="0"/>
          </a:p>
        </p:txBody>
      </p:sp>
      <p:sp>
        <p:nvSpPr>
          <p:cNvPr id="7" name="Text 5"/>
          <p:cNvSpPr/>
          <p:nvPr/>
        </p:nvSpPr>
        <p:spPr>
          <a:xfrm>
            <a:off x="6355080" y="1399032"/>
            <a:ext cx="1371600" cy="329184"/>
          </a:xfrm>
          <a:prstGeom prst="rect">
            <a:avLst/>
          </a:prstGeom>
          <a:noFill/>
          <a:ln/>
        </p:spPr>
        <p:txBody>
          <a:bodyPr wrap="square" lIns="0" tIns="0" rIns="0" bIns="0" rtlCol="0" anchor="ctr"/>
          <a:lstStyle/>
          <a:p>
            <a:pPr marL="0" indent="0" algn="ctr">
              <a:buNone/>
            </a:pPr>
            <a:r>
              <a:rPr lang="en-US" sz="1200" b="1" dirty="0">
                <a:solidFill>
                  <a:srgbClr val="6E7681"/>
                </a:solidFill>
                <a:latin typeface="Calibri" pitchFamily="34" charset="0"/>
                <a:ea typeface="Calibri" pitchFamily="34" charset="-122"/>
                <a:cs typeface="Calibri" pitchFamily="34" charset="-120"/>
              </a:rPr>
              <a:t>DMZ</a:t>
            </a:r>
            <a:endParaRPr lang="en-US" sz="1200" dirty="0"/>
          </a:p>
        </p:txBody>
      </p:sp>
      <p:sp>
        <p:nvSpPr>
          <p:cNvPr id="8" name="Text 6"/>
          <p:cNvSpPr/>
          <p:nvPr/>
        </p:nvSpPr>
        <p:spPr>
          <a:xfrm>
            <a:off x="7726680" y="1399032"/>
            <a:ext cx="1371600" cy="329184"/>
          </a:xfrm>
          <a:prstGeom prst="rect">
            <a:avLst/>
          </a:prstGeom>
          <a:noFill/>
          <a:ln/>
        </p:spPr>
        <p:txBody>
          <a:bodyPr wrap="square" lIns="0" tIns="0" rIns="0" bIns="0" rtlCol="0" anchor="ctr"/>
          <a:lstStyle/>
          <a:p>
            <a:pPr marL="0" indent="0" algn="ctr">
              <a:buNone/>
            </a:pPr>
            <a:r>
              <a:rPr lang="en-US" sz="1200" b="1" dirty="0">
                <a:solidFill>
                  <a:srgbClr val="6E7681"/>
                </a:solidFill>
                <a:latin typeface="Calibri" pitchFamily="34" charset="0"/>
                <a:ea typeface="Calibri" pitchFamily="34" charset="-122"/>
                <a:cs typeface="Calibri" pitchFamily="34" charset="-120"/>
              </a:rPr>
              <a:t>Micro-Seg.</a:t>
            </a:r>
            <a:endParaRPr lang="en-US" sz="1200" dirty="0"/>
          </a:p>
        </p:txBody>
      </p:sp>
      <p:sp>
        <p:nvSpPr>
          <p:cNvPr id="9" name="Text 7"/>
          <p:cNvSpPr/>
          <p:nvPr/>
        </p:nvSpPr>
        <p:spPr>
          <a:xfrm>
            <a:off x="9098280" y="1399032"/>
            <a:ext cx="1371600" cy="329184"/>
          </a:xfrm>
          <a:prstGeom prst="rect">
            <a:avLst/>
          </a:prstGeom>
          <a:noFill/>
          <a:ln/>
        </p:spPr>
        <p:txBody>
          <a:bodyPr wrap="square" lIns="0" tIns="0" rIns="0" bIns="0" rtlCol="0" anchor="ctr"/>
          <a:lstStyle/>
          <a:p>
            <a:pPr marL="0" indent="0" algn="ctr">
              <a:buNone/>
            </a:pPr>
            <a:r>
              <a:rPr lang="en-US" sz="1200" b="1" dirty="0">
                <a:solidFill>
                  <a:srgbClr val="6E7681"/>
                </a:solidFill>
                <a:latin typeface="Calibri" pitchFamily="34" charset="0"/>
                <a:ea typeface="Calibri" pitchFamily="34" charset="-122"/>
                <a:cs typeface="Calibri" pitchFamily="34" charset="-120"/>
              </a:rPr>
              <a:t>Super</a:t>
            </a:r>
            <a:endParaRPr lang="en-US" sz="1200" dirty="0"/>
          </a:p>
        </p:txBody>
      </p:sp>
      <p:sp>
        <p:nvSpPr>
          <p:cNvPr id="11" name="Text 9"/>
          <p:cNvSpPr/>
          <p:nvPr/>
        </p:nvSpPr>
        <p:spPr>
          <a:xfrm>
            <a:off x="640080" y="1783080"/>
            <a:ext cx="1508760" cy="658368"/>
          </a:xfrm>
          <a:prstGeom prst="rect">
            <a:avLst/>
          </a:prstGeom>
          <a:noFill/>
          <a:ln/>
        </p:spPr>
        <p:txBody>
          <a:bodyPr wrap="square" lIns="0" tIns="0" rIns="0" bIns="0" rtlCol="0" anchor="ctr"/>
          <a:lstStyle/>
          <a:p>
            <a:pPr marL="0" indent="0" algn="r">
              <a:buNone/>
            </a:pPr>
            <a:r>
              <a:rPr lang="en-US" sz="1300" b="1" dirty="0">
                <a:solidFill>
                  <a:srgbClr val="23282F"/>
                </a:solidFill>
                <a:latin typeface="Calibri" pitchFamily="34" charset="0"/>
                <a:ea typeface="Calibri" pitchFamily="34" charset="-122"/>
                <a:cs typeface="Calibri" pitchFamily="34" charset="-120"/>
              </a:rPr>
              <a:t>Flat</a:t>
            </a:r>
            <a:endParaRPr lang="en-US" sz="1300" dirty="0"/>
          </a:p>
        </p:txBody>
      </p:sp>
      <p:sp>
        <p:nvSpPr>
          <p:cNvPr id="12" name="Shape 10"/>
          <p:cNvSpPr/>
          <p:nvPr/>
        </p:nvSpPr>
        <p:spPr>
          <a:xfrm>
            <a:off x="2240280" y="1783080"/>
            <a:ext cx="1316736" cy="603504"/>
          </a:xfrm>
          <a:prstGeom prst="rect">
            <a:avLst/>
          </a:prstGeom>
          <a:solidFill>
            <a:srgbClr val="F4F6F8"/>
          </a:solidFill>
          <a:ln w="19050">
            <a:solidFill>
              <a:srgbClr val="FFFFFF"/>
            </a:solidFill>
            <a:prstDash val="solid"/>
          </a:ln>
        </p:spPr>
        <p:txBody>
          <a:bodyPr/>
          <a:lstStyle/>
          <a:p>
            <a:endParaRPr lang="de-DE"/>
          </a:p>
        </p:txBody>
      </p:sp>
      <p:sp>
        <p:nvSpPr>
          <p:cNvPr id="13" name="Text 11"/>
          <p:cNvSpPr/>
          <p:nvPr/>
        </p:nvSpPr>
        <p:spPr>
          <a:xfrm>
            <a:off x="2240280" y="1837944"/>
            <a:ext cx="1316736" cy="310896"/>
          </a:xfrm>
          <a:prstGeom prst="rect">
            <a:avLst/>
          </a:prstGeom>
          <a:noFill/>
          <a:ln/>
        </p:spPr>
        <p:txBody>
          <a:bodyPr wrap="square" lIns="0" tIns="0" rIns="0" bIns="0" rtlCol="0" anchor="ctr"/>
          <a:lstStyle/>
          <a:p>
            <a:pPr marL="0" indent="0" algn="ctr">
              <a:buNone/>
            </a:pPr>
            <a:r>
              <a:rPr lang="en-US" sz="1500" b="1" dirty="0">
                <a:solidFill>
                  <a:srgbClr val="23282F"/>
                </a:solidFill>
                <a:latin typeface="Calibri" pitchFamily="34" charset="0"/>
                <a:ea typeface="Calibri" pitchFamily="34" charset="-122"/>
                <a:cs typeface="Calibri" pitchFamily="34" charset="-120"/>
              </a:rPr>
              <a:t>1.1</a:t>
            </a:r>
            <a:endParaRPr lang="en-US" sz="1500" dirty="0"/>
          </a:p>
        </p:txBody>
      </p:sp>
      <p:sp>
        <p:nvSpPr>
          <p:cNvPr id="14" name="Text 12"/>
          <p:cNvSpPr/>
          <p:nvPr/>
        </p:nvSpPr>
        <p:spPr>
          <a:xfrm>
            <a:off x="2240280" y="2130552"/>
            <a:ext cx="1316736" cy="237744"/>
          </a:xfrm>
          <a:prstGeom prst="rect">
            <a:avLst/>
          </a:prstGeom>
          <a:noFill/>
          <a:ln/>
        </p:spPr>
        <p:txBody>
          <a:bodyPr wrap="square" lIns="0" tIns="0" rIns="0" bIns="0" rtlCol="0" anchor="ctr"/>
          <a:lstStyle/>
          <a:p>
            <a:pPr marL="0" indent="0" algn="ctr">
              <a:buNone/>
            </a:pPr>
            <a:r>
              <a:rPr lang="en-US" sz="1000" dirty="0">
                <a:solidFill>
                  <a:srgbClr val="6E7681"/>
                </a:solidFill>
                <a:latin typeface="Calibri" pitchFamily="34" charset="0"/>
                <a:ea typeface="Calibri" pitchFamily="34" charset="-122"/>
                <a:cs typeface="Calibri" pitchFamily="34" charset="-120"/>
              </a:rPr>
              <a:t>CJ 7 %</a:t>
            </a:r>
            <a:endParaRPr lang="en-US" sz="1000" dirty="0"/>
          </a:p>
        </p:txBody>
      </p:sp>
      <p:sp>
        <p:nvSpPr>
          <p:cNvPr id="15" name="Shape 13"/>
          <p:cNvSpPr/>
          <p:nvPr/>
        </p:nvSpPr>
        <p:spPr>
          <a:xfrm>
            <a:off x="3611880" y="1783080"/>
            <a:ext cx="1316736" cy="603504"/>
          </a:xfrm>
          <a:prstGeom prst="rect">
            <a:avLst/>
          </a:prstGeom>
          <a:solidFill>
            <a:srgbClr val="F6D9D3"/>
          </a:solidFill>
          <a:ln w="19050">
            <a:solidFill>
              <a:srgbClr val="FFFFFF"/>
            </a:solidFill>
            <a:prstDash val="solid"/>
          </a:ln>
        </p:spPr>
        <p:txBody>
          <a:bodyPr/>
          <a:lstStyle/>
          <a:p>
            <a:endParaRPr lang="de-DE"/>
          </a:p>
        </p:txBody>
      </p:sp>
      <p:sp>
        <p:nvSpPr>
          <p:cNvPr id="16" name="Text 14"/>
          <p:cNvSpPr/>
          <p:nvPr/>
        </p:nvSpPr>
        <p:spPr>
          <a:xfrm>
            <a:off x="3611880" y="1837944"/>
            <a:ext cx="1316736" cy="310896"/>
          </a:xfrm>
          <a:prstGeom prst="rect">
            <a:avLst/>
          </a:prstGeom>
          <a:noFill/>
          <a:ln/>
        </p:spPr>
        <p:txBody>
          <a:bodyPr wrap="square" lIns="0" tIns="0" rIns="0" bIns="0" rtlCol="0" anchor="ctr"/>
          <a:lstStyle/>
          <a:p>
            <a:pPr marL="0" indent="0" algn="ctr">
              <a:buNone/>
            </a:pPr>
            <a:r>
              <a:rPr lang="en-US" sz="1500" b="1" dirty="0">
                <a:solidFill>
                  <a:srgbClr val="23282F"/>
                </a:solidFill>
                <a:latin typeface="Calibri" pitchFamily="34" charset="0"/>
                <a:ea typeface="Calibri" pitchFamily="34" charset="-122"/>
                <a:cs typeface="Calibri" pitchFamily="34" charset="-120"/>
              </a:rPr>
              <a:t>3.8</a:t>
            </a:r>
            <a:endParaRPr lang="en-US" sz="1500" dirty="0"/>
          </a:p>
        </p:txBody>
      </p:sp>
      <p:sp>
        <p:nvSpPr>
          <p:cNvPr id="17" name="Text 15"/>
          <p:cNvSpPr/>
          <p:nvPr/>
        </p:nvSpPr>
        <p:spPr>
          <a:xfrm>
            <a:off x="3611880" y="2130552"/>
            <a:ext cx="1316736" cy="237744"/>
          </a:xfrm>
          <a:prstGeom prst="rect">
            <a:avLst/>
          </a:prstGeom>
          <a:noFill/>
          <a:ln/>
        </p:spPr>
        <p:txBody>
          <a:bodyPr wrap="square" lIns="0" tIns="0" rIns="0" bIns="0" rtlCol="0" anchor="ctr"/>
          <a:lstStyle/>
          <a:p>
            <a:pPr marL="0" indent="0" algn="ctr">
              <a:buNone/>
            </a:pPr>
            <a:r>
              <a:rPr lang="en-US" sz="1000" dirty="0">
                <a:solidFill>
                  <a:srgbClr val="6E7681"/>
                </a:solidFill>
                <a:latin typeface="Calibri" pitchFamily="34" charset="0"/>
                <a:ea typeface="Calibri" pitchFamily="34" charset="-122"/>
                <a:cs typeface="Calibri" pitchFamily="34" charset="-120"/>
              </a:rPr>
              <a:t>CJ 87 %</a:t>
            </a:r>
            <a:endParaRPr lang="en-US" sz="1000" dirty="0"/>
          </a:p>
        </p:txBody>
      </p:sp>
      <p:sp>
        <p:nvSpPr>
          <p:cNvPr id="18" name="Shape 16"/>
          <p:cNvSpPr/>
          <p:nvPr/>
        </p:nvSpPr>
        <p:spPr>
          <a:xfrm>
            <a:off x="4983480" y="1783080"/>
            <a:ext cx="1316736" cy="603504"/>
          </a:xfrm>
          <a:prstGeom prst="rect">
            <a:avLst/>
          </a:prstGeom>
          <a:solidFill>
            <a:srgbClr val="F6D9D3"/>
          </a:solidFill>
          <a:ln w="19050">
            <a:solidFill>
              <a:srgbClr val="FFFFFF"/>
            </a:solidFill>
            <a:prstDash val="solid"/>
          </a:ln>
        </p:spPr>
        <p:txBody>
          <a:bodyPr/>
          <a:lstStyle/>
          <a:p>
            <a:endParaRPr lang="de-DE"/>
          </a:p>
        </p:txBody>
      </p:sp>
      <p:sp>
        <p:nvSpPr>
          <p:cNvPr id="19" name="Text 17"/>
          <p:cNvSpPr/>
          <p:nvPr/>
        </p:nvSpPr>
        <p:spPr>
          <a:xfrm>
            <a:off x="4983480" y="1837944"/>
            <a:ext cx="1316736" cy="310896"/>
          </a:xfrm>
          <a:prstGeom prst="rect">
            <a:avLst/>
          </a:prstGeom>
          <a:noFill/>
          <a:ln/>
        </p:spPr>
        <p:txBody>
          <a:bodyPr wrap="square" lIns="0" tIns="0" rIns="0" bIns="0" rtlCol="0" anchor="ctr"/>
          <a:lstStyle/>
          <a:p>
            <a:pPr marL="0" indent="0" algn="ctr">
              <a:buNone/>
            </a:pPr>
            <a:r>
              <a:rPr lang="en-US" sz="1500" b="1" dirty="0">
                <a:solidFill>
                  <a:srgbClr val="23282F"/>
                </a:solidFill>
                <a:latin typeface="Calibri" pitchFamily="34" charset="0"/>
                <a:ea typeface="Calibri" pitchFamily="34" charset="-122"/>
                <a:cs typeface="Calibri" pitchFamily="34" charset="-120"/>
              </a:rPr>
              <a:t>3.1</a:t>
            </a:r>
            <a:endParaRPr lang="en-US" sz="1500" dirty="0"/>
          </a:p>
        </p:txBody>
      </p:sp>
      <p:sp>
        <p:nvSpPr>
          <p:cNvPr id="20" name="Text 18"/>
          <p:cNvSpPr/>
          <p:nvPr/>
        </p:nvSpPr>
        <p:spPr>
          <a:xfrm>
            <a:off x="4983480" y="2130552"/>
            <a:ext cx="1316736" cy="237744"/>
          </a:xfrm>
          <a:prstGeom prst="rect">
            <a:avLst/>
          </a:prstGeom>
          <a:noFill/>
          <a:ln/>
        </p:spPr>
        <p:txBody>
          <a:bodyPr wrap="square" lIns="0" tIns="0" rIns="0" bIns="0" rtlCol="0" anchor="ctr"/>
          <a:lstStyle/>
          <a:p>
            <a:pPr marL="0" indent="0" algn="ctr">
              <a:buNone/>
            </a:pPr>
            <a:r>
              <a:rPr lang="en-US" sz="1000" dirty="0">
                <a:solidFill>
                  <a:srgbClr val="6E7681"/>
                </a:solidFill>
                <a:latin typeface="Calibri" pitchFamily="34" charset="0"/>
                <a:ea typeface="Calibri" pitchFamily="34" charset="-122"/>
                <a:cs typeface="Calibri" pitchFamily="34" charset="-120"/>
              </a:rPr>
              <a:t>CJ 97 %</a:t>
            </a:r>
            <a:endParaRPr lang="en-US" sz="1000" dirty="0"/>
          </a:p>
        </p:txBody>
      </p:sp>
      <p:sp>
        <p:nvSpPr>
          <p:cNvPr id="21" name="Shape 19"/>
          <p:cNvSpPr/>
          <p:nvPr/>
        </p:nvSpPr>
        <p:spPr>
          <a:xfrm>
            <a:off x="6355080" y="1783080"/>
            <a:ext cx="1316736" cy="603504"/>
          </a:xfrm>
          <a:prstGeom prst="rect">
            <a:avLst/>
          </a:prstGeom>
          <a:solidFill>
            <a:srgbClr val="F4F6F8"/>
          </a:solidFill>
          <a:ln w="19050">
            <a:solidFill>
              <a:srgbClr val="FFFFFF"/>
            </a:solidFill>
            <a:prstDash val="solid"/>
          </a:ln>
        </p:spPr>
        <p:txBody>
          <a:bodyPr/>
          <a:lstStyle/>
          <a:p>
            <a:endParaRPr lang="de-DE"/>
          </a:p>
        </p:txBody>
      </p:sp>
      <p:sp>
        <p:nvSpPr>
          <p:cNvPr id="22" name="Text 20"/>
          <p:cNvSpPr/>
          <p:nvPr/>
        </p:nvSpPr>
        <p:spPr>
          <a:xfrm>
            <a:off x="6355080" y="1837944"/>
            <a:ext cx="1316736" cy="310896"/>
          </a:xfrm>
          <a:prstGeom prst="rect">
            <a:avLst/>
          </a:prstGeom>
          <a:noFill/>
          <a:ln/>
        </p:spPr>
        <p:txBody>
          <a:bodyPr wrap="square" lIns="0" tIns="0" rIns="0" bIns="0" rtlCol="0" anchor="ctr"/>
          <a:lstStyle/>
          <a:p>
            <a:pPr marL="0" indent="0" algn="ctr">
              <a:buNone/>
            </a:pPr>
            <a:r>
              <a:rPr lang="en-US" sz="1500" b="1" dirty="0">
                <a:solidFill>
                  <a:srgbClr val="23282F"/>
                </a:solidFill>
                <a:latin typeface="Calibri" pitchFamily="34" charset="0"/>
                <a:ea typeface="Calibri" pitchFamily="34" charset="-122"/>
                <a:cs typeface="Calibri" pitchFamily="34" charset="-120"/>
              </a:rPr>
              <a:t>1.6</a:t>
            </a:r>
            <a:endParaRPr lang="en-US" sz="1500" dirty="0"/>
          </a:p>
        </p:txBody>
      </p:sp>
      <p:sp>
        <p:nvSpPr>
          <p:cNvPr id="23" name="Text 21"/>
          <p:cNvSpPr/>
          <p:nvPr/>
        </p:nvSpPr>
        <p:spPr>
          <a:xfrm>
            <a:off x="6355080" y="2130552"/>
            <a:ext cx="1316736" cy="237744"/>
          </a:xfrm>
          <a:prstGeom prst="rect">
            <a:avLst/>
          </a:prstGeom>
          <a:noFill/>
          <a:ln/>
        </p:spPr>
        <p:txBody>
          <a:bodyPr wrap="square" lIns="0" tIns="0" rIns="0" bIns="0" rtlCol="0" anchor="ctr"/>
          <a:lstStyle/>
          <a:p>
            <a:pPr marL="0" indent="0" algn="ctr">
              <a:buNone/>
            </a:pPr>
            <a:r>
              <a:rPr lang="en-US" sz="1000" dirty="0">
                <a:solidFill>
                  <a:srgbClr val="6E7681"/>
                </a:solidFill>
                <a:latin typeface="Calibri" pitchFamily="34" charset="0"/>
                <a:ea typeface="Calibri" pitchFamily="34" charset="-122"/>
                <a:cs typeface="Calibri" pitchFamily="34" charset="-120"/>
              </a:rPr>
              <a:t>CJ 25 %</a:t>
            </a:r>
            <a:endParaRPr lang="en-US" sz="1000" dirty="0"/>
          </a:p>
        </p:txBody>
      </p:sp>
      <p:sp>
        <p:nvSpPr>
          <p:cNvPr id="24" name="Shape 22"/>
          <p:cNvSpPr/>
          <p:nvPr/>
        </p:nvSpPr>
        <p:spPr>
          <a:xfrm>
            <a:off x="7726680" y="1783080"/>
            <a:ext cx="1316736" cy="603504"/>
          </a:xfrm>
          <a:prstGeom prst="rect">
            <a:avLst/>
          </a:prstGeom>
          <a:solidFill>
            <a:srgbClr val="FBEDEA"/>
          </a:solidFill>
          <a:ln w="19050">
            <a:solidFill>
              <a:srgbClr val="FFFFFF"/>
            </a:solidFill>
            <a:prstDash val="solid"/>
          </a:ln>
        </p:spPr>
        <p:txBody>
          <a:bodyPr/>
          <a:lstStyle/>
          <a:p>
            <a:endParaRPr lang="de-DE"/>
          </a:p>
        </p:txBody>
      </p:sp>
      <p:sp>
        <p:nvSpPr>
          <p:cNvPr id="25" name="Text 23"/>
          <p:cNvSpPr/>
          <p:nvPr/>
        </p:nvSpPr>
        <p:spPr>
          <a:xfrm>
            <a:off x="7726680" y="1837944"/>
            <a:ext cx="1316736" cy="310896"/>
          </a:xfrm>
          <a:prstGeom prst="rect">
            <a:avLst/>
          </a:prstGeom>
          <a:noFill/>
          <a:ln/>
        </p:spPr>
        <p:txBody>
          <a:bodyPr wrap="square" lIns="0" tIns="0" rIns="0" bIns="0" rtlCol="0" anchor="ctr"/>
          <a:lstStyle/>
          <a:p>
            <a:pPr marL="0" indent="0" algn="ctr">
              <a:buNone/>
            </a:pPr>
            <a:r>
              <a:rPr lang="en-US" sz="1500" b="1" dirty="0">
                <a:solidFill>
                  <a:srgbClr val="23282F"/>
                </a:solidFill>
                <a:latin typeface="Calibri" pitchFamily="34" charset="0"/>
                <a:ea typeface="Calibri" pitchFamily="34" charset="-122"/>
                <a:cs typeface="Calibri" pitchFamily="34" charset="-120"/>
              </a:rPr>
              <a:t>2.5</a:t>
            </a:r>
            <a:endParaRPr lang="en-US" sz="1500" dirty="0"/>
          </a:p>
        </p:txBody>
      </p:sp>
      <p:sp>
        <p:nvSpPr>
          <p:cNvPr id="26" name="Text 24"/>
          <p:cNvSpPr/>
          <p:nvPr/>
        </p:nvSpPr>
        <p:spPr>
          <a:xfrm>
            <a:off x="7726680" y="2130552"/>
            <a:ext cx="1316736" cy="237744"/>
          </a:xfrm>
          <a:prstGeom prst="rect">
            <a:avLst/>
          </a:prstGeom>
          <a:noFill/>
          <a:ln/>
        </p:spPr>
        <p:txBody>
          <a:bodyPr wrap="square" lIns="0" tIns="0" rIns="0" bIns="0" rtlCol="0" anchor="ctr"/>
          <a:lstStyle/>
          <a:p>
            <a:pPr marL="0" indent="0" algn="ctr">
              <a:buNone/>
            </a:pPr>
            <a:r>
              <a:rPr lang="en-US" sz="1000" dirty="0">
                <a:solidFill>
                  <a:srgbClr val="6E7681"/>
                </a:solidFill>
                <a:latin typeface="Calibri" pitchFamily="34" charset="0"/>
                <a:ea typeface="Calibri" pitchFamily="34" charset="-122"/>
                <a:cs typeface="Calibri" pitchFamily="34" charset="-120"/>
              </a:rPr>
              <a:t>CJ 21 %</a:t>
            </a:r>
            <a:endParaRPr lang="en-US" sz="1000" dirty="0"/>
          </a:p>
        </p:txBody>
      </p:sp>
      <p:sp>
        <p:nvSpPr>
          <p:cNvPr id="27" name="Shape 25"/>
          <p:cNvSpPr/>
          <p:nvPr/>
        </p:nvSpPr>
        <p:spPr>
          <a:xfrm>
            <a:off x="9098280" y="1783080"/>
            <a:ext cx="1316736" cy="603504"/>
          </a:xfrm>
          <a:prstGeom prst="rect">
            <a:avLst/>
          </a:prstGeom>
          <a:solidFill>
            <a:srgbClr val="F4F6F8"/>
          </a:solidFill>
          <a:ln w="19050">
            <a:solidFill>
              <a:srgbClr val="FFFFFF"/>
            </a:solidFill>
            <a:prstDash val="solid"/>
          </a:ln>
        </p:spPr>
        <p:txBody>
          <a:bodyPr/>
          <a:lstStyle/>
          <a:p>
            <a:endParaRPr lang="de-DE"/>
          </a:p>
        </p:txBody>
      </p:sp>
      <p:sp>
        <p:nvSpPr>
          <p:cNvPr id="28" name="Text 26"/>
          <p:cNvSpPr/>
          <p:nvPr/>
        </p:nvSpPr>
        <p:spPr>
          <a:xfrm>
            <a:off x="9098280" y="1837944"/>
            <a:ext cx="1316736" cy="310896"/>
          </a:xfrm>
          <a:prstGeom prst="rect">
            <a:avLst/>
          </a:prstGeom>
          <a:noFill/>
          <a:ln/>
        </p:spPr>
        <p:txBody>
          <a:bodyPr wrap="square" lIns="0" tIns="0" rIns="0" bIns="0" rtlCol="0" anchor="ctr"/>
          <a:lstStyle/>
          <a:p>
            <a:pPr marL="0" indent="0" algn="ctr">
              <a:buNone/>
            </a:pPr>
            <a:r>
              <a:rPr lang="en-US" sz="1500" b="1" dirty="0">
                <a:solidFill>
                  <a:srgbClr val="23282F"/>
                </a:solidFill>
                <a:latin typeface="Calibri" pitchFamily="34" charset="0"/>
                <a:ea typeface="Calibri" pitchFamily="34" charset="-122"/>
                <a:cs typeface="Calibri" pitchFamily="34" charset="-120"/>
              </a:rPr>
              <a:t>1.2</a:t>
            </a:r>
            <a:endParaRPr lang="en-US" sz="1500" dirty="0"/>
          </a:p>
        </p:txBody>
      </p:sp>
      <p:sp>
        <p:nvSpPr>
          <p:cNvPr id="29" name="Text 27"/>
          <p:cNvSpPr/>
          <p:nvPr/>
        </p:nvSpPr>
        <p:spPr>
          <a:xfrm>
            <a:off x="9098280" y="2130552"/>
            <a:ext cx="1316736" cy="237744"/>
          </a:xfrm>
          <a:prstGeom prst="rect">
            <a:avLst/>
          </a:prstGeom>
          <a:noFill/>
          <a:ln/>
        </p:spPr>
        <p:txBody>
          <a:bodyPr wrap="square" lIns="0" tIns="0" rIns="0" bIns="0" rtlCol="0" anchor="ctr"/>
          <a:lstStyle/>
          <a:p>
            <a:pPr marL="0" indent="0" algn="ctr">
              <a:buNone/>
            </a:pPr>
            <a:r>
              <a:rPr lang="en-US" sz="1000" dirty="0">
                <a:solidFill>
                  <a:srgbClr val="6E7681"/>
                </a:solidFill>
                <a:latin typeface="Calibri" pitchFamily="34" charset="0"/>
                <a:ea typeface="Calibri" pitchFamily="34" charset="-122"/>
                <a:cs typeface="Calibri" pitchFamily="34" charset="-120"/>
              </a:rPr>
              <a:t>CJ 1 %</a:t>
            </a:r>
            <a:endParaRPr lang="en-US" sz="1000" dirty="0"/>
          </a:p>
        </p:txBody>
      </p:sp>
      <p:sp>
        <p:nvSpPr>
          <p:cNvPr id="30" name="Text 28"/>
          <p:cNvSpPr/>
          <p:nvPr/>
        </p:nvSpPr>
        <p:spPr>
          <a:xfrm>
            <a:off x="10579608" y="1783080"/>
            <a:ext cx="914400" cy="658368"/>
          </a:xfrm>
          <a:prstGeom prst="rect">
            <a:avLst/>
          </a:prstGeom>
          <a:noFill/>
          <a:ln/>
        </p:spPr>
        <p:txBody>
          <a:bodyPr wrap="square" lIns="0" tIns="0" rIns="0" bIns="0" rtlCol="0" anchor="ctr"/>
          <a:lstStyle/>
          <a:p>
            <a:pPr marL="0" indent="0">
              <a:buNone/>
            </a:pPr>
            <a:r>
              <a:rPr lang="en-US" sz="1500" b="1" dirty="0">
                <a:solidFill>
                  <a:srgbClr val="23282F"/>
                </a:solidFill>
                <a:latin typeface="Cambria" pitchFamily="34" charset="0"/>
                <a:ea typeface="Cambria" pitchFamily="34" charset="-122"/>
                <a:cs typeface="Cambria" pitchFamily="34" charset="-120"/>
              </a:rPr>
              <a:t>⌀ 2.2</a:t>
            </a:r>
            <a:endParaRPr lang="en-US" sz="1500" dirty="0"/>
          </a:p>
        </p:txBody>
      </p:sp>
      <p:sp>
        <p:nvSpPr>
          <p:cNvPr id="31" name="Text 29"/>
          <p:cNvSpPr/>
          <p:nvPr/>
        </p:nvSpPr>
        <p:spPr>
          <a:xfrm>
            <a:off x="640080" y="2441448"/>
            <a:ext cx="1508760" cy="658368"/>
          </a:xfrm>
          <a:prstGeom prst="rect">
            <a:avLst/>
          </a:prstGeom>
          <a:noFill/>
          <a:ln/>
        </p:spPr>
        <p:txBody>
          <a:bodyPr wrap="square" lIns="0" tIns="0" rIns="0" bIns="0" rtlCol="0" anchor="ctr"/>
          <a:lstStyle/>
          <a:p>
            <a:pPr marL="0" indent="0" algn="r">
              <a:buNone/>
            </a:pPr>
            <a:r>
              <a:rPr lang="en-US" sz="1300" b="1" dirty="0">
                <a:solidFill>
                  <a:srgbClr val="23282F"/>
                </a:solidFill>
                <a:latin typeface="Calibri" pitchFamily="34" charset="0"/>
                <a:ea typeface="Calibri" pitchFamily="34" charset="-122"/>
                <a:cs typeface="Calibri" pitchFamily="34" charset="-120"/>
              </a:rPr>
              <a:t>Hub &amp; Spoke</a:t>
            </a:r>
            <a:endParaRPr lang="en-US" sz="1300" dirty="0"/>
          </a:p>
        </p:txBody>
      </p:sp>
      <p:sp>
        <p:nvSpPr>
          <p:cNvPr id="32" name="Shape 30"/>
          <p:cNvSpPr/>
          <p:nvPr/>
        </p:nvSpPr>
        <p:spPr>
          <a:xfrm>
            <a:off x="2240280" y="2441448"/>
            <a:ext cx="1316736" cy="603504"/>
          </a:xfrm>
          <a:prstGeom prst="rect">
            <a:avLst/>
          </a:prstGeom>
          <a:solidFill>
            <a:srgbClr val="F4F6F8"/>
          </a:solidFill>
          <a:ln w="19050">
            <a:solidFill>
              <a:srgbClr val="FFFFFF"/>
            </a:solidFill>
            <a:prstDash val="solid"/>
          </a:ln>
        </p:spPr>
        <p:txBody>
          <a:bodyPr/>
          <a:lstStyle/>
          <a:p>
            <a:endParaRPr lang="de-DE"/>
          </a:p>
        </p:txBody>
      </p:sp>
      <p:sp>
        <p:nvSpPr>
          <p:cNvPr id="33" name="Text 31"/>
          <p:cNvSpPr/>
          <p:nvPr/>
        </p:nvSpPr>
        <p:spPr>
          <a:xfrm>
            <a:off x="2240280" y="2496312"/>
            <a:ext cx="1316736" cy="310896"/>
          </a:xfrm>
          <a:prstGeom prst="rect">
            <a:avLst/>
          </a:prstGeom>
          <a:noFill/>
          <a:ln/>
        </p:spPr>
        <p:txBody>
          <a:bodyPr wrap="square" lIns="0" tIns="0" rIns="0" bIns="0" rtlCol="0" anchor="ctr"/>
          <a:lstStyle/>
          <a:p>
            <a:pPr marL="0" indent="0" algn="ctr">
              <a:buNone/>
            </a:pPr>
            <a:r>
              <a:rPr lang="en-US" sz="1500" b="1" dirty="0">
                <a:solidFill>
                  <a:srgbClr val="23282F"/>
                </a:solidFill>
                <a:latin typeface="Calibri" pitchFamily="34" charset="0"/>
                <a:ea typeface="Calibri" pitchFamily="34" charset="-122"/>
                <a:cs typeface="Calibri" pitchFamily="34" charset="-120"/>
              </a:rPr>
              <a:t>1.1</a:t>
            </a:r>
            <a:endParaRPr lang="en-US" sz="1500" dirty="0"/>
          </a:p>
        </p:txBody>
      </p:sp>
      <p:sp>
        <p:nvSpPr>
          <p:cNvPr id="34" name="Text 32"/>
          <p:cNvSpPr/>
          <p:nvPr/>
        </p:nvSpPr>
        <p:spPr>
          <a:xfrm>
            <a:off x="2240280" y="2788920"/>
            <a:ext cx="1316736" cy="237744"/>
          </a:xfrm>
          <a:prstGeom prst="rect">
            <a:avLst/>
          </a:prstGeom>
          <a:noFill/>
          <a:ln/>
        </p:spPr>
        <p:txBody>
          <a:bodyPr wrap="square" lIns="0" tIns="0" rIns="0" bIns="0" rtlCol="0" anchor="ctr"/>
          <a:lstStyle/>
          <a:p>
            <a:pPr marL="0" indent="0" algn="ctr">
              <a:buNone/>
            </a:pPr>
            <a:r>
              <a:rPr lang="en-US" sz="1000" dirty="0">
                <a:solidFill>
                  <a:srgbClr val="6E7681"/>
                </a:solidFill>
                <a:latin typeface="Calibri" pitchFamily="34" charset="0"/>
                <a:ea typeface="Calibri" pitchFamily="34" charset="-122"/>
                <a:cs typeface="Calibri" pitchFamily="34" charset="-120"/>
              </a:rPr>
              <a:t>CJ 0 %</a:t>
            </a:r>
            <a:endParaRPr lang="en-US" sz="1000" dirty="0"/>
          </a:p>
        </p:txBody>
      </p:sp>
      <p:sp>
        <p:nvSpPr>
          <p:cNvPr id="35" name="Shape 33"/>
          <p:cNvSpPr/>
          <p:nvPr/>
        </p:nvSpPr>
        <p:spPr>
          <a:xfrm>
            <a:off x="3611880" y="2441448"/>
            <a:ext cx="1316736" cy="603504"/>
          </a:xfrm>
          <a:prstGeom prst="rect">
            <a:avLst/>
          </a:prstGeom>
          <a:solidFill>
            <a:srgbClr val="F6D9D3"/>
          </a:solidFill>
          <a:ln w="19050">
            <a:solidFill>
              <a:srgbClr val="FFFFFF"/>
            </a:solidFill>
            <a:prstDash val="solid"/>
          </a:ln>
        </p:spPr>
        <p:txBody>
          <a:bodyPr/>
          <a:lstStyle/>
          <a:p>
            <a:endParaRPr lang="de-DE"/>
          </a:p>
        </p:txBody>
      </p:sp>
      <p:sp>
        <p:nvSpPr>
          <p:cNvPr id="36" name="Text 34"/>
          <p:cNvSpPr/>
          <p:nvPr/>
        </p:nvSpPr>
        <p:spPr>
          <a:xfrm>
            <a:off x="3611880" y="2496312"/>
            <a:ext cx="1316736" cy="310896"/>
          </a:xfrm>
          <a:prstGeom prst="rect">
            <a:avLst/>
          </a:prstGeom>
          <a:noFill/>
          <a:ln/>
        </p:spPr>
        <p:txBody>
          <a:bodyPr wrap="square" lIns="0" tIns="0" rIns="0" bIns="0" rtlCol="0" anchor="ctr"/>
          <a:lstStyle/>
          <a:p>
            <a:pPr marL="0" indent="0" algn="ctr">
              <a:buNone/>
            </a:pPr>
            <a:r>
              <a:rPr lang="en-US" sz="1500" b="1" dirty="0">
                <a:solidFill>
                  <a:srgbClr val="23282F"/>
                </a:solidFill>
                <a:latin typeface="Calibri" pitchFamily="34" charset="0"/>
                <a:ea typeface="Calibri" pitchFamily="34" charset="-122"/>
                <a:cs typeface="Calibri" pitchFamily="34" charset="-120"/>
              </a:rPr>
              <a:t>3.0</a:t>
            </a:r>
            <a:endParaRPr lang="en-US" sz="1500" dirty="0"/>
          </a:p>
        </p:txBody>
      </p:sp>
      <p:sp>
        <p:nvSpPr>
          <p:cNvPr id="37" name="Text 35"/>
          <p:cNvSpPr/>
          <p:nvPr/>
        </p:nvSpPr>
        <p:spPr>
          <a:xfrm>
            <a:off x="3611880" y="2788920"/>
            <a:ext cx="1316736" cy="237744"/>
          </a:xfrm>
          <a:prstGeom prst="rect">
            <a:avLst/>
          </a:prstGeom>
          <a:noFill/>
          <a:ln/>
        </p:spPr>
        <p:txBody>
          <a:bodyPr wrap="square" lIns="0" tIns="0" rIns="0" bIns="0" rtlCol="0" anchor="ctr"/>
          <a:lstStyle/>
          <a:p>
            <a:pPr marL="0" indent="0" algn="ctr">
              <a:buNone/>
            </a:pPr>
            <a:r>
              <a:rPr lang="en-US" sz="1000" dirty="0">
                <a:solidFill>
                  <a:srgbClr val="6E7681"/>
                </a:solidFill>
                <a:latin typeface="Calibri" pitchFamily="34" charset="0"/>
                <a:ea typeface="Calibri" pitchFamily="34" charset="-122"/>
                <a:cs typeface="Calibri" pitchFamily="34" charset="-120"/>
              </a:rPr>
              <a:t>CJ 2 %</a:t>
            </a:r>
            <a:endParaRPr lang="en-US" sz="1000" dirty="0"/>
          </a:p>
        </p:txBody>
      </p:sp>
      <p:sp>
        <p:nvSpPr>
          <p:cNvPr id="38" name="Shape 36"/>
          <p:cNvSpPr/>
          <p:nvPr/>
        </p:nvSpPr>
        <p:spPr>
          <a:xfrm>
            <a:off x="4983480" y="2441448"/>
            <a:ext cx="1316736" cy="603504"/>
          </a:xfrm>
          <a:prstGeom prst="rect">
            <a:avLst/>
          </a:prstGeom>
          <a:solidFill>
            <a:srgbClr val="E0968A"/>
          </a:solidFill>
          <a:ln w="19050">
            <a:solidFill>
              <a:srgbClr val="FFFFFF"/>
            </a:solidFill>
            <a:prstDash val="solid"/>
          </a:ln>
        </p:spPr>
        <p:txBody>
          <a:bodyPr/>
          <a:lstStyle/>
          <a:p>
            <a:endParaRPr lang="de-DE"/>
          </a:p>
        </p:txBody>
      </p:sp>
      <p:sp>
        <p:nvSpPr>
          <p:cNvPr id="39" name="Text 37"/>
          <p:cNvSpPr/>
          <p:nvPr/>
        </p:nvSpPr>
        <p:spPr>
          <a:xfrm>
            <a:off x="4983480" y="2496312"/>
            <a:ext cx="1316736" cy="310896"/>
          </a:xfrm>
          <a:prstGeom prst="rect">
            <a:avLst/>
          </a:prstGeom>
          <a:noFill/>
          <a:ln/>
        </p:spPr>
        <p:txBody>
          <a:bodyPr wrap="square" lIns="0" tIns="0" rIns="0" bIns="0" rtlCol="0" anchor="ctr"/>
          <a:lstStyle/>
          <a:p>
            <a:pPr marL="0" indent="0" algn="ctr">
              <a:buNone/>
            </a:pPr>
            <a:r>
              <a:rPr lang="en-US" sz="1500" b="1" dirty="0">
                <a:solidFill>
                  <a:srgbClr val="23282F"/>
                </a:solidFill>
                <a:latin typeface="Calibri" pitchFamily="34" charset="0"/>
                <a:ea typeface="Calibri" pitchFamily="34" charset="-122"/>
                <a:cs typeface="Calibri" pitchFamily="34" charset="-120"/>
              </a:rPr>
              <a:t>6.5</a:t>
            </a:r>
            <a:endParaRPr lang="en-US" sz="1500" dirty="0"/>
          </a:p>
        </p:txBody>
      </p:sp>
      <p:sp>
        <p:nvSpPr>
          <p:cNvPr id="40" name="Text 38"/>
          <p:cNvSpPr/>
          <p:nvPr/>
        </p:nvSpPr>
        <p:spPr>
          <a:xfrm>
            <a:off x="4983480" y="2788920"/>
            <a:ext cx="1316736" cy="237744"/>
          </a:xfrm>
          <a:prstGeom prst="rect">
            <a:avLst/>
          </a:prstGeom>
          <a:noFill/>
          <a:ln/>
        </p:spPr>
        <p:txBody>
          <a:bodyPr wrap="square" lIns="0" tIns="0" rIns="0" bIns="0" rtlCol="0" anchor="ctr"/>
          <a:lstStyle/>
          <a:p>
            <a:pPr marL="0" indent="0" algn="ctr">
              <a:buNone/>
            </a:pPr>
            <a:r>
              <a:rPr lang="en-US" sz="1000" dirty="0">
                <a:solidFill>
                  <a:srgbClr val="6E7681"/>
                </a:solidFill>
                <a:latin typeface="Calibri" pitchFamily="34" charset="0"/>
                <a:ea typeface="Calibri" pitchFamily="34" charset="-122"/>
                <a:cs typeface="Calibri" pitchFamily="34" charset="-120"/>
              </a:rPr>
              <a:t>CJ 93 %</a:t>
            </a:r>
            <a:endParaRPr lang="en-US" sz="1000" dirty="0"/>
          </a:p>
        </p:txBody>
      </p:sp>
      <p:sp>
        <p:nvSpPr>
          <p:cNvPr id="41" name="Shape 39"/>
          <p:cNvSpPr/>
          <p:nvPr/>
        </p:nvSpPr>
        <p:spPr>
          <a:xfrm>
            <a:off x="6355080" y="2441448"/>
            <a:ext cx="1316736" cy="603504"/>
          </a:xfrm>
          <a:prstGeom prst="rect">
            <a:avLst/>
          </a:prstGeom>
          <a:solidFill>
            <a:srgbClr val="F4F6F8"/>
          </a:solidFill>
          <a:ln w="19050">
            <a:solidFill>
              <a:srgbClr val="FFFFFF"/>
            </a:solidFill>
            <a:prstDash val="solid"/>
          </a:ln>
        </p:spPr>
        <p:txBody>
          <a:bodyPr/>
          <a:lstStyle/>
          <a:p>
            <a:endParaRPr lang="de-DE"/>
          </a:p>
        </p:txBody>
      </p:sp>
      <p:sp>
        <p:nvSpPr>
          <p:cNvPr id="42" name="Text 40"/>
          <p:cNvSpPr/>
          <p:nvPr/>
        </p:nvSpPr>
        <p:spPr>
          <a:xfrm>
            <a:off x="6355080" y="2496312"/>
            <a:ext cx="1316736" cy="310896"/>
          </a:xfrm>
          <a:prstGeom prst="rect">
            <a:avLst/>
          </a:prstGeom>
          <a:noFill/>
          <a:ln/>
        </p:spPr>
        <p:txBody>
          <a:bodyPr wrap="square" lIns="0" tIns="0" rIns="0" bIns="0" rtlCol="0" anchor="ctr"/>
          <a:lstStyle/>
          <a:p>
            <a:pPr marL="0" indent="0" algn="ctr">
              <a:buNone/>
            </a:pPr>
            <a:r>
              <a:rPr lang="en-US" sz="1500" b="1" dirty="0">
                <a:solidFill>
                  <a:srgbClr val="23282F"/>
                </a:solidFill>
                <a:latin typeface="Calibri" pitchFamily="34" charset="0"/>
                <a:ea typeface="Calibri" pitchFamily="34" charset="-122"/>
                <a:cs typeface="Calibri" pitchFamily="34" charset="-120"/>
              </a:rPr>
              <a:t>1.6</a:t>
            </a:r>
            <a:endParaRPr lang="en-US" sz="1500" dirty="0"/>
          </a:p>
        </p:txBody>
      </p:sp>
      <p:sp>
        <p:nvSpPr>
          <p:cNvPr id="43" name="Text 41"/>
          <p:cNvSpPr/>
          <p:nvPr/>
        </p:nvSpPr>
        <p:spPr>
          <a:xfrm>
            <a:off x="6355080" y="2788920"/>
            <a:ext cx="1316736" cy="237744"/>
          </a:xfrm>
          <a:prstGeom prst="rect">
            <a:avLst/>
          </a:prstGeom>
          <a:noFill/>
          <a:ln/>
        </p:spPr>
        <p:txBody>
          <a:bodyPr wrap="square" lIns="0" tIns="0" rIns="0" bIns="0" rtlCol="0" anchor="ctr"/>
          <a:lstStyle/>
          <a:p>
            <a:pPr marL="0" indent="0" algn="ctr">
              <a:buNone/>
            </a:pPr>
            <a:r>
              <a:rPr lang="en-US" sz="1000" dirty="0">
                <a:solidFill>
                  <a:srgbClr val="6E7681"/>
                </a:solidFill>
                <a:latin typeface="Calibri" pitchFamily="34" charset="0"/>
                <a:ea typeface="Calibri" pitchFamily="34" charset="-122"/>
                <a:cs typeface="Calibri" pitchFamily="34" charset="-120"/>
              </a:rPr>
              <a:t>CJ 1 %</a:t>
            </a:r>
            <a:endParaRPr lang="en-US" sz="1000" dirty="0"/>
          </a:p>
        </p:txBody>
      </p:sp>
      <p:sp>
        <p:nvSpPr>
          <p:cNvPr id="44" name="Shape 42"/>
          <p:cNvSpPr/>
          <p:nvPr/>
        </p:nvSpPr>
        <p:spPr>
          <a:xfrm>
            <a:off x="7726680" y="2441448"/>
            <a:ext cx="1316736" cy="603504"/>
          </a:xfrm>
          <a:prstGeom prst="rect">
            <a:avLst/>
          </a:prstGeom>
          <a:solidFill>
            <a:srgbClr val="FBEDEA"/>
          </a:solidFill>
          <a:ln w="19050">
            <a:solidFill>
              <a:srgbClr val="FFFFFF"/>
            </a:solidFill>
            <a:prstDash val="solid"/>
          </a:ln>
        </p:spPr>
        <p:txBody>
          <a:bodyPr/>
          <a:lstStyle/>
          <a:p>
            <a:endParaRPr lang="de-DE"/>
          </a:p>
        </p:txBody>
      </p:sp>
      <p:sp>
        <p:nvSpPr>
          <p:cNvPr id="45" name="Text 43"/>
          <p:cNvSpPr/>
          <p:nvPr/>
        </p:nvSpPr>
        <p:spPr>
          <a:xfrm>
            <a:off x="7726680" y="2496312"/>
            <a:ext cx="1316736" cy="310896"/>
          </a:xfrm>
          <a:prstGeom prst="rect">
            <a:avLst/>
          </a:prstGeom>
          <a:noFill/>
          <a:ln/>
        </p:spPr>
        <p:txBody>
          <a:bodyPr wrap="square" lIns="0" tIns="0" rIns="0" bIns="0" rtlCol="0" anchor="ctr"/>
          <a:lstStyle/>
          <a:p>
            <a:pPr marL="0" indent="0" algn="ctr">
              <a:buNone/>
            </a:pPr>
            <a:r>
              <a:rPr lang="en-US" sz="1500" b="1" dirty="0">
                <a:solidFill>
                  <a:srgbClr val="23282F"/>
                </a:solidFill>
                <a:latin typeface="Calibri" pitchFamily="34" charset="0"/>
                <a:ea typeface="Calibri" pitchFamily="34" charset="-122"/>
                <a:cs typeface="Calibri" pitchFamily="34" charset="-120"/>
              </a:rPr>
              <a:t>2.4</a:t>
            </a:r>
            <a:endParaRPr lang="en-US" sz="1500" dirty="0"/>
          </a:p>
        </p:txBody>
      </p:sp>
      <p:sp>
        <p:nvSpPr>
          <p:cNvPr id="46" name="Text 44"/>
          <p:cNvSpPr/>
          <p:nvPr/>
        </p:nvSpPr>
        <p:spPr>
          <a:xfrm>
            <a:off x="7726680" y="2788920"/>
            <a:ext cx="1316736" cy="237744"/>
          </a:xfrm>
          <a:prstGeom prst="rect">
            <a:avLst/>
          </a:prstGeom>
          <a:noFill/>
          <a:ln/>
        </p:spPr>
        <p:txBody>
          <a:bodyPr wrap="square" lIns="0" tIns="0" rIns="0" bIns="0" rtlCol="0" anchor="ctr"/>
          <a:lstStyle/>
          <a:p>
            <a:pPr marL="0" indent="0" algn="ctr">
              <a:buNone/>
            </a:pPr>
            <a:r>
              <a:rPr lang="en-US" sz="1000" dirty="0">
                <a:solidFill>
                  <a:srgbClr val="6E7681"/>
                </a:solidFill>
                <a:latin typeface="Calibri" pitchFamily="34" charset="0"/>
                <a:ea typeface="Calibri" pitchFamily="34" charset="-122"/>
                <a:cs typeface="Calibri" pitchFamily="34" charset="-120"/>
              </a:rPr>
              <a:t>CJ 12 %</a:t>
            </a:r>
            <a:endParaRPr lang="en-US" sz="1000" dirty="0"/>
          </a:p>
        </p:txBody>
      </p:sp>
      <p:sp>
        <p:nvSpPr>
          <p:cNvPr id="47" name="Shape 45"/>
          <p:cNvSpPr/>
          <p:nvPr/>
        </p:nvSpPr>
        <p:spPr>
          <a:xfrm>
            <a:off x="9098280" y="2441448"/>
            <a:ext cx="1316736" cy="603504"/>
          </a:xfrm>
          <a:prstGeom prst="rect">
            <a:avLst/>
          </a:prstGeom>
          <a:solidFill>
            <a:srgbClr val="FBEDEA"/>
          </a:solidFill>
          <a:ln w="19050">
            <a:solidFill>
              <a:srgbClr val="FFFFFF"/>
            </a:solidFill>
            <a:prstDash val="solid"/>
          </a:ln>
        </p:spPr>
        <p:txBody>
          <a:bodyPr/>
          <a:lstStyle/>
          <a:p>
            <a:endParaRPr lang="de-DE"/>
          </a:p>
        </p:txBody>
      </p:sp>
      <p:sp>
        <p:nvSpPr>
          <p:cNvPr id="48" name="Text 46"/>
          <p:cNvSpPr/>
          <p:nvPr/>
        </p:nvSpPr>
        <p:spPr>
          <a:xfrm>
            <a:off x="9098280" y="2496312"/>
            <a:ext cx="1316736" cy="310896"/>
          </a:xfrm>
          <a:prstGeom prst="rect">
            <a:avLst/>
          </a:prstGeom>
          <a:noFill/>
          <a:ln/>
        </p:spPr>
        <p:txBody>
          <a:bodyPr wrap="square" lIns="0" tIns="0" rIns="0" bIns="0" rtlCol="0" anchor="ctr"/>
          <a:lstStyle/>
          <a:p>
            <a:pPr marL="0" indent="0" algn="ctr">
              <a:buNone/>
            </a:pPr>
            <a:r>
              <a:rPr lang="en-US" sz="1500" b="1" dirty="0">
                <a:solidFill>
                  <a:srgbClr val="23282F"/>
                </a:solidFill>
                <a:latin typeface="Calibri" pitchFamily="34" charset="0"/>
                <a:ea typeface="Calibri" pitchFamily="34" charset="-122"/>
                <a:cs typeface="Calibri" pitchFamily="34" charset="-120"/>
              </a:rPr>
              <a:t>2.9</a:t>
            </a:r>
            <a:endParaRPr lang="en-US" sz="1500" dirty="0"/>
          </a:p>
        </p:txBody>
      </p:sp>
      <p:sp>
        <p:nvSpPr>
          <p:cNvPr id="49" name="Text 47"/>
          <p:cNvSpPr/>
          <p:nvPr/>
        </p:nvSpPr>
        <p:spPr>
          <a:xfrm>
            <a:off x="9098280" y="2788920"/>
            <a:ext cx="1316736" cy="237744"/>
          </a:xfrm>
          <a:prstGeom prst="rect">
            <a:avLst/>
          </a:prstGeom>
          <a:noFill/>
          <a:ln/>
        </p:spPr>
        <p:txBody>
          <a:bodyPr wrap="square" lIns="0" tIns="0" rIns="0" bIns="0" rtlCol="0" anchor="ctr"/>
          <a:lstStyle/>
          <a:p>
            <a:pPr marL="0" indent="0" algn="ctr">
              <a:buNone/>
            </a:pPr>
            <a:r>
              <a:rPr lang="en-US" sz="1000" dirty="0">
                <a:solidFill>
                  <a:srgbClr val="6E7681"/>
                </a:solidFill>
                <a:latin typeface="Calibri" pitchFamily="34" charset="0"/>
                <a:ea typeface="Calibri" pitchFamily="34" charset="-122"/>
                <a:cs typeface="Calibri" pitchFamily="34" charset="-120"/>
              </a:rPr>
              <a:t>CJ 10 %</a:t>
            </a:r>
            <a:endParaRPr lang="en-US" sz="1000" dirty="0"/>
          </a:p>
        </p:txBody>
      </p:sp>
      <p:sp>
        <p:nvSpPr>
          <p:cNvPr id="50" name="Text 48"/>
          <p:cNvSpPr/>
          <p:nvPr/>
        </p:nvSpPr>
        <p:spPr>
          <a:xfrm>
            <a:off x="10579608" y="2441448"/>
            <a:ext cx="914400" cy="658368"/>
          </a:xfrm>
          <a:prstGeom prst="rect">
            <a:avLst/>
          </a:prstGeom>
          <a:noFill/>
          <a:ln/>
        </p:spPr>
        <p:txBody>
          <a:bodyPr wrap="square" lIns="0" tIns="0" rIns="0" bIns="0" rtlCol="0" anchor="ctr"/>
          <a:lstStyle/>
          <a:p>
            <a:pPr marL="0" indent="0">
              <a:buNone/>
            </a:pPr>
            <a:r>
              <a:rPr lang="en-US" sz="1500" b="1" dirty="0">
                <a:solidFill>
                  <a:srgbClr val="23282F"/>
                </a:solidFill>
                <a:latin typeface="Cambria" pitchFamily="34" charset="0"/>
                <a:ea typeface="Cambria" pitchFamily="34" charset="-122"/>
                <a:cs typeface="Cambria" pitchFamily="34" charset="-120"/>
              </a:rPr>
              <a:t>⌀ 2.9</a:t>
            </a:r>
            <a:endParaRPr lang="en-US" sz="1500" dirty="0"/>
          </a:p>
        </p:txBody>
      </p:sp>
      <p:sp>
        <p:nvSpPr>
          <p:cNvPr id="51" name="Text 49"/>
          <p:cNvSpPr/>
          <p:nvPr/>
        </p:nvSpPr>
        <p:spPr>
          <a:xfrm>
            <a:off x="640080" y="3099816"/>
            <a:ext cx="1508760" cy="658368"/>
          </a:xfrm>
          <a:prstGeom prst="rect">
            <a:avLst/>
          </a:prstGeom>
          <a:noFill/>
          <a:ln/>
        </p:spPr>
        <p:txBody>
          <a:bodyPr wrap="square" lIns="0" tIns="0" rIns="0" bIns="0" rtlCol="0" anchor="ctr"/>
          <a:lstStyle/>
          <a:p>
            <a:pPr marL="0" indent="0" algn="r">
              <a:buNone/>
            </a:pPr>
            <a:r>
              <a:rPr lang="en-US" sz="1300" b="1" dirty="0">
                <a:solidFill>
                  <a:srgbClr val="23282F"/>
                </a:solidFill>
                <a:latin typeface="Calibri" pitchFamily="34" charset="0"/>
                <a:ea typeface="Calibri" pitchFamily="34" charset="-122"/>
                <a:cs typeface="Calibri" pitchFamily="34" charset="-120"/>
              </a:rPr>
              <a:t>DMZ</a:t>
            </a:r>
            <a:endParaRPr lang="en-US" sz="1300" dirty="0"/>
          </a:p>
        </p:txBody>
      </p:sp>
      <p:sp>
        <p:nvSpPr>
          <p:cNvPr id="52" name="Shape 50"/>
          <p:cNvSpPr/>
          <p:nvPr/>
        </p:nvSpPr>
        <p:spPr>
          <a:xfrm>
            <a:off x="2240280" y="3099816"/>
            <a:ext cx="1316736" cy="603504"/>
          </a:xfrm>
          <a:prstGeom prst="rect">
            <a:avLst/>
          </a:prstGeom>
          <a:solidFill>
            <a:srgbClr val="F4F6F8"/>
          </a:solidFill>
          <a:ln w="19050">
            <a:solidFill>
              <a:srgbClr val="FFFFFF"/>
            </a:solidFill>
            <a:prstDash val="solid"/>
          </a:ln>
        </p:spPr>
        <p:txBody>
          <a:bodyPr/>
          <a:lstStyle/>
          <a:p>
            <a:endParaRPr lang="de-DE"/>
          </a:p>
        </p:txBody>
      </p:sp>
      <p:sp>
        <p:nvSpPr>
          <p:cNvPr id="53" name="Text 51"/>
          <p:cNvSpPr/>
          <p:nvPr/>
        </p:nvSpPr>
        <p:spPr>
          <a:xfrm>
            <a:off x="2240280" y="3154680"/>
            <a:ext cx="1316736" cy="310896"/>
          </a:xfrm>
          <a:prstGeom prst="rect">
            <a:avLst/>
          </a:prstGeom>
          <a:noFill/>
          <a:ln/>
        </p:spPr>
        <p:txBody>
          <a:bodyPr wrap="square" lIns="0" tIns="0" rIns="0" bIns="0" rtlCol="0" anchor="ctr"/>
          <a:lstStyle/>
          <a:p>
            <a:pPr marL="0" indent="0" algn="ctr">
              <a:buNone/>
            </a:pPr>
            <a:r>
              <a:rPr lang="en-US" sz="1500" b="1" dirty="0">
                <a:solidFill>
                  <a:srgbClr val="23282F"/>
                </a:solidFill>
                <a:latin typeface="Calibri" pitchFamily="34" charset="0"/>
                <a:ea typeface="Calibri" pitchFamily="34" charset="-122"/>
                <a:cs typeface="Calibri" pitchFamily="34" charset="-120"/>
              </a:rPr>
              <a:t>1.6</a:t>
            </a:r>
            <a:endParaRPr lang="en-US" sz="1500" dirty="0"/>
          </a:p>
        </p:txBody>
      </p:sp>
      <p:sp>
        <p:nvSpPr>
          <p:cNvPr id="54" name="Text 52"/>
          <p:cNvSpPr/>
          <p:nvPr/>
        </p:nvSpPr>
        <p:spPr>
          <a:xfrm>
            <a:off x="2240280" y="3447288"/>
            <a:ext cx="1316736" cy="237744"/>
          </a:xfrm>
          <a:prstGeom prst="rect">
            <a:avLst/>
          </a:prstGeom>
          <a:noFill/>
          <a:ln/>
        </p:spPr>
        <p:txBody>
          <a:bodyPr wrap="square" lIns="0" tIns="0" rIns="0" bIns="0" rtlCol="0" anchor="ctr"/>
          <a:lstStyle/>
          <a:p>
            <a:pPr marL="0" indent="0" algn="ctr">
              <a:buNone/>
            </a:pPr>
            <a:r>
              <a:rPr lang="en-US" sz="1000" dirty="0">
                <a:solidFill>
                  <a:srgbClr val="6E7681"/>
                </a:solidFill>
                <a:latin typeface="Calibri" pitchFamily="34" charset="0"/>
                <a:ea typeface="Calibri" pitchFamily="34" charset="-122"/>
                <a:cs typeface="Calibri" pitchFamily="34" charset="-120"/>
              </a:rPr>
              <a:t>CJ 1 %</a:t>
            </a:r>
            <a:endParaRPr lang="en-US" sz="1000" dirty="0"/>
          </a:p>
        </p:txBody>
      </p:sp>
      <p:sp>
        <p:nvSpPr>
          <p:cNvPr id="55" name="Shape 53"/>
          <p:cNvSpPr/>
          <p:nvPr/>
        </p:nvSpPr>
        <p:spPr>
          <a:xfrm>
            <a:off x="3611880" y="3099816"/>
            <a:ext cx="1316736" cy="603504"/>
          </a:xfrm>
          <a:prstGeom prst="rect">
            <a:avLst/>
          </a:prstGeom>
          <a:solidFill>
            <a:srgbClr val="FBEDEA"/>
          </a:solidFill>
          <a:ln w="19050">
            <a:solidFill>
              <a:srgbClr val="FFFFFF"/>
            </a:solidFill>
            <a:prstDash val="solid"/>
          </a:ln>
        </p:spPr>
        <p:txBody>
          <a:bodyPr/>
          <a:lstStyle/>
          <a:p>
            <a:endParaRPr lang="de-DE"/>
          </a:p>
        </p:txBody>
      </p:sp>
      <p:sp>
        <p:nvSpPr>
          <p:cNvPr id="56" name="Text 54"/>
          <p:cNvSpPr/>
          <p:nvPr/>
        </p:nvSpPr>
        <p:spPr>
          <a:xfrm>
            <a:off x="3611880" y="3154680"/>
            <a:ext cx="1316736" cy="310896"/>
          </a:xfrm>
          <a:prstGeom prst="rect">
            <a:avLst/>
          </a:prstGeom>
          <a:noFill/>
          <a:ln/>
        </p:spPr>
        <p:txBody>
          <a:bodyPr wrap="square" lIns="0" tIns="0" rIns="0" bIns="0" rtlCol="0" anchor="ctr"/>
          <a:lstStyle/>
          <a:p>
            <a:pPr marL="0" indent="0" algn="ctr">
              <a:buNone/>
            </a:pPr>
            <a:r>
              <a:rPr lang="en-US" sz="1500" b="1" dirty="0">
                <a:solidFill>
                  <a:srgbClr val="23282F"/>
                </a:solidFill>
                <a:latin typeface="Calibri" pitchFamily="34" charset="0"/>
                <a:ea typeface="Calibri" pitchFamily="34" charset="-122"/>
                <a:cs typeface="Calibri" pitchFamily="34" charset="-120"/>
              </a:rPr>
              <a:t>2.3</a:t>
            </a:r>
            <a:endParaRPr lang="en-US" sz="1500" dirty="0"/>
          </a:p>
        </p:txBody>
      </p:sp>
      <p:sp>
        <p:nvSpPr>
          <p:cNvPr id="57" name="Text 55"/>
          <p:cNvSpPr/>
          <p:nvPr/>
        </p:nvSpPr>
        <p:spPr>
          <a:xfrm>
            <a:off x="3611880" y="3447288"/>
            <a:ext cx="1316736" cy="237744"/>
          </a:xfrm>
          <a:prstGeom prst="rect">
            <a:avLst/>
          </a:prstGeom>
          <a:noFill/>
          <a:ln/>
        </p:spPr>
        <p:txBody>
          <a:bodyPr wrap="square" lIns="0" tIns="0" rIns="0" bIns="0" rtlCol="0" anchor="ctr"/>
          <a:lstStyle/>
          <a:p>
            <a:pPr marL="0" indent="0" algn="ctr">
              <a:buNone/>
            </a:pPr>
            <a:r>
              <a:rPr lang="en-US" sz="1000" dirty="0">
                <a:solidFill>
                  <a:srgbClr val="6E7681"/>
                </a:solidFill>
                <a:latin typeface="Calibri" pitchFamily="34" charset="0"/>
                <a:ea typeface="Calibri" pitchFamily="34" charset="-122"/>
                <a:cs typeface="Calibri" pitchFamily="34" charset="-120"/>
              </a:rPr>
              <a:t>CJ 22 %</a:t>
            </a:r>
            <a:endParaRPr lang="en-US" sz="1000" dirty="0"/>
          </a:p>
        </p:txBody>
      </p:sp>
      <p:sp>
        <p:nvSpPr>
          <p:cNvPr id="58" name="Shape 56"/>
          <p:cNvSpPr/>
          <p:nvPr/>
        </p:nvSpPr>
        <p:spPr>
          <a:xfrm>
            <a:off x="4983480" y="3099816"/>
            <a:ext cx="1316736" cy="603504"/>
          </a:xfrm>
          <a:prstGeom prst="rect">
            <a:avLst/>
          </a:prstGeom>
          <a:solidFill>
            <a:srgbClr val="F4F6F8"/>
          </a:solidFill>
          <a:ln w="19050">
            <a:solidFill>
              <a:srgbClr val="FFFFFF"/>
            </a:solidFill>
            <a:prstDash val="solid"/>
          </a:ln>
        </p:spPr>
        <p:txBody>
          <a:bodyPr/>
          <a:lstStyle/>
          <a:p>
            <a:endParaRPr lang="de-DE"/>
          </a:p>
        </p:txBody>
      </p:sp>
      <p:sp>
        <p:nvSpPr>
          <p:cNvPr id="59" name="Text 57"/>
          <p:cNvSpPr/>
          <p:nvPr/>
        </p:nvSpPr>
        <p:spPr>
          <a:xfrm>
            <a:off x="4983480" y="3154680"/>
            <a:ext cx="1316736" cy="310896"/>
          </a:xfrm>
          <a:prstGeom prst="rect">
            <a:avLst/>
          </a:prstGeom>
          <a:noFill/>
          <a:ln/>
        </p:spPr>
        <p:txBody>
          <a:bodyPr wrap="square" lIns="0" tIns="0" rIns="0" bIns="0" rtlCol="0" anchor="ctr"/>
          <a:lstStyle/>
          <a:p>
            <a:pPr marL="0" indent="0" algn="ctr">
              <a:buNone/>
            </a:pPr>
            <a:r>
              <a:rPr lang="en-US" sz="1500" b="1" dirty="0">
                <a:solidFill>
                  <a:srgbClr val="23282F"/>
                </a:solidFill>
                <a:latin typeface="Calibri" pitchFamily="34" charset="0"/>
                <a:ea typeface="Calibri" pitchFamily="34" charset="-122"/>
                <a:cs typeface="Calibri" pitchFamily="34" charset="-120"/>
              </a:rPr>
              <a:t>1.7</a:t>
            </a:r>
            <a:endParaRPr lang="en-US" sz="1500" dirty="0"/>
          </a:p>
        </p:txBody>
      </p:sp>
      <p:sp>
        <p:nvSpPr>
          <p:cNvPr id="60" name="Text 58"/>
          <p:cNvSpPr/>
          <p:nvPr/>
        </p:nvSpPr>
        <p:spPr>
          <a:xfrm>
            <a:off x="4983480" y="3447288"/>
            <a:ext cx="1316736" cy="237744"/>
          </a:xfrm>
          <a:prstGeom prst="rect">
            <a:avLst/>
          </a:prstGeom>
          <a:noFill/>
          <a:ln/>
        </p:spPr>
        <p:txBody>
          <a:bodyPr wrap="square" lIns="0" tIns="0" rIns="0" bIns="0" rtlCol="0" anchor="ctr"/>
          <a:lstStyle/>
          <a:p>
            <a:pPr marL="0" indent="0" algn="ctr">
              <a:buNone/>
            </a:pPr>
            <a:r>
              <a:rPr lang="en-US" sz="1000" dirty="0">
                <a:solidFill>
                  <a:srgbClr val="6E7681"/>
                </a:solidFill>
                <a:latin typeface="Calibri" pitchFamily="34" charset="0"/>
                <a:ea typeface="Calibri" pitchFamily="34" charset="-122"/>
                <a:cs typeface="Calibri" pitchFamily="34" charset="-120"/>
              </a:rPr>
              <a:t>CJ 4 %</a:t>
            </a:r>
            <a:endParaRPr lang="en-US" sz="1000" dirty="0"/>
          </a:p>
        </p:txBody>
      </p:sp>
      <p:sp>
        <p:nvSpPr>
          <p:cNvPr id="61" name="Shape 59"/>
          <p:cNvSpPr/>
          <p:nvPr/>
        </p:nvSpPr>
        <p:spPr>
          <a:xfrm>
            <a:off x="6355080" y="3099816"/>
            <a:ext cx="1316736" cy="603504"/>
          </a:xfrm>
          <a:prstGeom prst="rect">
            <a:avLst/>
          </a:prstGeom>
          <a:solidFill>
            <a:srgbClr val="E0968A"/>
          </a:solidFill>
          <a:ln w="19050">
            <a:solidFill>
              <a:srgbClr val="FFFFFF"/>
            </a:solidFill>
            <a:prstDash val="solid"/>
          </a:ln>
        </p:spPr>
        <p:txBody>
          <a:bodyPr/>
          <a:lstStyle/>
          <a:p>
            <a:endParaRPr lang="de-DE"/>
          </a:p>
        </p:txBody>
      </p:sp>
      <p:sp>
        <p:nvSpPr>
          <p:cNvPr id="62" name="Text 60"/>
          <p:cNvSpPr/>
          <p:nvPr/>
        </p:nvSpPr>
        <p:spPr>
          <a:xfrm>
            <a:off x="6355080" y="3154680"/>
            <a:ext cx="1316736" cy="310896"/>
          </a:xfrm>
          <a:prstGeom prst="rect">
            <a:avLst/>
          </a:prstGeom>
          <a:noFill/>
          <a:ln/>
        </p:spPr>
        <p:txBody>
          <a:bodyPr wrap="square" lIns="0" tIns="0" rIns="0" bIns="0" rtlCol="0" anchor="ctr"/>
          <a:lstStyle/>
          <a:p>
            <a:pPr marL="0" indent="0" algn="ctr">
              <a:buNone/>
            </a:pPr>
            <a:r>
              <a:rPr lang="en-US" sz="1500" b="1" dirty="0">
                <a:solidFill>
                  <a:srgbClr val="23282F"/>
                </a:solidFill>
                <a:latin typeface="Calibri" pitchFamily="34" charset="0"/>
                <a:ea typeface="Calibri" pitchFamily="34" charset="-122"/>
                <a:cs typeface="Calibri" pitchFamily="34" charset="-120"/>
              </a:rPr>
              <a:t>6.9</a:t>
            </a:r>
            <a:endParaRPr lang="en-US" sz="1500" dirty="0"/>
          </a:p>
        </p:txBody>
      </p:sp>
      <p:sp>
        <p:nvSpPr>
          <p:cNvPr id="63" name="Text 61"/>
          <p:cNvSpPr/>
          <p:nvPr/>
        </p:nvSpPr>
        <p:spPr>
          <a:xfrm>
            <a:off x="6355080" y="3447288"/>
            <a:ext cx="1316736" cy="237744"/>
          </a:xfrm>
          <a:prstGeom prst="rect">
            <a:avLst/>
          </a:prstGeom>
          <a:noFill/>
          <a:ln/>
        </p:spPr>
        <p:txBody>
          <a:bodyPr wrap="square" lIns="0" tIns="0" rIns="0" bIns="0" rtlCol="0" anchor="ctr"/>
          <a:lstStyle/>
          <a:p>
            <a:pPr marL="0" indent="0" algn="ctr">
              <a:buNone/>
            </a:pPr>
            <a:r>
              <a:rPr lang="en-US" sz="1000" dirty="0">
                <a:solidFill>
                  <a:srgbClr val="6E7681"/>
                </a:solidFill>
                <a:latin typeface="Calibri" pitchFamily="34" charset="0"/>
                <a:ea typeface="Calibri" pitchFamily="34" charset="-122"/>
                <a:cs typeface="Calibri" pitchFamily="34" charset="-120"/>
              </a:rPr>
              <a:t>CJ 85 %</a:t>
            </a:r>
            <a:endParaRPr lang="en-US" sz="1000" dirty="0"/>
          </a:p>
        </p:txBody>
      </p:sp>
      <p:sp>
        <p:nvSpPr>
          <p:cNvPr id="64" name="Shape 62"/>
          <p:cNvSpPr/>
          <p:nvPr/>
        </p:nvSpPr>
        <p:spPr>
          <a:xfrm>
            <a:off x="7726680" y="3099816"/>
            <a:ext cx="1316736" cy="603504"/>
          </a:xfrm>
          <a:prstGeom prst="rect">
            <a:avLst/>
          </a:prstGeom>
          <a:solidFill>
            <a:srgbClr val="F4F6F8"/>
          </a:solidFill>
          <a:ln w="19050">
            <a:solidFill>
              <a:srgbClr val="FFFFFF"/>
            </a:solidFill>
            <a:prstDash val="solid"/>
          </a:ln>
        </p:spPr>
        <p:txBody>
          <a:bodyPr/>
          <a:lstStyle/>
          <a:p>
            <a:endParaRPr lang="de-DE"/>
          </a:p>
        </p:txBody>
      </p:sp>
      <p:sp>
        <p:nvSpPr>
          <p:cNvPr id="65" name="Text 63"/>
          <p:cNvSpPr/>
          <p:nvPr/>
        </p:nvSpPr>
        <p:spPr>
          <a:xfrm>
            <a:off x="7726680" y="3154680"/>
            <a:ext cx="1316736" cy="310896"/>
          </a:xfrm>
          <a:prstGeom prst="rect">
            <a:avLst/>
          </a:prstGeom>
          <a:noFill/>
          <a:ln/>
        </p:spPr>
        <p:txBody>
          <a:bodyPr wrap="square" lIns="0" tIns="0" rIns="0" bIns="0" rtlCol="0" anchor="ctr"/>
          <a:lstStyle/>
          <a:p>
            <a:pPr marL="0" indent="0" algn="ctr">
              <a:buNone/>
            </a:pPr>
            <a:r>
              <a:rPr lang="en-US" sz="1500" b="1" dirty="0">
                <a:solidFill>
                  <a:srgbClr val="23282F"/>
                </a:solidFill>
                <a:latin typeface="Calibri" pitchFamily="34" charset="0"/>
                <a:ea typeface="Calibri" pitchFamily="34" charset="-122"/>
                <a:cs typeface="Calibri" pitchFamily="34" charset="-120"/>
              </a:rPr>
              <a:t>1.0</a:t>
            </a:r>
            <a:endParaRPr lang="en-US" sz="1500" dirty="0"/>
          </a:p>
        </p:txBody>
      </p:sp>
      <p:sp>
        <p:nvSpPr>
          <p:cNvPr id="66" name="Text 64"/>
          <p:cNvSpPr/>
          <p:nvPr/>
        </p:nvSpPr>
        <p:spPr>
          <a:xfrm>
            <a:off x="7726680" y="3447288"/>
            <a:ext cx="1316736" cy="237744"/>
          </a:xfrm>
          <a:prstGeom prst="rect">
            <a:avLst/>
          </a:prstGeom>
          <a:noFill/>
          <a:ln/>
        </p:spPr>
        <p:txBody>
          <a:bodyPr wrap="square" lIns="0" tIns="0" rIns="0" bIns="0" rtlCol="0" anchor="ctr"/>
          <a:lstStyle/>
          <a:p>
            <a:pPr marL="0" indent="0" algn="ctr">
              <a:buNone/>
            </a:pPr>
            <a:r>
              <a:rPr lang="en-US" sz="1000" dirty="0">
                <a:solidFill>
                  <a:srgbClr val="6E7681"/>
                </a:solidFill>
                <a:latin typeface="Calibri" pitchFamily="34" charset="0"/>
                <a:ea typeface="Calibri" pitchFamily="34" charset="-122"/>
                <a:cs typeface="Calibri" pitchFamily="34" charset="-120"/>
              </a:rPr>
              <a:t>CJ 0 %</a:t>
            </a:r>
            <a:endParaRPr lang="en-US" sz="1000" dirty="0"/>
          </a:p>
        </p:txBody>
      </p:sp>
      <p:sp>
        <p:nvSpPr>
          <p:cNvPr id="67" name="Shape 65"/>
          <p:cNvSpPr/>
          <p:nvPr/>
        </p:nvSpPr>
        <p:spPr>
          <a:xfrm>
            <a:off x="9098280" y="3099816"/>
            <a:ext cx="1316736" cy="603504"/>
          </a:xfrm>
          <a:prstGeom prst="rect">
            <a:avLst/>
          </a:prstGeom>
          <a:solidFill>
            <a:srgbClr val="F6D9D3"/>
          </a:solidFill>
          <a:ln w="19050">
            <a:solidFill>
              <a:srgbClr val="FFFFFF"/>
            </a:solidFill>
            <a:prstDash val="solid"/>
          </a:ln>
        </p:spPr>
        <p:txBody>
          <a:bodyPr/>
          <a:lstStyle/>
          <a:p>
            <a:endParaRPr lang="de-DE"/>
          </a:p>
        </p:txBody>
      </p:sp>
      <p:sp>
        <p:nvSpPr>
          <p:cNvPr id="68" name="Text 66"/>
          <p:cNvSpPr/>
          <p:nvPr/>
        </p:nvSpPr>
        <p:spPr>
          <a:xfrm>
            <a:off x="9098280" y="3154680"/>
            <a:ext cx="1316736" cy="310896"/>
          </a:xfrm>
          <a:prstGeom prst="rect">
            <a:avLst/>
          </a:prstGeom>
          <a:noFill/>
          <a:ln/>
        </p:spPr>
        <p:txBody>
          <a:bodyPr wrap="square" lIns="0" tIns="0" rIns="0" bIns="0" rtlCol="0" anchor="ctr"/>
          <a:lstStyle/>
          <a:p>
            <a:pPr marL="0" indent="0" algn="ctr">
              <a:buNone/>
            </a:pPr>
            <a:r>
              <a:rPr lang="en-US" sz="1500" b="1" dirty="0">
                <a:solidFill>
                  <a:srgbClr val="23282F"/>
                </a:solidFill>
                <a:latin typeface="Calibri" pitchFamily="34" charset="0"/>
                <a:ea typeface="Calibri" pitchFamily="34" charset="-122"/>
                <a:cs typeface="Calibri" pitchFamily="34" charset="-120"/>
              </a:rPr>
              <a:t>3.5</a:t>
            </a:r>
            <a:endParaRPr lang="en-US" sz="1500" dirty="0"/>
          </a:p>
        </p:txBody>
      </p:sp>
      <p:sp>
        <p:nvSpPr>
          <p:cNvPr id="69" name="Text 67"/>
          <p:cNvSpPr/>
          <p:nvPr/>
        </p:nvSpPr>
        <p:spPr>
          <a:xfrm>
            <a:off x="9098280" y="3447288"/>
            <a:ext cx="1316736" cy="237744"/>
          </a:xfrm>
          <a:prstGeom prst="rect">
            <a:avLst/>
          </a:prstGeom>
          <a:noFill/>
          <a:ln/>
        </p:spPr>
        <p:txBody>
          <a:bodyPr wrap="square" lIns="0" tIns="0" rIns="0" bIns="0" rtlCol="0" anchor="ctr"/>
          <a:lstStyle/>
          <a:p>
            <a:pPr marL="0" indent="0" algn="ctr">
              <a:buNone/>
            </a:pPr>
            <a:r>
              <a:rPr lang="en-US" sz="1000" dirty="0">
                <a:solidFill>
                  <a:srgbClr val="6E7681"/>
                </a:solidFill>
                <a:latin typeface="Calibri" pitchFamily="34" charset="0"/>
                <a:ea typeface="Calibri" pitchFamily="34" charset="-122"/>
                <a:cs typeface="Calibri" pitchFamily="34" charset="-120"/>
              </a:rPr>
              <a:t>CJ 51 %</a:t>
            </a:r>
            <a:endParaRPr lang="en-US" sz="1000" dirty="0"/>
          </a:p>
        </p:txBody>
      </p:sp>
      <p:sp>
        <p:nvSpPr>
          <p:cNvPr id="70" name="Text 68"/>
          <p:cNvSpPr/>
          <p:nvPr/>
        </p:nvSpPr>
        <p:spPr>
          <a:xfrm>
            <a:off x="10579608" y="3099816"/>
            <a:ext cx="914400" cy="658368"/>
          </a:xfrm>
          <a:prstGeom prst="rect">
            <a:avLst/>
          </a:prstGeom>
          <a:noFill/>
          <a:ln/>
        </p:spPr>
        <p:txBody>
          <a:bodyPr wrap="square" lIns="0" tIns="0" rIns="0" bIns="0" rtlCol="0" anchor="ctr"/>
          <a:lstStyle/>
          <a:p>
            <a:pPr marL="0" indent="0">
              <a:buNone/>
            </a:pPr>
            <a:r>
              <a:rPr lang="en-US" sz="1500" b="1" dirty="0">
                <a:solidFill>
                  <a:srgbClr val="23282F"/>
                </a:solidFill>
                <a:latin typeface="Cambria" pitchFamily="34" charset="0"/>
                <a:ea typeface="Cambria" pitchFamily="34" charset="-122"/>
                <a:cs typeface="Cambria" pitchFamily="34" charset="-120"/>
              </a:rPr>
              <a:t>⌀ 2.8</a:t>
            </a:r>
            <a:endParaRPr lang="en-US" sz="1500" dirty="0"/>
          </a:p>
        </p:txBody>
      </p:sp>
      <p:sp>
        <p:nvSpPr>
          <p:cNvPr id="71" name="Text 69"/>
          <p:cNvSpPr/>
          <p:nvPr/>
        </p:nvSpPr>
        <p:spPr>
          <a:xfrm>
            <a:off x="640080" y="3758184"/>
            <a:ext cx="1508760" cy="658368"/>
          </a:xfrm>
          <a:prstGeom prst="rect">
            <a:avLst/>
          </a:prstGeom>
          <a:noFill/>
          <a:ln/>
        </p:spPr>
        <p:txBody>
          <a:bodyPr wrap="square" lIns="0" tIns="0" rIns="0" bIns="0" rtlCol="0" anchor="ctr"/>
          <a:lstStyle/>
          <a:p>
            <a:pPr marL="0" indent="0" algn="r">
              <a:buNone/>
            </a:pPr>
            <a:r>
              <a:rPr lang="en-US" sz="1300" b="1" dirty="0">
                <a:solidFill>
                  <a:srgbClr val="23282F"/>
                </a:solidFill>
                <a:latin typeface="Calibri" pitchFamily="34" charset="0"/>
                <a:ea typeface="Calibri" pitchFamily="34" charset="-122"/>
                <a:cs typeface="Calibri" pitchFamily="34" charset="-120"/>
              </a:rPr>
              <a:t>Micro-Seg.</a:t>
            </a:r>
            <a:endParaRPr lang="en-US" sz="1300" dirty="0"/>
          </a:p>
        </p:txBody>
      </p:sp>
      <p:sp>
        <p:nvSpPr>
          <p:cNvPr id="72" name="Shape 70"/>
          <p:cNvSpPr/>
          <p:nvPr/>
        </p:nvSpPr>
        <p:spPr>
          <a:xfrm>
            <a:off x="2240280" y="3758184"/>
            <a:ext cx="1316736" cy="603504"/>
          </a:xfrm>
          <a:prstGeom prst="rect">
            <a:avLst/>
          </a:prstGeom>
          <a:solidFill>
            <a:srgbClr val="F4F6F8"/>
          </a:solidFill>
          <a:ln w="19050">
            <a:solidFill>
              <a:srgbClr val="FFFFFF"/>
            </a:solidFill>
            <a:prstDash val="solid"/>
          </a:ln>
        </p:spPr>
        <p:txBody>
          <a:bodyPr/>
          <a:lstStyle/>
          <a:p>
            <a:endParaRPr lang="de-DE"/>
          </a:p>
        </p:txBody>
      </p:sp>
      <p:sp>
        <p:nvSpPr>
          <p:cNvPr id="73" name="Text 71"/>
          <p:cNvSpPr/>
          <p:nvPr/>
        </p:nvSpPr>
        <p:spPr>
          <a:xfrm>
            <a:off x="2240280" y="3813048"/>
            <a:ext cx="1316736" cy="310896"/>
          </a:xfrm>
          <a:prstGeom prst="rect">
            <a:avLst/>
          </a:prstGeom>
          <a:noFill/>
          <a:ln/>
        </p:spPr>
        <p:txBody>
          <a:bodyPr wrap="square" lIns="0" tIns="0" rIns="0" bIns="0" rtlCol="0" anchor="ctr"/>
          <a:lstStyle/>
          <a:p>
            <a:pPr marL="0" indent="0" algn="ctr">
              <a:buNone/>
            </a:pPr>
            <a:r>
              <a:rPr lang="en-US" sz="1500" b="1" dirty="0">
                <a:solidFill>
                  <a:srgbClr val="23282F"/>
                </a:solidFill>
                <a:latin typeface="Calibri" pitchFamily="34" charset="0"/>
                <a:ea typeface="Calibri" pitchFamily="34" charset="-122"/>
                <a:cs typeface="Calibri" pitchFamily="34" charset="-120"/>
              </a:rPr>
              <a:t>1.1</a:t>
            </a:r>
            <a:endParaRPr lang="en-US" sz="1500" dirty="0"/>
          </a:p>
        </p:txBody>
      </p:sp>
      <p:sp>
        <p:nvSpPr>
          <p:cNvPr id="74" name="Text 72"/>
          <p:cNvSpPr/>
          <p:nvPr/>
        </p:nvSpPr>
        <p:spPr>
          <a:xfrm>
            <a:off x="2240280" y="4105656"/>
            <a:ext cx="1316736" cy="237744"/>
          </a:xfrm>
          <a:prstGeom prst="rect">
            <a:avLst/>
          </a:prstGeom>
          <a:noFill/>
          <a:ln/>
        </p:spPr>
        <p:txBody>
          <a:bodyPr wrap="square" lIns="0" tIns="0" rIns="0" bIns="0" rtlCol="0" anchor="ctr"/>
          <a:lstStyle/>
          <a:p>
            <a:pPr marL="0" indent="0" algn="ctr">
              <a:buNone/>
            </a:pPr>
            <a:r>
              <a:rPr lang="en-US" sz="1000" dirty="0">
                <a:solidFill>
                  <a:srgbClr val="6E7681"/>
                </a:solidFill>
                <a:latin typeface="Calibri" pitchFamily="34" charset="0"/>
                <a:ea typeface="Calibri" pitchFamily="34" charset="-122"/>
                <a:cs typeface="Calibri" pitchFamily="34" charset="-120"/>
              </a:rPr>
              <a:t>CJ 0 %</a:t>
            </a:r>
            <a:endParaRPr lang="en-US" sz="1000" dirty="0"/>
          </a:p>
        </p:txBody>
      </p:sp>
      <p:sp>
        <p:nvSpPr>
          <p:cNvPr id="75" name="Shape 73"/>
          <p:cNvSpPr/>
          <p:nvPr/>
        </p:nvSpPr>
        <p:spPr>
          <a:xfrm>
            <a:off x="3611880" y="3758184"/>
            <a:ext cx="1316736" cy="603504"/>
          </a:xfrm>
          <a:prstGeom prst="rect">
            <a:avLst/>
          </a:prstGeom>
          <a:solidFill>
            <a:srgbClr val="FBEDEA"/>
          </a:solidFill>
          <a:ln w="19050">
            <a:solidFill>
              <a:srgbClr val="FFFFFF"/>
            </a:solidFill>
            <a:prstDash val="solid"/>
          </a:ln>
        </p:spPr>
        <p:txBody>
          <a:bodyPr/>
          <a:lstStyle/>
          <a:p>
            <a:endParaRPr lang="de-DE"/>
          </a:p>
        </p:txBody>
      </p:sp>
      <p:sp>
        <p:nvSpPr>
          <p:cNvPr id="76" name="Text 74"/>
          <p:cNvSpPr/>
          <p:nvPr/>
        </p:nvSpPr>
        <p:spPr>
          <a:xfrm>
            <a:off x="3611880" y="3813048"/>
            <a:ext cx="1316736" cy="310896"/>
          </a:xfrm>
          <a:prstGeom prst="rect">
            <a:avLst/>
          </a:prstGeom>
          <a:noFill/>
          <a:ln/>
        </p:spPr>
        <p:txBody>
          <a:bodyPr wrap="square" lIns="0" tIns="0" rIns="0" bIns="0" rtlCol="0" anchor="ctr"/>
          <a:lstStyle/>
          <a:p>
            <a:pPr marL="0" indent="0" algn="ctr">
              <a:buNone/>
            </a:pPr>
            <a:r>
              <a:rPr lang="en-US" sz="1500" b="1" dirty="0">
                <a:solidFill>
                  <a:srgbClr val="23282F"/>
                </a:solidFill>
                <a:latin typeface="Calibri" pitchFamily="34" charset="0"/>
                <a:ea typeface="Calibri" pitchFamily="34" charset="-122"/>
                <a:cs typeface="Calibri" pitchFamily="34" charset="-120"/>
              </a:rPr>
              <a:t>2.6</a:t>
            </a:r>
            <a:endParaRPr lang="en-US" sz="1500" dirty="0"/>
          </a:p>
        </p:txBody>
      </p:sp>
      <p:sp>
        <p:nvSpPr>
          <p:cNvPr id="77" name="Text 75"/>
          <p:cNvSpPr/>
          <p:nvPr/>
        </p:nvSpPr>
        <p:spPr>
          <a:xfrm>
            <a:off x="3611880" y="4105656"/>
            <a:ext cx="1316736" cy="237744"/>
          </a:xfrm>
          <a:prstGeom prst="rect">
            <a:avLst/>
          </a:prstGeom>
          <a:noFill/>
          <a:ln/>
        </p:spPr>
        <p:txBody>
          <a:bodyPr wrap="square" lIns="0" tIns="0" rIns="0" bIns="0" rtlCol="0" anchor="ctr"/>
          <a:lstStyle/>
          <a:p>
            <a:pPr marL="0" indent="0" algn="ctr">
              <a:buNone/>
            </a:pPr>
            <a:r>
              <a:rPr lang="en-US" sz="1000" dirty="0">
                <a:solidFill>
                  <a:srgbClr val="6E7681"/>
                </a:solidFill>
                <a:latin typeface="Calibri" pitchFamily="34" charset="0"/>
                <a:ea typeface="Calibri" pitchFamily="34" charset="-122"/>
                <a:cs typeface="Calibri" pitchFamily="34" charset="-120"/>
              </a:rPr>
              <a:t>CJ 0 %</a:t>
            </a:r>
            <a:endParaRPr lang="en-US" sz="1000" dirty="0"/>
          </a:p>
        </p:txBody>
      </p:sp>
      <p:sp>
        <p:nvSpPr>
          <p:cNvPr id="78" name="Shape 76"/>
          <p:cNvSpPr/>
          <p:nvPr/>
        </p:nvSpPr>
        <p:spPr>
          <a:xfrm>
            <a:off x="4983480" y="3758184"/>
            <a:ext cx="1316736" cy="603504"/>
          </a:xfrm>
          <a:prstGeom prst="rect">
            <a:avLst/>
          </a:prstGeom>
          <a:solidFill>
            <a:srgbClr val="FBEDEA"/>
          </a:solidFill>
          <a:ln w="19050">
            <a:solidFill>
              <a:srgbClr val="FFFFFF"/>
            </a:solidFill>
            <a:prstDash val="solid"/>
          </a:ln>
        </p:spPr>
        <p:txBody>
          <a:bodyPr/>
          <a:lstStyle/>
          <a:p>
            <a:endParaRPr lang="de-DE"/>
          </a:p>
        </p:txBody>
      </p:sp>
      <p:sp>
        <p:nvSpPr>
          <p:cNvPr id="79" name="Text 77"/>
          <p:cNvSpPr/>
          <p:nvPr/>
        </p:nvSpPr>
        <p:spPr>
          <a:xfrm>
            <a:off x="4983480" y="3813048"/>
            <a:ext cx="1316736" cy="310896"/>
          </a:xfrm>
          <a:prstGeom prst="rect">
            <a:avLst/>
          </a:prstGeom>
          <a:noFill/>
          <a:ln/>
        </p:spPr>
        <p:txBody>
          <a:bodyPr wrap="square" lIns="0" tIns="0" rIns="0" bIns="0" rtlCol="0" anchor="ctr"/>
          <a:lstStyle/>
          <a:p>
            <a:pPr marL="0" indent="0" algn="ctr">
              <a:buNone/>
            </a:pPr>
            <a:r>
              <a:rPr lang="en-US" sz="1500" b="1" dirty="0">
                <a:solidFill>
                  <a:srgbClr val="23282F"/>
                </a:solidFill>
                <a:latin typeface="Calibri" pitchFamily="34" charset="0"/>
                <a:ea typeface="Calibri" pitchFamily="34" charset="-122"/>
                <a:cs typeface="Calibri" pitchFamily="34" charset="-120"/>
              </a:rPr>
              <a:t>2.3</a:t>
            </a:r>
            <a:endParaRPr lang="en-US" sz="1500" dirty="0"/>
          </a:p>
        </p:txBody>
      </p:sp>
      <p:sp>
        <p:nvSpPr>
          <p:cNvPr id="80" name="Text 78"/>
          <p:cNvSpPr/>
          <p:nvPr/>
        </p:nvSpPr>
        <p:spPr>
          <a:xfrm>
            <a:off x="4983480" y="4105656"/>
            <a:ext cx="1316736" cy="237744"/>
          </a:xfrm>
          <a:prstGeom prst="rect">
            <a:avLst/>
          </a:prstGeom>
          <a:noFill/>
          <a:ln/>
        </p:spPr>
        <p:txBody>
          <a:bodyPr wrap="square" lIns="0" tIns="0" rIns="0" bIns="0" rtlCol="0" anchor="ctr"/>
          <a:lstStyle/>
          <a:p>
            <a:pPr marL="0" indent="0" algn="ctr">
              <a:buNone/>
            </a:pPr>
            <a:r>
              <a:rPr lang="en-US" sz="1000" dirty="0">
                <a:solidFill>
                  <a:srgbClr val="6E7681"/>
                </a:solidFill>
                <a:latin typeface="Calibri" pitchFamily="34" charset="0"/>
                <a:ea typeface="Calibri" pitchFamily="34" charset="-122"/>
                <a:cs typeface="Calibri" pitchFamily="34" charset="-120"/>
              </a:rPr>
              <a:t>CJ 0 %</a:t>
            </a:r>
            <a:endParaRPr lang="en-US" sz="1000" dirty="0"/>
          </a:p>
        </p:txBody>
      </p:sp>
      <p:sp>
        <p:nvSpPr>
          <p:cNvPr id="81" name="Shape 79"/>
          <p:cNvSpPr/>
          <p:nvPr/>
        </p:nvSpPr>
        <p:spPr>
          <a:xfrm>
            <a:off x="6355080" y="3758184"/>
            <a:ext cx="1316736" cy="603504"/>
          </a:xfrm>
          <a:prstGeom prst="rect">
            <a:avLst/>
          </a:prstGeom>
          <a:solidFill>
            <a:srgbClr val="F4F6F8"/>
          </a:solidFill>
          <a:ln w="19050">
            <a:solidFill>
              <a:srgbClr val="FFFFFF"/>
            </a:solidFill>
            <a:prstDash val="solid"/>
          </a:ln>
        </p:spPr>
        <p:txBody>
          <a:bodyPr/>
          <a:lstStyle/>
          <a:p>
            <a:endParaRPr lang="de-DE"/>
          </a:p>
        </p:txBody>
      </p:sp>
      <p:sp>
        <p:nvSpPr>
          <p:cNvPr id="82" name="Text 80"/>
          <p:cNvSpPr/>
          <p:nvPr/>
        </p:nvSpPr>
        <p:spPr>
          <a:xfrm>
            <a:off x="6355080" y="3813048"/>
            <a:ext cx="1316736" cy="310896"/>
          </a:xfrm>
          <a:prstGeom prst="rect">
            <a:avLst/>
          </a:prstGeom>
          <a:noFill/>
          <a:ln/>
        </p:spPr>
        <p:txBody>
          <a:bodyPr wrap="square" lIns="0" tIns="0" rIns="0" bIns="0" rtlCol="0" anchor="ctr"/>
          <a:lstStyle/>
          <a:p>
            <a:pPr marL="0" indent="0" algn="ctr">
              <a:buNone/>
            </a:pPr>
            <a:r>
              <a:rPr lang="en-US" sz="1500" b="1" dirty="0">
                <a:solidFill>
                  <a:srgbClr val="23282F"/>
                </a:solidFill>
                <a:latin typeface="Calibri" pitchFamily="34" charset="0"/>
                <a:ea typeface="Calibri" pitchFamily="34" charset="-122"/>
                <a:cs typeface="Calibri" pitchFamily="34" charset="-120"/>
              </a:rPr>
              <a:t>1.7</a:t>
            </a:r>
            <a:endParaRPr lang="en-US" sz="1500" dirty="0"/>
          </a:p>
        </p:txBody>
      </p:sp>
      <p:sp>
        <p:nvSpPr>
          <p:cNvPr id="83" name="Text 81"/>
          <p:cNvSpPr/>
          <p:nvPr/>
        </p:nvSpPr>
        <p:spPr>
          <a:xfrm>
            <a:off x="6355080" y="4105656"/>
            <a:ext cx="1316736" cy="237744"/>
          </a:xfrm>
          <a:prstGeom prst="rect">
            <a:avLst/>
          </a:prstGeom>
          <a:noFill/>
          <a:ln/>
        </p:spPr>
        <p:txBody>
          <a:bodyPr wrap="square" lIns="0" tIns="0" rIns="0" bIns="0" rtlCol="0" anchor="ctr"/>
          <a:lstStyle/>
          <a:p>
            <a:pPr marL="0" indent="0" algn="ctr">
              <a:buNone/>
            </a:pPr>
            <a:r>
              <a:rPr lang="en-US" sz="1000" dirty="0">
                <a:solidFill>
                  <a:srgbClr val="6E7681"/>
                </a:solidFill>
                <a:latin typeface="Calibri" pitchFamily="34" charset="0"/>
                <a:ea typeface="Calibri" pitchFamily="34" charset="-122"/>
                <a:cs typeface="Calibri" pitchFamily="34" charset="-120"/>
              </a:rPr>
              <a:t>CJ 0 %</a:t>
            </a:r>
            <a:endParaRPr lang="en-US" sz="1000" dirty="0"/>
          </a:p>
        </p:txBody>
      </p:sp>
      <p:sp>
        <p:nvSpPr>
          <p:cNvPr id="84" name="Shape 82"/>
          <p:cNvSpPr/>
          <p:nvPr/>
        </p:nvSpPr>
        <p:spPr>
          <a:xfrm>
            <a:off x="7726680" y="3758184"/>
            <a:ext cx="1316736" cy="603504"/>
          </a:xfrm>
          <a:prstGeom prst="rect">
            <a:avLst/>
          </a:prstGeom>
          <a:solidFill>
            <a:srgbClr val="F6D9D3"/>
          </a:solidFill>
          <a:ln w="19050">
            <a:solidFill>
              <a:srgbClr val="FFFFFF"/>
            </a:solidFill>
            <a:prstDash val="solid"/>
          </a:ln>
        </p:spPr>
        <p:txBody>
          <a:bodyPr/>
          <a:lstStyle/>
          <a:p>
            <a:endParaRPr lang="de-DE"/>
          </a:p>
        </p:txBody>
      </p:sp>
      <p:sp>
        <p:nvSpPr>
          <p:cNvPr id="85" name="Text 83"/>
          <p:cNvSpPr/>
          <p:nvPr/>
        </p:nvSpPr>
        <p:spPr>
          <a:xfrm>
            <a:off x="7726680" y="3813048"/>
            <a:ext cx="1316736" cy="310896"/>
          </a:xfrm>
          <a:prstGeom prst="rect">
            <a:avLst/>
          </a:prstGeom>
          <a:noFill/>
          <a:ln/>
        </p:spPr>
        <p:txBody>
          <a:bodyPr wrap="square" lIns="0" tIns="0" rIns="0" bIns="0" rtlCol="0" anchor="ctr"/>
          <a:lstStyle/>
          <a:p>
            <a:pPr marL="0" indent="0" algn="ctr">
              <a:buNone/>
            </a:pPr>
            <a:r>
              <a:rPr lang="en-US" sz="1500" b="1" dirty="0">
                <a:solidFill>
                  <a:srgbClr val="23282F"/>
                </a:solidFill>
                <a:latin typeface="Calibri" pitchFamily="34" charset="0"/>
                <a:ea typeface="Calibri" pitchFamily="34" charset="-122"/>
                <a:cs typeface="Calibri" pitchFamily="34" charset="-120"/>
              </a:rPr>
              <a:t>3.9</a:t>
            </a:r>
            <a:endParaRPr lang="en-US" sz="1500" dirty="0"/>
          </a:p>
        </p:txBody>
      </p:sp>
      <p:sp>
        <p:nvSpPr>
          <p:cNvPr id="86" name="Text 84"/>
          <p:cNvSpPr/>
          <p:nvPr/>
        </p:nvSpPr>
        <p:spPr>
          <a:xfrm>
            <a:off x="7726680" y="4105656"/>
            <a:ext cx="1316736" cy="237744"/>
          </a:xfrm>
          <a:prstGeom prst="rect">
            <a:avLst/>
          </a:prstGeom>
          <a:noFill/>
          <a:ln/>
        </p:spPr>
        <p:txBody>
          <a:bodyPr wrap="square" lIns="0" tIns="0" rIns="0" bIns="0" rtlCol="0" anchor="ctr"/>
          <a:lstStyle/>
          <a:p>
            <a:pPr marL="0" indent="0" algn="ctr">
              <a:buNone/>
            </a:pPr>
            <a:r>
              <a:rPr lang="en-US" sz="1000" dirty="0">
                <a:solidFill>
                  <a:srgbClr val="6E7681"/>
                </a:solidFill>
                <a:latin typeface="Calibri" pitchFamily="34" charset="0"/>
                <a:ea typeface="Calibri" pitchFamily="34" charset="-122"/>
                <a:cs typeface="Calibri" pitchFamily="34" charset="-120"/>
              </a:rPr>
              <a:t>CJ 96 %</a:t>
            </a:r>
            <a:endParaRPr lang="en-US" sz="1000" dirty="0"/>
          </a:p>
        </p:txBody>
      </p:sp>
      <p:sp>
        <p:nvSpPr>
          <p:cNvPr id="87" name="Shape 85"/>
          <p:cNvSpPr/>
          <p:nvPr/>
        </p:nvSpPr>
        <p:spPr>
          <a:xfrm>
            <a:off x="9098280" y="3758184"/>
            <a:ext cx="1316736" cy="603504"/>
          </a:xfrm>
          <a:prstGeom prst="rect">
            <a:avLst/>
          </a:prstGeom>
          <a:solidFill>
            <a:srgbClr val="FBEDEA"/>
          </a:solidFill>
          <a:ln w="19050">
            <a:solidFill>
              <a:srgbClr val="FFFFFF"/>
            </a:solidFill>
            <a:prstDash val="solid"/>
          </a:ln>
        </p:spPr>
        <p:txBody>
          <a:bodyPr/>
          <a:lstStyle/>
          <a:p>
            <a:endParaRPr lang="de-DE"/>
          </a:p>
        </p:txBody>
      </p:sp>
      <p:sp>
        <p:nvSpPr>
          <p:cNvPr id="88" name="Text 86"/>
          <p:cNvSpPr/>
          <p:nvPr/>
        </p:nvSpPr>
        <p:spPr>
          <a:xfrm>
            <a:off x="9098280" y="3813048"/>
            <a:ext cx="1316736" cy="310896"/>
          </a:xfrm>
          <a:prstGeom prst="rect">
            <a:avLst/>
          </a:prstGeom>
          <a:noFill/>
          <a:ln/>
        </p:spPr>
        <p:txBody>
          <a:bodyPr wrap="square" lIns="0" tIns="0" rIns="0" bIns="0" rtlCol="0" anchor="ctr"/>
          <a:lstStyle/>
          <a:p>
            <a:pPr marL="0" indent="0" algn="ctr">
              <a:buNone/>
            </a:pPr>
            <a:r>
              <a:rPr lang="en-US" sz="1500" b="1" dirty="0">
                <a:solidFill>
                  <a:srgbClr val="23282F"/>
                </a:solidFill>
                <a:latin typeface="Calibri" pitchFamily="34" charset="0"/>
                <a:ea typeface="Calibri" pitchFamily="34" charset="-122"/>
                <a:cs typeface="Calibri" pitchFamily="34" charset="-120"/>
              </a:rPr>
              <a:t>2.9</a:t>
            </a:r>
            <a:endParaRPr lang="en-US" sz="1500" dirty="0"/>
          </a:p>
        </p:txBody>
      </p:sp>
      <p:sp>
        <p:nvSpPr>
          <p:cNvPr id="89" name="Text 87"/>
          <p:cNvSpPr/>
          <p:nvPr/>
        </p:nvSpPr>
        <p:spPr>
          <a:xfrm>
            <a:off x="9098280" y="4105656"/>
            <a:ext cx="1316736" cy="237744"/>
          </a:xfrm>
          <a:prstGeom prst="rect">
            <a:avLst/>
          </a:prstGeom>
          <a:noFill/>
          <a:ln/>
        </p:spPr>
        <p:txBody>
          <a:bodyPr wrap="square" lIns="0" tIns="0" rIns="0" bIns="0" rtlCol="0" anchor="ctr"/>
          <a:lstStyle/>
          <a:p>
            <a:pPr marL="0" indent="0" algn="ctr">
              <a:buNone/>
            </a:pPr>
            <a:r>
              <a:rPr lang="en-US" sz="1000" dirty="0">
                <a:solidFill>
                  <a:srgbClr val="6E7681"/>
                </a:solidFill>
                <a:latin typeface="Calibri" pitchFamily="34" charset="0"/>
                <a:ea typeface="Calibri" pitchFamily="34" charset="-122"/>
                <a:cs typeface="Calibri" pitchFamily="34" charset="-120"/>
              </a:rPr>
              <a:t>CJ 0 %</a:t>
            </a:r>
            <a:endParaRPr lang="en-US" sz="1000" dirty="0"/>
          </a:p>
        </p:txBody>
      </p:sp>
      <p:sp>
        <p:nvSpPr>
          <p:cNvPr id="90" name="Text 88"/>
          <p:cNvSpPr/>
          <p:nvPr/>
        </p:nvSpPr>
        <p:spPr>
          <a:xfrm>
            <a:off x="10579608" y="3758184"/>
            <a:ext cx="914400" cy="658368"/>
          </a:xfrm>
          <a:prstGeom prst="rect">
            <a:avLst/>
          </a:prstGeom>
          <a:noFill/>
          <a:ln/>
        </p:spPr>
        <p:txBody>
          <a:bodyPr wrap="square" lIns="0" tIns="0" rIns="0" bIns="0" rtlCol="0" anchor="ctr"/>
          <a:lstStyle/>
          <a:p>
            <a:pPr marL="0" indent="0">
              <a:buNone/>
            </a:pPr>
            <a:r>
              <a:rPr lang="en-US" sz="1500" b="1" dirty="0">
                <a:solidFill>
                  <a:srgbClr val="23282F"/>
                </a:solidFill>
                <a:latin typeface="Cambria" pitchFamily="34" charset="0"/>
                <a:ea typeface="Cambria" pitchFamily="34" charset="-122"/>
                <a:cs typeface="Cambria" pitchFamily="34" charset="-120"/>
              </a:rPr>
              <a:t>⌀ 2.4</a:t>
            </a:r>
            <a:endParaRPr lang="en-US" sz="1500" dirty="0"/>
          </a:p>
        </p:txBody>
      </p:sp>
      <p:sp>
        <p:nvSpPr>
          <p:cNvPr id="91" name="Text 89"/>
          <p:cNvSpPr/>
          <p:nvPr/>
        </p:nvSpPr>
        <p:spPr>
          <a:xfrm>
            <a:off x="640080" y="4709160"/>
            <a:ext cx="10881360" cy="365760"/>
          </a:xfrm>
          <a:prstGeom prst="rect">
            <a:avLst/>
          </a:prstGeom>
          <a:noFill/>
          <a:ln/>
        </p:spPr>
        <p:txBody>
          <a:bodyPr wrap="square" lIns="0" tIns="0" rIns="0" bIns="0" rtlCol="0" anchor="ctr"/>
          <a:lstStyle/>
          <a:p>
            <a:pPr marL="0" indent="0">
              <a:buNone/>
            </a:pPr>
            <a:r>
              <a:rPr lang="en-US" sz="1400" b="1" dirty="0">
                <a:solidFill>
                  <a:srgbClr val="B3382C"/>
                </a:solidFill>
                <a:latin typeface="Calibri" pitchFamily="34" charset="0"/>
                <a:ea typeface="Calibri" pitchFamily="34" charset="-122"/>
                <a:cs typeface="Calibri" pitchFamily="34" charset="-120"/>
              </a:rPr>
              <a:t>Der Angreifer hält fast überall ein bis drei der zehn Knoten. Nur auf der Diagonalen kommt er weiter: gegen den eigenen Angreifer bis 6,9 Knoten in der DMZ.</a:t>
            </a:r>
            <a:endParaRPr lang="en-US" sz="1400" dirty="0"/>
          </a:p>
        </p:txBody>
      </p:sp>
      <p:sp>
        <p:nvSpPr>
          <p:cNvPr id="92" name="Text 90"/>
          <p:cNvSpPr/>
          <p:nvPr/>
        </p:nvSpPr>
        <p:spPr>
          <a:xfrm>
            <a:off x="640080" y="5102352"/>
            <a:ext cx="10881360" cy="457200"/>
          </a:xfrm>
          <a:prstGeom prst="rect">
            <a:avLst/>
          </a:prstGeom>
          <a:noFill/>
          <a:ln/>
        </p:spPr>
        <p:txBody>
          <a:bodyPr wrap="square" lIns="0" tIns="0" rIns="0" bIns="0" rtlCol="0" anchor="ctr"/>
          <a:lstStyle/>
          <a:p>
            <a:pPr marL="0" indent="0">
              <a:buNone/>
            </a:pPr>
            <a:r>
              <a:rPr lang="en-US" sz="1200" dirty="0">
                <a:solidFill>
                  <a:srgbClr val="6E7681"/>
                </a:solidFill>
                <a:latin typeface="Calibri" pitchFamily="34" charset="0"/>
                <a:ea typeface="Calibri" pitchFamily="34" charset="-122"/>
                <a:cs typeface="Calibri" pitchFamily="34" charset="-120"/>
              </a:rPr>
              <a:t>Der Einstiegsknoten WebServer ist von Beginn an übernommen und zählt mit. Ein Wert von 1,1 heißt also, dass der Angreifer über den Einstieg praktisch nicht hinauskommt.</a:t>
            </a:r>
            <a:endParaRPr lang="en-US" sz="1200" dirty="0"/>
          </a:p>
        </p:txBody>
      </p:sp>
      <p:sp>
        <p:nvSpPr>
          <p:cNvPr id="93" name="Text 91"/>
          <p:cNvSpPr/>
          <p:nvPr/>
        </p:nvSpPr>
        <p:spPr>
          <a:xfrm>
            <a:off x="640080" y="6291072"/>
            <a:ext cx="10881360" cy="274320"/>
          </a:xfrm>
          <a:prstGeom prst="rect">
            <a:avLst/>
          </a:prstGeom>
          <a:noFill/>
          <a:ln/>
        </p:spPr>
        <p:txBody>
          <a:bodyPr wrap="square" lIns="0" tIns="0" rIns="0" bIns="0" rtlCol="0" anchor="ctr"/>
          <a:lstStyle/>
          <a:p>
            <a:pPr marL="0" indent="0">
              <a:buNone/>
            </a:pPr>
            <a:r>
              <a:rPr lang="en-US" sz="1000" i="1" dirty="0">
                <a:solidFill>
                  <a:srgbClr val="6E7681"/>
                </a:solidFill>
                <a:latin typeface="Calibri" pitchFamily="34" charset="0"/>
                <a:ea typeface="Calibri" pitchFamily="34" charset="-122"/>
                <a:cs typeface="Calibri" pitchFamily="34" charset="-120"/>
              </a:rPr>
              <a:t>Mittel über alle Episoden aller fünf Seeds, gleiche Grundlage wie die Crown-Jewel-Quote der Vorfolie. Zweite Zeile je Feld: Anteil der Episoden mit erreichtem Crown Jewel.</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B1F26"/>
        </a:solidFill>
        <a:effectLst/>
      </p:bgPr>
    </p:bg>
    <p:spTree>
      <p:nvGrpSpPr>
        <p:cNvPr id="1" name=""/>
        <p:cNvGrpSpPr/>
        <p:nvPr/>
      </p:nvGrpSpPr>
      <p:grpSpPr>
        <a:xfrm>
          <a:off x="0" y="0"/>
          <a:ext cx="0" cy="0"/>
          <a:chOff x="0" y="0"/>
          <a:chExt cx="0" cy="0"/>
        </a:xfrm>
      </p:grpSpPr>
      <p:pic>
        <p:nvPicPr>
          <p:cNvPr id="2" name="Image 0" descr="verlauf_flat.png"/>
          <p:cNvPicPr>
            <a:picLocks noChangeAspect="1"/>
          </p:cNvPicPr>
          <p:nvPr/>
        </p:nvPicPr>
        <p:blipFill>
          <a:blip r:embed="rId3"/>
          <a:stretch>
            <a:fillRect/>
          </a:stretch>
        </p:blipFill>
        <p:spPr>
          <a:xfrm>
            <a:off x="164592" y="146304"/>
            <a:ext cx="11832336" cy="6565392"/>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B1F26"/>
        </a:solidFill>
        <a:effectLst/>
      </p:bgPr>
    </p:bg>
    <p:spTree>
      <p:nvGrpSpPr>
        <p:cNvPr id="1" name=""/>
        <p:cNvGrpSpPr/>
        <p:nvPr/>
      </p:nvGrpSpPr>
      <p:grpSpPr>
        <a:xfrm>
          <a:off x="0" y="0"/>
          <a:ext cx="0" cy="0"/>
          <a:chOff x="0" y="0"/>
          <a:chExt cx="0" cy="0"/>
        </a:xfrm>
      </p:grpSpPr>
      <p:pic>
        <p:nvPicPr>
          <p:cNvPr id="2" name="Image 0" descr="verlauf_hub_and_spoke.png"/>
          <p:cNvPicPr>
            <a:picLocks noChangeAspect="1"/>
          </p:cNvPicPr>
          <p:nvPr/>
        </p:nvPicPr>
        <p:blipFill>
          <a:blip r:embed="rId3"/>
          <a:stretch>
            <a:fillRect/>
          </a:stretch>
        </p:blipFill>
        <p:spPr>
          <a:xfrm>
            <a:off x="164592" y="146304"/>
            <a:ext cx="11832336" cy="6565392"/>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B1F26"/>
        </a:solidFill>
        <a:effectLst/>
      </p:bgPr>
    </p:bg>
    <p:spTree>
      <p:nvGrpSpPr>
        <p:cNvPr id="1" name=""/>
        <p:cNvGrpSpPr/>
        <p:nvPr/>
      </p:nvGrpSpPr>
      <p:grpSpPr>
        <a:xfrm>
          <a:off x="0" y="0"/>
          <a:ext cx="0" cy="0"/>
          <a:chOff x="0" y="0"/>
          <a:chExt cx="0" cy="0"/>
        </a:xfrm>
      </p:grpSpPr>
      <p:pic>
        <p:nvPicPr>
          <p:cNvPr id="2" name="Image 0" descr="verlauf_dmz.png"/>
          <p:cNvPicPr>
            <a:picLocks noChangeAspect="1"/>
          </p:cNvPicPr>
          <p:nvPr/>
        </p:nvPicPr>
        <p:blipFill>
          <a:blip r:embed="rId3"/>
          <a:stretch>
            <a:fillRect/>
          </a:stretch>
        </p:blipFill>
        <p:spPr>
          <a:xfrm>
            <a:off x="164592" y="146304"/>
            <a:ext cx="11832336" cy="6565392"/>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B1F26"/>
        </a:solidFill>
        <a:effectLst/>
      </p:bgPr>
    </p:bg>
    <p:spTree>
      <p:nvGrpSpPr>
        <p:cNvPr id="1" name=""/>
        <p:cNvGrpSpPr/>
        <p:nvPr/>
      </p:nvGrpSpPr>
      <p:grpSpPr>
        <a:xfrm>
          <a:off x="0" y="0"/>
          <a:ext cx="0" cy="0"/>
          <a:chOff x="0" y="0"/>
          <a:chExt cx="0" cy="0"/>
        </a:xfrm>
      </p:grpSpPr>
      <p:pic>
        <p:nvPicPr>
          <p:cNvPr id="2" name="Image 0" descr="verlauf_micro_segmented.png"/>
          <p:cNvPicPr>
            <a:picLocks noChangeAspect="1"/>
          </p:cNvPicPr>
          <p:nvPr/>
        </p:nvPicPr>
        <p:blipFill>
          <a:blip r:embed="rId3"/>
          <a:stretch>
            <a:fillRect/>
          </a:stretch>
        </p:blipFill>
        <p:spPr>
          <a:xfrm>
            <a:off x="164592" y="146304"/>
            <a:ext cx="11832336" cy="6565392"/>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640080" y="384048"/>
            <a:ext cx="10881360" cy="566928"/>
          </a:xfrm>
          <a:prstGeom prst="rect">
            <a:avLst/>
          </a:prstGeom>
          <a:noFill/>
          <a:ln/>
        </p:spPr>
        <p:txBody>
          <a:bodyPr wrap="square" lIns="0" tIns="0" rIns="0" bIns="0" rtlCol="0" anchor="ctr"/>
          <a:lstStyle/>
          <a:p>
            <a:pPr marL="0" indent="0">
              <a:buNone/>
            </a:pPr>
            <a:r>
              <a:rPr lang="en-US" sz="3400" b="1" dirty="0">
                <a:solidFill>
                  <a:srgbClr val="23282F"/>
                </a:solidFill>
                <a:latin typeface="Cambria" pitchFamily="34" charset="0"/>
                <a:ea typeface="Cambria" pitchFamily="34" charset="-122"/>
                <a:cs typeface="Cambria" pitchFamily="34" charset="-120"/>
              </a:rPr>
              <a:t>Nichtstun als gelernte Strategie</a:t>
            </a:r>
            <a:endParaRPr lang="en-US" sz="3400" dirty="0"/>
          </a:p>
        </p:txBody>
      </p:sp>
      <p:sp>
        <p:nvSpPr>
          <p:cNvPr id="3" name="Text 1"/>
          <p:cNvSpPr/>
          <p:nvPr/>
        </p:nvSpPr>
        <p:spPr>
          <a:xfrm>
            <a:off x="640080" y="969264"/>
            <a:ext cx="10881360" cy="493776"/>
          </a:xfrm>
          <a:prstGeom prst="rect">
            <a:avLst/>
          </a:prstGeom>
          <a:noFill/>
          <a:ln/>
        </p:spPr>
        <p:txBody>
          <a:bodyPr wrap="square" lIns="0" tIns="0" rIns="0" bIns="0" rtlCol="0" anchor="ctr"/>
          <a:lstStyle/>
          <a:p>
            <a:pPr marL="0" indent="0">
              <a:buNone/>
            </a:pPr>
            <a:r>
              <a:rPr lang="en-US" sz="1400" dirty="0">
                <a:solidFill>
                  <a:srgbClr val="6E7681"/>
                </a:solidFill>
                <a:latin typeface="Calibri" pitchFamily="34" charset="0"/>
                <a:ea typeface="Calibri" pitchFamily="34" charset="-122"/>
                <a:cs typeface="Calibri" pitchFamily="34" charset="-120"/>
              </a:rPr>
              <a:t>Anteil der Schritte je Aktionsart — die fünf Kategorien summieren sich auf die Episodenlänge</a:t>
            </a:r>
            <a:endParaRPr lang="en-US" sz="1400" dirty="0"/>
          </a:p>
        </p:txBody>
      </p:sp>
      <p:sp>
        <p:nvSpPr>
          <p:cNvPr id="4" name="Shape 2"/>
          <p:cNvSpPr/>
          <p:nvPr/>
        </p:nvSpPr>
        <p:spPr>
          <a:xfrm>
            <a:off x="640080" y="1828800"/>
            <a:ext cx="3383280" cy="3017520"/>
          </a:xfrm>
          <a:prstGeom prst="roundRect">
            <a:avLst>
              <a:gd name="adj" fmla="val 3030"/>
            </a:avLst>
          </a:prstGeom>
          <a:solidFill>
            <a:srgbClr val="F4F6F8"/>
          </a:solidFill>
          <a:ln w="12700">
            <a:solidFill>
              <a:srgbClr val="DDE1E6"/>
            </a:solidFill>
            <a:prstDash val="solid"/>
          </a:ln>
        </p:spPr>
        <p:txBody>
          <a:bodyPr/>
          <a:lstStyle/>
          <a:p>
            <a:endParaRPr lang="de-DE"/>
          </a:p>
        </p:txBody>
      </p:sp>
      <p:sp>
        <p:nvSpPr>
          <p:cNvPr id="5" name="Text 3"/>
          <p:cNvSpPr/>
          <p:nvPr/>
        </p:nvSpPr>
        <p:spPr>
          <a:xfrm>
            <a:off x="914400" y="2057400"/>
            <a:ext cx="2834640" cy="548640"/>
          </a:xfrm>
          <a:prstGeom prst="rect">
            <a:avLst/>
          </a:prstGeom>
          <a:noFill/>
          <a:ln/>
        </p:spPr>
        <p:txBody>
          <a:bodyPr wrap="square" lIns="0" tIns="0" rIns="0" bIns="0" rtlCol="0" anchor="ctr"/>
          <a:lstStyle/>
          <a:p>
            <a:pPr marL="0" indent="0">
              <a:buNone/>
            </a:pPr>
            <a:r>
              <a:rPr lang="en-US" sz="3000" b="1" dirty="0">
                <a:solidFill>
                  <a:srgbClr val="1C6E8C"/>
                </a:solidFill>
                <a:latin typeface="Cambria" pitchFamily="34" charset="0"/>
                <a:ea typeface="Cambria" pitchFamily="34" charset="-122"/>
                <a:cs typeface="Cambria" pitchFamily="34" charset="-120"/>
              </a:rPr>
              <a:t>≈ 66 %</a:t>
            </a:r>
            <a:endParaRPr lang="en-US" sz="3000" dirty="0"/>
          </a:p>
        </p:txBody>
      </p:sp>
      <p:sp>
        <p:nvSpPr>
          <p:cNvPr id="6" name="Text 4"/>
          <p:cNvSpPr/>
          <p:nvPr/>
        </p:nvSpPr>
        <p:spPr>
          <a:xfrm>
            <a:off x="914400" y="2651760"/>
            <a:ext cx="2834640" cy="329184"/>
          </a:xfrm>
          <a:prstGeom prst="rect">
            <a:avLst/>
          </a:prstGeom>
          <a:noFill/>
          <a:ln/>
        </p:spPr>
        <p:txBody>
          <a:bodyPr wrap="square" lIns="0" tIns="0" rIns="0" bIns="0" rtlCol="0" anchor="ctr"/>
          <a:lstStyle/>
          <a:p>
            <a:pPr marL="0" indent="0">
              <a:buNone/>
            </a:pPr>
            <a:r>
              <a:rPr lang="en-US" sz="1500" b="1" dirty="0">
                <a:solidFill>
                  <a:srgbClr val="23282F"/>
                </a:solidFill>
                <a:latin typeface="Calibri" pitchFamily="34" charset="0"/>
                <a:ea typeface="Calibri" pitchFamily="34" charset="-122"/>
                <a:cs typeface="Calibri" pitchFamily="34" charset="-120"/>
              </a:rPr>
              <a:t>ungültige Aktionen</a:t>
            </a:r>
            <a:endParaRPr lang="en-US" sz="1500" dirty="0"/>
          </a:p>
        </p:txBody>
      </p:sp>
      <p:sp>
        <p:nvSpPr>
          <p:cNvPr id="7" name="Text 5"/>
          <p:cNvSpPr/>
          <p:nvPr/>
        </p:nvSpPr>
        <p:spPr>
          <a:xfrm>
            <a:off x="914400" y="3063240"/>
            <a:ext cx="2834640" cy="1554480"/>
          </a:xfrm>
          <a:prstGeom prst="rect">
            <a:avLst/>
          </a:prstGeom>
          <a:noFill/>
          <a:ln/>
        </p:spPr>
        <p:txBody>
          <a:bodyPr wrap="square" lIns="0" tIns="0" rIns="0" bIns="0" rtlCol="0" anchor="ctr"/>
          <a:lstStyle/>
          <a:p>
            <a:pPr marL="0" indent="0">
              <a:buNone/>
            </a:pPr>
            <a:r>
              <a:rPr lang="en-US" sz="1200" dirty="0">
                <a:solidFill>
                  <a:srgbClr val="6E7681"/>
                </a:solidFill>
                <a:latin typeface="Calibri" pitchFamily="34" charset="0"/>
                <a:ea typeface="Calibri" pitchFamily="34" charset="-122"/>
                <a:cs typeface="Calibri" pitchFamily="34" charset="-120"/>
              </a:rPr>
              <a:t>Der Verteidiger arbeitet ohne Maske. Eine ungültige Aktion kostet ihn nichts — er überspringt den Zug. Sie ist damit sein günstigster Weg, nichts zu tun.</a:t>
            </a:r>
            <a:endParaRPr lang="en-US" sz="1200" dirty="0"/>
          </a:p>
        </p:txBody>
      </p:sp>
      <p:sp>
        <p:nvSpPr>
          <p:cNvPr id="8" name="Shape 6"/>
          <p:cNvSpPr/>
          <p:nvPr/>
        </p:nvSpPr>
        <p:spPr>
          <a:xfrm>
            <a:off x="4389120" y="1828800"/>
            <a:ext cx="3383280" cy="3017520"/>
          </a:xfrm>
          <a:prstGeom prst="roundRect">
            <a:avLst>
              <a:gd name="adj" fmla="val 3030"/>
            </a:avLst>
          </a:prstGeom>
          <a:solidFill>
            <a:srgbClr val="F4F6F8"/>
          </a:solidFill>
          <a:ln w="12700">
            <a:solidFill>
              <a:srgbClr val="DDE1E6"/>
            </a:solidFill>
            <a:prstDash val="solid"/>
          </a:ln>
        </p:spPr>
        <p:txBody>
          <a:bodyPr/>
          <a:lstStyle/>
          <a:p>
            <a:endParaRPr lang="de-DE"/>
          </a:p>
        </p:txBody>
      </p:sp>
      <p:sp>
        <p:nvSpPr>
          <p:cNvPr id="9" name="Text 7"/>
          <p:cNvSpPr/>
          <p:nvPr/>
        </p:nvSpPr>
        <p:spPr>
          <a:xfrm>
            <a:off x="4663440" y="2057400"/>
            <a:ext cx="2834640" cy="548640"/>
          </a:xfrm>
          <a:prstGeom prst="rect">
            <a:avLst/>
          </a:prstGeom>
          <a:noFill/>
          <a:ln/>
        </p:spPr>
        <p:txBody>
          <a:bodyPr wrap="square" lIns="0" tIns="0" rIns="0" bIns="0" rtlCol="0" anchor="ctr"/>
          <a:lstStyle/>
          <a:p>
            <a:pPr marL="0" indent="0">
              <a:buNone/>
            </a:pPr>
            <a:r>
              <a:rPr lang="en-US" sz="3000" b="1" dirty="0">
                <a:solidFill>
                  <a:srgbClr val="1C6E8C"/>
                </a:solidFill>
                <a:latin typeface="Cambria" pitchFamily="34" charset="0"/>
                <a:ea typeface="Cambria" pitchFamily="34" charset="-122"/>
                <a:cs typeface="Cambria" pitchFamily="34" charset="-120"/>
              </a:rPr>
              <a:t>88 % → 93 %</a:t>
            </a:r>
            <a:endParaRPr lang="en-US" sz="3000" dirty="0"/>
          </a:p>
        </p:txBody>
      </p:sp>
      <p:sp>
        <p:nvSpPr>
          <p:cNvPr id="10" name="Text 8"/>
          <p:cNvSpPr/>
          <p:nvPr/>
        </p:nvSpPr>
        <p:spPr>
          <a:xfrm>
            <a:off x="4663440" y="2651760"/>
            <a:ext cx="2834640" cy="329184"/>
          </a:xfrm>
          <a:prstGeom prst="rect">
            <a:avLst/>
          </a:prstGeom>
          <a:noFill/>
          <a:ln/>
        </p:spPr>
        <p:txBody>
          <a:bodyPr wrap="square" lIns="0" tIns="0" rIns="0" bIns="0" rtlCol="0" anchor="ctr"/>
          <a:lstStyle/>
          <a:p>
            <a:pPr marL="0" indent="0">
              <a:buNone/>
            </a:pPr>
            <a:r>
              <a:rPr lang="en-US" sz="1500" b="1" dirty="0">
                <a:solidFill>
                  <a:srgbClr val="23282F"/>
                </a:solidFill>
                <a:latin typeface="Calibri" pitchFamily="34" charset="0"/>
                <a:ea typeface="Calibri" pitchFamily="34" charset="-122"/>
                <a:cs typeface="Calibri" pitchFamily="34" charset="-120"/>
              </a:rPr>
              <a:t>passive Züge gesamt</a:t>
            </a:r>
            <a:endParaRPr lang="en-US" sz="1500" dirty="0"/>
          </a:p>
        </p:txBody>
      </p:sp>
      <p:sp>
        <p:nvSpPr>
          <p:cNvPr id="11" name="Text 9"/>
          <p:cNvSpPr/>
          <p:nvPr/>
        </p:nvSpPr>
        <p:spPr>
          <a:xfrm>
            <a:off x="4663440" y="3063240"/>
            <a:ext cx="2834640" cy="1554480"/>
          </a:xfrm>
          <a:prstGeom prst="rect">
            <a:avLst/>
          </a:prstGeom>
          <a:noFill/>
          <a:ln/>
        </p:spPr>
        <p:txBody>
          <a:bodyPr wrap="square" lIns="0" tIns="0" rIns="0" bIns="0" rtlCol="0" anchor="ctr"/>
          <a:lstStyle/>
          <a:p>
            <a:pPr marL="0" indent="0">
              <a:buNone/>
            </a:pPr>
            <a:r>
              <a:rPr lang="en-US" sz="1200" dirty="0">
                <a:solidFill>
                  <a:srgbClr val="6E7681"/>
                </a:solidFill>
                <a:latin typeface="Calibri" pitchFamily="34" charset="0"/>
                <a:ea typeface="Calibri" pitchFamily="34" charset="-122"/>
                <a:cs typeface="Calibri" pitchFamily="34" charset="-120"/>
              </a:rPr>
              <a:t>Ungültig plus Freigeben, also alles, was den Zustand nicht verändert. Dieser Anteil steigt in ALLEN 24 Matchups über das Training.</a:t>
            </a:r>
            <a:endParaRPr lang="en-US" sz="1200" dirty="0"/>
          </a:p>
        </p:txBody>
      </p:sp>
      <p:sp>
        <p:nvSpPr>
          <p:cNvPr id="12" name="Shape 10"/>
          <p:cNvSpPr/>
          <p:nvPr/>
        </p:nvSpPr>
        <p:spPr>
          <a:xfrm>
            <a:off x="8138160" y="1828800"/>
            <a:ext cx="3383280" cy="3017520"/>
          </a:xfrm>
          <a:prstGeom prst="roundRect">
            <a:avLst>
              <a:gd name="adj" fmla="val 3030"/>
            </a:avLst>
          </a:prstGeom>
          <a:solidFill>
            <a:srgbClr val="F4F6F8"/>
          </a:solidFill>
          <a:ln w="12700">
            <a:solidFill>
              <a:srgbClr val="DDE1E6"/>
            </a:solidFill>
            <a:prstDash val="solid"/>
          </a:ln>
        </p:spPr>
        <p:txBody>
          <a:bodyPr/>
          <a:lstStyle/>
          <a:p>
            <a:endParaRPr lang="de-DE"/>
          </a:p>
        </p:txBody>
      </p:sp>
      <p:sp>
        <p:nvSpPr>
          <p:cNvPr id="13" name="Text 11"/>
          <p:cNvSpPr/>
          <p:nvPr/>
        </p:nvSpPr>
        <p:spPr>
          <a:xfrm>
            <a:off x="8412480" y="2057400"/>
            <a:ext cx="2834640" cy="548640"/>
          </a:xfrm>
          <a:prstGeom prst="rect">
            <a:avLst/>
          </a:prstGeom>
          <a:noFill/>
          <a:ln/>
        </p:spPr>
        <p:txBody>
          <a:bodyPr wrap="square" lIns="0" tIns="0" rIns="0" bIns="0" rtlCol="0" anchor="ctr"/>
          <a:lstStyle/>
          <a:p>
            <a:pPr marL="0" indent="0">
              <a:buNone/>
            </a:pPr>
            <a:r>
              <a:rPr lang="en-US" sz="3000" b="1" dirty="0">
                <a:solidFill>
                  <a:srgbClr val="D99A2B"/>
                </a:solidFill>
                <a:latin typeface="Cambria" pitchFamily="34" charset="0"/>
                <a:ea typeface="Cambria" pitchFamily="34" charset="-122"/>
                <a:cs typeface="Cambria" pitchFamily="34" charset="-120"/>
              </a:rPr>
              <a:t>6 % → 0 %</a:t>
            </a:r>
            <a:endParaRPr lang="en-US" sz="3000" dirty="0"/>
          </a:p>
        </p:txBody>
      </p:sp>
      <p:sp>
        <p:nvSpPr>
          <p:cNvPr id="14" name="Text 12"/>
          <p:cNvSpPr/>
          <p:nvPr/>
        </p:nvSpPr>
        <p:spPr>
          <a:xfrm>
            <a:off x="8412480" y="2651760"/>
            <a:ext cx="2834640" cy="329184"/>
          </a:xfrm>
          <a:prstGeom prst="rect">
            <a:avLst/>
          </a:prstGeom>
          <a:noFill/>
          <a:ln/>
        </p:spPr>
        <p:txBody>
          <a:bodyPr wrap="square" lIns="0" tIns="0" rIns="0" bIns="0" rtlCol="0" anchor="ctr"/>
          <a:lstStyle/>
          <a:p>
            <a:pPr marL="0" indent="0">
              <a:buNone/>
            </a:pPr>
            <a:r>
              <a:rPr lang="en-US" sz="1500" b="1" dirty="0">
                <a:solidFill>
                  <a:srgbClr val="23282F"/>
                </a:solidFill>
                <a:latin typeface="Calibri" pitchFamily="34" charset="0"/>
                <a:ea typeface="Calibri" pitchFamily="34" charset="-122"/>
                <a:cs typeface="Calibri" pitchFamily="34" charset="-120"/>
              </a:rPr>
              <a:t>Dienst stoppen</a:t>
            </a:r>
            <a:endParaRPr lang="en-US" sz="1500" dirty="0"/>
          </a:p>
        </p:txBody>
      </p:sp>
      <p:sp>
        <p:nvSpPr>
          <p:cNvPr id="15" name="Text 13"/>
          <p:cNvSpPr/>
          <p:nvPr/>
        </p:nvSpPr>
        <p:spPr>
          <a:xfrm>
            <a:off x="8412480" y="3063240"/>
            <a:ext cx="2834640" cy="1554480"/>
          </a:xfrm>
          <a:prstGeom prst="rect">
            <a:avLst/>
          </a:prstGeom>
          <a:noFill/>
          <a:ln/>
        </p:spPr>
        <p:txBody>
          <a:bodyPr wrap="square" lIns="0" tIns="0" rIns="0" bIns="0" rtlCol="0" anchor="ctr"/>
          <a:lstStyle/>
          <a:p>
            <a:pPr marL="0" indent="0">
              <a:buNone/>
            </a:pPr>
            <a:r>
              <a:rPr lang="en-US" sz="1200" dirty="0">
                <a:solidFill>
                  <a:srgbClr val="6E7681"/>
                </a:solidFill>
                <a:latin typeface="Calibri" pitchFamily="34" charset="0"/>
                <a:ea typeface="Calibri" pitchFamily="34" charset="-122"/>
                <a:cs typeface="Calibri" pitchFamily="34" charset="-120"/>
              </a:rPr>
              <a:t>Fällt in den ersten rund 15 Episoden fast vollständig weg. Das Stoppen sauberer Dienste kostet Strafpunkte, und genau das lernt der Agent zuerst ab.</a:t>
            </a:r>
            <a:endParaRPr lang="en-US" sz="1200" dirty="0"/>
          </a:p>
        </p:txBody>
      </p:sp>
      <p:sp>
        <p:nvSpPr>
          <p:cNvPr id="16" name="Text 14"/>
          <p:cNvSpPr/>
          <p:nvPr/>
        </p:nvSpPr>
        <p:spPr>
          <a:xfrm>
            <a:off x="640080" y="5029200"/>
            <a:ext cx="10881360" cy="868680"/>
          </a:xfrm>
          <a:prstGeom prst="rect">
            <a:avLst/>
          </a:prstGeom>
          <a:noFill/>
          <a:ln/>
        </p:spPr>
        <p:txBody>
          <a:bodyPr wrap="square" lIns="0" tIns="0" rIns="0" bIns="0" rtlCol="0" anchor="ctr"/>
          <a:lstStyle/>
          <a:p>
            <a:pPr marL="0" indent="0">
              <a:buNone/>
            </a:pPr>
            <a:r>
              <a:rPr lang="en-US" sz="1200" dirty="0">
                <a:solidFill>
                  <a:srgbClr val="6E7681"/>
                </a:solidFill>
                <a:latin typeface="Calibri" pitchFamily="34" charset="0"/>
                <a:ea typeface="Calibri" pitchFamily="34" charset="-122"/>
                <a:cs typeface="Calibri" pitchFamily="34" charset="-120"/>
              </a:rPr>
              <a:t>Der Anteil sinkt über das Training nicht, obwohl der Agent längst wissen müsste, was gültig ist. Der Grund steht im Code: die Strafe für eine ungültige Aktion ist auf 0 gesetzt, der Zug wird übersprungen. Jede echte Aktion birgt dagegen ein Risiko — ein sauberer Dienststopp kostet 10 Punkte, ein Reimage nimmt einen Knoten vom Netz. Passivität ist damit keine Schwäche, sondern gelernte Strategie.</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B1F26"/>
        </a:solidFill>
        <a:effectLst/>
      </p:bgPr>
    </p:bg>
    <p:spTree>
      <p:nvGrpSpPr>
        <p:cNvPr id="1" name=""/>
        <p:cNvGrpSpPr/>
        <p:nvPr/>
      </p:nvGrpSpPr>
      <p:grpSpPr>
        <a:xfrm>
          <a:off x="0" y="0"/>
          <a:ext cx="0" cy="0"/>
          <a:chOff x="0" y="0"/>
          <a:chExt cx="0" cy="0"/>
        </a:xfrm>
      </p:grpSpPr>
      <p:pic>
        <p:nvPicPr>
          <p:cNvPr id="2" name="Image 0" descr="aktionen_flat.png"/>
          <p:cNvPicPr>
            <a:picLocks noChangeAspect="1"/>
          </p:cNvPicPr>
          <p:nvPr/>
        </p:nvPicPr>
        <p:blipFill>
          <a:blip r:embed="rId3"/>
          <a:stretch>
            <a:fillRect/>
          </a:stretch>
        </p:blipFill>
        <p:spPr>
          <a:xfrm>
            <a:off x="164592" y="146304"/>
            <a:ext cx="11832336" cy="6565392"/>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B1F26"/>
        </a:solidFill>
        <a:effectLst/>
      </p:bgPr>
    </p:bg>
    <p:spTree>
      <p:nvGrpSpPr>
        <p:cNvPr id="1" name=""/>
        <p:cNvGrpSpPr/>
        <p:nvPr/>
      </p:nvGrpSpPr>
      <p:grpSpPr>
        <a:xfrm>
          <a:off x="0" y="0"/>
          <a:ext cx="0" cy="0"/>
          <a:chOff x="0" y="0"/>
          <a:chExt cx="0" cy="0"/>
        </a:xfrm>
      </p:grpSpPr>
      <p:pic>
        <p:nvPicPr>
          <p:cNvPr id="2" name="Image 0" descr="aktionen_hub_and_spoke.png"/>
          <p:cNvPicPr>
            <a:picLocks noChangeAspect="1"/>
          </p:cNvPicPr>
          <p:nvPr/>
        </p:nvPicPr>
        <p:blipFill>
          <a:blip r:embed="rId3"/>
          <a:stretch>
            <a:fillRect/>
          </a:stretch>
        </p:blipFill>
        <p:spPr>
          <a:xfrm>
            <a:off x="164592" y="146304"/>
            <a:ext cx="11832336" cy="6565392"/>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B1F26"/>
        </a:solidFill>
        <a:effectLst/>
      </p:bgPr>
    </p:bg>
    <p:spTree>
      <p:nvGrpSpPr>
        <p:cNvPr id="1" name=""/>
        <p:cNvGrpSpPr/>
        <p:nvPr/>
      </p:nvGrpSpPr>
      <p:grpSpPr>
        <a:xfrm>
          <a:off x="0" y="0"/>
          <a:ext cx="0" cy="0"/>
          <a:chOff x="0" y="0"/>
          <a:chExt cx="0" cy="0"/>
        </a:xfrm>
      </p:grpSpPr>
      <p:pic>
        <p:nvPicPr>
          <p:cNvPr id="2" name="Image 0" descr="aktionen_dmz.png"/>
          <p:cNvPicPr>
            <a:picLocks noChangeAspect="1"/>
          </p:cNvPicPr>
          <p:nvPr/>
        </p:nvPicPr>
        <p:blipFill>
          <a:blip r:embed="rId3"/>
          <a:stretch>
            <a:fillRect/>
          </a:stretch>
        </p:blipFill>
        <p:spPr>
          <a:xfrm>
            <a:off x="164592" y="146304"/>
            <a:ext cx="11832336" cy="6565392"/>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B1F26"/>
        </a:solidFill>
        <a:effectLst/>
      </p:bgPr>
    </p:bg>
    <p:spTree>
      <p:nvGrpSpPr>
        <p:cNvPr id="1" name=""/>
        <p:cNvGrpSpPr/>
        <p:nvPr/>
      </p:nvGrpSpPr>
      <p:grpSpPr>
        <a:xfrm>
          <a:off x="0" y="0"/>
          <a:ext cx="0" cy="0"/>
          <a:chOff x="0" y="0"/>
          <a:chExt cx="0" cy="0"/>
        </a:xfrm>
      </p:grpSpPr>
      <p:pic>
        <p:nvPicPr>
          <p:cNvPr id="2" name="Image 0" descr="aktionen_micro_segmented.png"/>
          <p:cNvPicPr>
            <a:picLocks noChangeAspect="1"/>
          </p:cNvPicPr>
          <p:nvPr/>
        </p:nvPicPr>
        <p:blipFill>
          <a:blip r:embed="rId3"/>
          <a:stretch>
            <a:fillRect/>
          </a:stretch>
        </p:blipFill>
        <p:spPr>
          <a:xfrm>
            <a:off x="164592" y="146304"/>
            <a:ext cx="11832336" cy="6565392"/>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B1F26"/>
        </a:solidFill>
        <a:effectLst/>
      </p:bgPr>
    </p:bg>
    <p:spTree>
      <p:nvGrpSpPr>
        <p:cNvPr id="1" name=""/>
        <p:cNvGrpSpPr/>
        <p:nvPr/>
      </p:nvGrpSpPr>
      <p:grpSpPr>
        <a:xfrm>
          <a:off x="0" y="0"/>
          <a:ext cx="0" cy="0"/>
          <a:chOff x="0" y="0"/>
          <a:chExt cx="0" cy="0"/>
        </a:xfrm>
      </p:grpSpPr>
      <p:pic>
        <p:nvPicPr>
          <p:cNvPr id="2" name="Image 0" descr="sla_matrix.png"/>
          <p:cNvPicPr>
            <a:picLocks noChangeAspect="1"/>
          </p:cNvPicPr>
          <p:nvPr/>
        </p:nvPicPr>
        <p:blipFill>
          <a:blip r:embed="rId3"/>
          <a:stretch>
            <a:fillRect/>
          </a:stretch>
        </p:blipFill>
        <p:spPr>
          <a:xfrm>
            <a:off x="164592" y="146304"/>
            <a:ext cx="11832336" cy="6565392"/>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640080" y="384048"/>
            <a:ext cx="10881360" cy="566928"/>
          </a:xfrm>
          <a:prstGeom prst="rect">
            <a:avLst/>
          </a:prstGeom>
          <a:noFill/>
          <a:ln/>
        </p:spPr>
        <p:txBody>
          <a:bodyPr wrap="square" lIns="0" tIns="0" rIns="0" bIns="0" rtlCol="0" anchor="ctr"/>
          <a:lstStyle/>
          <a:p>
            <a:pPr marL="0" indent="0">
              <a:buNone/>
            </a:pPr>
            <a:r>
              <a:rPr lang="en-US" sz="3400" b="1" dirty="0">
                <a:solidFill>
                  <a:srgbClr val="23282F"/>
                </a:solidFill>
                <a:latin typeface="Cambria" pitchFamily="34" charset="0"/>
                <a:ea typeface="Cambria" pitchFamily="34" charset="-122"/>
                <a:cs typeface="Cambria" pitchFamily="34" charset="-120"/>
              </a:rPr>
              <a:t>Woher die Ausschläge kommen</a:t>
            </a:r>
            <a:endParaRPr lang="en-US" sz="3400" dirty="0"/>
          </a:p>
        </p:txBody>
      </p:sp>
      <p:sp>
        <p:nvSpPr>
          <p:cNvPr id="3" name="Text 1"/>
          <p:cNvSpPr/>
          <p:nvPr/>
        </p:nvSpPr>
        <p:spPr>
          <a:xfrm>
            <a:off x="640080" y="772668"/>
            <a:ext cx="10881360" cy="493776"/>
          </a:xfrm>
          <a:prstGeom prst="rect">
            <a:avLst/>
          </a:prstGeom>
          <a:noFill/>
          <a:ln/>
        </p:spPr>
        <p:txBody>
          <a:bodyPr wrap="square" lIns="0" tIns="0" rIns="0" bIns="0" rtlCol="0" anchor="ctr"/>
          <a:lstStyle/>
          <a:p>
            <a:pPr marL="0" indent="0">
              <a:buNone/>
            </a:pPr>
            <a:r>
              <a:rPr lang="en-US" sz="1400" dirty="0">
                <a:solidFill>
                  <a:srgbClr val="6E7681"/>
                </a:solidFill>
                <a:latin typeface="Calibri" pitchFamily="34" charset="0"/>
                <a:ea typeface="Calibri" pitchFamily="34" charset="-122"/>
                <a:cs typeface="Calibri" pitchFamily="34" charset="-120"/>
              </a:rPr>
              <a:t>Verteidiger-Reward je Episode, jeder Seed einzeln — die beiden Matchups mit SLA-Brüchen</a:t>
            </a:r>
            <a:endParaRPr lang="en-US" sz="1400" dirty="0"/>
          </a:p>
        </p:txBody>
      </p:sp>
      <p:pic>
        <p:nvPicPr>
          <p:cNvPr id="4" name="Image 0" descr="seeds_diagonale.png"/>
          <p:cNvPicPr>
            <a:picLocks noChangeAspect="1"/>
          </p:cNvPicPr>
          <p:nvPr/>
        </p:nvPicPr>
        <p:blipFill>
          <a:blip r:embed="rId3"/>
          <a:stretch>
            <a:fillRect/>
          </a:stretch>
        </p:blipFill>
        <p:spPr>
          <a:xfrm>
            <a:off x="320040" y="1179094"/>
            <a:ext cx="11521440" cy="5111977"/>
          </a:xfrm>
          <a:prstGeom prst="rect">
            <a:avLst/>
          </a:prstGeom>
        </p:spPr>
      </p:pic>
      <p:sp>
        <p:nvSpPr>
          <p:cNvPr id="6" name="Text 3"/>
          <p:cNvSpPr/>
          <p:nvPr/>
        </p:nvSpPr>
        <p:spPr>
          <a:xfrm>
            <a:off x="640080" y="6291072"/>
            <a:ext cx="10881360" cy="274320"/>
          </a:xfrm>
          <a:prstGeom prst="rect">
            <a:avLst/>
          </a:prstGeom>
          <a:noFill/>
          <a:ln/>
        </p:spPr>
        <p:txBody>
          <a:bodyPr wrap="square" lIns="0" tIns="0" rIns="0" bIns="0" rtlCol="0" anchor="ctr"/>
          <a:lstStyle/>
          <a:p>
            <a:pPr marL="0" indent="0">
              <a:buNone/>
            </a:pPr>
            <a:r>
              <a:rPr lang="en-US" sz="1000" i="1" dirty="0">
                <a:solidFill>
                  <a:srgbClr val="6E7681"/>
                </a:solidFill>
                <a:latin typeface="Calibri" pitchFamily="34" charset="0"/>
                <a:ea typeface="Calibri" pitchFamily="34" charset="-122"/>
                <a:cs typeface="Calibri" pitchFamily="34" charset="-120"/>
              </a:rPr>
              <a:t>Gestauchte Achse, sonst verschwindet der Arbeitsbereich neben den Einbrüchen. Ein SLA-Bruchschritt kostet -5000, die schlechteste Episode der Matrix liegt bei -185541.</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B1F26"/>
        </a:solidFill>
        <a:effectLst/>
      </p:bgPr>
    </p:bg>
    <p:spTree>
      <p:nvGrpSpPr>
        <p:cNvPr id="1" name=""/>
        <p:cNvGrpSpPr/>
        <p:nvPr/>
      </p:nvGrpSpPr>
      <p:grpSpPr>
        <a:xfrm>
          <a:off x="0" y="0"/>
          <a:ext cx="0" cy="0"/>
          <a:chOff x="0" y="0"/>
          <a:chExt cx="0" cy="0"/>
        </a:xfrm>
      </p:grpSpPr>
      <p:sp>
        <p:nvSpPr>
          <p:cNvPr id="2" name="Text 0"/>
          <p:cNvSpPr/>
          <p:nvPr/>
        </p:nvSpPr>
        <p:spPr>
          <a:xfrm>
            <a:off x="640080" y="777240"/>
            <a:ext cx="10881360" cy="685800"/>
          </a:xfrm>
          <a:prstGeom prst="rect">
            <a:avLst/>
          </a:prstGeom>
          <a:noFill/>
          <a:ln/>
        </p:spPr>
        <p:txBody>
          <a:bodyPr wrap="square" lIns="0" tIns="0" rIns="0" bIns="0" rtlCol="0" anchor="ctr"/>
          <a:lstStyle/>
          <a:p>
            <a:pPr marL="0" indent="0">
              <a:buNone/>
            </a:pPr>
            <a:r>
              <a:rPr lang="en-US" sz="3600" b="1" dirty="0">
                <a:solidFill>
                  <a:srgbClr val="FFFFFF"/>
                </a:solidFill>
                <a:latin typeface="Cambria" pitchFamily="34" charset="0"/>
                <a:ea typeface="Cambria" pitchFamily="34" charset="-122"/>
                <a:cs typeface="Cambria" pitchFamily="34" charset="-120"/>
              </a:rPr>
              <a:t>Ab hier: Evaluation</a:t>
            </a:r>
            <a:endParaRPr lang="en-US" sz="3600" dirty="0"/>
          </a:p>
        </p:txBody>
      </p:sp>
      <p:sp>
        <p:nvSpPr>
          <p:cNvPr id="3" name="Text 1"/>
          <p:cNvSpPr/>
          <p:nvPr/>
        </p:nvSpPr>
        <p:spPr>
          <a:xfrm>
            <a:off x="640080" y="1481328"/>
            <a:ext cx="10881360" cy="457200"/>
          </a:xfrm>
          <a:prstGeom prst="rect">
            <a:avLst/>
          </a:prstGeom>
          <a:noFill/>
          <a:ln/>
        </p:spPr>
        <p:txBody>
          <a:bodyPr wrap="square" lIns="0" tIns="0" rIns="0" bIns="0" rtlCol="0" anchor="ctr"/>
          <a:lstStyle/>
          <a:p>
            <a:pPr marL="0" indent="0">
              <a:buNone/>
            </a:pPr>
            <a:r>
              <a:rPr lang="en-US" sz="1500" dirty="0">
                <a:solidFill>
                  <a:srgbClr val="B8C0C9"/>
                </a:solidFill>
                <a:latin typeface="Calibri" pitchFamily="34" charset="0"/>
                <a:ea typeface="Calibri" pitchFamily="34" charset="-122"/>
                <a:cs typeface="Calibri" pitchFamily="34" charset="-120"/>
              </a:rPr>
              <a:t>Die bisherigen Folien zeigen, wie schnell der Verteidiger stabil wird. Die folgenden zeigen, ob die gelernte Politik etwas nützt.</a:t>
            </a:r>
            <a:endParaRPr lang="en-US" sz="1500" dirty="0"/>
          </a:p>
        </p:txBody>
      </p:sp>
      <p:sp>
        <p:nvSpPr>
          <p:cNvPr id="4" name="Shape 2"/>
          <p:cNvSpPr/>
          <p:nvPr/>
        </p:nvSpPr>
        <p:spPr>
          <a:xfrm>
            <a:off x="640080" y="2240280"/>
            <a:ext cx="3383280" cy="2377440"/>
          </a:xfrm>
          <a:prstGeom prst="roundRect">
            <a:avLst>
              <a:gd name="adj" fmla="val 3846"/>
            </a:avLst>
          </a:prstGeom>
          <a:solidFill>
            <a:srgbClr val="252A33"/>
          </a:solidFill>
          <a:ln w="12700">
            <a:solidFill>
              <a:srgbClr val="3A414C"/>
            </a:solidFill>
            <a:prstDash val="solid"/>
          </a:ln>
        </p:spPr>
        <p:txBody>
          <a:bodyPr/>
          <a:lstStyle/>
          <a:p>
            <a:endParaRPr lang="de-DE"/>
          </a:p>
        </p:txBody>
      </p:sp>
      <p:sp>
        <p:nvSpPr>
          <p:cNvPr id="5" name="Text 3"/>
          <p:cNvSpPr/>
          <p:nvPr/>
        </p:nvSpPr>
        <p:spPr>
          <a:xfrm>
            <a:off x="914400" y="2468880"/>
            <a:ext cx="2834640" cy="411480"/>
          </a:xfrm>
          <a:prstGeom prst="rect">
            <a:avLst/>
          </a:prstGeom>
          <a:noFill/>
          <a:ln/>
        </p:spPr>
        <p:txBody>
          <a:bodyPr wrap="square" lIns="0" tIns="0" rIns="0" bIns="0" rtlCol="0" anchor="ctr"/>
          <a:lstStyle/>
          <a:p>
            <a:pPr marL="0" indent="0">
              <a:buNone/>
            </a:pPr>
            <a:r>
              <a:rPr lang="en-US" sz="1600" b="1" dirty="0">
                <a:solidFill>
                  <a:srgbClr val="D99A2B"/>
                </a:solidFill>
                <a:latin typeface="Cambria" pitchFamily="34" charset="0"/>
                <a:ea typeface="Cambria" pitchFamily="34" charset="-122"/>
                <a:cs typeface="Cambria" pitchFamily="34" charset="-120"/>
              </a:rPr>
              <a:t>Beide Agenten eingefroren</a:t>
            </a:r>
            <a:endParaRPr lang="en-US" sz="1600" dirty="0"/>
          </a:p>
        </p:txBody>
      </p:sp>
      <p:sp>
        <p:nvSpPr>
          <p:cNvPr id="6" name="Text 4"/>
          <p:cNvSpPr/>
          <p:nvPr/>
        </p:nvSpPr>
        <p:spPr>
          <a:xfrm>
            <a:off x="914400" y="2926080"/>
            <a:ext cx="2834640" cy="1508760"/>
          </a:xfrm>
          <a:prstGeom prst="rect">
            <a:avLst/>
          </a:prstGeom>
          <a:noFill/>
          <a:ln/>
        </p:spPr>
        <p:txBody>
          <a:bodyPr wrap="square" lIns="0" tIns="0" rIns="0" bIns="0" rtlCol="0" anchor="ctr"/>
          <a:lstStyle/>
          <a:p>
            <a:pPr marL="0" indent="0">
              <a:buNone/>
            </a:pPr>
            <a:r>
              <a:rPr lang="en-US" sz="1200" dirty="0">
                <a:solidFill>
                  <a:srgbClr val="B8C0C9"/>
                </a:solidFill>
                <a:latin typeface="Calibri" pitchFamily="34" charset="0"/>
                <a:ea typeface="Calibri" pitchFamily="34" charset="-122"/>
                <a:cs typeface="Calibri" pitchFamily="34" charset="-120"/>
              </a:rPr>
              <a:t>Es wird nichts mehr gelernt, nur noch gespielt. Gemessen wird die </a:t>
            </a:r>
            <a:r>
              <a:rPr lang="en-US" sz="1200" dirty="0" err="1">
                <a:solidFill>
                  <a:srgbClr val="B8C0C9"/>
                </a:solidFill>
                <a:latin typeface="Calibri" pitchFamily="34" charset="0"/>
                <a:ea typeface="Calibri" pitchFamily="34" charset="-122"/>
                <a:cs typeface="Calibri" pitchFamily="34" charset="-120"/>
              </a:rPr>
              <a:t>fertige</a:t>
            </a:r>
            <a:r>
              <a:rPr lang="en-US" sz="1200" dirty="0">
                <a:solidFill>
                  <a:srgbClr val="B8C0C9"/>
                </a:solidFill>
                <a:latin typeface="Calibri" pitchFamily="34" charset="0"/>
                <a:ea typeface="Calibri" pitchFamily="34" charset="-122"/>
                <a:cs typeface="Calibri" pitchFamily="34" charset="-120"/>
              </a:rPr>
              <a:t> Policy, nicht ihr Zustandekommen.</a:t>
            </a:r>
            <a:endParaRPr lang="en-US" sz="1200" dirty="0"/>
          </a:p>
        </p:txBody>
      </p:sp>
      <p:sp>
        <p:nvSpPr>
          <p:cNvPr id="7" name="Shape 5"/>
          <p:cNvSpPr/>
          <p:nvPr/>
        </p:nvSpPr>
        <p:spPr>
          <a:xfrm>
            <a:off x="4389120" y="2240280"/>
            <a:ext cx="3383280" cy="2377440"/>
          </a:xfrm>
          <a:prstGeom prst="roundRect">
            <a:avLst>
              <a:gd name="adj" fmla="val 3846"/>
            </a:avLst>
          </a:prstGeom>
          <a:solidFill>
            <a:srgbClr val="252A33"/>
          </a:solidFill>
          <a:ln w="12700">
            <a:solidFill>
              <a:srgbClr val="3A414C"/>
            </a:solidFill>
            <a:prstDash val="solid"/>
          </a:ln>
        </p:spPr>
        <p:txBody>
          <a:bodyPr/>
          <a:lstStyle/>
          <a:p>
            <a:endParaRPr lang="de-DE"/>
          </a:p>
        </p:txBody>
      </p:sp>
      <p:sp>
        <p:nvSpPr>
          <p:cNvPr id="8" name="Text 6"/>
          <p:cNvSpPr/>
          <p:nvPr/>
        </p:nvSpPr>
        <p:spPr>
          <a:xfrm>
            <a:off x="4663440" y="2468880"/>
            <a:ext cx="2834640" cy="411480"/>
          </a:xfrm>
          <a:prstGeom prst="rect">
            <a:avLst/>
          </a:prstGeom>
          <a:noFill/>
          <a:ln/>
        </p:spPr>
        <p:txBody>
          <a:bodyPr wrap="square" lIns="0" tIns="0" rIns="0" bIns="0" rtlCol="0" anchor="ctr"/>
          <a:lstStyle/>
          <a:p>
            <a:pPr marL="0" indent="0">
              <a:buNone/>
            </a:pPr>
            <a:r>
              <a:rPr lang="en-US" sz="1600" b="1" dirty="0">
                <a:solidFill>
                  <a:srgbClr val="D99A2B"/>
                </a:solidFill>
                <a:latin typeface="Cambria" pitchFamily="34" charset="0"/>
                <a:ea typeface="Cambria" pitchFamily="34" charset="-122"/>
                <a:cs typeface="Cambria" pitchFamily="34" charset="-120"/>
              </a:rPr>
              <a:t>Drei Stufen je Lauf</a:t>
            </a:r>
            <a:endParaRPr lang="en-US" sz="1600" dirty="0"/>
          </a:p>
        </p:txBody>
      </p:sp>
      <p:sp>
        <p:nvSpPr>
          <p:cNvPr id="9" name="Text 7"/>
          <p:cNvSpPr/>
          <p:nvPr/>
        </p:nvSpPr>
        <p:spPr>
          <a:xfrm>
            <a:off x="4663440" y="2926080"/>
            <a:ext cx="2834640" cy="1508760"/>
          </a:xfrm>
          <a:prstGeom prst="rect">
            <a:avLst/>
          </a:prstGeom>
          <a:noFill/>
          <a:ln/>
        </p:spPr>
        <p:txBody>
          <a:bodyPr wrap="square" lIns="0" tIns="0" rIns="0" bIns="0" rtlCol="0" anchor="ctr"/>
          <a:lstStyle/>
          <a:p>
            <a:pPr marL="0" indent="0">
              <a:buNone/>
            </a:pPr>
            <a:r>
              <a:rPr lang="en-US" sz="1200" dirty="0">
                <a:solidFill>
                  <a:srgbClr val="B8C0C9"/>
                </a:solidFill>
                <a:latin typeface="Calibri" pitchFamily="34" charset="0"/>
                <a:ea typeface="Calibri" pitchFamily="34" charset="-122"/>
                <a:cs typeface="Calibri" pitchFamily="34" charset="-120"/>
              </a:rPr>
              <a:t>Kein Verteidiger als Obergrenze, ein Zufallsagent als Vergleich, das trainierte Modell. Der Angreifer ist in allen drei Stufen derselbe und stammt aus demselben Lauf-Ordner.</a:t>
            </a:r>
            <a:endParaRPr lang="en-US" sz="1200" dirty="0"/>
          </a:p>
        </p:txBody>
      </p:sp>
      <p:sp>
        <p:nvSpPr>
          <p:cNvPr id="10" name="Shape 8"/>
          <p:cNvSpPr/>
          <p:nvPr/>
        </p:nvSpPr>
        <p:spPr>
          <a:xfrm>
            <a:off x="8138160" y="2240280"/>
            <a:ext cx="3383280" cy="2377440"/>
          </a:xfrm>
          <a:prstGeom prst="roundRect">
            <a:avLst>
              <a:gd name="adj" fmla="val 3846"/>
            </a:avLst>
          </a:prstGeom>
          <a:solidFill>
            <a:srgbClr val="252A33"/>
          </a:solidFill>
          <a:ln w="12700">
            <a:solidFill>
              <a:srgbClr val="3A414C"/>
            </a:solidFill>
            <a:prstDash val="solid"/>
          </a:ln>
        </p:spPr>
        <p:txBody>
          <a:bodyPr/>
          <a:lstStyle/>
          <a:p>
            <a:endParaRPr lang="de-DE"/>
          </a:p>
        </p:txBody>
      </p:sp>
      <p:sp>
        <p:nvSpPr>
          <p:cNvPr id="11" name="Text 9"/>
          <p:cNvSpPr/>
          <p:nvPr/>
        </p:nvSpPr>
        <p:spPr>
          <a:xfrm>
            <a:off x="8412480" y="2468880"/>
            <a:ext cx="2834640" cy="411480"/>
          </a:xfrm>
          <a:prstGeom prst="rect">
            <a:avLst/>
          </a:prstGeom>
          <a:noFill/>
          <a:ln/>
        </p:spPr>
        <p:txBody>
          <a:bodyPr wrap="square" lIns="0" tIns="0" rIns="0" bIns="0" rtlCol="0" anchor="ctr"/>
          <a:lstStyle/>
          <a:p>
            <a:pPr marL="0" indent="0">
              <a:buNone/>
            </a:pPr>
            <a:r>
              <a:rPr lang="en-US" sz="1600" b="1" dirty="0">
                <a:solidFill>
                  <a:srgbClr val="D99A2B"/>
                </a:solidFill>
                <a:latin typeface="Cambria" pitchFamily="34" charset="0"/>
                <a:ea typeface="Cambria" pitchFamily="34" charset="-122"/>
                <a:cs typeface="Cambria" pitchFamily="34" charset="-120"/>
              </a:rPr>
              <a:t>Umfang</a:t>
            </a:r>
            <a:endParaRPr lang="en-US" sz="1600" dirty="0"/>
          </a:p>
        </p:txBody>
      </p:sp>
      <p:sp>
        <p:nvSpPr>
          <p:cNvPr id="12" name="Text 10"/>
          <p:cNvSpPr/>
          <p:nvPr/>
        </p:nvSpPr>
        <p:spPr>
          <a:xfrm>
            <a:off x="8412480" y="2926080"/>
            <a:ext cx="2834640" cy="1508760"/>
          </a:xfrm>
          <a:prstGeom prst="rect">
            <a:avLst/>
          </a:prstGeom>
          <a:noFill/>
          <a:ln/>
        </p:spPr>
        <p:txBody>
          <a:bodyPr wrap="square" lIns="0" tIns="0" rIns="0" bIns="0" rtlCol="0" anchor="ctr"/>
          <a:lstStyle/>
          <a:p>
            <a:pPr marL="0" indent="0">
              <a:buNone/>
            </a:pPr>
            <a:r>
              <a:rPr lang="en-US" sz="1200" dirty="0">
                <a:solidFill>
                  <a:srgbClr val="B8C0C9"/>
                </a:solidFill>
                <a:latin typeface="Calibri" pitchFamily="34" charset="0"/>
                <a:ea typeface="Calibri" pitchFamily="34" charset="-122"/>
                <a:cs typeface="Calibri" pitchFamily="34" charset="-120"/>
              </a:rPr>
              <a:t>4 Topologien × 6 Angreifer × 5 Seeds × 3 Stufen = 360 Zellen, je 25 Episoden mit höchstens 2000 Schritten. Insgesamt 9000 Episoden.</a:t>
            </a:r>
            <a:endParaRPr lang="en-US" sz="1200" dirty="0"/>
          </a:p>
        </p:txBody>
      </p:sp>
      <p:sp>
        <p:nvSpPr>
          <p:cNvPr id="13" name="Text 11"/>
          <p:cNvSpPr/>
          <p:nvPr/>
        </p:nvSpPr>
        <p:spPr>
          <a:xfrm>
            <a:off x="640080" y="4846320"/>
            <a:ext cx="10881360" cy="548640"/>
          </a:xfrm>
          <a:prstGeom prst="rect">
            <a:avLst/>
          </a:prstGeom>
          <a:noFill/>
          <a:ln/>
        </p:spPr>
        <p:txBody>
          <a:bodyPr wrap="square" lIns="0" tIns="0" rIns="0" bIns="0" rtlCol="0" anchor="ctr"/>
          <a:lstStyle/>
          <a:p>
            <a:pPr marL="0" indent="0">
              <a:buNone/>
            </a:pPr>
            <a:r>
              <a:rPr lang="en-US" sz="1300" i="1" dirty="0">
                <a:solidFill>
                  <a:srgbClr val="8B94A0"/>
                </a:solidFill>
                <a:latin typeface="Calibri" pitchFamily="34" charset="0"/>
                <a:ea typeface="Calibri" pitchFamily="34" charset="-122"/>
                <a:cs typeface="Calibri" pitchFamily="34" charset="-120"/>
              </a:rPr>
              <a:t>Warum das nötig ist: Konvergenz sagt nur, dass ein Verteidiger aufgehört hat, sich zu verändern. Sie sagt nichts darüber, ob der Zustand, in dem er stehen bleibt, gut ist.</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640080" y="384048"/>
            <a:ext cx="10881360" cy="566928"/>
          </a:xfrm>
          <a:prstGeom prst="rect">
            <a:avLst/>
          </a:prstGeom>
          <a:noFill/>
          <a:ln/>
        </p:spPr>
        <p:txBody>
          <a:bodyPr wrap="square" lIns="0" tIns="0" rIns="0" bIns="0" rtlCol="0" anchor="ctr"/>
          <a:lstStyle/>
          <a:p>
            <a:pPr marL="0" indent="0">
              <a:buNone/>
            </a:pPr>
            <a:r>
              <a:rPr lang="en-US" sz="3400" b="1" dirty="0">
                <a:solidFill>
                  <a:srgbClr val="23282F"/>
                </a:solidFill>
                <a:latin typeface="Cambria" pitchFamily="34" charset="0"/>
                <a:ea typeface="Cambria" pitchFamily="34" charset="-122"/>
                <a:cs typeface="Cambria" pitchFamily="34" charset="-120"/>
              </a:rPr>
              <a:t>Bringt der Verteidiger etwas? Angreifer-Reward</a:t>
            </a:r>
            <a:endParaRPr lang="en-US" sz="3400" dirty="0"/>
          </a:p>
        </p:txBody>
      </p:sp>
      <p:sp>
        <p:nvSpPr>
          <p:cNvPr id="3" name="Text 1"/>
          <p:cNvSpPr/>
          <p:nvPr/>
        </p:nvSpPr>
        <p:spPr>
          <a:xfrm>
            <a:off x="640080" y="969264"/>
            <a:ext cx="10881360" cy="493776"/>
          </a:xfrm>
          <a:prstGeom prst="rect">
            <a:avLst/>
          </a:prstGeom>
          <a:noFill/>
          <a:ln/>
        </p:spPr>
        <p:txBody>
          <a:bodyPr wrap="square" lIns="0" tIns="0" rIns="0" bIns="0" rtlCol="0" anchor="ctr"/>
          <a:lstStyle/>
          <a:p>
            <a:pPr marL="0" indent="0">
              <a:buNone/>
            </a:pPr>
            <a:r>
              <a:rPr lang="en-US" sz="1400" dirty="0">
                <a:solidFill>
                  <a:srgbClr val="6E7681"/>
                </a:solidFill>
                <a:latin typeface="Calibri" pitchFamily="34" charset="0"/>
                <a:ea typeface="Calibri" pitchFamily="34" charset="-122"/>
                <a:cs typeface="Calibri" pitchFamily="34" charset="-120"/>
              </a:rPr>
              <a:t>Restanteil je Matchup: welchen Anteil seines Rewards der Angreifer gegen den Verteidiger noch erreicht, gemessen am ungeschützten Netz</a:t>
            </a:r>
            <a:endParaRPr lang="en-US" sz="1400" dirty="0"/>
          </a:p>
        </p:txBody>
      </p:sp>
      <p:sp>
        <p:nvSpPr>
          <p:cNvPr id="4" name="Text 2"/>
          <p:cNvSpPr/>
          <p:nvPr/>
        </p:nvSpPr>
        <p:spPr>
          <a:xfrm>
            <a:off x="2240280" y="1399032"/>
            <a:ext cx="1371600" cy="329184"/>
          </a:xfrm>
          <a:prstGeom prst="rect">
            <a:avLst/>
          </a:prstGeom>
          <a:noFill/>
          <a:ln/>
        </p:spPr>
        <p:txBody>
          <a:bodyPr wrap="square" lIns="0" tIns="0" rIns="0" bIns="0" rtlCol="0" anchor="ctr"/>
          <a:lstStyle/>
          <a:p>
            <a:pPr marL="0" indent="0" algn="ctr">
              <a:buNone/>
            </a:pPr>
            <a:r>
              <a:rPr lang="en-US" sz="1200" b="1" dirty="0">
                <a:solidFill>
                  <a:srgbClr val="6E7681"/>
                </a:solidFill>
                <a:latin typeface="Calibri" pitchFamily="34" charset="0"/>
                <a:ea typeface="Calibri" pitchFamily="34" charset="-122"/>
                <a:cs typeface="Calibri" pitchFamily="34" charset="-120"/>
              </a:rPr>
              <a:t>Chain</a:t>
            </a:r>
            <a:endParaRPr lang="en-US" sz="1200" dirty="0"/>
          </a:p>
        </p:txBody>
      </p:sp>
      <p:sp>
        <p:nvSpPr>
          <p:cNvPr id="5" name="Text 3"/>
          <p:cNvSpPr/>
          <p:nvPr/>
        </p:nvSpPr>
        <p:spPr>
          <a:xfrm>
            <a:off x="3611880" y="1399032"/>
            <a:ext cx="1371600" cy="329184"/>
          </a:xfrm>
          <a:prstGeom prst="rect">
            <a:avLst/>
          </a:prstGeom>
          <a:noFill/>
          <a:ln/>
        </p:spPr>
        <p:txBody>
          <a:bodyPr wrap="square" lIns="0" tIns="0" rIns="0" bIns="0" rtlCol="0" anchor="ctr"/>
          <a:lstStyle/>
          <a:p>
            <a:pPr marL="0" indent="0" algn="ctr">
              <a:buNone/>
            </a:pPr>
            <a:r>
              <a:rPr lang="en-US" sz="1200" b="1" dirty="0">
                <a:solidFill>
                  <a:srgbClr val="6E7681"/>
                </a:solidFill>
                <a:latin typeface="Calibri" pitchFamily="34" charset="0"/>
                <a:ea typeface="Calibri" pitchFamily="34" charset="-122"/>
                <a:cs typeface="Calibri" pitchFamily="34" charset="-120"/>
              </a:rPr>
              <a:t>Flat</a:t>
            </a:r>
            <a:endParaRPr lang="en-US" sz="1200" dirty="0"/>
          </a:p>
        </p:txBody>
      </p:sp>
      <p:sp>
        <p:nvSpPr>
          <p:cNvPr id="6" name="Text 4"/>
          <p:cNvSpPr/>
          <p:nvPr/>
        </p:nvSpPr>
        <p:spPr>
          <a:xfrm>
            <a:off x="4983480" y="1399032"/>
            <a:ext cx="1371600" cy="329184"/>
          </a:xfrm>
          <a:prstGeom prst="rect">
            <a:avLst/>
          </a:prstGeom>
          <a:noFill/>
          <a:ln/>
        </p:spPr>
        <p:txBody>
          <a:bodyPr wrap="square" lIns="0" tIns="0" rIns="0" bIns="0" rtlCol="0" anchor="ctr"/>
          <a:lstStyle/>
          <a:p>
            <a:pPr marL="0" indent="0" algn="ctr">
              <a:buNone/>
            </a:pPr>
            <a:r>
              <a:rPr lang="en-US" sz="1200" b="1" dirty="0">
                <a:solidFill>
                  <a:srgbClr val="6E7681"/>
                </a:solidFill>
                <a:latin typeface="Calibri" pitchFamily="34" charset="0"/>
                <a:ea typeface="Calibri" pitchFamily="34" charset="-122"/>
                <a:cs typeface="Calibri" pitchFamily="34" charset="-120"/>
              </a:rPr>
              <a:t>Hub &amp; Spoke</a:t>
            </a:r>
            <a:endParaRPr lang="en-US" sz="1200" dirty="0"/>
          </a:p>
        </p:txBody>
      </p:sp>
      <p:sp>
        <p:nvSpPr>
          <p:cNvPr id="7" name="Text 5"/>
          <p:cNvSpPr/>
          <p:nvPr/>
        </p:nvSpPr>
        <p:spPr>
          <a:xfrm>
            <a:off x="6355080" y="1399032"/>
            <a:ext cx="1371600" cy="329184"/>
          </a:xfrm>
          <a:prstGeom prst="rect">
            <a:avLst/>
          </a:prstGeom>
          <a:noFill/>
          <a:ln/>
        </p:spPr>
        <p:txBody>
          <a:bodyPr wrap="square" lIns="0" tIns="0" rIns="0" bIns="0" rtlCol="0" anchor="ctr"/>
          <a:lstStyle/>
          <a:p>
            <a:pPr marL="0" indent="0" algn="ctr">
              <a:buNone/>
            </a:pPr>
            <a:r>
              <a:rPr lang="en-US" sz="1200" b="1" dirty="0">
                <a:solidFill>
                  <a:srgbClr val="6E7681"/>
                </a:solidFill>
                <a:latin typeface="Calibri" pitchFamily="34" charset="0"/>
                <a:ea typeface="Calibri" pitchFamily="34" charset="-122"/>
                <a:cs typeface="Calibri" pitchFamily="34" charset="-120"/>
              </a:rPr>
              <a:t>DMZ</a:t>
            </a:r>
            <a:endParaRPr lang="en-US" sz="1200" dirty="0"/>
          </a:p>
        </p:txBody>
      </p:sp>
      <p:sp>
        <p:nvSpPr>
          <p:cNvPr id="8" name="Text 6"/>
          <p:cNvSpPr/>
          <p:nvPr/>
        </p:nvSpPr>
        <p:spPr>
          <a:xfrm>
            <a:off x="7726680" y="1399032"/>
            <a:ext cx="1371600" cy="329184"/>
          </a:xfrm>
          <a:prstGeom prst="rect">
            <a:avLst/>
          </a:prstGeom>
          <a:noFill/>
          <a:ln/>
        </p:spPr>
        <p:txBody>
          <a:bodyPr wrap="square" lIns="0" tIns="0" rIns="0" bIns="0" rtlCol="0" anchor="ctr"/>
          <a:lstStyle/>
          <a:p>
            <a:pPr marL="0" indent="0" algn="ctr">
              <a:buNone/>
            </a:pPr>
            <a:r>
              <a:rPr lang="en-US" sz="1200" b="1" dirty="0">
                <a:solidFill>
                  <a:srgbClr val="6E7681"/>
                </a:solidFill>
                <a:latin typeface="Calibri" pitchFamily="34" charset="0"/>
                <a:ea typeface="Calibri" pitchFamily="34" charset="-122"/>
                <a:cs typeface="Calibri" pitchFamily="34" charset="-120"/>
              </a:rPr>
              <a:t>Micro-Seg.</a:t>
            </a:r>
            <a:endParaRPr lang="en-US" sz="1200" dirty="0"/>
          </a:p>
        </p:txBody>
      </p:sp>
      <p:sp>
        <p:nvSpPr>
          <p:cNvPr id="9" name="Text 7"/>
          <p:cNvSpPr/>
          <p:nvPr/>
        </p:nvSpPr>
        <p:spPr>
          <a:xfrm>
            <a:off x="9098280" y="1399032"/>
            <a:ext cx="1371600" cy="329184"/>
          </a:xfrm>
          <a:prstGeom prst="rect">
            <a:avLst/>
          </a:prstGeom>
          <a:noFill/>
          <a:ln/>
        </p:spPr>
        <p:txBody>
          <a:bodyPr wrap="square" lIns="0" tIns="0" rIns="0" bIns="0" rtlCol="0" anchor="ctr"/>
          <a:lstStyle/>
          <a:p>
            <a:pPr marL="0" indent="0" algn="ctr">
              <a:buNone/>
            </a:pPr>
            <a:r>
              <a:rPr lang="en-US" sz="1200" b="1" dirty="0">
                <a:solidFill>
                  <a:srgbClr val="6E7681"/>
                </a:solidFill>
                <a:latin typeface="Calibri" pitchFamily="34" charset="0"/>
                <a:ea typeface="Calibri" pitchFamily="34" charset="-122"/>
                <a:cs typeface="Calibri" pitchFamily="34" charset="-120"/>
              </a:rPr>
              <a:t>Super</a:t>
            </a:r>
            <a:endParaRPr lang="en-US" sz="1200" dirty="0"/>
          </a:p>
        </p:txBody>
      </p:sp>
      <p:sp>
        <p:nvSpPr>
          <p:cNvPr id="11" name="Text 9"/>
          <p:cNvSpPr/>
          <p:nvPr/>
        </p:nvSpPr>
        <p:spPr>
          <a:xfrm>
            <a:off x="640080" y="1783080"/>
            <a:ext cx="1508760" cy="658368"/>
          </a:xfrm>
          <a:prstGeom prst="rect">
            <a:avLst/>
          </a:prstGeom>
          <a:noFill/>
          <a:ln/>
        </p:spPr>
        <p:txBody>
          <a:bodyPr wrap="square" lIns="0" tIns="0" rIns="0" bIns="0" rtlCol="0" anchor="ctr"/>
          <a:lstStyle/>
          <a:p>
            <a:pPr marL="0" indent="0" algn="r">
              <a:buNone/>
            </a:pPr>
            <a:r>
              <a:rPr lang="en-US" sz="1300" b="1" dirty="0">
                <a:solidFill>
                  <a:srgbClr val="23282F"/>
                </a:solidFill>
                <a:latin typeface="Calibri" pitchFamily="34" charset="0"/>
                <a:ea typeface="Calibri" pitchFamily="34" charset="-122"/>
                <a:cs typeface="Calibri" pitchFamily="34" charset="-120"/>
              </a:rPr>
              <a:t>Flat</a:t>
            </a:r>
            <a:endParaRPr lang="en-US" sz="1300" dirty="0"/>
          </a:p>
        </p:txBody>
      </p:sp>
      <p:sp>
        <p:nvSpPr>
          <p:cNvPr id="12" name="Shape 10"/>
          <p:cNvSpPr/>
          <p:nvPr/>
        </p:nvSpPr>
        <p:spPr>
          <a:xfrm>
            <a:off x="2240280" y="1783080"/>
            <a:ext cx="1316736" cy="603504"/>
          </a:xfrm>
          <a:prstGeom prst="rect">
            <a:avLst/>
          </a:prstGeom>
          <a:solidFill>
            <a:srgbClr val="FBEDEA"/>
          </a:solidFill>
          <a:ln w="19050">
            <a:solidFill>
              <a:srgbClr val="FFFFFF"/>
            </a:solidFill>
            <a:prstDash val="solid"/>
          </a:ln>
        </p:spPr>
        <p:txBody>
          <a:bodyPr/>
          <a:lstStyle/>
          <a:p>
            <a:endParaRPr lang="de-DE"/>
          </a:p>
        </p:txBody>
      </p:sp>
      <p:sp>
        <p:nvSpPr>
          <p:cNvPr id="13" name="Text 11"/>
          <p:cNvSpPr/>
          <p:nvPr/>
        </p:nvSpPr>
        <p:spPr>
          <a:xfrm>
            <a:off x="2240280" y="1837944"/>
            <a:ext cx="1316736" cy="310896"/>
          </a:xfrm>
          <a:prstGeom prst="rect">
            <a:avLst/>
          </a:prstGeom>
          <a:noFill/>
          <a:ln/>
        </p:spPr>
        <p:txBody>
          <a:bodyPr wrap="square" lIns="0" tIns="0" rIns="0" bIns="0" rtlCol="0" anchor="ctr"/>
          <a:lstStyle/>
          <a:p>
            <a:pPr marL="0" indent="0" algn="ctr">
              <a:buNone/>
            </a:pPr>
            <a:r>
              <a:rPr lang="en-US" sz="1500" b="1" dirty="0">
                <a:solidFill>
                  <a:srgbClr val="23282F"/>
                </a:solidFill>
                <a:latin typeface="Calibri" pitchFamily="34" charset="0"/>
                <a:ea typeface="Calibri" pitchFamily="34" charset="-122"/>
                <a:cs typeface="Calibri" pitchFamily="34" charset="-120"/>
              </a:rPr>
              <a:t>35 %</a:t>
            </a:r>
            <a:endParaRPr lang="en-US" sz="1500" dirty="0"/>
          </a:p>
        </p:txBody>
      </p:sp>
      <p:sp>
        <p:nvSpPr>
          <p:cNvPr id="14" name="Text 12"/>
          <p:cNvSpPr/>
          <p:nvPr/>
        </p:nvSpPr>
        <p:spPr>
          <a:xfrm>
            <a:off x="2240280" y="2130552"/>
            <a:ext cx="1316736" cy="237744"/>
          </a:xfrm>
          <a:prstGeom prst="rect">
            <a:avLst/>
          </a:prstGeom>
          <a:noFill/>
          <a:ln/>
        </p:spPr>
        <p:txBody>
          <a:bodyPr wrap="square" lIns="0" tIns="0" rIns="0" bIns="0" rtlCol="0" anchor="ctr"/>
          <a:lstStyle/>
          <a:p>
            <a:pPr marL="0" indent="0" algn="ctr">
              <a:buNone/>
            </a:pPr>
            <a:r>
              <a:rPr lang="en-US" sz="1000" dirty="0">
                <a:solidFill>
                  <a:srgbClr val="6E7681"/>
                </a:solidFill>
                <a:latin typeface="Calibri" pitchFamily="34" charset="0"/>
                <a:ea typeface="Calibri" pitchFamily="34" charset="-122"/>
                <a:cs typeface="Calibri" pitchFamily="34" charset="-120"/>
              </a:rPr>
              <a:t>Zufall 35 %</a:t>
            </a:r>
            <a:endParaRPr lang="en-US" sz="1000" dirty="0"/>
          </a:p>
        </p:txBody>
      </p:sp>
      <p:sp>
        <p:nvSpPr>
          <p:cNvPr id="15" name="Shape 13"/>
          <p:cNvSpPr/>
          <p:nvPr/>
        </p:nvSpPr>
        <p:spPr>
          <a:xfrm>
            <a:off x="3611880" y="1783080"/>
            <a:ext cx="1316736" cy="603504"/>
          </a:xfrm>
          <a:prstGeom prst="rect">
            <a:avLst/>
          </a:prstGeom>
          <a:solidFill>
            <a:srgbClr val="CFE3EC"/>
          </a:solidFill>
          <a:ln w="19050">
            <a:solidFill>
              <a:srgbClr val="FFFFFF"/>
            </a:solidFill>
            <a:prstDash val="solid"/>
          </a:ln>
        </p:spPr>
        <p:txBody>
          <a:bodyPr/>
          <a:lstStyle/>
          <a:p>
            <a:endParaRPr lang="de-DE"/>
          </a:p>
        </p:txBody>
      </p:sp>
      <p:sp>
        <p:nvSpPr>
          <p:cNvPr id="16" name="Text 14"/>
          <p:cNvSpPr/>
          <p:nvPr/>
        </p:nvSpPr>
        <p:spPr>
          <a:xfrm>
            <a:off x="3611880" y="1837944"/>
            <a:ext cx="1316736" cy="310896"/>
          </a:xfrm>
          <a:prstGeom prst="rect">
            <a:avLst/>
          </a:prstGeom>
          <a:noFill/>
          <a:ln/>
        </p:spPr>
        <p:txBody>
          <a:bodyPr wrap="square" lIns="0" tIns="0" rIns="0" bIns="0" rtlCol="0" anchor="ctr"/>
          <a:lstStyle/>
          <a:p>
            <a:pPr marL="0" indent="0" algn="ctr">
              <a:buNone/>
            </a:pPr>
            <a:r>
              <a:rPr lang="en-US" sz="1500" b="1" dirty="0">
                <a:solidFill>
                  <a:srgbClr val="23282F"/>
                </a:solidFill>
                <a:latin typeface="Calibri" pitchFamily="34" charset="0"/>
                <a:ea typeface="Calibri" pitchFamily="34" charset="-122"/>
                <a:cs typeface="Calibri" pitchFamily="34" charset="-120"/>
              </a:rPr>
              <a:t>3 %</a:t>
            </a:r>
            <a:endParaRPr lang="en-US" sz="1500" dirty="0"/>
          </a:p>
        </p:txBody>
      </p:sp>
      <p:sp>
        <p:nvSpPr>
          <p:cNvPr id="17" name="Text 15"/>
          <p:cNvSpPr/>
          <p:nvPr/>
        </p:nvSpPr>
        <p:spPr>
          <a:xfrm>
            <a:off x="3611880" y="2130552"/>
            <a:ext cx="1316736" cy="237744"/>
          </a:xfrm>
          <a:prstGeom prst="rect">
            <a:avLst/>
          </a:prstGeom>
          <a:noFill/>
          <a:ln/>
        </p:spPr>
        <p:txBody>
          <a:bodyPr wrap="square" lIns="0" tIns="0" rIns="0" bIns="0" rtlCol="0" anchor="ctr"/>
          <a:lstStyle/>
          <a:p>
            <a:pPr marL="0" indent="0" algn="ctr">
              <a:buNone/>
            </a:pPr>
            <a:r>
              <a:rPr lang="en-US" sz="1000" dirty="0">
                <a:solidFill>
                  <a:srgbClr val="6E7681"/>
                </a:solidFill>
                <a:latin typeface="Calibri" pitchFamily="34" charset="0"/>
                <a:ea typeface="Calibri" pitchFamily="34" charset="-122"/>
                <a:cs typeface="Calibri" pitchFamily="34" charset="-120"/>
              </a:rPr>
              <a:t>Zufall 3 %</a:t>
            </a:r>
            <a:endParaRPr lang="en-US" sz="1000" dirty="0"/>
          </a:p>
        </p:txBody>
      </p:sp>
      <p:sp>
        <p:nvSpPr>
          <p:cNvPr id="18" name="Shape 16"/>
          <p:cNvSpPr/>
          <p:nvPr/>
        </p:nvSpPr>
        <p:spPr>
          <a:xfrm>
            <a:off x="4983480" y="1783080"/>
            <a:ext cx="1316736" cy="603504"/>
          </a:xfrm>
          <a:prstGeom prst="rect">
            <a:avLst/>
          </a:prstGeom>
          <a:solidFill>
            <a:srgbClr val="EDF2F5"/>
          </a:solidFill>
          <a:ln w="19050">
            <a:solidFill>
              <a:srgbClr val="FFFFFF"/>
            </a:solidFill>
            <a:prstDash val="solid"/>
          </a:ln>
        </p:spPr>
        <p:txBody>
          <a:bodyPr/>
          <a:lstStyle/>
          <a:p>
            <a:endParaRPr lang="de-DE"/>
          </a:p>
        </p:txBody>
      </p:sp>
      <p:sp>
        <p:nvSpPr>
          <p:cNvPr id="19" name="Text 17"/>
          <p:cNvSpPr/>
          <p:nvPr/>
        </p:nvSpPr>
        <p:spPr>
          <a:xfrm>
            <a:off x="4983480" y="1837944"/>
            <a:ext cx="1316736" cy="310896"/>
          </a:xfrm>
          <a:prstGeom prst="rect">
            <a:avLst/>
          </a:prstGeom>
          <a:noFill/>
          <a:ln/>
        </p:spPr>
        <p:txBody>
          <a:bodyPr wrap="square" lIns="0" tIns="0" rIns="0" bIns="0" rtlCol="0" anchor="ctr"/>
          <a:lstStyle/>
          <a:p>
            <a:pPr marL="0" indent="0" algn="ctr">
              <a:buNone/>
            </a:pPr>
            <a:r>
              <a:rPr lang="en-US" sz="1500" b="1" dirty="0">
                <a:solidFill>
                  <a:srgbClr val="23282F"/>
                </a:solidFill>
                <a:latin typeface="Calibri" pitchFamily="34" charset="0"/>
                <a:ea typeface="Calibri" pitchFamily="34" charset="-122"/>
                <a:cs typeface="Calibri" pitchFamily="34" charset="-120"/>
              </a:rPr>
              <a:t>33 %</a:t>
            </a:r>
            <a:endParaRPr lang="en-US" sz="1500" dirty="0"/>
          </a:p>
        </p:txBody>
      </p:sp>
      <p:sp>
        <p:nvSpPr>
          <p:cNvPr id="20" name="Text 18"/>
          <p:cNvSpPr/>
          <p:nvPr/>
        </p:nvSpPr>
        <p:spPr>
          <a:xfrm>
            <a:off x="4983480" y="2130552"/>
            <a:ext cx="1316736" cy="237744"/>
          </a:xfrm>
          <a:prstGeom prst="rect">
            <a:avLst/>
          </a:prstGeom>
          <a:noFill/>
          <a:ln/>
        </p:spPr>
        <p:txBody>
          <a:bodyPr wrap="square" lIns="0" tIns="0" rIns="0" bIns="0" rtlCol="0" anchor="ctr"/>
          <a:lstStyle/>
          <a:p>
            <a:pPr marL="0" indent="0" algn="ctr">
              <a:buNone/>
            </a:pPr>
            <a:r>
              <a:rPr lang="en-US" sz="1000" dirty="0">
                <a:solidFill>
                  <a:srgbClr val="6E7681"/>
                </a:solidFill>
                <a:latin typeface="Calibri" pitchFamily="34" charset="0"/>
                <a:ea typeface="Calibri" pitchFamily="34" charset="-122"/>
                <a:cs typeface="Calibri" pitchFamily="34" charset="-120"/>
              </a:rPr>
              <a:t>Zufall 46 %</a:t>
            </a:r>
            <a:endParaRPr lang="en-US" sz="1000" dirty="0"/>
          </a:p>
        </p:txBody>
      </p:sp>
      <p:sp>
        <p:nvSpPr>
          <p:cNvPr id="21" name="Shape 19"/>
          <p:cNvSpPr/>
          <p:nvPr/>
        </p:nvSpPr>
        <p:spPr>
          <a:xfrm>
            <a:off x="6355080" y="1783080"/>
            <a:ext cx="1316736" cy="603504"/>
          </a:xfrm>
          <a:prstGeom prst="rect">
            <a:avLst/>
          </a:prstGeom>
          <a:solidFill>
            <a:srgbClr val="EDF2F5"/>
          </a:solidFill>
          <a:ln w="19050">
            <a:solidFill>
              <a:srgbClr val="FFFFFF"/>
            </a:solidFill>
            <a:prstDash val="solid"/>
          </a:ln>
        </p:spPr>
        <p:txBody>
          <a:bodyPr/>
          <a:lstStyle/>
          <a:p>
            <a:endParaRPr lang="de-DE"/>
          </a:p>
        </p:txBody>
      </p:sp>
      <p:sp>
        <p:nvSpPr>
          <p:cNvPr id="22" name="Text 20"/>
          <p:cNvSpPr/>
          <p:nvPr/>
        </p:nvSpPr>
        <p:spPr>
          <a:xfrm>
            <a:off x="6355080" y="1837944"/>
            <a:ext cx="1316736" cy="310896"/>
          </a:xfrm>
          <a:prstGeom prst="rect">
            <a:avLst/>
          </a:prstGeom>
          <a:noFill/>
          <a:ln/>
        </p:spPr>
        <p:txBody>
          <a:bodyPr wrap="square" lIns="0" tIns="0" rIns="0" bIns="0" rtlCol="0" anchor="ctr"/>
          <a:lstStyle/>
          <a:p>
            <a:pPr marL="0" indent="0" algn="ctr">
              <a:buNone/>
            </a:pPr>
            <a:r>
              <a:rPr lang="en-US" sz="1500" b="1" dirty="0">
                <a:solidFill>
                  <a:srgbClr val="23282F"/>
                </a:solidFill>
                <a:latin typeface="Calibri" pitchFamily="34" charset="0"/>
                <a:ea typeface="Calibri" pitchFamily="34" charset="-122"/>
                <a:cs typeface="Calibri" pitchFamily="34" charset="-120"/>
              </a:rPr>
              <a:t>33 %</a:t>
            </a:r>
            <a:endParaRPr lang="en-US" sz="1500" dirty="0"/>
          </a:p>
        </p:txBody>
      </p:sp>
      <p:sp>
        <p:nvSpPr>
          <p:cNvPr id="23" name="Text 21"/>
          <p:cNvSpPr/>
          <p:nvPr/>
        </p:nvSpPr>
        <p:spPr>
          <a:xfrm>
            <a:off x="6355080" y="2130552"/>
            <a:ext cx="1316736" cy="237744"/>
          </a:xfrm>
          <a:prstGeom prst="rect">
            <a:avLst/>
          </a:prstGeom>
          <a:noFill/>
          <a:ln/>
        </p:spPr>
        <p:txBody>
          <a:bodyPr wrap="square" lIns="0" tIns="0" rIns="0" bIns="0" rtlCol="0" anchor="ctr"/>
          <a:lstStyle/>
          <a:p>
            <a:pPr marL="0" indent="0" algn="ctr">
              <a:buNone/>
            </a:pPr>
            <a:r>
              <a:rPr lang="en-US" sz="1000" dirty="0">
                <a:solidFill>
                  <a:srgbClr val="6E7681"/>
                </a:solidFill>
                <a:latin typeface="Calibri" pitchFamily="34" charset="0"/>
                <a:ea typeface="Calibri" pitchFamily="34" charset="-122"/>
                <a:cs typeface="Calibri" pitchFamily="34" charset="-120"/>
              </a:rPr>
              <a:t>Zufall 33 %</a:t>
            </a:r>
            <a:endParaRPr lang="en-US" sz="1000" dirty="0"/>
          </a:p>
        </p:txBody>
      </p:sp>
      <p:sp>
        <p:nvSpPr>
          <p:cNvPr id="24" name="Shape 22"/>
          <p:cNvSpPr/>
          <p:nvPr/>
        </p:nvSpPr>
        <p:spPr>
          <a:xfrm>
            <a:off x="7726680" y="1783080"/>
            <a:ext cx="1316736" cy="603504"/>
          </a:xfrm>
          <a:prstGeom prst="rect">
            <a:avLst/>
          </a:prstGeom>
          <a:solidFill>
            <a:srgbClr val="DDEAF1"/>
          </a:solidFill>
          <a:ln w="19050">
            <a:solidFill>
              <a:srgbClr val="FFFFFF"/>
            </a:solidFill>
            <a:prstDash val="solid"/>
          </a:ln>
        </p:spPr>
        <p:txBody>
          <a:bodyPr/>
          <a:lstStyle/>
          <a:p>
            <a:endParaRPr lang="de-DE"/>
          </a:p>
        </p:txBody>
      </p:sp>
      <p:sp>
        <p:nvSpPr>
          <p:cNvPr id="25" name="Text 23"/>
          <p:cNvSpPr/>
          <p:nvPr/>
        </p:nvSpPr>
        <p:spPr>
          <a:xfrm>
            <a:off x="7726680" y="1837944"/>
            <a:ext cx="1316736" cy="310896"/>
          </a:xfrm>
          <a:prstGeom prst="rect">
            <a:avLst/>
          </a:prstGeom>
          <a:noFill/>
          <a:ln/>
        </p:spPr>
        <p:txBody>
          <a:bodyPr wrap="square" lIns="0" tIns="0" rIns="0" bIns="0" rtlCol="0" anchor="ctr"/>
          <a:lstStyle/>
          <a:p>
            <a:pPr marL="0" indent="0" algn="ctr">
              <a:buNone/>
            </a:pPr>
            <a:r>
              <a:rPr lang="en-US" sz="1500" b="1" dirty="0">
                <a:solidFill>
                  <a:srgbClr val="23282F"/>
                </a:solidFill>
                <a:latin typeface="Calibri" pitchFamily="34" charset="0"/>
                <a:ea typeface="Calibri" pitchFamily="34" charset="-122"/>
                <a:cs typeface="Calibri" pitchFamily="34" charset="-120"/>
              </a:rPr>
              <a:t>25 %</a:t>
            </a:r>
            <a:endParaRPr lang="en-US" sz="1500" dirty="0"/>
          </a:p>
        </p:txBody>
      </p:sp>
      <p:sp>
        <p:nvSpPr>
          <p:cNvPr id="26" name="Text 24"/>
          <p:cNvSpPr/>
          <p:nvPr/>
        </p:nvSpPr>
        <p:spPr>
          <a:xfrm>
            <a:off x="7726680" y="2130552"/>
            <a:ext cx="1316736" cy="237744"/>
          </a:xfrm>
          <a:prstGeom prst="rect">
            <a:avLst/>
          </a:prstGeom>
          <a:noFill/>
          <a:ln/>
        </p:spPr>
        <p:txBody>
          <a:bodyPr wrap="square" lIns="0" tIns="0" rIns="0" bIns="0" rtlCol="0" anchor="ctr"/>
          <a:lstStyle/>
          <a:p>
            <a:pPr marL="0" indent="0" algn="ctr">
              <a:buNone/>
            </a:pPr>
            <a:r>
              <a:rPr lang="en-US" sz="1000" dirty="0">
                <a:solidFill>
                  <a:srgbClr val="6E7681"/>
                </a:solidFill>
                <a:latin typeface="Calibri" pitchFamily="34" charset="0"/>
                <a:ea typeface="Calibri" pitchFamily="34" charset="-122"/>
                <a:cs typeface="Calibri" pitchFamily="34" charset="-120"/>
              </a:rPr>
              <a:t>Zufall 27 %</a:t>
            </a:r>
            <a:endParaRPr lang="en-US" sz="1000" dirty="0"/>
          </a:p>
        </p:txBody>
      </p:sp>
      <p:sp>
        <p:nvSpPr>
          <p:cNvPr id="27" name="Shape 25"/>
          <p:cNvSpPr/>
          <p:nvPr/>
        </p:nvSpPr>
        <p:spPr>
          <a:xfrm>
            <a:off x="9098280" y="1783080"/>
            <a:ext cx="1316736" cy="603504"/>
          </a:xfrm>
          <a:prstGeom prst="rect">
            <a:avLst/>
          </a:prstGeom>
          <a:solidFill>
            <a:srgbClr val="E3A99C"/>
          </a:solidFill>
          <a:ln w="19050">
            <a:solidFill>
              <a:srgbClr val="FFFFFF"/>
            </a:solidFill>
            <a:prstDash val="solid"/>
          </a:ln>
        </p:spPr>
        <p:txBody>
          <a:bodyPr/>
          <a:lstStyle/>
          <a:p>
            <a:endParaRPr lang="de-DE"/>
          </a:p>
        </p:txBody>
      </p:sp>
      <p:sp>
        <p:nvSpPr>
          <p:cNvPr id="28" name="Text 26"/>
          <p:cNvSpPr/>
          <p:nvPr/>
        </p:nvSpPr>
        <p:spPr>
          <a:xfrm>
            <a:off x="9098280" y="1837944"/>
            <a:ext cx="1316736" cy="310896"/>
          </a:xfrm>
          <a:prstGeom prst="rect">
            <a:avLst/>
          </a:prstGeom>
          <a:noFill/>
          <a:ln/>
        </p:spPr>
        <p:txBody>
          <a:bodyPr wrap="square" lIns="0" tIns="0" rIns="0" bIns="0" rtlCol="0" anchor="ctr"/>
          <a:lstStyle/>
          <a:p>
            <a:pPr marL="0" indent="0" algn="ctr">
              <a:buNone/>
            </a:pPr>
            <a:r>
              <a:rPr lang="en-US" sz="1500" b="1" dirty="0">
                <a:solidFill>
                  <a:srgbClr val="23282F"/>
                </a:solidFill>
                <a:latin typeface="Calibri" pitchFamily="34" charset="0"/>
                <a:ea typeface="Calibri" pitchFamily="34" charset="-122"/>
                <a:cs typeface="Calibri" pitchFamily="34" charset="-120"/>
              </a:rPr>
              <a:t>109 %</a:t>
            </a:r>
            <a:endParaRPr lang="en-US" sz="1500" dirty="0"/>
          </a:p>
        </p:txBody>
      </p:sp>
      <p:sp>
        <p:nvSpPr>
          <p:cNvPr id="29" name="Text 27"/>
          <p:cNvSpPr/>
          <p:nvPr/>
        </p:nvSpPr>
        <p:spPr>
          <a:xfrm>
            <a:off x="9098280" y="2130552"/>
            <a:ext cx="1316736" cy="237744"/>
          </a:xfrm>
          <a:prstGeom prst="rect">
            <a:avLst/>
          </a:prstGeom>
          <a:noFill/>
          <a:ln/>
        </p:spPr>
        <p:txBody>
          <a:bodyPr wrap="square" lIns="0" tIns="0" rIns="0" bIns="0" rtlCol="0" anchor="ctr"/>
          <a:lstStyle/>
          <a:p>
            <a:pPr marL="0" indent="0" algn="ctr">
              <a:buNone/>
            </a:pPr>
            <a:r>
              <a:rPr lang="en-US" sz="1000" dirty="0">
                <a:solidFill>
                  <a:srgbClr val="6E7681"/>
                </a:solidFill>
                <a:latin typeface="Calibri" pitchFamily="34" charset="0"/>
                <a:ea typeface="Calibri" pitchFamily="34" charset="-122"/>
                <a:cs typeface="Calibri" pitchFamily="34" charset="-120"/>
              </a:rPr>
              <a:t>Zufall 100 %</a:t>
            </a:r>
            <a:endParaRPr lang="en-US" sz="1000" dirty="0"/>
          </a:p>
        </p:txBody>
      </p:sp>
      <p:sp>
        <p:nvSpPr>
          <p:cNvPr id="30" name="Text 28"/>
          <p:cNvSpPr/>
          <p:nvPr/>
        </p:nvSpPr>
        <p:spPr>
          <a:xfrm>
            <a:off x="640080" y="2441448"/>
            <a:ext cx="1508760" cy="658368"/>
          </a:xfrm>
          <a:prstGeom prst="rect">
            <a:avLst/>
          </a:prstGeom>
          <a:noFill/>
          <a:ln/>
        </p:spPr>
        <p:txBody>
          <a:bodyPr wrap="square" lIns="0" tIns="0" rIns="0" bIns="0" rtlCol="0" anchor="ctr"/>
          <a:lstStyle/>
          <a:p>
            <a:pPr marL="0" indent="0" algn="r">
              <a:buNone/>
            </a:pPr>
            <a:r>
              <a:rPr lang="en-US" sz="1300" b="1" dirty="0">
                <a:solidFill>
                  <a:srgbClr val="23282F"/>
                </a:solidFill>
                <a:latin typeface="Calibri" pitchFamily="34" charset="0"/>
                <a:ea typeface="Calibri" pitchFamily="34" charset="-122"/>
                <a:cs typeface="Calibri" pitchFamily="34" charset="-120"/>
              </a:rPr>
              <a:t>Hub &amp; Spoke</a:t>
            </a:r>
            <a:endParaRPr lang="en-US" sz="1300" dirty="0"/>
          </a:p>
        </p:txBody>
      </p:sp>
      <p:sp>
        <p:nvSpPr>
          <p:cNvPr id="31" name="Shape 29"/>
          <p:cNvSpPr/>
          <p:nvPr/>
        </p:nvSpPr>
        <p:spPr>
          <a:xfrm>
            <a:off x="2240280" y="2441448"/>
            <a:ext cx="1316736" cy="603504"/>
          </a:xfrm>
          <a:prstGeom prst="rect">
            <a:avLst/>
          </a:prstGeom>
          <a:solidFill>
            <a:srgbClr val="F3D5CE"/>
          </a:solidFill>
          <a:ln w="19050">
            <a:solidFill>
              <a:srgbClr val="FFFFFF"/>
            </a:solidFill>
            <a:prstDash val="solid"/>
          </a:ln>
        </p:spPr>
        <p:txBody>
          <a:bodyPr/>
          <a:lstStyle/>
          <a:p>
            <a:endParaRPr lang="de-DE"/>
          </a:p>
        </p:txBody>
      </p:sp>
      <p:sp>
        <p:nvSpPr>
          <p:cNvPr id="32" name="Text 30"/>
          <p:cNvSpPr/>
          <p:nvPr/>
        </p:nvSpPr>
        <p:spPr>
          <a:xfrm>
            <a:off x="2240280" y="2496312"/>
            <a:ext cx="1316736" cy="310896"/>
          </a:xfrm>
          <a:prstGeom prst="rect">
            <a:avLst/>
          </a:prstGeom>
          <a:noFill/>
          <a:ln/>
        </p:spPr>
        <p:txBody>
          <a:bodyPr wrap="square" lIns="0" tIns="0" rIns="0" bIns="0" rtlCol="0" anchor="ctr"/>
          <a:lstStyle/>
          <a:p>
            <a:pPr marL="0" indent="0" algn="ctr">
              <a:buNone/>
            </a:pPr>
            <a:r>
              <a:rPr lang="en-US" sz="1500" b="1" dirty="0">
                <a:solidFill>
                  <a:srgbClr val="23282F"/>
                </a:solidFill>
                <a:latin typeface="Calibri" pitchFamily="34" charset="0"/>
                <a:ea typeface="Calibri" pitchFamily="34" charset="-122"/>
                <a:cs typeface="Calibri" pitchFamily="34" charset="-120"/>
              </a:rPr>
              <a:t>67 %</a:t>
            </a:r>
            <a:endParaRPr lang="en-US" sz="1500" dirty="0"/>
          </a:p>
        </p:txBody>
      </p:sp>
      <p:sp>
        <p:nvSpPr>
          <p:cNvPr id="33" name="Text 31"/>
          <p:cNvSpPr/>
          <p:nvPr/>
        </p:nvSpPr>
        <p:spPr>
          <a:xfrm>
            <a:off x="2240280" y="2788920"/>
            <a:ext cx="1316736" cy="237744"/>
          </a:xfrm>
          <a:prstGeom prst="rect">
            <a:avLst/>
          </a:prstGeom>
          <a:noFill/>
          <a:ln/>
        </p:spPr>
        <p:txBody>
          <a:bodyPr wrap="square" lIns="0" tIns="0" rIns="0" bIns="0" rtlCol="0" anchor="ctr"/>
          <a:lstStyle/>
          <a:p>
            <a:pPr marL="0" indent="0" algn="ctr">
              <a:buNone/>
            </a:pPr>
            <a:r>
              <a:rPr lang="en-US" sz="1000" dirty="0">
                <a:solidFill>
                  <a:srgbClr val="6E7681"/>
                </a:solidFill>
                <a:latin typeface="Calibri" pitchFamily="34" charset="0"/>
                <a:ea typeface="Calibri" pitchFamily="34" charset="-122"/>
                <a:cs typeface="Calibri" pitchFamily="34" charset="-120"/>
              </a:rPr>
              <a:t>Zufall 67 %</a:t>
            </a:r>
            <a:endParaRPr lang="en-US" sz="1000" dirty="0"/>
          </a:p>
        </p:txBody>
      </p:sp>
      <p:sp>
        <p:nvSpPr>
          <p:cNvPr id="34" name="Shape 32"/>
          <p:cNvSpPr/>
          <p:nvPr/>
        </p:nvSpPr>
        <p:spPr>
          <a:xfrm>
            <a:off x="3611880" y="2441448"/>
            <a:ext cx="1316736" cy="603504"/>
          </a:xfrm>
          <a:prstGeom prst="rect">
            <a:avLst/>
          </a:prstGeom>
          <a:solidFill>
            <a:srgbClr val="FBEDEA"/>
          </a:solidFill>
          <a:ln w="19050">
            <a:solidFill>
              <a:srgbClr val="FFFFFF"/>
            </a:solidFill>
            <a:prstDash val="solid"/>
          </a:ln>
        </p:spPr>
        <p:txBody>
          <a:bodyPr/>
          <a:lstStyle/>
          <a:p>
            <a:endParaRPr lang="de-DE"/>
          </a:p>
        </p:txBody>
      </p:sp>
      <p:sp>
        <p:nvSpPr>
          <p:cNvPr id="35" name="Text 33"/>
          <p:cNvSpPr/>
          <p:nvPr/>
        </p:nvSpPr>
        <p:spPr>
          <a:xfrm>
            <a:off x="3611880" y="2496312"/>
            <a:ext cx="1316736" cy="310896"/>
          </a:xfrm>
          <a:prstGeom prst="rect">
            <a:avLst/>
          </a:prstGeom>
          <a:noFill/>
          <a:ln/>
        </p:spPr>
        <p:txBody>
          <a:bodyPr wrap="square" lIns="0" tIns="0" rIns="0" bIns="0" rtlCol="0" anchor="ctr"/>
          <a:lstStyle/>
          <a:p>
            <a:pPr marL="0" indent="0" algn="ctr">
              <a:buNone/>
            </a:pPr>
            <a:r>
              <a:rPr lang="en-US" sz="1500" b="1" dirty="0">
                <a:solidFill>
                  <a:srgbClr val="23282F"/>
                </a:solidFill>
                <a:latin typeface="Calibri" pitchFamily="34" charset="0"/>
                <a:ea typeface="Calibri" pitchFamily="34" charset="-122"/>
                <a:cs typeface="Calibri" pitchFamily="34" charset="-120"/>
              </a:rPr>
              <a:t>44 %</a:t>
            </a:r>
            <a:endParaRPr lang="en-US" sz="1500" dirty="0"/>
          </a:p>
        </p:txBody>
      </p:sp>
      <p:sp>
        <p:nvSpPr>
          <p:cNvPr id="36" name="Text 34"/>
          <p:cNvSpPr/>
          <p:nvPr/>
        </p:nvSpPr>
        <p:spPr>
          <a:xfrm>
            <a:off x="3611880" y="2788920"/>
            <a:ext cx="1316736" cy="237744"/>
          </a:xfrm>
          <a:prstGeom prst="rect">
            <a:avLst/>
          </a:prstGeom>
          <a:noFill/>
          <a:ln/>
        </p:spPr>
        <p:txBody>
          <a:bodyPr wrap="square" lIns="0" tIns="0" rIns="0" bIns="0" rtlCol="0" anchor="ctr"/>
          <a:lstStyle/>
          <a:p>
            <a:pPr marL="0" indent="0" algn="ctr">
              <a:buNone/>
            </a:pPr>
            <a:r>
              <a:rPr lang="en-US" sz="1000" dirty="0">
                <a:solidFill>
                  <a:srgbClr val="6E7681"/>
                </a:solidFill>
                <a:latin typeface="Calibri" pitchFamily="34" charset="0"/>
                <a:ea typeface="Calibri" pitchFamily="34" charset="-122"/>
                <a:cs typeface="Calibri" pitchFamily="34" charset="-120"/>
              </a:rPr>
              <a:t>Zufall 44 %</a:t>
            </a:r>
            <a:endParaRPr lang="en-US" sz="1000" dirty="0"/>
          </a:p>
        </p:txBody>
      </p:sp>
      <p:sp>
        <p:nvSpPr>
          <p:cNvPr id="37" name="Shape 35"/>
          <p:cNvSpPr/>
          <p:nvPr/>
        </p:nvSpPr>
        <p:spPr>
          <a:xfrm>
            <a:off x="4983480" y="2441448"/>
            <a:ext cx="1316736" cy="603504"/>
          </a:xfrm>
          <a:prstGeom prst="rect">
            <a:avLst/>
          </a:prstGeom>
          <a:solidFill>
            <a:srgbClr val="CFE3EC"/>
          </a:solidFill>
          <a:ln w="19050">
            <a:solidFill>
              <a:srgbClr val="FFFFFF"/>
            </a:solidFill>
            <a:prstDash val="solid"/>
          </a:ln>
        </p:spPr>
        <p:txBody>
          <a:bodyPr/>
          <a:lstStyle/>
          <a:p>
            <a:endParaRPr lang="de-DE"/>
          </a:p>
        </p:txBody>
      </p:sp>
      <p:sp>
        <p:nvSpPr>
          <p:cNvPr id="38" name="Text 36"/>
          <p:cNvSpPr/>
          <p:nvPr/>
        </p:nvSpPr>
        <p:spPr>
          <a:xfrm>
            <a:off x="4983480" y="2496312"/>
            <a:ext cx="1316736" cy="310896"/>
          </a:xfrm>
          <a:prstGeom prst="rect">
            <a:avLst/>
          </a:prstGeom>
          <a:noFill/>
          <a:ln/>
        </p:spPr>
        <p:txBody>
          <a:bodyPr wrap="square" lIns="0" tIns="0" rIns="0" bIns="0" rtlCol="0" anchor="ctr"/>
          <a:lstStyle/>
          <a:p>
            <a:pPr marL="0" indent="0" algn="ctr">
              <a:buNone/>
            </a:pPr>
            <a:r>
              <a:rPr lang="en-US" sz="1500" b="1" dirty="0">
                <a:solidFill>
                  <a:srgbClr val="23282F"/>
                </a:solidFill>
                <a:latin typeface="Calibri" pitchFamily="34" charset="0"/>
                <a:ea typeface="Calibri" pitchFamily="34" charset="-122"/>
                <a:cs typeface="Calibri" pitchFamily="34" charset="-120"/>
              </a:rPr>
              <a:t>3 %</a:t>
            </a:r>
            <a:endParaRPr lang="en-US" sz="1500" dirty="0"/>
          </a:p>
        </p:txBody>
      </p:sp>
      <p:sp>
        <p:nvSpPr>
          <p:cNvPr id="39" name="Text 37"/>
          <p:cNvSpPr/>
          <p:nvPr/>
        </p:nvSpPr>
        <p:spPr>
          <a:xfrm>
            <a:off x="4983480" y="2788920"/>
            <a:ext cx="1316736" cy="237744"/>
          </a:xfrm>
          <a:prstGeom prst="rect">
            <a:avLst/>
          </a:prstGeom>
          <a:noFill/>
          <a:ln/>
        </p:spPr>
        <p:txBody>
          <a:bodyPr wrap="square" lIns="0" tIns="0" rIns="0" bIns="0" rtlCol="0" anchor="ctr"/>
          <a:lstStyle/>
          <a:p>
            <a:pPr marL="0" indent="0" algn="ctr">
              <a:buNone/>
            </a:pPr>
            <a:r>
              <a:rPr lang="en-US" sz="1000" dirty="0">
                <a:solidFill>
                  <a:srgbClr val="6E7681"/>
                </a:solidFill>
                <a:latin typeface="Calibri" pitchFamily="34" charset="0"/>
                <a:ea typeface="Calibri" pitchFamily="34" charset="-122"/>
                <a:cs typeface="Calibri" pitchFamily="34" charset="-120"/>
              </a:rPr>
              <a:t>Zufall 5 %</a:t>
            </a:r>
            <a:endParaRPr lang="en-US" sz="1000" dirty="0"/>
          </a:p>
        </p:txBody>
      </p:sp>
      <p:sp>
        <p:nvSpPr>
          <p:cNvPr id="40" name="Shape 38"/>
          <p:cNvSpPr/>
          <p:nvPr/>
        </p:nvSpPr>
        <p:spPr>
          <a:xfrm>
            <a:off x="6355080" y="2441448"/>
            <a:ext cx="1316736" cy="603504"/>
          </a:xfrm>
          <a:prstGeom prst="rect">
            <a:avLst/>
          </a:prstGeom>
          <a:solidFill>
            <a:srgbClr val="DDEAF1"/>
          </a:solidFill>
          <a:ln w="19050">
            <a:solidFill>
              <a:srgbClr val="FFFFFF"/>
            </a:solidFill>
            <a:prstDash val="solid"/>
          </a:ln>
        </p:spPr>
        <p:txBody>
          <a:bodyPr/>
          <a:lstStyle/>
          <a:p>
            <a:endParaRPr lang="de-DE"/>
          </a:p>
        </p:txBody>
      </p:sp>
      <p:sp>
        <p:nvSpPr>
          <p:cNvPr id="41" name="Text 39"/>
          <p:cNvSpPr/>
          <p:nvPr/>
        </p:nvSpPr>
        <p:spPr>
          <a:xfrm>
            <a:off x="6355080" y="2496312"/>
            <a:ext cx="1316736" cy="310896"/>
          </a:xfrm>
          <a:prstGeom prst="rect">
            <a:avLst/>
          </a:prstGeom>
          <a:noFill/>
          <a:ln/>
        </p:spPr>
        <p:txBody>
          <a:bodyPr wrap="square" lIns="0" tIns="0" rIns="0" bIns="0" rtlCol="0" anchor="ctr"/>
          <a:lstStyle/>
          <a:p>
            <a:pPr marL="0" indent="0" algn="ctr">
              <a:buNone/>
            </a:pPr>
            <a:r>
              <a:rPr lang="en-US" sz="1500" b="1" dirty="0">
                <a:solidFill>
                  <a:srgbClr val="23282F"/>
                </a:solidFill>
                <a:latin typeface="Calibri" pitchFamily="34" charset="0"/>
                <a:ea typeface="Calibri" pitchFamily="34" charset="-122"/>
                <a:cs typeface="Calibri" pitchFamily="34" charset="-120"/>
              </a:rPr>
              <a:t>20 %</a:t>
            </a:r>
            <a:endParaRPr lang="en-US" sz="1500" dirty="0"/>
          </a:p>
        </p:txBody>
      </p:sp>
      <p:sp>
        <p:nvSpPr>
          <p:cNvPr id="42" name="Text 40"/>
          <p:cNvSpPr/>
          <p:nvPr/>
        </p:nvSpPr>
        <p:spPr>
          <a:xfrm>
            <a:off x="6355080" y="2788920"/>
            <a:ext cx="1316736" cy="237744"/>
          </a:xfrm>
          <a:prstGeom prst="rect">
            <a:avLst/>
          </a:prstGeom>
          <a:noFill/>
          <a:ln/>
        </p:spPr>
        <p:txBody>
          <a:bodyPr wrap="square" lIns="0" tIns="0" rIns="0" bIns="0" rtlCol="0" anchor="ctr"/>
          <a:lstStyle/>
          <a:p>
            <a:pPr marL="0" indent="0" algn="ctr">
              <a:buNone/>
            </a:pPr>
            <a:r>
              <a:rPr lang="en-US" sz="1000" dirty="0">
                <a:solidFill>
                  <a:srgbClr val="6E7681"/>
                </a:solidFill>
                <a:latin typeface="Calibri" pitchFamily="34" charset="0"/>
                <a:ea typeface="Calibri" pitchFamily="34" charset="-122"/>
                <a:cs typeface="Calibri" pitchFamily="34" charset="-120"/>
              </a:rPr>
              <a:t>Zufall 20 %</a:t>
            </a:r>
            <a:endParaRPr lang="en-US" sz="1000" dirty="0"/>
          </a:p>
        </p:txBody>
      </p:sp>
      <p:sp>
        <p:nvSpPr>
          <p:cNvPr id="43" name="Shape 41"/>
          <p:cNvSpPr/>
          <p:nvPr/>
        </p:nvSpPr>
        <p:spPr>
          <a:xfrm>
            <a:off x="7726680" y="2441448"/>
            <a:ext cx="1316736" cy="603504"/>
          </a:xfrm>
          <a:prstGeom prst="rect">
            <a:avLst/>
          </a:prstGeom>
          <a:solidFill>
            <a:srgbClr val="EDF2F5"/>
          </a:solidFill>
          <a:ln w="19050">
            <a:solidFill>
              <a:srgbClr val="FFFFFF"/>
            </a:solidFill>
            <a:prstDash val="solid"/>
          </a:ln>
        </p:spPr>
        <p:txBody>
          <a:bodyPr/>
          <a:lstStyle/>
          <a:p>
            <a:endParaRPr lang="de-DE"/>
          </a:p>
        </p:txBody>
      </p:sp>
      <p:sp>
        <p:nvSpPr>
          <p:cNvPr id="44" name="Text 42"/>
          <p:cNvSpPr/>
          <p:nvPr/>
        </p:nvSpPr>
        <p:spPr>
          <a:xfrm>
            <a:off x="7726680" y="2496312"/>
            <a:ext cx="1316736" cy="310896"/>
          </a:xfrm>
          <a:prstGeom prst="rect">
            <a:avLst/>
          </a:prstGeom>
          <a:noFill/>
          <a:ln/>
        </p:spPr>
        <p:txBody>
          <a:bodyPr wrap="square" lIns="0" tIns="0" rIns="0" bIns="0" rtlCol="0" anchor="ctr"/>
          <a:lstStyle/>
          <a:p>
            <a:pPr marL="0" indent="0" algn="ctr">
              <a:buNone/>
            </a:pPr>
            <a:r>
              <a:rPr lang="en-US" sz="1500" b="1" dirty="0">
                <a:solidFill>
                  <a:srgbClr val="23282F"/>
                </a:solidFill>
                <a:latin typeface="Calibri" pitchFamily="34" charset="0"/>
                <a:ea typeface="Calibri" pitchFamily="34" charset="-122"/>
                <a:cs typeface="Calibri" pitchFamily="34" charset="-120"/>
              </a:rPr>
              <a:t>29 %</a:t>
            </a:r>
            <a:endParaRPr lang="en-US" sz="1500" dirty="0"/>
          </a:p>
        </p:txBody>
      </p:sp>
      <p:sp>
        <p:nvSpPr>
          <p:cNvPr id="45" name="Text 43"/>
          <p:cNvSpPr/>
          <p:nvPr/>
        </p:nvSpPr>
        <p:spPr>
          <a:xfrm>
            <a:off x="7726680" y="2788920"/>
            <a:ext cx="1316736" cy="237744"/>
          </a:xfrm>
          <a:prstGeom prst="rect">
            <a:avLst/>
          </a:prstGeom>
          <a:noFill/>
          <a:ln/>
        </p:spPr>
        <p:txBody>
          <a:bodyPr wrap="square" lIns="0" tIns="0" rIns="0" bIns="0" rtlCol="0" anchor="ctr"/>
          <a:lstStyle/>
          <a:p>
            <a:pPr marL="0" indent="0" algn="ctr">
              <a:buNone/>
            </a:pPr>
            <a:r>
              <a:rPr lang="en-US" sz="1000" dirty="0">
                <a:solidFill>
                  <a:srgbClr val="6E7681"/>
                </a:solidFill>
                <a:latin typeface="Calibri" pitchFamily="34" charset="0"/>
                <a:ea typeface="Calibri" pitchFamily="34" charset="-122"/>
                <a:cs typeface="Calibri" pitchFamily="34" charset="-120"/>
              </a:rPr>
              <a:t>Zufall 38 %</a:t>
            </a:r>
            <a:endParaRPr lang="en-US" sz="1000" dirty="0"/>
          </a:p>
        </p:txBody>
      </p:sp>
      <p:sp>
        <p:nvSpPr>
          <p:cNvPr id="46" name="Shape 44"/>
          <p:cNvSpPr/>
          <p:nvPr/>
        </p:nvSpPr>
        <p:spPr>
          <a:xfrm>
            <a:off x="9098280" y="2441448"/>
            <a:ext cx="1316736" cy="603504"/>
          </a:xfrm>
          <a:prstGeom prst="rect">
            <a:avLst/>
          </a:prstGeom>
          <a:solidFill>
            <a:srgbClr val="EDF2F5"/>
          </a:solidFill>
          <a:ln w="19050">
            <a:solidFill>
              <a:srgbClr val="FFFFFF"/>
            </a:solidFill>
            <a:prstDash val="solid"/>
          </a:ln>
        </p:spPr>
        <p:txBody>
          <a:bodyPr/>
          <a:lstStyle/>
          <a:p>
            <a:endParaRPr lang="de-DE"/>
          </a:p>
        </p:txBody>
      </p:sp>
      <p:sp>
        <p:nvSpPr>
          <p:cNvPr id="47" name="Text 45"/>
          <p:cNvSpPr/>
          <p:nvPr/>
        </p:nvSpPr>
        <p:spPr>
          <a:xfrm>
            <a:off x="9098280" y="2496312"/>
            <a:ext cx="1316736" cy="310896"/>
          </a:xfrm>
          <a:prstGeom prst="rect">
            <a:avLst/>
          </a:prstGeom>
          <a:noFill/>
          <a:ln/>
        </p:spPr>
        <p:txBody>
          <a:bodyPr wrap="square" lIns="0" tIns="0" rIns="0" bIns="0" rtlCol="0" anchor="ctr"/>
          <a:lstStyle/>
          <a:p>
            <a:pPr marL="0" indent="0" algn="ctr">
              <a:buNone/>
            </a:pPr>
            <a:r>
              <a:rPr lang="en-US" sz="1500" b="1" dirty="0">
                <a:solidFill>
                  <a:srgbClr val="23282F"/>
                </a:solidFill>
                <a:latin typeface="Calibri" pitchFamily="34" charset="0"/>
                <a:ea typeface="Calibri" pitchFamily="34" charset="-122"/>
                <a:cs typeface="Calibri" pitchFamily="34" charset="-120"/>
              </a:rPr>
              <a:t>32 %</a:t>
            </a:r>
            <a:endParaRPr lang="en-US" sz="1500" dirty="0"/>
          </a:p>
        </p:txBody>
      </p:sp>
      <p:sp>
        <p:nvSpPr>
          <p:cNvPr id="48" name="Text 46"/>
          <p:cNvSpPr/>
          <p:nvPr/>
        </p:nvSpPr>
        <p:spPr>
          <a:xfrm>
            <a:off x="9098280" y="2788920"/>
            <a:ext cx="1316736" cy="237744"/>
          </a:xfrm>
          <a:prstGeom prst="rect">
            <a:avLst/>
          </a:prstGeom>
          <a:noFill/>
          <a:ln/>
        </p:spPr>
        <p:txBody>
          <a:bodyPr wrap="square" lIns="0" tIns="0" rIns="0" bIns="0" rtlCol="0" anchor="ctr"/>
          <a:lstStyle/>
          <a:p>
            <a:pPr marL="0" indent="0" algn="ctr">
              <a:buNone/>
            </a:pPr>
            <a:r>
              <a:rPr lang="en-US" sz="1000" dirty="0">
                <a:solidFill>
                  <a:srgbClr val="6E7681"/>
                </a:solidFill>
                <a:latin typeface="Calibri" pitchFamily="34" charset="0"/>
                <a:ea typeface="Calibri" pitchFamily="34" charset="-122"/>
                <a:cs typeface="Calibri" pitchFamily="34" charset="-120"/>
              </a:rPr>
              <a:t>Zufall 33 %</a:t>
            </a:r>
            <a:endParaRPr lang="en-US" sz="1000" dirty="0"/>
          </a:p>
        </p:txBody>
      </p:sp>
      <p:sp>
        <p:nvSpPr>
          <p:cNvPr id="49" name="Text 47"/>
          <p:cNvSpPr/>
          <p:nvPr/>
        </p:nvSpPr>
        <p:spPr>
          <a:xfrm>
            <a:off x="640080" y="3099816"/>
            <a:ext cx="1508760" cy="658368"/>
          </a:xfrm>
          <a:prstGeom prst="rect">
            <a:avLst/>
          </a:prstGeom>
          <a:noFill/>
          <a:ln/>
        </p:spPr>
        <p:txBody>
          <a:bodyPr wrap="square" lIns="0" tIns="0" rIns="0" bIns="0" rtlCol="0" anchor="ctr"/>
          <a:lstStyle/>
          <a:p>
            <a:pPr marL="0" indent="0" algn="r">
              <a:buNone/>
            </a:pPr>
            <a:r>
              <a:rPr lang="en-US" sz="1300" b="1" dirty="0">
                <a:solidFill>
                  <a:srgbClr val="23282F"/>
                </a:solidFill>
                <a:latin typeface="Calibri" pitchFamily="34" charset="0"/>
                <a:ea typeface="Calibri" pitchFamily="34" charset="-122"/>
                <a:cs typeface="Calibri" pitchFamily="34" charset="-120"/>
              </a:rPr>
              <a:t>DMZ</a:t>
            </a:r>
            <a:endParaRPr lang="en-US" sz="1300" dirty="0"/>
          </a:p>
        </p:txBody>
      </p:sp>
      <p:sp>
        <p:nvSpPr>
          <p:cNvPr id="50" name="Shape 48"/>
          <p:cNvSpPr/>
          <p:nvPr/>
        </p:nvSpPr>
        <p:spPr>
          <a:xfrm>
            <a:off x="2240280" y="3099816"/>
            <a:ext cx="1316736" cy="603504"/>
          </a:xfrm>
          <a:prstGeom prst="rect">
            <a:avLst/>
          </a:prstGeom>
          <a:solidFill>
            <a:srgbClr val="F3D5CE"/>
          </a:solidFill>
          <a:ln w="19050">
            <a:solidFill>
              <a:srgbClr val="FFFFFF"/>
            </a:solidFill>
            <a:prstDash val="solid"/>
          </a:ln>
        </p:spPr>
        <p:txBody>
          <a:bodyPr/>
          <a:lstStyle/>
          <a:p>
            <a:endParaRPr lang="de-DE"/>
          </a:p>
        </p:txBody>
      </p:sp>
      <p:sp>
        <p:nvSpPr>
          <p:cNvPr id="51" name="Text 49"/>
          <p:cNvSpPr/>
          <p:nvPr/>
        </p:nvSpPr>
        <p:spPr>
          <a:xfrm>
            <a:off x="2240280" y="3154680"/>
            <a:ext cx="1316736" cy="310896"/>
          </a:xfrm>
          <a:prstGeom prst="rect">
            <a:avLst/>
          </a:prstGeom>
          <a:noFill/>
          <a:ln/>
        </p:spPr>
        <p:txBody>
          <a:bodyPr wrap="square" lIns="0" tIns="0" rIns="0" bIns="0" rtlCol="0" anchor="ctr"/>
          <a:lstStyle/>
          <a:p>
            <a:pPr marL="0" indent="0" algn="ctr">
              <a:buNone/>
            </a:pPr>
            <a:r>
              <a:rPr lang="en-US" sz="1500" b="1" dirty="0">
                <a:solidFill>
                  <a:srgbClr val="23282F"/>
                </a:solidFill>
                <a:latin typeface="Calibri" pitchFamily="34" charset="0"/>
                <a:ea typeface="Calibri" pitchFamily="34" charset="-122"/>
                <a:cs typeface="Calibri" pitchFamily="34" charset="-120"/>
              </a:rPr>
              <a:t>52 %</a:t>
            </a:r>
            <a:endParaRPr lang="en-US" sz="1500" dirty="0"/>
          </a:p>
        </p:txBody>
      </p:sp>
      <p:sp>
        <p:nvSpPr>
          <p:cNvPr id="52" name="Text 50"/>
          <p:cNvSpPr/>
          <p:nvPr/>
        </p:nvSpPr>
        <p:spPr>
          <a:xfrm>
            <a:off x="2240280" y="3447288"/>
            <a:ext cx="1316736" cy="237744"/>
          </a:xfrm>
          <a:prstGeom prst="rect">
            <a:avLst/>
          </a:prstGeom>
          <a:noFill/>
          <a:ln/>
        </p:spPr>
        <p:txBody>
          <a:bodyPr wrap="square" lIns="0" tIns="0" rIns="0" bIns="0" rtlCol="0" anchor="ctr"/>
          <a:lstStyle/>
          <a:p>
            <a:pPr marL="0" indent="0" algn="ctr">
              <a:buNone/>
            </a:pPr>
            <a:r>
              <a:rPr lang="en-US" sz="1000" dirty="0">
                <a:solidFill>
                  <a:srgbClr val="6E7681"/>
                </a:solidFill>
                <a:latin typeface="Calibri" pitchFamily="34" charset="0"/>
                <a:ea typeface="Calibri" pitchFamily="34" charset="-122"/>
                <a:cs typeface="Calibri" pitchFamily="34" charset="-120"/>
              </a:rPr>
              <a:t>Zufall 61 %</a:t>
            </a:r>
            <a:endParaRPr lang="en-US" sz="1000" dirty="0"/>
          </a:p>
        </p:txBody>
      </p:sp>
      <p:sp>
        <p:nvSpPr>
          <p:cNvPr id="53" name="Shape 51"/>
          <p:cNvSpPr/>
          <p:nvPr/>
        </p:nvSpPr>
        <p:spPr>
          <a:xfrm>
            <a:off x="3611880" y="3099816"/>
            <a:ext cx="1316736" cy="603504"/>
          </a:xfrm>
          <a:prstGeom prst="rect">
            <a:avLst/>
          </a:prstGeom>
          <a:solidFill>
            <a:srgbClr val="DDEAF1"/>
          </a:solidFill>
          <a:ln w="19050">
            <a:solidFill>
              <a:srgbClr val="FFFFFF"/>
            </a:solidFill>
            <a:prstDash val="solid"/>
          </a:ln>
        </p:spPr>
        <p:txBody>
          <a:bodyPr/>
          <a:lstStyle/>
          <a:p>
            <a:endParaRPr lang="de-DE"/>
          </a:p>
        </p:txBody>
      </p:sp>
      <p:sp>
        <p:nvSpPr>
          <p:cNvPr id="54" name="Text 52"/>
          <p:cNvSpPr/>
          <p:nvPr/>
        </p:nvSpPr>
        <p:spPr>
          <a:xfrm>
            <a:off x="3611880" y="3154680"/>
            <a:ext cx="1316736" cy="310896"/>
          </a:xfrm>
          <a:prstGeom prst="rect">
            <a:avLst/>
          </a:prstGeom>
          <a:noFill/>
          <a:ln/>
        </p:spPr>
        <p:txBody>
          <a:bodyPr wrap="square" lIns="0" tIns="0" rIns="0" bIns="0" rtlCol="0" anchor="ctr"/>
          <a:lstStyle/>
          <a:p>
            <a:pPr marL="0" indent="0" algn="ctr">
              <a:buNone/>
            </a:pPr>
            <a:r>
              <a:rPr lang="en-US" sz="1500" b="1" dirty="0">
                <a:solidFill>
                  <a:srgbClr val="23282F"/>
                </a:solidFill>
                <a:latin typeface="Calibri" pitchFamily="34" charset="0"/>
                <a:ea typeface="Calibri" pitchFamily="34" charset="-122"/>
                <a:cs typeface="Calibri" pitchFamily="34" charset="-120"/>
              </a:rPr>
              <a:t>18 %</a:t>
            </a:r>
            <a:endParaRPr lang="en-US" sz="1500" dirty="0"/>
          </a:p>
        </p:txBody>
      </p:sp>
      <p:sp>
        <p:nvSpPr>
          <p:cNvPr id="55" name="Text 53"/>
          <p:cNvSpPr/>
          <p:nvPr/>
        </p:nvSpPr>
        <p:spPr>
          <a:xfrm>
            <a:off x="3611880" y="3447288"/>
            <a:ext cx="1316736" cy="237744"/>
          </a:xfrm>
          <a:prstGeom prst="rect">
            <a:avLst/>
          </a:prstGeom>
          <a:noFill/>
          <a:ln/>
        </p:spPr>
        <p:txBody>
          <a:bodyPr wrap="square" lIns="0" tIns="0" rIns="0" bIns="0" rtlCol="0" anchor="ctr"/>
          <a:lstStyle/>
          <a:p>
            <a:pPr marL="0" indent="0" algn="ctr">
              <a:buNone/>
            </a:pPr>
            <a:r>
              <a:rPr lang="en-US" sz="1000" dirty="0">
                <a:solidFill>
                  <a:srgbClr val="6E7681"/>
                </a:solidFill>
                <a:latin typeface="Calibri" pitchFamily="34" charset="0"/>
                <a:ea typeface="Calibri" pitchFamily="34" charset="-122"/>
                <a:cs typeface="Calibri" pitchFamily="34" charset="-120"/>
              </a:rPr>
              <a:t>Zufall 18 %</a:t>
            </a:r>
            <a:endParaRPr lang="en-US" sz="1000" dirty="0"/>
          </a:p>
        </p:txBody>
      </p:sp>
      <p:sp>
        <p:nvSpPr>
          <p:cNvPr id="56" name="Shape 54"/>
          <p:cNvSpPr/>
          <p:nvPr/>
        </p:nvSpPr>
        <p:spPr>
          <a:xfrm>
            <a:off x="4983480" y="3099816"/>
            <a:ext cx="1316736" cy="603504"/>
          </a:xfrm>
          <a:prstGeom prst="rect">
            <a:avLst/>
          </a:prstGeom>
          <a:solidFill>
            <a:srgbClr val="CFE3EC"/>
          </a:solidFill>
          <a:ln w="19050">
            <a:solidFill>
              <a:srgbClr val="FFFFFF"/>
            </a:solidFill>
            <a:prstDash val="solid"/>
          </a:ln>
        </p:spPr>
        <p:txBody>
          <a:bodyPr/>
          <a:lstStyle/>
          <a:p>
            <a:endParaRPr lang="de-DE"/>
          </a:p>
        </p:txBody>
      </p:sp>
      <p:sp>
        <p:nvSpPr>
          <p:cNvPr id="57" name="Text 55"/>
          <p:cNvSpPr/>
          <p:nvPr/>
        </p:nvSpPr>
        <p:spPr>
          <a:xfrm>
            <a:off x="4983480" y="3154680"/>
            <a:ext cx="1316736" cy="310896"/>
          </a:xfrm>
          <a:prstGeom prst="rect">
            <a:avLst/>
          </a:prstGeom>
          <a:noFill/>
          <a:ln/>
        </p:spPr>
        <p:txBody>
          <a:bodyPr wrap="square" lIns="0" tIns="0" rIns="0" bIns="0" rtlCol="0" anchor="ctr"/>
          <a:lstStyle/>
          <a:p>
            <a:pPr marL="0" indent="0" algn="ctr">
              <a:buNone/>
            </a:pPr>
            <a:r>
              <a:rPr lang="en-US" sz="1500" b="1" dirty="0">
                <a:solidFill>
                  <a:srgbClr val="23282F"/>
                </a:solidFill>
                <a:latin typeface="Calibri" pitchFamily="34" charset="0"/>
                <a:ea typeface="Calibri" pitchFamily="34" charset="-122"/>
                <a:cs typeface="Calibri" pitchFamily="34" charset="-120"/>
              </a:rPr>
              <a:t>10 %</a:t>
            </a:r>
            <a:endParaRPr lang="en-US" sz="1500" dirty="0"/>
          </a:p>
        </p:txBody>
      </p:sp>
      <p:sp>
        <p:nvSpPr>
          <p:cNvPr id="58" name="Text 56"/>
          <p:cNvSpPr/>
          <p:nvPr/>
        </p:nvSpPr>
        <p:spPr>
          <a:xfrm>
            <a:off x="4983480" y="3447288"/>
            <a:ext cx="1316736" cy="237744"/>
          </a:xfrm>
          <a:prstGeom prst="rect">
            <a:avLst/>
          </a:prstGeom>
          <a:noFill/>
          <a:ln/>
        </p:spPr>
        <p:txBody>
          <a:bodyPr wrap="square" lIns="0" tIns="0" rIns="0" bIns="0" rtlCol="0" anchor="ctr"/>
          <a:lstStyle/>
          <a:p>
            <a:pPr marL="0" indent="0" algn="ctr">
              <a:buNone/>
            </a:pPr>
            <a:r>
              <a:rPr lang="en-US" sz="1000" dirty="0">
                <a:solidFill>
                  <a:srgbClr val="6E7681"/>
                </a:solidFill>
                <a:latin typeface="Calibri" pitchFamily="34" charset="0"/>
                <a:ea typeface="Calibri" pitchFamily="34" charset="-122"/>
                <a:cs typeface="Calibri" pitchFamily="34" charset="-120"/>
              </a:rPr>
              <a:t>Zufall 14 %</a:t>
            </a:r>
            <a:endParaRPr lang="en-US" sz="1000" dirty="0"/>
          </a:p>
        </p:txBody>
      </p:sp>
      <p:sp>
        <p:nvSpPr>
          <p:cNvPr id="59" name="Shape 57"/>
          <p:cNvSpPr/>
          <p:nvPr/>
        </p:nvSpPr>
        <p:spPr>
          <a:xfrm>
            <a:off x="6355080" y="3099816"/>
            <a:ext cx="1316736" cy="603504"/>
          </a:xfrm>
          <a:prstGeom prst="rect">
            <a:avLst/>
          </a:prstGeom>
          <a:solidFill>
            <a:srgbClr val="CFE3EC"/>
          </a:solidFill>
          <a:ln w="19050">
            <a:solidFill>
              <a:srgbClr val="FFFFFF"/>
            </a:solidFill>
            <a:prstDash val="solid"/>
          </a:ln>
        </p:spPr>
        <p:txBody>
          <a:bodyPr/>
          <a:lstStyle/>
          <a:p>
            <a:endParaRPr lang="de-DE"/>
          </a:p>
        </p:txBody>
      </p:sp>
      <p:sp>
        <p:nvSpPr>
          <p:cNvPr id="60" name="Text 58"/>
          <p:cNvSpPr/>
          <p:nvPr/>
        </p:nvSpPr>
        <p:spPr>
          <a:xfrm>
            <a:off x="6355080" y="3154680"/>
            <a:ext cx="1316736" cy="310896"/>
          </a:xfrm>
          <a:prstGeom prst="rect">
            <a:avLst/>
          </a:prstGeom>
          <a:noFill/>
          <a:ln/>
        </p:spPr>
        <p:txBody>
          <a:bodyPr wrap="square" lIns="0" tIns="0" rIns="0" bIns="0" rtlCol="0" anchor="ctr"/>
          <a:lstStyle/>
          <a:p>
            <a:pPr marL="0" indent="0" algn="ctr">
              <a:buNone/>
            </a:pPr>
            <a:r>
              <a:rPr lang="en-US" sz="1500" b="1" dirty="0">
                <a:solidFill>
                  <a:srgbClr val="23282F"/>
                </a:solidFill>
                <a:latin typeface="Calibri" pitchFamily="34" charset="0"/>
                <a:ea typeface="Calibri" pitchFamily="34" charset="-122"/>
                <a:cs typeface="Calibri" pitchFamily="34" charset="-120"/>
              </a:rPr>
              <a:t>3 %</a:t>
            </a:r>
            <a:endParaRPr lang="en-US" sz="1500" dirty="0"/>
          </a:p>
        </p:txBody>
      </p:sp>
      <p:sp>
        <p:nvSpPr>
          <p:cNvPr id="61" name="Text 59"/>
          <p:cNvSpPr/>
          <p:nvPr/>
        </p:nvSpPr>
        <p:spPr>
          <a:xfrm>
            <a:off x="6355080" y="3447288"/>
            <a:ext cx="1316736" cy="237744"/>
          </a:xfrm>
          <a:prstGeom prst="rect">
            <a:avLst/>
          </a:prstGeom>
          <a:noFill/>
          <a:ln/>
        </p:spPr>
        <p:txBody>
          <a:bodyPr wrap="square" lIns="0" tIns="0" rIns="0" bIns="0" rtlCol="0" anchor="ctr"/>
          <a:lstStyle/>
          <a:p>
            <a:pPr marL="0" indent="0" algn="ctr">
              <a:buNone/>
            </a:pPr>
            <a:r>
              <a:rPr lang="en-US" sz="1000" dirty="0">
                <a:solidFill>
                  <a:srgbClr val="6E7681"/>
                </a:solidFill>
                <a:latin typeface="Calibri" pitchFamily="34" charset="0"/>
                <a:ea typeface="Calibri" pitchFamily="34" charset="-122"/>
                <a:cs typeface="Calibri" pitchFamily="34" charset="-120"/>
              </a:rPr>
              <a:t>Zufall 4 %</a:t>
            </a:r>
            <a:endParaRPr lang="en-US" sz="1000" dirty="0"/>
          </a:p>
        </p:txBody>
      </p:sp>
      <p:sp>
        <p:nvSpPr>
          <p:cNvPr id="62" name="Shape 60"/>
          <p:cNvSpPr/>
          <p:nvPr/>
        </p:nvSpPr>
        <p:spPr>
          <a:xfrm>
            <a:off x="7726680" y="3099816"/>
            <a:ext cx="1316736" cy="603504"/>
          </a:xfrm>
          <a:prstGeom prst="rect">
            <a:avLst/>
          </a:prstGeom>
          <a:solidFill>
            <a:srgbClr val="E3A99C"/>
          </a:solidFill>
          <a:ln w="19050">
            <a:solidFill>
              <a:srgbClr val="FFFFFF"/>
            </a:solidFill>
            <a:prstDash val="solid"/>
          </a:ln>
        </p:spPr>
        <p:txBody>
          <a:bodyPr/>
          <a:lstStyle/>
          <a:p>
            <a:endParaRPr lang="de-DE"/>
          </a:p>
        </p:txBody>
      </p:sp>
      <p:sp>
        <p:nvSpPr>
          <p:cNvPr id="63" name="Text 61"/>
          <p:cNvSpPr/>
          <p:nvPr/>
        </p:nvSpPr>
        <p:spPr>
          <a:xfrm>
            <a:off x="7726680" y="3154680"/>
            <a:ext cx="1316736" cy="310896"/>
          </a:xfrm>
          <a:prstGeom prst="rect">
            <a:avLst/>
          </a:prstGeom>
          <a:noFill/>
          <a:ln/>
        </p:spPr>
        <p:txBody>
          <a:bodyPr wrap="square" lIns="0" tIns="0" rIns="0" bIns="0" rtlCol="0" anchor="ctr"/>
          <a:lstStyle/>
          <a:p>
            <a:pPr marL="0" indent="0" algn="ctr">
              <a:buNone/>
            </a:pPr>
            <a:r>
              <a:rPr lang="en-US" sz="1500" b="1" dirty="0">
                <a:solidFill>
                  <a:srgbClr val="23282F"/>
                </a:solidFill>
                <a:latin typeface="Calibri" pitchFamily="34" charset="0"/>
                <a:ea typeface="Calibri" pitchFamily="34" charset="-122"/>
                <a:cs typeface="Calibri" pitchFamily="34" charset="-120"/>
              </a:rPr>
              <a:t>100 %</a:t>
            </a:r>
            <a:endParaRPr lang="en-US" sz="1500" dirty="0"/>
          </a:p>
        </p:txBody>
      </p:sp>
      <p:sp>
        <p:nvSpPr>
          <p:cNvPr id="64" name="Text 62"/>
          <p:cNvSpPr/>
          <p:nvPr/>
        </p:nvSpPr>
        <p:spPr>
          <a:xfrm>
            <a:off x="7726680" y="3447288"/>
            <a:ext cx="1316736" cy="237744"/>
          </a:xfrm>
          <a:prstGeom prst="rect">
            <a:avLst/>
          </a:prstGeom>
          <a:noFill/>
          <a:ln/>
        </p:spPr>
        <p:txBody>
          <a:bodyPr wrap="square" lIns="0" tIns="0" rIns="0" bIns="0" rtlCol="0" anchor="ctr"/>
          <a:lstStyle/>
          <a:p>
            <a:pPr marL="0" indent="0" algn="ctr">
              <a:buNone/>
            </a:pPr>
            <a:r>
              <a:rPr lang="en-US" sz="1000" dirty="0">
                <a:solidFill>
                  <a:srgbClr val="6E7681"/>
                </a:solidFill>
                <a:latin typeface="Calibri" pitchFamily="34" charset="0"/>
                <a:ea typeface="Calibri" pitchFamily="34" charset="-122"/>
                <a:cs typeface="Calibri" pitchFamily="34" charset="-120"/>
              </a:rPr>
              <a:t>Zufall 100 %</a:t>
            </a:r>
            <a:endParaRPr lang="en-US" sz="1000" dirty="0"/>
          </a:p>
        </p:txBody>
      </p:sp>
      <p:sp>
        <p:nvSpPr>
          <p:cNvPr id="65" name="Shape 63"/>
          <p:cNvSpPr/>
          <p:nvPr/>
        </p:nvSpPr>
        <p:spPr>
          <a:xfrm>
            <a:off x="9098280" y="3099816"/>
            <a:ext cx="1316736" cy="603504"/>
          </a:xfrm>
          <a:prstGeom prst="rect">
            <a:avLst/>
          </a:prstGeom>
          <a:solidFill>
            <a:srgbClr val="DDEAF1"/>
          </a:solidFill>
          <a:ln w="19050">
            <a:solidFill>
              <a:srgbClr val="FFFFFF"/>
            </a:solidFill>
            <a:prstDash val="solid"/>
          </a:ln>
        </p:spPr>
        <p:txBody>
          <a:bodyPr/>
          <a:lstStyle/>
          <a:p>
            <a:endParaRPr lang="de-DE"/>
          </a:p>
        </p:txBody>
      </p:sp>
      <p:sp>
        <p:nvSpPr>
          <p:cNvPr id="66" name="Text 64"/>
          <p:cNvSpPr/>
          <p:nvPr/>
        </p:nvSpPr>
        <p:spPr>
          <a:xfrm>
            <a:off x="9098280" y="3154680"/>
            <a:ext cx="1316736" cy="310896"/>
          </a:xfrm>
          <a:prstGeom prst="rect">
            <a:avLst/>
          </a:prstGeom>
          <a:noFill/>
          <a:ln/>
        </p:spPr>
        <p:txBody>
          <a:bodyPr wrap="square" lIns="0" tIns="0" rIns="0" bIns="0" rtlCol="0" anchor="ctr"/>
          <a:lstStyle/>
          <a:p>
            <a:pPr marL="0" indent="0" algn="ctr">
              <a:buNone/>
            </a:pPr>
            <a:r>
              <a:rPr lang="en-US" sz="1500" b="1" dirty="0">
                <a:solidFill>
                  <a:srgbClr val="23282F"/>
                </a:solidFill>
                <a:latin typeface="Calibri" pitchFamily="34" charset="0"/>
                <a:ea typeface="Calibri" pitchFamily="34" charset="-122"/>
                <a:cs typeface="Calibri" pitchFamily="34" charset="-120"/>
              </a:rPr>
              <a:t>19 %</a:t>
            </a:r>
            <a:endParaRPr lang="en-US" sz="1500" dirty="0"/>
          </a:p>
        </p:txBody>
      </p:sp>
      <p:sp>
        <p:nvSpPr>
          <p:cNvPr id="67" name="Text 65"/>
          <p:cNvSpPr/>
          <p:nvPr/>
        </p:nvSpPr>
        <p:spPr>
          <a:xfrm>
            <a:off x="9098280" y="3447288"/>
            <a:ext cx="1316736" cy="237744"/>
          </a:xfrm>
          <a:prstGeom prst="rect">
            <a:avLst/>
          </a:prstGeom>
          <a:noFill/>
          <a:ln/>
        </p:spPr>
        <p:txBody>
          <a:bodyPr wrap="square" lIns="0" tIns="0" rIns="0" bIns="0" rtlCol="0" anchor="ctr"/>
          <a:lstStyle/>
          <a:p>
            <a:pPr marL="0" indent="0" algn="ctr">
              <a:buNone/>
            </a:pPr>
            <a:r>
              <a:rPr lang="en-US" sz="1000" dirty="0">
                <a:solidFill>
                  <a:srgbClr val="6E7681"/>
                </a:solidFill>
                <a:latin typeface="Calibri" pitchFamily="34" charset="0"/>
                <a:ea typeface="Calibri" pitchFamily="34" charset="-122"/>
                <a:cs typeface="Calibri" pitchFamily="34" charset="-120"/>
              </a:rPr>
              <a:t>Zufall 21 %</a:t>
            </a:r>
            <a:endParaRPr lang="en-US" sz="1000" dirty="0"/>
          </a:p>
        </p:txBody>
      </p:sp>
      <p:sp>
        <p:nvSpPr>
          <p:cNvPr id="68" name="Text 66"/>
          <p:cNvSpPr/>
          <p:nvPr/>
        </p:nvSpPr>
        <p:spPr>
          <a:xfrm>
            <a:off x="640080" y="3758184"/>
            <a:ext cx="1508760" cy="658368"/>
          </a:xfrm>
          <a:prstGeom prst="rect">
            <a:avLst/>
          </a:prstGeom>
          <a:noFill/>
          <a:ln/>
        </p:spPr>
        <p:txBody>
          <a:bodyPr wrap="square" lIns="0" tIns="0" rIns="0" bIns="0" rtlCol="0" anchor="ctr"/>
          <a:lstStyle/>
          <a:p>
            <a:pPr marL="0" indent="0" algn="r">
              <a:buNone/>
            </a:pPr>
            <a:r>
              <a:rPr lang="en-US" sz="1300" b="1" dirty="0">
                <a:solidFill>
                  <a:srgbClr val="23282F"/>
                </a:solidFill>
                <a:latin typeface="Calibri" pitchFamily="34" charset="0"/>
                <a:ea typeface="Calibri" pitchFamily="34" charset="-122"/>
                <a:cs typeface="Calibri" pitchFamily="34" charset="-120"/>
              </a:rPr>
              <a:t>Micro-Seg.</a:t>
            </a:r>
            <a:endParaRPr lang="en-US" sz="1300" dirty="0"/>
          </a:p>
        </p:txBody>
      </p:sp>
      <p:sp>
        <p:nvSpPr>
          <p:cNvPr id="69" name="Shape 67"/>
          <p:cNvSpPr/>
          <p:nvPr/>
        </p:nvSpPr>
        <p:spPr>
          <a:xfrm>
            <a:off x="2240280" y="3758184"/>
            <a:ext cx="1316736" cy="603504"/>
          </a:xfrm>
          <a:prstGeom prst="rect">
            <a:avLst/>
          </a:prstGeom>
          <a:solidFill>
            <a:srgbClr val="F3D5CE"/>
          </a:solidFill>
          <a:ln w="19050">
            <a:solidFill>
              <a:srgbClr val="FFFFFF"/>
            </a:solidFill>
            <a:prstDash val="solid"/>
          </a:ln>
        </p:spPr>
        <p:txBody>
          <a:bodyPr/>
          <a:lstStyle/>
          <a:p>
            <a:endParaRPr lang="de-DE"/>
          </a:p>
        </p:txBody>
      </p:sp>
      <p:sp>
        <p:nvSpPr>
          <p:cNvPr id="70" name="Text 68"/>
          <p:cNvSpPr/>
          <p:nvPr/>
        </p:nvSpPr>
        <p:spPr>
          <a:xfrm>
            <a:off x="2240280" y="3813048"/>
            <a:ext cx="1316736" cy="310896"/>
          </a:xfrm>
          <a:prstGeom prst="rect">
            <a:avLst/>
          </a:prstGeom>
          <a:noFill/>
          <a:ln/>
        </p:spPr>
        <p:txBody>
          <a:bodyPr wrap="square" lIns="0" tIns="0" rIns="0" bIns="0" rtlCol="0" anchor="ctr"/>
          <a:lstStyle/>
          <a:p>
            <a:pPr marL="0" indent="0" algn="ctr">
              <a:buNone/>
            </a:pPr>
            <a:r>
              <a:rPr lang="en-US" sz="1500" b="1" dirty="0">
                <a:solidFill>
                  <a:srgbClr val="23282F"/>
                </a:solidFill>
                <a:latin typeface="Calibri" pitchFamily="34" charset="0"/>
                <a:ea typeface="Calibri" pitchFamily="34" charset="-122"/>
                <a:cs typeface="Calibri" pitchFamily="34" charset="-120"/>
              </a:rPr>
              <a:t>67 %</a:t>
            </a:r>
            <a:endParaRPr lang="en-US" sz="1500" dirty="0"/>
          </a:p>
        </p:txBody>
      </p:sp>
      <p:sp>
        <p:nvSpPr>
          <p:cNvPr id="71" name="Text 69"/>
          <p:cNvSpPr/>
          <p:nvPr/>
        </p:nvSpPr>
        <p:spPr>
          <a:xfrm>
            <a:off x="2240280" y="4105656"/>
            <a:ext cx="1316736" cy="237744"/>
          </a:xfrm>
          <a:prstGeom prst="rect">
            <a:avLst/>
          </a:prstGeom>
          <a:noFill/>
          <a:ln/>
        </p:spPr>
        <p:txBody>
          <a:bodyPr wrap="square" lIns="0" tIns="0" rIns="0" bIns="0" rtlCol="0" anchor="ctr"/>
          <a:lstStyle/>
          <a:p>
            <a:pPr marL="0" indent="0" algn="ctr">
              <a:buNone/>
            </a:pPr>
            <a:r>
              <a:rPr lang="en-US" sz="1000" dirty="0">
                <a:solidFill>
                  <a:srgbClr val="6E7681"/>
                </a:solidFill>
                <a:latin typeface="Calibri" pitchFamily="34" charset="0"/>
                <a:ea typeface="Calibri" pitchFamily="34" charset="-122"/>
                <a:cs typeface="Calibri" pitchFamily="34" charset="-120"/>
              </a:rPr>
              <a:t>Zufall 67 %</a:t>
            </a:r>
            <a:endParaRPr lang="en-US" sz="1000" dirty="0"/>
          </a:p>
        </p:txBody>
      </p:sp>
      <p:sp>
        <p:nvSpPr>
          <p:cNvPr id="72" name="Shape 70"/>
          <p:cNvSpPr/>
          <p:nvPr/>
        </p:nvSpPr>
        <p:spPr>
          <a:xfrm>
            <a:off x="3611880" y="3758184"/>
            <a:ext cx="1316736" cy="603504"/>
          </a:xfrm>
          <a:prstGeom prst="rect">
            <a:avLst/>
          </a:prstGeom>
          <a:solidFill>
            <a:srgbClr val="FBEDEA"/>
          </a:solidFill>
          <a:ln w="19050">
            <a:solidFill>
              <a:srgbClr val="FFFFFF"/>
            </a:solidFill>
            <a:prstDash val="solid"/>
          </a:ln>
        </p:spPr>
        <p:txBody>
          <a:bodyPr/>
          <a:lstStyle/>
          <a:p>
            <a:endParaRPr lang="de-DE"/>
          </a:p>
        </p:txBody>
      </p:sp>
      <p:sp>
        <p:nvSpPr>
          <p:cNvPr id="73" name="Text 71"/>
          <p:cNvSpPr/>
          <p:nvPr/>
        </p:nvSpPr>
        <p:spPr>
          <a:xfrm>
            <a:off x="3611880" y="3813048"/>
            <a:ext cx="1316736" cy="310896"/>
          </a:xfrm>
          <a:prstGeom prst="rect">
            <a:avLst/>
          </a:prstGeom>
          <a:noFill/>
          <a:ln/>
        </p:spPr>
        <p:txBody>
          <a:bodyPr wrap="square" lIns="0" tIns="0" rIns="0" bIns="0" rtlCol="0" anchor="ctr"/>
          <a:lstStyle/>
          <a:p>
            <a:pPr marL="0" indent="0" algn="ctr">
              <a:buNone/>
            </a:pPr>
            <a:r>
              <a:rPr lang="en-US" sz="1500" b="1" dirty="0">
                <a:solidFill>
                  <a:srgbClr val="23282F"/>
                </a:solidFill>
                <a:latin typeface="Calibri" pitchFamily="34" charset="0"/>
                <a:ea typeface="Calibri" pitchFamily="34" charset="-122"/>
                <a:cs typeface="Calibri" pitchFamily="34" charset="-120"/>
              </a:rPr>
              <a:t>39 %</a:t>
            </a:r>
            <a:endParaRPr lang="en-US" sz="1500" dirty="0"/>
          </a:p>
        </p:txBody>
      </p:sp>
      <p:sp>
        <p:nvSpPr>
          <p:cNvPr id="74" name="Text 72"/>
          <p:cNvSpPr/>
          <p:nvPr/>
        </p:nvSpPr>
        <p:spPr>
          <a:xfrm>
            <a:off x="3611880" y="4105656"/>
            <a:ext cx="1316736" cy="237744"/>
          </a:xfrm>
          <a:prstGeom prst="rect">
            <a:avLst/>
          </a:prstGeom>
          <a:noFill/>
          <a:ln/>
        </p:spPr>
        <p:txBody>
          <a:bodyPr wrap="square" lIns="0" tIns="0" rIns="0" bIns="0" rtlCol="0" anchor="ctr"/>
          <a:lstStyle/>
          <a:p>
            <a:pPr marL="0" indent="0" algn="ctr">
              <a:buNone/>
            </a:pPr>
            <a:r>
              <a:rPr lang="en-US" sz="1000" dirty="0">
                <a:solidFill>
                  <a:srgbClr val="6E7681"/>
                </a:solidFill>
                <a:latin typeface="Calibri" pitchFamily="34" charset="0"/>
                <a:ea typeface="Calibri" pitchFamily="34" charset="-122"/>
                <a:cs typeface="Calibri" pitchFamily="34" charset="-120"/>
              </a:rPr>
              <a:t>Zufall 50 %</a:t>
            </a:r>
            <a:endParaRPr lang="en-US" sz="1000" dirty="0"/>
          </a:p>
        </p:txBody>
      </p:sp>
      <p:sp>
        <p:nvSpPr>
          <p:cNvPr id="75" name="Shape 73"/>
          <p:cNvSpPr/>
          <p:nvPr/>
        </p:nvSpPr>
        <p:spPr>
          <a:xfrm>
            <a:off x="4983480" y="3758184"/>
            <a:ext cx="1316736" cy="603504"/>
          </a:xfrm>
          <a:prstGeom prst="rect">
            <a:avLst/>
          </a:prstGeom>
          <a:solidFill>
            <a:srgbClr val="EDF2F5"/>
          </a:solidFill>
          <a:ln w="19050">
            <a:solidFill>
              <a:srgbClr val="FFFFFF"/>
            </a:solidFill>
            <a:prstDash val="solid"/>
          </a:ln>
        </p:spPr>
        <p:txBody>
          <a:bodyPr/>
          <a:lstStyle/>
          <a:p>
            <a:endParaRPr lang="de-DE"/>
          </a:p>
        </p:txBody>
      </p:sp>
      <p:sp>
        <p:nvSpPr>
          <p:cNvPr id="76" name="Text 74"/>
          <p:cNvSpPr/>
          <p:nvPr/>
        </p:nvSpPr>
        <p:spPr>
          <a:xfrm>
            <a:off x="4983480" y="3813048"/>
            <a:ext cx="1316736" cy="310896"/>
          </a:xfrm>
          <a:prstGeom prst="rect">
            <a:avLst/>
          </a:prstGeom>
          <a:noFill/>
          <a:ln/>
        </p:spPr>
        <p:txBody>
          <a:bodyPr wrap="square" lIns="0" tIns="0" rIns="0" bIns="0" rtlCol="0" anchor="ctr"/>
          <a:lstStyle/>
          <a:p>
            <a:pPr marL="0" indent="0" algn="ctr">
              <a:buNone/>
            </a:pPr>
            <a:r>
              <a:rPr lang="en-US" sz="1500" b="1" dirty="0">
                <a:solidFill>
                  <a:srgbClr val="23282F"/>
                </a:solidFill>
                <a:latin typeface="Calibri" pitchFamily="34" charset="0"/>
                <a:ea typeface="Calibri" pitchFamily="34" charset="-122"/>
                <a:cs typeface="Calibri" pitchFamily="34" charset="-120"/>
              </a:rPr>
              <a:t>27 %</a:t>
            </a:r>
            <a:endParaRPr lang="en-US" sz="1500" dirty="0"/>
          </a:p>
        </p:txBody>
      </p:sp>
      <p:sp>
        <p:nvSpPr>
          <p:cNvPr id="77" name="Text 75"/>
          <p:cNvSpPr/>
          <p:nvPr/>
        </p:nvSpPr>
        <p:spPr>
          <a:xfrm>
            <a:off x="4983480" y="4105656"/>
            <a:ext cx="1316736" cy="237744"/>
          </a:xfrm>
          <a:prstGeom prst="rect">
            <a:avLst/>
          </a:prstGeom>
          <a:noFill/>
          <a:ln/>
        </p:spPr>
        <p:txBody>
          <a:bodyPr wrap="square" lIns="0" tIns="0" rIns="0" bIns="0" rtlCol="0" anchor="ctr"/>
          <a:lstStyle/>
          <a:p>
            <a:pPr marL="0" indent="0" algn="ctr">
              <a:buNone/>
            </a:pPr>
            <a:r>
              <a:rPr lang="en-US" sz="1000" dirty="0">
                <a:solidFill>
                  <a:srgbClr val="6E7681"/>
                </a:solidFill>
                <a:latin typeface="Calibri" pitchFamily="34" charset="0"/>
                <a:ea typeface="Calibri" pitchFamily="34" charset="-122"/>
                <a:cs typeface="Calibri" pitchFamily="34" charset="-120"/>
              </a:rPr>
              <a:t>Zufall 31 %</a:t>
            </a:r>
            <a:endParaRPr lang="en-US" sz="1000" dirty="0"/>
          </a:p>
        </p:txBody>
      </p:sp>
      <p:sp>
        <p:nvSpPr>
          <p:cNvPr id="78" name="Shape 76"/>
          <p:cNvSpPr/>
          <p:nvPr/>
        </p:nvSpPr>
        <p:spPr>
          <a:xfrm>
            <a:off x="6355080" y="3758184"/>
            <a:ext cx="1316736" cy="603504"/>
          </a:xfrm>
          <a:prstGeom prst="rect">
            <a:avLst/>
          </a:prstGeom>
          <a:solidFill>
            <a:srgbClr val="EDF2F5"/>
          </a:solidFill>
          <a:ln w="19050">
            <a:solidFill>
              <a:srgbClr val="FFFFFF"/>
            </a:solidFill>
            <a:prstDash val="solid"/>
          </a:ln>
        </p:spPr>
        <p:txBody>
          <a:bodyPr/>
          <a:lstStyle/>
          <a:p>
            <a:endParaRPr lang="de-DE"/>
          </a:p>
        </p:txBody>
      </p:sp>
      <p:sp>
        <p:nvSpPr>
          <p:cNvPr id="79" name="Text 77"/>
          <p:cNvSpPr/>
          <p:nvPr/>
        </p:nvSpPr>
        <p:spPr>
          <a:xfrm>
            <a:off x="6355080" y="3813048"/>
            <a:ext cx="1316736" cy="310896"/>
          </a:xfrm>
          <a:prstGeom prst="rect">
            <a:avLst/>
          </a:prstGeom>
          <a:noFill/>
          <a:ln/>
        </p:spPr>
        <p:txBody>
          <a:bodyPr wrap="square" lIns="0" tIns="0" rIns="0" bIns="0" rtlCol="0" anchor="ctr"/>
          <a:lstStyle/>
          <a:p>
            <a:pPr marL="0" indent="0" algn="ctr">
              <a:buNone/>
            </a:pPr>
            <a:r>
              <a:rPr lang="en-US" sz="1500" b="1" dirty="0">
                <a:solidFill>
                  <a:srgbClr val="23282F"/>
                </a:solidFill>
                <a:latin typeface="Calibri" pitchFamily="34" charset="0"/>
                <a:ea typeface="Calibri" pitchFamily="34" charset="-122"/>
                <a:cs typeface="Calibri" pitchFamily="34" charset="-120"/>
              </a:rPr>
              <a:t>26 %</a:t>
            </a:r>
            <a:endParaRPr lang="en-US" sz="1500" dirty="0"/>
          </a:p>
        </p:txBody>
      </p:sp>
      <p:sp>
        <p:nvSpPr>
          <p:cNvPr id="80" name="Text 78"/>
          <p:cNvSpPr/>
          <p:nvPr/>
        </p:nvSpPr>
        <p:spPr>
          <a:xfrm>
            <a:off x="6355080" y="4105656"/>
            <a:ext cx="1316736" cy="237744"/>
          </a:xfrm>
          <a:prstGeom prst="rect">
            <a:avLst/>
          </a:prstGeom>
          <a:noFill/>
          <a:ln/>
        </p:spPr>
        <p:txBody>
          <a:bodyPr wrap="square" lIns="0" tIns="0" rIns="0" bIns="0" rtlCol="0" anchor="ctr"/>
          <a:lstStyle/>
          <a:p>
            <a:pPr marL="0" indent="0" algn="ctr">
              <a:buNone/>
            </a:pPr>
            <a:r>
              <a:rPr lang="en-US" sz="1000" dirty="0">
                <a:solidFill>
                  <a:srgbClr val="6E7681"/>
                </a:solidFill>
                <a:latin typeface="Calibri" pitchFamily="34" charset="0"/>
                <a:ea typeface="Calibri" pitchFamily="34" charset="-122"/>
                <a:cs typeface="Calibri" pitchFamily="34" charset="-120"/>
              </a:rPr>
              <a:t>Zufall 20 %</a:t>
            </a:r>
            <a:endParaRPr lang="en-US" sz="1000" dirty="0"/>
          </a:p>
        </p:txBody>
      </p:sp>
      <p:sp>
        <p:nvSpPr>
          <p:cNvPr id="81" name="Shape 79"/>
          <p:cNvSpPr/>
          <p:nvPr/>
        </p:nvSpPr>
        <p:spPr>
          <a:xfrm>
            <a:off x="7726680" y="3758184"/>
            <a:ext cx="1316736" cy="603504"/>
          </a:xfrm>
          <a:prstGeom prst="rect">
            <a:avLst/>
          </a:prstGeom>
          <a:solidFill>
            <a:srgbClr val="EDF2F5"/>
          </a:solidFill>
          <a:ln w="19050">
            <a:solidFill>
              <a:srgbClr val="FFFFFF"/>
            </a:solidFill>
            <a:prstDash val="solid"/>
          </a:ln>
        </p:spPr>
        <p:txBody>
          <a:bodyPr/>
          <a:lstStyle/>
          <a:p>
            <a:endParaRPr lang="de-DE"/>
          </a:p>
        </p:txBody>
      </p:sp>
      <p:sp>
        <p:nvSpPr>
          <p:cNvPr id="82" name="Text 80"/>
          <p:cNvSpPr/>
          <p:nvPr/>
        </p:nvSpPr>
        <p:spPr>
          <a:xfrm>
            <a:off x="7726680" y="3813048"/>
            <a:ext cx="1316736" cy="310896"/>
          </a:xfrm>
          <a:prstGeom prst="rect">
            <a:avLst/>
          </a:prstGeom>
          <a:noFill/>
          <a:ln/>
        </p:spPr>
        <p:txBody>
          <a:bodyPr wrap="square" lIns="0" tIns="0" rIns="0" bIns="0" rtlCol="0" anchor="ctr"/>
          <a:lstStyle/>
          <a:p>
            <a:pPr marL="0" indent="0" algn="ctr">
              <a:buNone/>
            </a:pPr>
            <a:r>
              <a:rPr lang="en-US" sz="1500" b="1" dirty="0">
                <a:solidFill>
                  <a:srgbClr val="23282F"/>
                </a:solidFill>
                <a:latin typeface="Calibri" pitchFamily="34" charset="0"/>
                <a:ea typeface="Calibri" pitchFamily="34" charset="-122"/>
                <a:cs typeface="Calibri" pitchFamily="34" charset="-120"/>
              </a:rPr>
              <a:t>30 %</a:t>
            </a:r>
            <a:endParaRPr lang="en-US" sz="1500" dirty="0"/>
          </a:p>
        </p:txBody>
      </p:sp>
      <p:sp>
        <p:nvSpPr>
          <p:cNvPr id="83" name="Text 81"/>
          <p:cNvSpPr/>
          <p:nvPr/>
        </p:nvSpPr>
        <p:spPr>
          <a:xfrm>
            <a:off x="7726680" y="4105656"/>
            <a:ext cx="1316736" cy="237744"/>
          </a:xfrm>
          <a:prstGeom prst="rect">
            <a:avLst/>
          </a:prstGeom>
          <a:noFill/>
          <a:ln/>
        </p:spPr>
        <p:txBody>
          <a:bodyPr wrap="square" lIns="0" tIns="0" rIns="0" bIns="0" rtlCol="0" anchor="ctr"/>
          <a:lstStyle/>
          <a:p>
            <a:pPr marL="0" indent="0" algn="ctr">
              <a:buNone/>
            </a:pPr>
            <a:r>
              <a:rPr lang="en-US" sz="1000" dirty="0">
                <a:solidFill>
                  <a:srgbClr val="6E7681"/>
                </a:solidFill>
                <a:latin typeface="Calibri" pitchFamily="34" charset="0"/>
                <a:ea typeface="Calibri" pitchFamily="34" charset="-122"/>
                <a:cs typeface="Calibri" pitchFamily="34" charset="-120"/>
              </a:rPr>
              <a:t>Zufall 33 %</a:t>
            </a:r>
            <a:endParaRPr lang="en-US" sz="1000" dirty="0"/>
          </a:p>
        </p:txBody>
      </p:sp>
      <p:sp>
        <p:nvSpPr>
          <p:cNvPr id="84" name="Shape 82"/>
          <p:cNvSpPr/>
          <p:nvPr/>
        </p:nvSpPr>
        <p:spPr>
          <a:xfrm>
            <a:off x="9098280" y="3758184"/>
            <a:ext cx="1316736" cy="603504"/>
          </a:xfrm>
          <a:prstGeom prst="rect">
            <a:avLst/>
          </a:prstGeom>
          <a:solidFill>
            <a:srgbClr val="F3D5CE"/>
          </a:solidFill>
          <a:ln w="19050">
            <a:solidFill>
              <a:srgbClr val="FFFFFF"/>
            </a:solidFill>
            <a:prstDash val="solid"/>
          </a:ln>
        </p:spPr>
        <p:txBody>
          <a:bodyPr/>
          <a:lstStyle/>
          <a:p>
            <a:endParaRPr lang="de-DE"/>
          </a:p>
        </p:txBody>
      </p:sp>
      <p:sp>
        <p:nvSpPr>
          <p:cNvPr id="85" name="Text 83"/>
          <p:cNvSpPr/>
          <p:nvPr/>
        </p:nvSpPr>
        <p:spPr>
          <a:xfrm>
            <a:off x="9098280" y="3813048"/>
            <a:ext cx="1316736" cy="310896"/>
          </a:xfrm>
          <a:prstGeom prst="rect">
            <a:avLst/>
          </a:prstGeom>
          <a:noFill/>
          <a:ln/>
        </p:spPr>
        <p:txBody>
          <a:bodyPr wrap="square" lIns="0" tIns="0" rIns="0" bIns="0" rtlCol="0" anchor="ctr"/>
          <a:lstStyle/>
          <a:p>
            <a:pPr marL="0" indent="0" algn="ctr">
              <a:buNone/>
            </a:pPr>
            <a:r>
              <a:rPr lang="en-US" sz="1500" b="1" dirty="0">
                <a:solidFill>
                  <a:srgbClr val="23282F"/>
                </a:solidFill>
                <a:latin typeface="Calibri" pitchFamily="34" charset="0"/>
                <a:ea typeface="Calibri" pitchFamily="34" charset="-122"/>
                <a:cs typeface="Calibri" pitchFamily="34" charset="-120"/>
              </a:rPr>
              <a:t>52 %</a:t>
            </a:r>
            <a:endParaRPr lang="en-US" sz="1500" dirty="0"/>
          </a:p>
        </p:txBody>
      </p:sp>
      <p:sp>
        <p:nvSpPr>
          <p:cNvPr id="86" name="Text 84"/>
          <p:cNvSpPr/>
          <p:nvPr/>
        </p:nvSpPr>
        <p:spPr>
          <a:xfrm>
            <a:off x="9098280" y="4105656"/>
            <a:ext cx="1316736" cy="237744"/>
          </a:xfrm>
          <a:prstGeom prst="rect">
            <a:avLst/>
          </a:prstGeom>
          <a:noFill/>
          <a:ln/>
        </p:spPr>
        <p:txBody>
          <a:bodyPr wrap="square" lIns="0" tIns="0" rIns="0" bIns="0" rtlCol="0" anchor="ctr"/>
          <a:lstStyle/>
          <a:p>
            <a:pPr marL="0" indent="0" algn="ctr">
              <a:buNone/>
            </a:pPr>
            <a:r>
              <a:rPr lang="en-US" sz="1000" dirty="0">
                <a:solidFill>
                  <a:srgbClr val="6E7681"/>
                </a:solidFill>
                <a:latin typeface="Calibri" pitchFamily="34" charset="0"/>
                <a:ea typeface="Calibri" pitchFamily="34" charset="-122"/>
                <a:cs typeface="Calibri" pitchFamily="34" charset="-120"/>
              </a:rPr>
              <a:t>Zufall 51 %</a:t>
            </a:r>
            <a:endParaRPr lang="en-US" sz="1000" dirty="0"/>
          </a:p>
        </p:txBody>
      </p:sp>
      <p:sp>
        <p:nvSpPr>
          <p:cNvPr id="87" name="Text 85"/>
          <p:cNvSpPr/>
          <p:nvPr/>
        </p:nvSpPr>
        <p:spPr>
          <a:xfrm>
            <a:off x="640080" y="4617720"/>
            <a:ext cx="10881360" cy="411480"/>
          </a:xfrm>
          <a:prstGeom prst="rect">
            <a:avLst/>
          </a:prstGeom>
          <a:noFill/>
          <a:ln/>
        </p:spPr>
        <p:txBody>
          <a:bodyPr wrap="square" lIns="0" tIns="0" rIns="0" bIns="0" rtlCol="0" anchor="ctr"/>
          <a:lstStyle/>
          <a:p>
            <a:pPr marL="0" indent="0">
              <a:buNone/>
            </a:pPr>
            <a:r>
              <a:rPr lang="en-US" sz="1500" b="1" dirty="0">
                <a:solidFill>
                  <a:srgbClr val="B3382C"/>
                </a:solidFill>
                <a:latin typeface="Calibri" pitchFamily="34" charset="0"/>
                <a:ea typeface="Calibri" pitchFamily="34" charset="-122"/>
                <a:cs typeface="Calibri" pitchFamily="34" charset="-120"/>
              </a:rPr>
              <a:t>In fast jeder Zelle liegen trainiertes Modell und Zufallsagent dicht beieinander. Der Verteidiger wirkt, aber die gelernte Politik ist kaum besser als blindes Handeln.</a:t>
            </a:r>
            <a:endParaRPr lang="en-US" sz="1500" dirty="0"/>
          </a:p>
        </p:txBody>
      </p:sp>
      <p:sp>
        <p:nvSpPr>
          <p:cNvPr id="88" name="Text 86"/>
          <p:cNvSpPr/>
          <p:nvPr/>
        </p:nvSpPr>
        <p:spPr>
          <a:xfrm>
            <a:off x="640080" y="5029200"/>
            <a:ext cx="10881360" cy="640080"/>
          </a:xfrm>
          <a:prstGeom prst="rect">
            <a:avLst/>
          </a:prstGeom>
          <a:noFill/>
          <a:ln/>
        </p:spPr>
        <p:txBody>
          <a:bodyPr wrap="square" lIns="0" tIns="0" rIns="0" bIns="0" rtlCol="0" anchor="ctr"/>
          <a:lstStyle/>
          <a:p>
            <a:pPr marL="0" indent="0">
              <a:buNone/>
            </a:pPr>
            <a:r>
              <a:rPr lang="en-US" sz="1150" dirty="0">
                <a:solidFill>
                  <a:srgbClr val="6E7681"/>
                </a:solidFill>
                <a:latin typeface="Calibri" pitchFamily="34" charset="0"/>
                <a:ea typeface="Calibri" pitchFamily="34" charset="-122"/>
                <a:cs typeface="Calibri" pitchFamily="34" charset="-120"/>
              </a:rPr>
              <a:t>Bewusst ohne Zeilenmittel: Beide üblichen Arten zu aggregieren verzerren in verschiedene Richtungen. Das Verhältnis der Summen wird vom stärksten Angreifer bestimmt, das Mittel der Einzelverhältnisse vom schwächsten. Der Chain-Angreifer etwa erreicht in der Micro-Segmentation einen Restanteil von 67 Prozent, holt ungeschützt aber nur 36 Punkte.</a:t>
            </a:r>
            <a:endParaRPr lang="en-US" sz="1150" dirty="0"/>
          </a:p>
        </p:txBody>
      </p:sp>
      <p:sp>
        <p:nvSpPr>
          <p:cNvPr id="89" name="Text 87"/>
          <p:cNvSpPr/>
          <p:nvPr/>
        </p:nvSpPr>
        <p:spPr>
          <a:xfrm>
            <a:off x="640080" y="6291072"/>
            <a:ext cx="10881360" cy="274320"/>
          </a:xfrm>
          <a:prstGeom prst="rect">
            <a:avLst/>
          </a:prstGeom>
          <a:noFill/>
          <a:ln/>
        </p:spPr>
        <p:txBody>
          <a:bodyPr wrap="square" lIns="0" tIns="0" rIns="0" bIns="0" rtlCol="0" anchor="ctr"/>
          <a:lstStyle/>
          <a:p>
            <a:pPr marL="0" indent="0">
              <a:buNone/>
            </a:pPr>
            <a:r>
              <a:rPr lang="en-US" sz="1000" i="1" dirty="0">
                <a:solidFill>
                  <a:srgbClr val="6E7681"/>
                </a:solidFill>
                <a:latin typeface="Calibri" pitchFamily="34" charset="0"/>
                <a:ea typeface="Calibri" pitchFamily="34" charset="-122"/>
                <a:cs typeface="Calibri" pitchFamily="34" charset="-120"/>
              </a:rPr>
              <a:t>Restanteil = Angreifer-Reward mit Verteidiger geteilt durch den ohne Verteidiger. Kleiner ist besser. 25 Episoden je Zelle, Median über Episoden und über alle 5 Seeds. Beide Agenten sind eingefroren.</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640080" y="384048"/>
            <a:ext cx="10881360" cy="566928"/>
          </a:xfrm>
          <a:prstGeom prst="rect">
            <a:avLst/>
          </a:prstGeom>
          <a:noFill/>
          <a:ln/>
        </p:spPr>
        <p:txBody>
          <a:bodyPr wrap="square" lIns="0" tIns="0" rIns="0" bIns="0" rtlCol="0" anchor="ctr"/>
          <a:lstStyle/>
          <a:p>
            <a:pPr marL="0" indent="0">
              <a:buNone/>
            </a:pPr>
            <a:r>
              <a:rPr lang="en-US" sz="3400" b="1" dirty="0">
                <a:solidFill>
                  <a:srgbClr val="23282F"/>
                </a:solidFill>
                <a:latin typeface="Cambria" pitchFamily="34" charset="0"/>
                <a:ea typeface="Cambria" pitchFamily="34" charset="-122"/>
                <a:cs typeface="Cambria" pitchFamily="34" charset="-120"/>
              </a:rPr>
              <a:t>Bringt der Verteidiger etwas? Gehaltene Knoten</a:t>
            </a:r>
            <a:endParaRPr lang="en-US" sz="3400" dirty="0"/>
          </a:p>
        </p:txBody>
      </p:sp>
      <p:sp>
        <p:nvSpPr>
          <p:cNvPr id="3" name="Text 1"/>
          <p:cNvSpPr/>
          <p:nvPr/>
        </p:nvSpPr>
        <p:spPr>
          <a:xfrm>
            <a:off x="640080" y="969264"/>
            <a:ext cx="10881360" cy="493776"/>
          </a:xfrm>
          <a:prstGeom prst="rect">
            <a:avLst/>
          </a:prstGeom>
          <a:noFill/>
          <a:ln/>
        </p:spPr>
        <p:txBody>
          <a:bodyPr wrap="square" lIns="0" tIns="0" rIns="0" bIns="0" rtlCol="0" anchor="ctr"/>
          <a:lstStyle/>
          <a:p>
            <a:pPr marL="0" indent="0">
              <a:buNone/>
            </a:pPr>
            <a:r>
              <a:rPr lang="en-US" sz="1400" dirty="0">
                <a:solidFill>
                  <a:srgbClr val="6E7681"/>
                </a:solidFill>
                <a:latin typeface="Calibri" pitchFamily="34" charset="0"/>
                <a:ea typeface="Calibri" pitchFamily="34" charset="-122"/>
                <a:cs typeface="Calibri" pitchFamily="34" charset="-120"/>
              </a:rPr>
              <a:t>Vom Angreifer gehaltene Knoten je Matchup, von zehn im Netz — große Zahl = trainiertes Modell</a:t>
            </a:r>
            <a:endParaRPr lang="en-US" sz="1400" dirty="0"/>
          </a:p>
        </p:txBody>
      </p:sp>
      <p:sp>
        <p:nvSpPr>
          <p:cNvPr id="4" name="Text 2"/>
          <p:cNvSpPr/>
          <p:nvPr/>
        </p:nvSpPr>
        <p:spPr>
          <a:xfrm>
            <a:off x="2240280" y="1399032"/>
            <a:ext cx="1371600" cy="329184"/>
          </a:xfrm>
          <a:prstGeom prst="rect">
            <a:avLst/>
          </a:prstGeom>
          <a:noFill/>
          <a:ln/>
        </p:spPr>
        <p:txBody>
          <a:bodyPr wrap="square" lIns="0" tIns="0" rIns="0" bIns="0" rtlCol="0" anchor="ctr"/>
          <a:lstStyle/>
          <a:p>
            <a:pPr marL="0" indent="0" algn="ctr">
              <a:buNone/>
            </a:pPr>
            <a:r>
              <a:rPr lang="en-US" sz="1200" b="1" dirty="0">
                <a:solidFill>
                  <a:srgbClr val="6E7681"/>
                </a:solidFill>
                <a:latin typeface="Calibri" pitchFamily="34" charset="0"/>
                <a:ea typeface="Calibri" pitchFamily="34" charset="-122"/>
                <a:cs typeface="Calibri" pitchFamily="34" charset="-120"/>
              </a:rPr>
              <a:t>Chain</a:t>
            </a:r>
            <a:endParaRPr lang="en-US" sz="1200" dirty="0"/>
          </a:p>
        </p:txBody>
      </p:sp>
      <p:sp>
        <p:nvSpPr>
          <p:cNvPr id="5" name="Text 3"/>
          <p:cNvSpPr/>
          <p:nvPr/>
        </p:nvSpPr>
        <p:spPr>
          <a:xfrm>
            <a:off x="3611880" y="1399032"/>
            <a:ext cx="1371600" cy="329184"/>
          </a:xfrm>
          <a:prstGeom prst="rect">
            <a:avLst/>
          </a:prstGeom>
          <a:noFill/>
          <a:ln/>
        </p:spPr>
        <p:txBody>
          <a:bodyPr wrap="square" lIns="0" tIns="0" rIns="0" bIns="0" rtlCol="0" anchor="ctr"/>
          <a:lstStyle/>
          <a:p>
            <a:pPr marL="0" indent="0" algn="ctr">
              <a:buNone/>
            </a:pPr>
            <a:r>
              <a:rPr lang="en-US" sz="1200" b="1" dirty="0">
                <a:solidFill>
                  <a:srgbClr val="6E7681"/>
                </a:solidFill>
                <a:latin typeface="Calibri" pitchFamily="34" charset="0"/>
                <a:ea typeface="Calibri" pitchFamily="34" charset="-122"/>
                <a:cs typeface="Calibri" pitchFamily="34" charset="-120"/>
              </a:rPr>
              <a:t>Flat</a:t>
            </a:r>
            <a:endParaRPr lang="en-US" sz="1200" dirty="0"/>
          </a:p>
        </p:txBody>
      </p:sp>
      <p:sp>
        <p:nvSpPr>
          <p:cNvPr id="6" name="Text 4"/>
          <p:cNvSpPr/>
          <p:nvPr/>
        </p:nvSpPr>
        <p:spPr>
          <a:xfrm>
            <a:off x="4983480" y="1399032"/>
            <a:ext cx="1371600" cy="329184"/>
          </a:xfrm>
          <a:prstGeom prst="rect">
            <a:avLst/>
          </a:prstGeom>
          <a:noFill/>
          <a:ln/>
        </p:spPr>
        <p:txBody>
          <a:bodyPr wrap="square" lIns="0" tIns="0" rIns="0" bIns="0" rtlCol="0" anchor="ctr"/>
          <a:lstStyle/>
          <a:p>
            <a:pPr marL="0" indent="0" algn="ctr">
              <a:buNone/>
            </a:pPr>
            <a:r>
              <a:rPr lang="en-US" sz="1200" b="1" dirty="0">
                <a:solidFill>
                  <a:srgbClr val="6E7681"/>
                </a:solidFill>
                <a:latin typeface="Calibri" pitchFamily="34" charset="0"/>
                <a:ea typeface="Calibri" pitchFamily="34" charset="-122"/>
                <a:cs typeface="Calibri" pitchFamily="34" charset="-120"/>
              </a:rPr>
              <a:t>Hub &amp; Spoke</a:t>
            </a:r>
            <a:endParaRPr lang="en-US" sz="1200" dirty="0"/>
          </a:p>
        </p:txBody>
      </p:sp>
      <p:sp>
        <p:nvSpPr>
          <p:cNvPr id="7" name="Text 5"/>
          <p:cNvSpPr/>
          <p:nvPr/>
        </p:nvSpPr>
        <p:spPr>
          <a:xfrm>
            <a:off x="6355080" y="1399032"/>
            <a:ext cx="1371600" cy="329184"/>
          </a:xfrm>
          <a:prstGeom prst="rect">
            <a:avLst/>
          </a:prstGeom>
          <a:noFill/>
          <a:ln/>
        </p:spPr>
        <p:txBody>
          <a:bodyPr wrap="square" lIns="0" tIns="0" rIns="0" bIns="0" rtlCol="0" anchor="ctr"/>
          <a:lstStyle/>
          <a:p>
            <a:pPr marL="0" indent="0" algn="ctr">
              <a:buNone/>
            </a:pPr>
            <a:r>
              <a:rPr lang="en-US" sz="1200" b="1" dirty="0">
                <a:solidFill>
                  <a:srgbClr val="6E7681"/>
                </a:solidFill>
                <a:latin typeface="Calibri" pitchFamily="34" charset="0"/>
                <a:ea typeface="Calibri" pitchFamily="34" charset="-122"/>
                <a:cs typeface="Calibri" pitchFamily="34" charset="-120"/>
              </a:rPr>
              <a:t>DMZ</a:t>
            </a:r>
            <a:endParaRPr lang="en-US" sz="1200" dirty="0"/>
          </a:p>
        </p:txBody>
      </p:sp>
      <p:sp>
        <p:nvSpPr>
          <p:cNvPr id="8" name="Text 6"/>
          <p:cNvSpPr/>
          <p:nvPr/>
        </p:nvSpPr>
        <p:spPr>
          <a:xfrm>
            <a:off x="7726680" y="1399032"/>
            <a:ext cx="1371600" cy="329184"/>
          </a:xfrm>
          <a:prstGeom prst="rect">
            <a:avLst/>
          </a:prstGeom>
          <a:noFill/>
          <a:ln/>
        </p:spPr>
        <p:txBody>
          <a:bodyPr wrap="square" lIns="0" tIns="0" rIns="0" bIns="0" rtlCol="0" anchor="ctr"/>
          <a:lstStyle/>
          <a:p>
            <a:pPr marL="0" indent="0" algn="ctr">
              <a:buNone/>
            </a:pPr>
            <a:r>
              <a:rPr lang="en-US" sz="1200" b="1" dirty="0">
                <a:solidFill>
                  <a:srgbClr val="6E7681"/>
                </a:solidFill>
                <a:latin typeface="Calibri" pitchFamily="34" charset="0"/>
                <a:ea typeface="Calibri" pitchFamily="34" charset="-122"/>
                <a:cs typeface="Calibri" pitchFamily="34" charset="-120"/>
              </a:rPr>
              <a:t>Micro-Seg.</a:t>
            </a:r>
            <a:endParaRPr lang="en-US" sz="1200" dirty="0"/>
          </a:p>
        </p:txBody>
      </p:sp>
      <p:sp>
        <p:nvSpPr>
          <p:cNvPr id="9" name="Text 7"/>
          <p:cNvSpPr/>
          <p:nvPr/>
        </p:nvSpPr>
        <p:spPr>
          <a:xfrm>
            <a:off x="9098280" y="1399032"/>
            <a:ext cx="1371600" cy="329184"/>
          </a:xfrm>
          <a:prstGeom prst="rect">
            <a:avLst/>
          </a:prstGeom>
          <a:noFill/>
          <a:ln/>
        </p:spPr>
        <p:txBody>
          <a:bodyPr wrap="square" lIns="0" tIns="0" rIns="0" bIns="0" rtlCol="0" anchor="ctr"/>
          <a:lstStyle/>
          <a:p>
            <a:pPr marL="0" indent="0" algn="ctr">
              <a:buNone/>
            </a:pPr>
            <a:r>
              <a:rPr lang="en-US" sz="1200" b="1" dirty="0">
                <a:solidFill>
                  <a:srgbClr val="6E7681"/>
                </a:solidFill>
                <a:latin typeface="Calibri" pitchFamily="34" charset="0"/>
                <a:ea typeface="Calibri" pitchFamily="34" charset="-122"/>
                <a:cs typeface="Calibri" pitchFamily="34" charset="-120"/>
              </a:rPr>
              <a:t>Super</a:t>
            </a:r>
            <a:endParaRPr lang="en-US" sz="1200" dirty="0"/>
          </a:p>
        </p:txBody>
      </p:sp>
      <p:sp>
        <p:nvSpPr>
          <p:cNvPr id="11" name="Text 9"/>
          <p:cNvSpPr/>
          <p:nvPr/>
        </p:nvSpPr>
        <p:spPr>
          <a:xfrm>
            <a:off x="640080" y="1783080"/>
            <a:ext cx="1508760" cy="713232"/>
          </a:xfrm>
          <a:prstGeom prst="rect">
            <a:avLst/>
          </a:prstGeom>
          <a:noFill/>
          <a:ln/>
        </p:spPr>
        <p:txBody>
          <a:bodyPr wrap="square" lIns="0" tIns="0" rIns="0" bIns="0" rtlCol="0" anchor="ctr"/>
          <a:lstStyle/>
          <a:p>
            <a:pPr marL="0" indent="0" algn="r">
              <a:buNone/>
            </a:pPr>
            <a:r>
              <a:rPr lang="en-US" sz="1300" b="1" dirty="0">
                <a:solidFill>
                  <a:srgbClr val="23282F"/>
                </a:solidFill>
                <a:latin typeface="Calibri" pitchFamily="34" charset="0"/>
                <a:ea typeface="Calibri" pitchFamily="34" charset="-122"/>
                <a:cs typeface="Calibri" pitchFamily="34" charset="-120"/>
              </a:rPr>
              <a:t>Flat</a:t>
            </a:r>
            <a:endParaRPr lang="en-US" sz="1300" dirty="0"/>
          </a:p>
        </p:txBody>
      </p:sp>
      <p:sp>
        <p:nvSpPr>
          <p:cNvPr id="12" name="Shape 10"/>
          <p:cNvSpPr/>
          <p:nvPr/>
        </p:nvSpPr>
        <p:spPr>
          <a:xfrm>
            <a:off x="2240280" y="1783080"/>
            <a:ext cx="1316736" cy="658368"/>
          </a:xfrm>
          <a:prstGeom prst="rect">
            <a:avLst/>
          </a:prstGeom>
          <a:solidFill>
            <a:srgbClr val="DCEAF1"/>
          </a:solidFill>
          <a:ln w="19050">
            <a:solidFill>
              <a:srgbClr val="FFFFFF"/>
            </a:solidFill>
            <a:prstDash val="solid"/>
          </a:ln>
        </p:spPr>
        <p:txBody>
          <a:bodyPr/>
          <a:lstStyle/>
          <a:p>
            <a:endParaRPr lang="de-DE"/>
          </a:p>
        </p:txBody>
      </p:sp>
      <p:sp>
        <p:nvSpPr>
          <p:cNvPr id="13" name="Text 11"/>
          <p:cNvSpPr/>
          <p:nvPr/>
        </p:nvSpPr>
        <p:spPr>
          <a:xfrm>
            <a:off x="2240280" y="1837944"/>
            <a:ext cx="1316736" cy="329184"/>
          </a:xfrm>
          <a:prstGeom prst="rect">
            <a:avLst/>
          </a:prstGeom>
          <a:noFill/>
          <a:ln/>
        </p:spPr>
        <p:txBody>
          <a:bodyPr wrap="square" lIns="0" tIns="0" rIns="0" bIns="0" rtlCol="0" anchor="ctr"/>
          <a:lstStyle/>
          <a:p>
            <a:pPr marL="0" indent="0" algn="ctr">
              <a:buNone/>
            </a:pPr>
            <a:r>
              <a:rPr lang="en-US" sz="1500" b="1" dirty="0">
                <a:solidFill>
                  <a:srgbClr val="23282F"/>
                </a:solidFill>
                <a:latin typeface="Cambria" pitchFamily="34" charset="0"/>
                <a:ea typeface="Cambria" pitchFamily="34" charset="-122"/>
                <a:cs typeface="Cambria" pitchFamily="34" charset="-120"/>
              </a:rPr>
              <a:t>1.0</a:t>
            </a:r>
            <a:endParaRPr lang="en-US" sz="1500" dirty="0"/>
          </a:p>
        </p:txBody>
      </p:sp>
      <p:sp>
        <p:nvSpPr>
          <p:cNvPr id="14" name="Text 12"/>
          <p:cNvSpPr/>
          <p:nvPr/>
        </p:nvSpPr>
        <p:spPr>
          <a:xfrm>
            <a:off x="2240280" y="2167128"/>
            <a:ext cx="1316736" cy="274320"/>
          </a:xfrm>
          <a:prstGeom prst="rect">
            <a:avLst/>
          </a:prstGeom>
          <a:noFill/>
          <a:ln/>
        </p:spPr>
        <p:txBody>
          <a:bodyPr wrap="square" lIns="0" tIns="0" rIns="0" bIns="0" rtlCol="0" anchor="ctr"/>
          <a:lstStyle/>
          <a:p>
            <a:pPr marL="0" indent="0" algn="ctr">
              <a:buNone/>
            </a:pPr>
            <a:r>
              <a:rPr lang="en-US" sz="900" dirty="0">
                <a:solidFill>
                  <a:srgbClr val="6E7681"/>
                </a:solidFill>
                <a:latin typeface="Calibri" pitchFamily="34" charset="0"/>
                <a:ea typeface="Calibri" pitchFamily="34" charset="-122"/>
                <a:cs typeface="Calibri" pitchFamily="34" charset="-120"/>
              </a:rPr>
              <a:t>ohne 1.0 · Zuf 1.0</a:t>
            </a:r>
            <a:endParaRPr lang="en-US" sz="900" dirty="0"/>
          </a:p>
        </p:txBody>
      </p:sp>
      <p:sp>
        <p:nvSpPr>
          <p:cNvPr id="15" name="Shape 13"/>
          <p:cNvSpPr/>
          <p:nvPr/>
        </p:nvSpPr>
        <p:spPr>
          <a:xfrm>
            <a:off x="3611880" y="1783080"/>
            <a:ext cx="1316736" cy="658368"/>
          </a:xfrm>
          <a:prstGeom prst="rect">
            <a:avLst/>
          </a:prstGeom>
          <a:solidFill>
            <a:srgbClr val="FBEDEA"/>
          </a:solidFill>
          <a:ln w="19050">
            <a:solidFill>
              <a:srgbClr val="FFFFFF"/>
            </a:solidFill>
            <a:prstDash val="solid"/>
          </a:ln>
        </p:spPr>
        <p:txBody>
          <a:bodyPr/>
          <a:lstStyle/>
          <a:p>
            <a:endParaRPr lang="de-DE"/>
          </a:p>
        </p:txBody>
      </p:sp>
      <p:sp>
        <p:nvSpPr>
          <p:cNvPr id="16" name="Text 14"/>
          <p:cNvSpPr/>
          <p:nvPr/>
        </p:nvSpPr>
        <p:spPr>
          <a:xfrm>
            <a:off x="3611880" y="1837944"/>
            <a:ext cx="1316736" cy="329184"/>
          </a:xfrm>
          <a:prstGeom prst="rect">
            <a:avLst/>
          </a:prstGeom>
          <a:noFill/>
          <a:ln/>
        </p:spPr>
        <p:txBody>
          <a:bodyPr wrap="square" lIns="0" tIns="0" rIns="0" bIns="0" rtlCol="0" anchor="ctr"/>
          <a:lstStyle/>
          <a:p>
            <a:pPr marL="0" indent="0" algn="ctr">
              <a:buNone/>
            </a:pPr>
            <a:r>
              <a:rPr lang="en-US" sz="1500" b="1" dirty="0">
                <a:solidFill>
                  <a:srgbClr val="23282F"/>
                </a:solidFill>
                <a:latin typeface="Cambria" pitchFamily="34" charset="0"/>
                <a:ea typeface="Cambria" pitchFamily="34" charset="-122"/>
                <a:cs typeface="Cambria" pitchFamily="34" charset="-120"/>
              </a:rPr>
              <a:t>4.0</a:t>
            </a:r>
            <a:endParaRPr lang="en-US" sz="1500" dirty="0"/>
          </a:p>
        </p:txBody>
      </p:sp>
      <p:sp>
        <p:nvSpPr>
          <p:cNvPr id="17" name="Text 15"/>
          <p:cNvSpPr/>
          <p:nvPr/>
        </p:nvSpPr>
        <p:spPr>
          <a:xfrm>
            <a:off x="3611880" y="2167128"/>
            <a:ext cx="1316736" cy="274320"/>
          </a:xfrm>
          <a:prstGeom prst="rect">
            <a:avLst/>
          </a:prstGeom>
          <a:noFill/>
          <a:ln/>
        </p:spPr>
        <p:txBody>
          <a:bodyPr wrap="square" lIns="0" tIns="0" rIns="0" bIns="0" rtlCol="0" anchor="ctr"/>
          <a:lstStyle/>
          <a:p>
            <a:pPr marL="0" indent="0" algn="ctr">
              <a:buNone/>
            </a:pPr>
            <a:r>
              <a:rPr lang="en-US" sz="900" dirty="0">
                <a:solidFill>
                  <a:srgbClr val="6E7681"/>
                </a:solidFill>
                <a:latin typeface="Calibri" pitchFamily="34" charset="0"/>
                <a:ea typeface="Calibri" pitchFamily="34" charset="-122"/>
                <a:cs typeface="Calibri" pitchFamily="34" charset="-120"/>
              </a:rPr>
              <a:t>ohne 10.0 · Zuf 4.0</a:t>
            </a:r>
            <a:endParaRPr lang="en-US" sz="900" dirty="0"/>
          </a:p>
        </p:txBody>
      </p:sp>
      <p:sp>
        <p:nvSpPr>
          <p:cNvPr id="18" name="Shape 16"/>
          <p:cNvSpPr/>
          <p:nvPr/>
        </p:nvSpPr>
        <p:spPr>
          <a:xfrm>
            <a:off x="4983480" y="1783080"/>
            <a:ext cx="1316736" cy="658368"/>
          </a:xfrm>
          <a:prstGeom prst="rect">
            <a:avLst/>
          </a:prstGeom>
          <a:solidFill>
            <a:srgbClr val="F4F6F8"/>
          </a:solidFill>
          <a:ln w="19050">
            <a:solidFill>
              <a:srgbClr val="FFFFFF"/>
            </a:solidFill>
            <a:prstDash val="solid"/>
          </a:ln>
        </p:spPr>
        <p:txBody>
          <a:bodyPr/>
          <a:lstStyle/>
          <a:p>
            <a:endParaRPr lang="de-DE"/>
          </a:p>
        </p:txBody>
      </p:sp>
      <p:sp>
        <p:nvSpPr>
          <p:cNvPr id="19" name="Text 17"/>
          <p:cNvSpPr/>
          <p:nvPr/>
        </p:nvSpPr>
        <p:spPr>
          <a:xfrm>
            <a:off x="4983480" y="1837944"/>
            <a:ext cx="1316736" cy="329184"/>
          </a:xfrm>
          <a:prstGeom prst="rect">
            <a:avLst/>
          </a:prstGeom>
          <a:noFill/>
          <a:ln/>
        </p:spPr>
        <p:txBody>
          <a:bodyPr wrap="square" lIns="0" tIns="0" rIns="0" bIns="0" rtlCol="0" anchor="ctr"/>
          <a:lstStyle/>
          <a:p>
            <a:pPr marL="0" indent="0" algn="ctr">
              <a:buNone/>
            </a:pPr>
            <a:r>
              <a:rPr lang="en-US" sz="1500" b="1" dirty="0">
                <a:solidFill>
                  <a:srgbClr val="23282F"/>
                </a:solidFill>
                <a:latin typeface="Cambria" pitchFamily="34" charset="0"/>
                <a:ea typeface="Cambria" pitchFamily="34" charset="-122"/>
                <a:cs typeface="Cambria" pitchFamily="34" charset="-120"/>
              </a:rPr>
              <a:t>3.0</a:t>
            </a:r>
            <a:endParaRPr lang="en-US" sz="1500" dirty="0"/>
          </a:p>
        </p:txBody>
      </p:sp>
      <p:sp>
        <p:nvSpPr>
          <p:cNvPr id="20" name="Text 18"/>
          <p:cNvSpPr/>
          <p:nvPr/>
        </p:nvSpPr>
        <p:spPr>
          <a:xfrm>
            <a:off x="4983480" y="2167128"/>
            <a:ext cx="1316736" cy="274320"/>
          </a:xfrm>
          <a:prstGeom prst="rect">
            <a:avLst/>
          </a:prstGeom>
          <a:noFill/>
          <a:ln/>
        </p:spPr>
        <p:txBody>
          <a:bodyPr wrap="square" lIns="0" tIns="0" rIns="0" bIns="0" rtlCol="0" anchor="ctr"/>
          <a:lstStyle/>
          <a:p>
            <a:pPr marL="0" indent="0" algn="ctr">
              <a:buNone/>
            </a:pPr>
            <a:r>
              <a:rPr lang="en-US" sz="900" dirty="0">
                <a:solidFill>
                  <a:srgbClr val="6E7681"/>
                </a:solidFill>
                <a:latin typeface="Calibri" pitchFamily="34" charset="0"/>
                <a:ea typeface="Calibri" pitchFamily="34" charset="-122"/>
                <a:cs typeface="Calibri" pitchFamily="34" charset="-120"/>
              </a:rPr>
              <a:t>ohne 3.0 · Zuf 3.0</a:t>
            </a:r>
            <a:endParaRPr lang="en-US" sz="900" dirty="0"/>
          </a:p>
        </p:txBody>
      </p:sp>
      <p:sp>
        <p:nvSpPr>
          <p:cNvPr id="21" name="Shape 19"/>
          <p:cNvSpPr/>
          <p:nvPr/>
        </p:nvSpPr>
        <p:spPr>
          <a:xfrm>
            <a:off x="6355080" y="1783080"/>
            <a:ext cx="1316736" cy="658368"/>
          </a:xfrm>
          <a:prstGeom prst="rect">
            <a:avLst/>
          </a:prstGeom>
          <a:solidFill>
            <a:srgbClr val="DCEAF1"/>
          </a:solidFill>
          <a:ln w="19050">
            <a:solidFill>
              <a:srgbClr val="FFFFFF"/>
            </a:solidFill>
            <a:prstDash val="solid"/>
          </a:ln>
        </p:spPr>
        <p:txBody>
          <a:bodyPr/>
          <a:lstStyle/>
          <a:p>
            <a:endParaRPr lang="de-DE"/>
          </a:p>
        </p:txBody>
      </p:sp>
      <p:sp>
        <p:nvSpPr>
          <p:cNvPr id="22" name="Text 20"/>
          <p:cNvSpPr/>
          <p:nvPr/>
        </p:nvSpPr>
        <p:spPr>
          <a:xfrm>
            <a:off x="6355080" y="1837944"/>
            <a:ext cx="1316736" cy="329184"/>
          </a:xfrm>
          <a:prstGeom prst="rect">
            <a:avLst/>
          </a:prstGeom>
          <a:noFill/>
          <a:ln/>
        </p:spPr>
        <p:txBody>
          <a:bodyPr wrap="square" lIns="0" tIns="0" rIns="0" bIns="0" rtlCol="0" anchor="ctr"/>
          <a:lstStyle/>
          <a:p>
            <a:pPr marL="0" indent="0" algn="ctr">
              <a:buNone/>
            </a:pPr>
            <a:r>
              <a:rPr lang="en-US" sz="1500" b="1" dirty="0">
                <a:solidFill>
                  <a:srgbClr val="23282F"/>
                </a:solidFill>
                <a:latin typeface="Cambria" pitchFamily="34" charset="0"/>
                <a:ea typeface="Cambria" pitchFamily="34" charset="-122"/>
                <a:cs typeface="Cambria" pitchFamily="34" charset="-120"/>
              </a:rPr>
              <a:t>1.0</a:t>
            </a:r>
            <a:endParaRPr lang="en-US" sz="1500" dirty="0"/>
          </a:p>
        </p:txBody>
      </p:sp>
      <p:sp>
        <p:nvSpPr>
          <p:cNvPr id="23" name="Text 21"/>
          <p:cNvSpPr/>
          <p:nvPr/>
        </p:nvSpPr>
        <p:spPr>
          <a:xfrm>
            <a:off x="6355080" y="2167128"/>
            <a:ext cx="1316736" cy="274320"/>
          </a:xfrm>
          <a:prstGeom prst="rect">
            <a:avLst/>
          </a:prstGeom>
          <a:noFill/>
          <a:ln/>
        </p:spPr>
        <p:txBody>
          <a:bodyPr wrap="square" lIns="0" tIns="0" rIns="0" bIns="0" rtlCol="0" anchor="ctr"/>
          <a:lstStyle/>
          <a:p>
            <a:pPr marL="0" indent="0" algn="ctr">
              <a:buNone/>
            </a:pPr>
            <a:r>
              <a:rPr lang="en-US" sz="900" dirty="0">
                <a:solidFill>
                  <a:srgbClr val="6E7681"/>
                </a:solidFill>
                <a:latin typeface="Calibri" pitchFamily="34" charset="0"/>
                <a:ea typeface="Calibri" pitchFamily="34" charset="-122"/>
                <a:cs typeface="Calibri" pitchFamily="34" charset="-120"/>
              </a:rPr>
              <a:t>ohne 4.0 · Zuf 1.0</a:t>
            </a:r>
            <a:endParaRPr lang="en-US" sz="900" dirty="0"/>
          </a:p>
        </p:txBody>
      </p:sp>
      <p:sp>
        <p:nvSpPr>
          <p:cNvPr id="24" name="Shape 22"/>
          <p:cNvSpPr/>
          <p:nvPr/>
        </p:nvSpPr>
        <p:spPr>
          <a:xfrm>
            <a:off x="7726680" y="1783080"/>
            <a:ext cx="1316736" cy="658368"/>
          </a:xfrm>
          <a:prstGeom prst="rect">
            <a:avLst/>
          </a:prstGeom>
          <a:solidFill>
            <a:srgbClr val="F4F6F8"/>
          </a:solidFill>
          <a:ln w="19050">
            <a:solidFill>
              <a:srgbClr val="FFFFFF"/>
            </a:solidFill>
            <a:prstDash val="solid"/>
          </a:ln>
        </p:spPr>
        <p:txBody>
          <a:bodyPr/>
          <a:lstStyle/>
          <a:p>
            <a:endParaRPr lang="de-DE"/>
          </a:p>
        </p:txBody>
      </p:sp>
      <p:sp>
        <p:nvSpPr>
          <p:cNvPr id="25" name="Text 23"/>
          <p:cNvSpPr/>
          <p:nvPr/>
        </p:nvSpPr>
        <p:spPr>
          <a:xfrm>
            <a:off x="7726680" y="1837944"/>
            <a:ext cx="1316736" cy="329184"/>
          </a:xfrm>
          <a:prstGeom prst="rect">
            <a:avLst/>
          </a:prstGeom>
          <a:noFill/>
          <a:ln/>
        </p:spPr>
        <p:txBody>
          <a:bodyPr wrap="square" lIns="0" tIns="0" rIns="0" bIns="0" rtlCol="0" anchor="ctr"/>
          <a:lstStyle/>
          <a:p>
            <a:pPr marL="0" indent="0" algn="ctr">
              <a:buNone/>
            </a:pPr>
            <a:r>
              <a:rPr lang="en-US" sz="1500" b="1" dirty="0">
                <a:solidFill>
                  <a:srgbClr val="23282F"/>
                </a:solidFill>
                <a:latin typeface="Cambria" pitchFamily="34" charset="0"/>
                <a:ea typeface="Cambria" pitchFamily="34" charset="-122"/>
                <a:cs typeface="Cambria" pitchFamily="34" charset="-120"/>
              </a:rPr>
              <a:t>3.0</a:t>
            </a:r>
            <a:endParaRPr lang="en-US" sz="1500" dirty="0"/>
          </a:p>
        </p:txBody>
      </p:sp>
      <p:sp>
        <p:nvSpPr>
          <p:cNvPr id="26" name="Text 24"/>
          <p:cNvSpPr/>
          <p:nvPr/>
        </p:nvSpPr>
        <p:spPr>
          <a:xfrm>
            <a:off x="7726680" y="2167128"/>
            <a:ext cx="1316736" cy="274320"/>
          </a:xfrm>
          <a:prstGeom prst="rect">
            <a:avLst/>
          </a:prstGeom>
          <a:noFill/>
          <a:ln/>
        </p:spPr>
        <p:txBody>
          <a:bodyPr wrap="square" lIns="0" tIns="0" rIns="0" bIns="0" rtlCol="0" anchor="ctr"/>
          <a:lstStyle/>
          <a:p>
            <a:pPr marL="0" indent="0" algn="ctr">
              <a:buNone/>
            </a:pPr>
            <a:r>
              <a:rPr lang="en-US" sz="900" dirty="0">
                <a:solidFill>
                  <a:srgbClr val="6E7681"/>
                </a:solidFill>
                <a:latin typeface="Calibri" pitchFamily="34" charset="0"/>
                <a:ea typeface="Calibri" pitchFamily="34" charset="-122"/>
                <a:cs typeface="Calibri" pitchFamily="34" charset="-120"/>
              </a:rPr>
              <a:t>ohne 7.0 · Zuf 3.0</a:t>
            </a:r>
            <a:endParaRPr lang="en-US" sz="900" dirty="0"/>
          </a:p>
        </p:txBody>
      </p:sp>
      <p:sp>
        <p:nvSpPr>
          <p:cNvPr id="27" name="Shape 25"/>
          <p:cNvSpPr/>
          <p:nvPr/>
        </p:nvSpPr>
        <p:spPr>
          <a:xfrm>
            <a:off x="9098280" y="1783080"/>
            <a:ext cx="1316736" cy="658368"/>
          </a:xfrm>
          <a:prstGeom prst="rect">
            <a:avLst/>
          </a:prstGeom>
          <a:solidFill>
            <a:srgbClr val="DCEAF1"/>
          </a:solidFill>
          <a:ln w="19050">
            <a:solidFill>
              <a:srgbClr val="FFFFFF"/>
            </a:solidFill>
            <a:prstDash val="solid"/>
          </a:ln>
        </p:spPr>
        <p:txBody>
          <a:bodyPr/>
          <a:lstStyle/>
          <a:p>
            <a:endParaRPr lang="de-DE"/>
          </a:p>
        </p:txBody>
      </p:sp>
      <p:sp>
        <p:nvSpPr>
          <p:cNvPr id="28" name="Text 26"/>
          <p:cNvSpPr/>
          <p:nvPr/>
        </p:nvSpPr>
        <p:spPr>
          <a:xfrm>
            <a:off x="9098280" y="1837944"/>
            <a:ext cx="1316736" cy="329184"/>
          </a:xfrm>
          <a:prstGeom prst="rect">
            <a:avLst/>
          </a:prstGeom>
          <a:noFill/>
          <a:ln/>
        </p:spPr>
        <p:txBody>
          <a:bodyPr wrap="square" lIns="0" tIns="0" rIns="0" bIns="0" rtlCol="0" anchor="ctr"/>
          <a:lstStyle/>
          <a:p>
            <a:pPr marL="0" indent="0" algn="ctr">
              <a:buNone/>
            </a:pPr>
            <a:r>
              <a:rPr lang="en-US" sz="1500" b="1" dirty="0">
                <a:solidFill>
                  <a:srgbClr val="23282F"/>
                </a:solidFill>
                <a:latin typeface="Cambria" pitchFamily="34" charset="0"/>
                <a:ea typeface="Cambria" pitchFamily="34" charset="-122"/>
                <a:cs typeface="Cambria" pitchFamily="34" charset="-120"/>
              </a:rPr>
              <a:t>1.0</a:t>
            </a:r>
            <a:endParaRPr lang="en-US" sz="1500" dirty="0"/>
          </a:p>
        </p:txBody>
      </p:sp>
      <p:sp>
        <p:nvSpPr>
          <p:cNvPr id="29" name="Text 27"/>
          <p:cNvSpPr/>
          <p:nvPr/>
        </p:nvSpPr>
        <p:spPr>
          <a:xfrm>
            <a:off x="9098280" y="2167128"/>
            <a:ext cx="1316736" cy="274320"/>
          </a:xfrm>
          <a:prstGeom prst="rect">
            <a:avLst/>
          </a:prstGeom>
          <a:noFill/>
          <a:ln/>
        </p:spPr>
        <p:txBody>
          <a:bodyPr wrap="square" lIns="0" tIns="0" rIns="0" bIns="0" rtlCol="0" anchor="ctr"/>
          <a:lstStyle/>
          <a:p>
            <a:pPr marL="0" indent="0" algn="ctr">
              <a:buNone/>
            </a:pPr>
            <a:r>
              <a:rPr lang="en-US" sz="900" dirty="0">
                <a:solidFill>
                  <a:srgbClr val="6E7681"/>
                </a:solidFill>
                <a:latin typeface="Calibri" pitchFamily="34" charset="0"/>
                <a:ea typeface="Calibri" pitchFamily="34" charset="-122"/>
                <a:cs typeface="Calibri" pitchFamily="34" charset="-120"/>
              </a:rPr>
              <a:t>ohne 1.0 · Zuf 1.0</a:t>
            </a:r>
            <a:endParaRPr lang="en-US" sz="900" dirty="0"/>
          </a:p>
        </p:txBody>
      </p:sp>
      <p:sp>
        <p:nvSpPr>
          <p:cNvPr id="30" name="Text 28"/>
          <p:cNvSpPr/>
          <p:nvPr/>
        </p:nvSpPr>
        <p:spPr>
          <a:xfrm>
            <a:off x="640080" y="2496312"/>
            <a:ext cx="1508760" cy="713232"/>
          </a:xfrm>
          <a:prstGeom prst="rect">
            <a:avLst/>
          </a:prstGeom>
          <a:noFill/>
          <a:ln/>
        </p:spPr>
        <p:txBody>
          <a:bodyPr wrap="square" lIns="0" tIns="0" rIns="0" bIns="0" rtlCol="0" anchor="ctr"/>
          <a:lstStyle/>
          <a:p>
            <a:pPr marL="0" indent="0" algn="r">
              <a:buNone/>
            </a:pPr>
            <a:r>
              <a:rPr lang="en-US" sz="1300" b="1" dirty="0">
                <a:solidFill>
                  <a:srgbClr val="23282F"/>
                </a:solidFill>
                <a:latin typeface="Calibri" pitchFamily="34" charset="0"/>
                <a:ea typeface="Calibri" pitchFamily="34" charset="-122"/>
                <a:cs typeface="Calibri" pitchFamily="34" charset="-120"/>
              </a:rPr>
              <a:t>Hub &amp; Spoke</a:t>
            </a:r>
            <a:endParaRPr lang="en-US" sz="1300" dirty="0"/>
          </a:p>
        </p:txBody>
      </p:sp>
      <p:sp>
        <p:nvSpPr>
          <p:cNvPr id="31" name="Shape 29"/>
          <p:cNvSpPr/>
          <p:nvPr/>
        </p:nvSpPr>
        <p:spPr>
          <a:xfrm>
            <a:off x="2240280" y="2496312"/>
            <a:ext cx="1316736" cy="658368"/>
          </a:xfrm>
          <a:prstGeom prst="rect">
            <a:avLst/>
          </a:prstGeom>
          <a:solidFill>
            <a:srgbClr val="DCEAF1"/>
          </a:solidFill>
          <a:ln w="19050">
            <a:solidFill>
              <a:srgbClr val="FFFFFF"/>
            </a:solidFill>
            <a:prstDash val="solid"/>
          </a:ln>
        </p:spPr>
        <p:txBody>
          <a:bodyPr/>
          <a:lstStyle/>
          <a:p>
            <a:endParaRPr lang="de-DE"/>
          </a:p>
        </p:txBody>
      </p:sp>
      <p:sp>
        <p:nvSpPr>
          <p:cNvPr id="32" name="Text 30"/>
          <p:cNvSpPr/>
          <p:nvPr/>
        </p:nvSpPr>
        <p:spPr>
          <a:xfrm>
            <a:off x="2240280" y="2551176"/>
            <a:ext cx="1316736" cy="329184"/>
          </a:xfrm>
          <a:prstGeom prst="rect">
            <a:avLst/>
          </a:prstGeom>
          <a:noFill/>
          <a:ln/>
        </p:spPr>
        <p:txBody>
          <a:bodyPr wrap="square" lIns="0" tIns="0" rIns="0" bIns="0" rtlCol="0" anchor="ctr"/>
          <a:lstStyle/>
          <a:p>
            <a:pPr marL="0" indent="0" algn="ctr">
              <a:buNone/>
            </a:pPr>
            <a:r>
              <a:rPr lang="en-US" sz="1500" b="1" dirty="0">
                <a:solidFill>
                  <a:srgbClr val="23282F"/>
                </a:solidFill>
                <a:latin typeface="Cambria" pitchFamily="34" charset="0"/>
                <a:ea typeface="Cambria" pitchFamily="34" charset="-122"/>
                <a:cs typeface="Cambria" pitchFamily="34" charset="-120"/>
              </a:rPr>
              <a:t>1.0</a:t>
            </a:r>
            <a:endParaRPr lang="en-US" sz="1500" dirty="0"/>
          </a:p>
        </p:txBody>
      </p:sp>
      <p:sp>
        <p:nvSpPr>
          <p:cNvPr id="33" name="Text 31"/>
          <p:cNvSpPr/>
          <p:nvPr/>
        </p:nvSpPr>
        <p:spPr>
          <a:xfrm>
            <a:off x="2240280" y="2880360"/>
            <a:ext cx="1316736" cy="274320"/>
          </a:xfrm>
          <a:prstGeom prst="rect">
            <a:avLst/>
          </a:prstGeom>
          <a:noFill/>
          <a:ln/>
        </p:spPr>
        <p:txBody>
          <a:bodyPr wrap="square" lIns="0" tIns="0" rIns="0" bIns="0" rtlCol="0" anchor="ctr"/>
          <a:lstStyle/>
          <a:p>
            <a:pPr marL="0" indent="0" algn="ctr">
              <a:buNone/>
            </a:pPr>
            <a:r>
              <a:rPr lang="en-US" sz="900" dirty="0">
                <a:solidFill>
                  <a:srgbClr val="6E7681"/>
                </a:solidFill>
                <a:latin typeface="Calibri" pitchFamily="34" charset="0"/>
                <a:ea typeface="Calibri" pitchFamily="34" charset="-122"/>
                <a:cs typeface="Calibri" pitchFamily="34" charset="-120"/>
              </a:rPr>
              <a:t>ohne 1.0 · Zuf 1.0</a:t>
            </a:r>
            <a:endParaRPr lang="en-US" sz="900" dirty="0"/>
          </a:p>
        </p:txBody>
      </p:sp>
      <p:sp>
        <p:nvSpPr>
          <p:cNvPr id="34" name="Shape 32"/>
          <p:cNvSpPr/>
          <p:nvPr/>
        </p:nvSpPr>
        <p:spPr>
          <a:xfrm>
            <a:off x="3611880" y="2496312"/>
            <a:ext cx="1316736" cy="658368"/>
          </a:xfrm>
          <a:prstGeom prst="rect">
            <a:avLst/>
          </a:prstGeom>
          <a:solidFill>
            <a:srgbClr val="F4F6F8"/>
          </a:solidFill>
          <a:ln w="19050">
            <a:solidFill>
              <a:srgbClr val="FFFFFF"/>
            </a:solidFill>
            <a:prstDash val="solid"/>
          </a:ln>
        </p:spPr>
        <p:txBody>
          <a:bodyPr/>
          <a:lstStyle/>
          <a:p>
            <a:endParaRPr lang="de-DE"/>
          </a:p>
        </p:txBody>
      </p:sp>
      <p:sp>
        <p:nvSpPr>
          <p:cNvPr id="35" name="Text 33"/>
          <p:cNvSpPr/>
          <p:nvPr/>
        </p:nvSpPr>
        <p:spPr>
          <a:xfrm>
            <a:off x="3611880" y="2551176"/>
            <a:ext cx="1316736" cy="329184"/>
          </a:xfrm>
          <a:prstGeom prst="rect">
            <a:avLst/>
          </a:prstGeom>
          <a:noFill/>
          <a:ln/>
        </p:spPr>
        <p:txBody>
          <a:bodyPr wrap="square" lIns="0" tIns="0" rIns="0" bIns="0" rtlCol="0" anchor="ctr"/>
          <a:lstStyle/>
          <a:p>
            <a:pPr marL="0" indent="0" algn="ctr">
              <a:buNone/>
            </a:pPr>
            <a:r>
              <a:rPr lang="en-US" sz="1500" b="1" dirty="0">
                <a:solidFill>
                  <a:srgbClr val="23282F"/>
                </a:solidFill>
                <a:latin typeface="Cambria" pitchFamily="34" charset="0"/>
                <a:ea typeface="Cambria" pitchFamily="34" charset="-122"/>
                <a:cs typeface="Cambria" pitchFamily="34" charset="-120"/>
              </a:rPr>
              <a:t>3.0</a:t>
            </a:r>
            <a:endParaRPr lang="en-US" sz="1500" dirty="0"/>
          </a:p>
        </p:txBody>
      </p:sp>
      <p:sp>
        <p:nvSpPr>
          <p:cNvPr id="36" name="Text 34"/>
          <p:cNvSpPr/>
          <p:nvPr/>
        </p:nvSpPr>
        <p:spPr>
          <a:xfrm>
            <a:off x="3611880" y="2880360"/>
            <a:ext cx="1316736" cy="274320"/>
          </a:xfrm>
          <a:prstGeom prst="rect">
            <a:avLst/>
          </a:prstGeom>
          <a:noFill/>
          <a:ln/>
        </p:spPr>
        <p:txBody>
          <a:bodyPr wrap="square" lIns="0" tIns="0" rIns="0" bIns="0" rtlCol="0" anchor="ctr"/>
          <a:lstStyle/>
          <a:p>
            <a:pPr marL="0" indent="0" algn="ctr">
              <a:buNone/>
            </a:pPr>
            <a:r>
              <a:rPr lang="en-US" sz="900" dirty="0">
                <a:solidFill>
                  <a:srgbClr val="6E7681"/>
                </a:solidFill>
                <a:latin typeface="Calibri" pitchFamily="34" charset="0"/>
                <a:ea typeface="Calibri" pitchFamily="34" charset="-122"/>
                <a:cs typeface="Calibri" pitchFamily="34" charset="-120"/>
              </a:rPr>
              <a:t>ohne 4.0 · Zuf 3.0</a:t>
            </a:r>
            <a:endParaRPr lang="en-US" sz="900" dirty="0"/>
          </a:p>
        </p:txBody>
      </p:sp>
      <p:sp>
        <p:nvSpPr>
          <p:cNvPr id="37" name="Shape 35"/>
          <p:cNvSpPr/>
          <p:nvPr/>
        </p:nvSpPr>
        <p:spPr>
          <a:xfrm>
            <a:off x="4983480" y="2496312"/>
            <a:ext cx="1316736" cy="658368"/>
          </a:xfrm>
          <a:prstGeom prst="rect">
            <a:avLst/>
          </a:prstGeom>
          <a:solidFill>
            <a:srgbClr val="FBEDEA"/>
          </a:solidFill>
          <a:ln w="19050">
            <a:solidFill>
              <a:srgbClr val="FFFFFF"/>
            </a:solidFill>
            <a:prstDash val="solid"/>
          </a:ln>
        </p:spPr>
        <p:txBody>
          <a:bodyPr/>
          <a:lstStyle/>
          <a:p>
            <a:endParaRPr lang="de-DE"/>
          </a:p>
        </p:txBody>
      </p:sp>
      <p:sp>
        <p:nvSpPr>
          <p:cNvPr id="38" name="Text 36"/>
          <p:cNvSpPr/>
          <p:nvPr/>
        </p:nvSpPr>
        <p:spPr>
          <a:xfrm>
            <a:off x="4983480" y="2551176"/>
            <a:ext cx="1316736" cy="329184"/>
          </a:xfrm>
          <a:prstGeom prst="rect">
            <a:avLst/>
          </a:prstGeom>
          <a:noFill/>
          <a:ln/>
        </p:spPr>
        <p:txBody>
          <a:bodyPr wrap="square" lIns="0" tIns="0" rIns="0" bIns="0" rtlCol="0" anchor="ctr"/>
          <a:lstStyle/>
          <a:p>
            <a:pPr marL="0" indent="0" algn="ctr">
              <a:buNone/>
            </a:pPr>
            <a:r>
              <a:rPr lang="en-US" sz="1500" b="1" dirty="0">
                <a:solidFill>
                  <a:srgbClr val="23282F"/>
                </a:solidFill>
                <a:latin typeface="Cambria" pitchFamily="34" charset="0"/>
                <a:ea typeface="Cambria" pitchFamily="34" charset="-122"/>
                <a:cs typeface="Cambria" pitchFamily="34" charset="-120"/>
              </a:rPr>
              <a:t>4.0</a:t>
            </a:r>
            <a:endParaRPr lang="en-US" sz="1500" dirty="0"/>
          </a:p>
        </p:txBody>
      </p:sp>
      <p:sp>
        <p:nvSpPr>
          <p:cNvPr id="39" name="Text 37"/>
          <p:cNvSpPr/>
          <p:nvPr/>
        </p:nvSpPr>
        <p:spPr>
          <a:xfrm>
            <a:off x="4983480" y="2880360"/>
            <a:ext cx="1316736" cy="274320"/>
          </a:xfrm>
          <a:prstGeom prst="rect">
            <a:avLst/>
          </a:prstGeom>
          <a:noFill/>
          <a:ln/>
        </p:spPr>
        <p:txBody>
          <a:bodyPr wrap="square" lIns="0" tIns="0" rIns="0" bIns="0" rtlCol="0" anchor="ctr"/>
          <a:lstStyle/>
          <a:p>
            <a:pPr marL="0" indent="0" algn="ctr">
              <a:buNone/>
            </a:pPr>
            <a:r>
              <a:rPr lang="en-US" sz="900" dirty="0">
                <a:solidFill>
                  <a:srgbClr val="6E7681"/>
                </a:solidFill>
                <a:latin typeface="Calibri" pitchFamily="34" charset="0"/>
                <a:ea typeface="Calibri" pitchFamily="34" charset="-122"/>
                <a:cs typeface="Calibri" pitchFamily="34" charset="-120"/>
              </a:rPr>
              <a:t>ohne 10.0 · Zuf 9.0</a:t>
            </a:r>
            <a:endParaRPr lang="en-US" sz="900" dirty="0"/>
          </a:p>
        </p:txBody>
      </p:sp>
      <p:sp>
        <p:nvSpPr>
          <p:cNvPr id="40" name="Shape 38"/>
          <p:cNvSpPr/>
          <p:nvPr/>
        </p:nvSpPr>
        <p:spPr>
          <a:xfrm>
            <a:off x="6355080" y="2496312"/>
            <a:ext cx="1316736" cy="658368"/>
          </a:xfrm>
          <a:prstGeom prst="rect">
            <a:avLst/>
          </a:prstGeom>
          <a:solidFill>
            <a:srgbClr val="E9F1F5"/>
          </a:solidFill>
          <a:ln w="19050">
            <a:solidFill>
              <a:srgbClr val="FFFFFF"/>
            </a:solidFill>
            <a:prstDash val="solid"/>
          </a:ln>
        </p:spPr>
        <p:txBody>
          <a:bodyPr/>
          <a:lstStyle/>
          <a:p>
            <a:endParaRPr lang="de-DE"/>
          </a:p>
        </p:txBody>
      </p:sp>
      <p:sp>
        <p:nvSpPr>
          <p:cNvPr id="41" name="Text 39"/>
          <p:cNvSpPr/>
          <p:nvPr/>
        </p:nvSpPr>
        <p:spPr>
          <a:xfrm>
            <a:off x="6355080" y="2551176"/>
            <a:ext cx="1316736" cy="329184"/>
          </a:xfrm>
          <a:prstGeom prst="rect">
            <a:avLst/>
          </a:prstGeom>
          <a:noFill/>
          <a:ln/>
        </p:spPr>
        <p:txBody>
          <a:bodyPr wrap="square" lIns="0" tIns="0" rIns="0" bIns="0" rtlCol="0" anchor="ctr"/>
          <a:lstStyle/>
          <a:p>
            <a:pPr marL="0" indent="0" algn="ctr">
              <a:buNone/>
            </a:pPr>
            <a:r>
              <a:rPr lang="en-US" sz="1500" b="1" dirty="0">
                <a:solidFill>
                  <a:srgbClr val="23282F"/>
                </a:solidFill>
                <a:latin typeface="Cambria" pitchFamily="34" charset="0"/>
                <a:ea typeface="Cambria" pitchFamily="34" charset="-122"/>
                <a:cs typeface="Cambria" pitchFamily="34" charset="-120"/>
              </a:rPr>
              <a:t>2.0</a:t>
            </a:r>
            <a:endParaRPr lang="en-US" sz="1500" dirty="0"/>
          </a:p>
        </p:txBody>
      </p:sp>
      <p:sp>
        <p:nvSpPr>
          <p:cNvPr id="42" name="Text 40"/>
          <p:cNvSpPr/>
          <p:nvPr/>
        </p:nvSpPr>
        <p:spPr>
          <a:xfrm>
            <a:off x="6355080" y="2880360"/>
            <a:ext cx="1316736" cy="274320"/>
          </a:xfrm>
          <a:prstGeom prst="rect">
            <a:avLst/>
          </a:prstGeom>
          <a:noFill/>
          <a:ln/>
        </p:spPr>
        <p:txBody>
          <a:bodyPr wrap="square" lIns="0" tIns="0" rIns="0" bIns="0" rtlCol="0" anchor="ctr"/>
          <a:lstStyle/>
          <a:p>
            <a:pPr marL="0" indent="0" algn="ctr">
              <a:buNone/>
            </a:pPr>
            <a:r>
              <a:rPr lang="en-US" sz="900" dirty="0">
                <a:solidFill>
                  <a:srgbClr val="6E7681"/>
                </a:solidFill>
                <a:latin typeface="Calibri" pitchFamily="34" charset="0"/>
                <a:ea typeface="Calibri" pitchFamily="34" charset="-122"/>
                <a:cs typeface="Calibri" pitchFamily="34" charset="-120"/>
              </a:rPr>
              <a:t>ohne 5.0 · Zuf 2.0</a:t>
            </a:r>
            <a:endParaRPr lang="en-US" sz="900" dirty="0"/>
          </a:p>
        </p:txBody>
      </p:sp>
      <p:sp>
        <p:nvSpPr>
          <p:cNvPr id="43" name="Shape 41"/>
          <p:cNvSpPr/>
          <p:nvPr/>
        </p:nvSpPr>
        <p:spPr>
          <a:xfrm>
            <a:off x="7726680" y="2496312"/>
            <a:ext cx="1316736" cy="658368"/>
          </a:xfrm>
          <a:prstGeom prst="rect">
            <a:avLst/>
          </a:prstGeom>
          <a:solidFill>
            <a:srgbClr val="E9F1F5"/>
          </a:solidFill>
          <a:ln w="19050">
            <a:solidFill>
              <a:srgbClr val="FFFFFF"/>
            </a:solidFill>
            <a:prstDash val="solid"/>
          </a:ln>
        </p:spPr>
        <p:txBody>
          <a:bodyPr/>
          <a:lstStyle/>
          <a:p>
            <a:endParaRPr lang="de-DE"/>
          </a:p>
        </p:txBody>
      </p:sp>
      <p:sp>
        <p:nvSpPr>
          <p:cNvPr id="44" name="Text 42"/>
          <p:cNvSpPr/>
          <p:nvPr/>
        </p:nvSpPr>
        <p:spPr>
          <a:xfrm>
            <a:off x="7726680" y="2551176"/>
            <a:ext cx="1316736" cy="329184"/>
          </a:xfrm>
          <a:prstGeom prst="rect">
            <a:avLst/>
          </a:prstGeom>
          <a:noFill/>
          <a:ln/>
        </p:spPr>
        <p:txBody>
          <a:bodyPr wrap="square" lIns="0" tIns="0" rIns="0" bIns="0" rtlCol="0" anchor="ctr"/>
          <a:lstStyle/>
          <a:p>
            <a:pPr marL="0" indent="0" algn="ctr">
              <a:buNone/>
            </a:pPr>
            <a:r>
              <a:rPr lang="en-US" sz="1500" b="1" dirty="0">
                <a:solidFill>
                  <a:srgbClr val="23282F"/>
                </a:solidFill>
                <a:latin typeface="Cambria" pitchFamily="34" charset="0"/>
                <a:ea typeface="Cambria" pitchFamily="34" charset="-122"/>
                <a:cs typeface="Cambria" pitchFamily="34" charset="-120"/>
              </a:rPr>
              <a:t>2.0</a:t>
            </a:r>
            <a:endParaRPr lang="en-US" sz="1500" dirty="0"/>
          </a:p>
        </p:txBody>
      </p:sp>
      <p:sp>
        <p:nvSpPr>
          <p:cNvPr id="45" name="Text 43"/>
          <p:cNvSpPr/>
          <p:nvPr/>
        </p:nvSpPr>
        <p:spPr>
          <a:xfrm>
            <a:off x="7726680" y="2880360"/>
            <a:ext cx="1316736" cy="274320"/>
          </a:xfrm>
          <a:prstGeom prst="rect">
            <a:avLst/>
          </a:prstGeom>
          <a:noFill/>
          <a:ln/>
        </p:spPr>
        <p:txBody>
          <a:bodyPr wrap="square" lIns="0" tIns="0" rIns="0" bIns="0" rtlCol="0" anchor="ctr"/>
          <a:lstStyle/>
          <a:p>
            <a:pPr marL="0" indent="0" algn="ctr">
              <a:buNone/>
            </a:pPr>
            <a:r>
              <a:rPr lang="en-US" sz="900" dirty="0">
                <a:solidFill>
                  <a:srgbClr val="6E7681"/>
                </a:solidFill>
                <a:latin typeface="Calibri" pitchFamily="34" charset="0"/>
                <a:ea typeface="Calibri" pitchFamily="34" charset="-122"/>
                <a:cs typeface="Calibri" pitchFamily="34" charset="-120"/>
              </a:rPr>
              <a:t>ohne 4.0 · Zuf 3.0</a:t>
            </a:r>
            <a:endParaRPr lang="en-US" sz="900" dirty="0"/>
          </a:p>
        </p:txBody>
      </p:sp>
      <p:sp>
        <p:nvSpPr>
          <p:cNvPr id="46" name="Shape 44"/>
          <p:cNvSpPr/>
          <p:nvPr/>
        </p:nvSpPr>
        <p:spPr>
          <a:xfrm>
            <a:off x="9098280" y="2496312"/>
            <a:ext cx="1316736" cy="658368"/>
          </a:xfrm>
          <a:prstGeom prst="rect">
            <a:avLst/>
          </a:prstGeom>
          <a:solidFill>
            <a:srgbClr val="F4F6F8"/>
          </a:solidFill>
          <a:ln w="19050">
            <a:solidFill>
              <a:srgbClr val="FFFFFF"/>
            </a:solidFill>
            <a:prstDash val="solid"/>
          </a:ln>
        </p:spPr>
        <p:txBody>
          <a:bodyPr/>
          <a:lstStyle/>
          <a:p>
            <a:endParaRPr lang="de-DE"/>
          </a:p>
        </p:txBody>
      </p:sp>
      <p:sp>
        <p:nvSpPr>
          <p:cNvPr id="47" name="Text 45"/>
          <p:cNvSpPr/>
          <p:nvPr/>
        </p:nvSpPr>
        <p:spPr>
          <a:xfrm>
            <a:off x="9098280" y="2551176"/>
            <a:ext cx="1316736" cy="329184"/>
          </a:xfrm>
          <a:prstGeom prst="rect">
            <a:avLst/>
          </a:prstGeom>
          <a:noFill/>
          <a:ln/>
        </p:spPr>
        <p:txBody>
          <a:bodyPr wrap="square" lIns="0" tIns="0" rIns="0" bIns="0" rtlCol="0" anchor="ctr"/>
          <a:lstStyle/>
          <a:p>
            <a:pPr marL="0" indent="0" algn="ctr">
              <a:buNone/>
            </a:pPr>
            <a:r>
              <a:rPr lang="en-US" sz="1500" b="1" dirty="0">
                <a:solidFill>
                  <a:srgbClr val="23282F"/>
                </a:solidFill>
                <a:latin typeface="Cambria" pitchFamily="34" charset="0"/>
                <a:ea typeface="Cambria" pitchFamily="34" charset="-122"/>
                <a:cs typeface="Cambria" pitchFamily="34" charset="-120"/>
              </a:rPr>
              <a:t>3.0</a:t>
            </a:r>
            <a:endParaRPr lang="en-US" sz="1500" dirty="0"/>
          </a:p>
        </p:txBody>
      </p:sp>
      <p:sp>
        <p:nvSpPr>
          <p:cNvPr id="48" name="Text 46"/>
          <p:cNvSpPr/>
          <p:nvPr/>
        </p:nvSpPr>
        <p:spPr>
          <a:xfrm>
            <a:off x="9098280" y="2880360"/>
            <a:ext cx="1316736" cy="274320"/>
          </a:xfrm>
          <a:prstGeom prst="rect">
            <a:avLst/>
          </a:prstGeom>
          <a:noFill/>
          <a:ln/>
        </p:spPr>
        <p:txBody>
          <a:bodyPr wrap="square" lIns="0" tIns="0" rIns="0" bIns="0" rtlCol="0" anchor="ctr"/>
          <a:lstStyle/>
          <a:p>
            <a:pPr marL="0" indent="0" algn="ctr">
              <a:buNone/>
            </a:pPr>
            <a:r>
              <a:rPr lang="en-US" sz="900" dirty="0">
                <a:solidFill>
                  <a:srgbClr val="6E7681"/>
                </a:solidFill>
                <a:latin typeface="Calibri" pitchFamily="34" charset="0"/>
                <a:ea typeface="Calibri" pitchFamily="34" charset="-122"/>
                <a:cs typeface="Calibri" pitchFamily="34" charset="-120"/>
              </a:rPr>
              <a:t>ohne 4.0 · Zuf 3.0</a:t>
            </a:r>
            <a:endParaRPr lang="en-US" sz="900" dirty="0"/>
          </a:p>
        </p:txBody>
      </p:sp>
      <p:sp>
        <p:nvSpPr>
          <p:cNvPr id="49" name="Text 47"/>
          <p:cNvSpPr/>
          <p:nvPr/>
        </p:nvSpPr>
        <p:spPr>
          <a:xfrm>
            <a:off x="640080" y="3209544"/>
            <a:ext cx="1508760" cy="713232"/>
          </a:xfrm>
          <a:prstGeom prst="rect">
            <a:avLst/>
          </a:prstGeom>
          <a:noFill/>
          <a:ln/>
        </p:spPr>
        <p:txBody>
          <a:bodyPr wrap="square" lIns="0" tIns="0" rIns="0" bIns="0" rtlCol="0" anchor="ctr"/>
          <a:lstStyle/>
          <a:p>
            <a:pPr marL="0" indent="0" algn="r">
              <a:buNone/>
            </a:pPr>
            <a:r>
              <a:rPr lang="en-US" sz="1300" b="1" dirty="0">
                <a:solidFill>
                  <a:srgbClr val="23282F"/>
                </a:solidFill>
                <a:latin typeface="Calibri" pitchFamily="34" charset="0"/>
                <a:ea typeface="Calibri" pitchFamily="34" charset="-122"/>
                <a:cs typeface="Calibri" pitchFamily="34" charset="-120"/>
              </a:rPr>
              <a:t>DMZ</a:t>
            </a:r>
            <a:endParaRPr lang="en-US" sz="1300" dirty="0"/>
          </a:p>
        </p:txBody>
      </p:sp>
      <p:sp>
        <p:nvSpPr>
          <p:cNvPr id="50" name="Shape 48"/>
          <p:cNvSpPr/>
          <p:nvPr/>
        </p:nvSpPr>
        <p:spPr>
          <a:xfrm>
            <a:off x="2240280" y="3209544"/>
            <a:ext cx="1316736" cy="658368"/>
          </a:xfrm>
          <a:prstGeom prst="rect">
            <a:avLst/>
          </a:prstGeom>
          <a:solidFill>
            <a:srgbClr val="E9F1F5"/>
          </a:solidFill>
          <a:ln w="19050">
            <a:solidFill>
              <a:srgbClr val="FFFFFF"/>
            </a:solidFill>
            <a:prstDash val="solid"/>
          </a:ln>
        </p:spPr>
        <p:txBody>
          <a:bodyPr/>
          <a:lstStyle/>
          <a:p>
            <a:endParaRPr lang="de-DE"/>
          </a:p>
        </p:txBody>
      </p:sp>
      <p:sp>
        <p:nvSpPr>
          <p:cNvPr id="51" name="Text 49"/>
          <p:cNvSpPr/>
          <p:nvPr/>
        </p:nvSpPr>
        <p:spPr>
          <a:xfrm>
            <a:off x="2240280" y="3264408"/>
            <a:ext cx="1316736" cy="329184"/>
          </a:xfrm>
          <a:prstGeom prst="rect">
            <a:avLst/>
          </a:prstGeom>
          <a:noFill/>
          <a:ln/>
        </p:spPr>
        <p:txBody>
          <a:bodyPr wrap="square" lIns="0" tIns="0" rIns="0" bIns="0" rtlCol="0" anchor="ctr"/>
          <a:lstStyle/>
          <a:p>
            <a:pPr marL="0" indent="0" algn="ctr">
              <a:buNone/>
            </a:pPr>
            <a:r>
              <a:rPr lang="en-US" sz="1500" b="1" dirty="0">
                <a:solidFill>
                  <a:srgbClr val="23282F"/>
                </a:solidFill>
                <a:latin typeface="Cambria" pitchFamily="34" charset="0"/>
                <a:ea typeface="Cambria" pitchFamily="34" charset="-122"/>
                <a:cs typeface="Cambria" pitchFamily="34" charset="-120"/>
              </a:rPr>
              <a:t>2.0</a:t>
            </a:r>
            <a:endParaRPr lang="en-US" sz="1500" dirty="0"/>
          </a:p>
        </p:txBody>
      </p:sp>
      <p:sp>
        <p:nvSpPr>
          <p:cNvPr id="52" name="Text 50"/>
          <p:cNvSpPr/>
          <p:nvPr/>
        </p:nvSpPr>
        <p:spPr>
          <a:xfrm>
            <a:off x="2240280" y="3593592"/>
            <a:ext cx="1316736" cy="274320"/>
          </a:xfrm>
          <a:prstGeom prst="rect">
            <a:avLst/>
          </a:prstGeom>
          <a:noFill/>
          <a:ln/>
        </p:spPr>
        <p:txBody>
          <a:bodyPr wrap="square" lIns="0" tIns="0" rIns="0" bIns="0" rtlCol="0" anchor="ctr"/>
          <a:lstStyle/>
          <a:p>
            <a:pPr marL="0" indent="0" algn="ctr">
              <a:buNone/>
            </a:pPr>
            <a:r>
              <a:rPr lang="en-US" sz="900" dirty="0">
                <a:solidFill>
                  <a:srgbClr val="6E7681"/>
                </a:solidFill>
                <a:latin typeface="Calibri" pitchFamily="34" charset="0"/>
                <a:ea typeface="Calibri" pitchFamily="34" charset="-122"/>
                <a:cs typeface="Calibri" pitchFamily="34" charset="-120"/>
              </a:rPr>
              <a:t>ohne 2.0 · Zuf 2.0</a:t>
            </a:r>
            <a:endParaRPr lang="en-US" sz="900" dirty="0"/>
          </a:p>
        </p:txBody>
      </p:sp>
      <p:sp>
        <p:nvSpPr>
          <p:cNvPr id="53" name="Shape 51"/>
          <p:cNvSpPr/>
          <p:nvPr/>
        </p:nvSpPr>
        <p:spPr>
          <a:xfrm>
            <a:off x="3611880" y="3209544"/>
            <a:ext cx="1316736" cy="658368"/>
          </a:xfrm>
          <a:prstGeom prst="rect">
            <a:avLst/>
          </a:prstGeom>
          <a:solidFill>
            <a:srgbClr val="E9F1F5"/>
          </a:solidFill>
          <a:ln w="19050">
            <a:solidFill>
              <a:srgbClr val="FFFFFF"/>
            </a:solidFill>
            <a:prstDash val="solid"/>
          </a:ln>
        </p:spPr>
        <p:txBody>
          <a:bodyPr/>
          <a:lstStyle/>
          <a:p>
            <a:endParaRPr lang="de-DE"/>
          </a:p>
        </p:txBody>
      </p:sp>
      <p:sp>
        <p:nvSpPr>
          <p:cNvPr id="54" name="Text 52"/>
          <p:cNvSpPr/>
          <p:nvPr/>
        </p:nvSpPr>
        <p:spPr>
          <a:xfrm>
            <a:off x="3611880" y="3264408"/>
            <a:ext cx="1316736" cy="329184"/>
          </a:xfrm>
          <a:prstGeom prst="rect">
            <a:avLst/>
          </a:prstGeom>
          <a:noFill/>
          <a:ln/>
        </p:spPr>
        <p:txBody>
          <a:bodyPr wrap="square" lIns="0" tIns="0" rIns="0" bIns="0" rtlCol="0" anchor="ctr"/>
          <a:lstStyle/>
          <a:p>
            <a:pPr marL="0" indent="0" algn="ctr">
              <a:buNone/>
            </a:pPr>
            <a:r>
              <a:rPr lang="en-US" sz="1500" b="1" dirty="0">
                <a:solidFill>
                  <a:srgbClr val="23282F"/>
                </a:solidFill>
                <a:latin typeface="Cambria" pitchFamily="34" charset="0"/>
                <a:ea typeface="Cambria" pitchFamily="34" charset="-122"/>
                <a:cs typeface="Cambria" pitchFamily="34" charset="-120"/>
              </a:rPr>
              <a:t>2.0</a:t>
            </a:r>
            <a:endParaRPr lang="en-US" sz="1500" dirty="0"/>
          </a:p>
        </p:txBody>
      </p:sp>
      <p:sp>
        <p:nvSpPr>
          <p:cNvPr id="55" name="Text 53"/>
          <p:cNvSpPr/>
          <p:nvPr/>
        </p:nvSpPr>
        <p:spPr>
          <a:xfrm>
            <a:off x="3611880" y="3593592"/>
            <a:ext cx="1316736" cy="274320"/>
          </a:xfrm>
          <a:prstGeom prst="rect">
            <a:avLst/>
          </a:prstGeom>
          <a:noFill/>
          <a:ln/>
        </p:spPr>
        <p:txBody>
          <a:bodyPr wrap="square" lIns="0" tIns="0" rIns="0" bIns="0" rtlCol="0" anchor="ctr"/>
          <a:lstStyle/>
          <a:p>
            <a:pPr marL="0" indent="0" algn="ctr">
              <a:buNone/>
            </a:pPr>
            <a:r>
              <a:rPr lang="en-US" sz="900" dirty="0">
                <a:solidFill>
                  <a:srgbClr val="6E7681"/>
                </a:solidFill>
                <a:latin typeface="Calibri" pitchFamily="34" charset="0"/>
                <a:ea typeface="Calibri" pitchFamily="34" charset="-122"/>
                <a:cs typeface="Calibri" pitchFamily="34" charset="-120"/>
              </a:rPr>
              <a:t>ohne 4.0 · Zuf 3.0</a:t>
            </a:r>
            <a:endParaRPr lang="en-US" sz="900" dirty="0"/>
          </a:p>
        </p:txBody>
      </p:sp>
      <p:sp>
        <p:nvSpPr>
          <p:cNvPr id="56" name="Shape 54"/>
          <p:cNvSpPr/>
          <p:nvPr/>
        </p:nvSpPr>
        <p:spPr>
          <a:xfrm>
            <a:off x="4983480" y="3209544"/>
            <a:ext cx="1316736" cy="658368"/>
          </a:xfrm>
          <a:prstGeom prst="rect">
            <a:avLst/>
          </a:prstGeom>
          <a:solidFill>
            <a:srgbClr val="E9F1F5"/>
          </a:solidFill>
          <a:ln w="19050">
            <a:solidFill>
              <a:srgbClr val="FFFFFF"/>
            </a:solidFill>
            <a:prstDash val="solid"/>
          </a:ln>
        </p:spPr>
        <p:txBody>
          <a:bodyPr/>
          <a:lstStyle/>
          <a:p>
            <a:endParaRPr lang="de-DE"/>
          </a:p>
        </p:txBody>
      </p:sp>
      <p:sp>
        <p:nvSpPr>
          <p:cNvPr id="57" name="Text 55"/>
          <p:cNvSpPr/>
          <p:nvPr/>
        </p:nvSpPr>
        <p:spPr>
          <a:xfrm>
            <a:off x="4983480" y="3264408"/>
            <a:ext cx="1316736" cy="329184"/>
          </a:xfrm>
          <a:prstGeom prst="rect">
            <a:avLst/>
          </a:prstGeom>
          <a:noFill/>
          <a:ln/>
        </p:spPr>
        <p:txBody>
          <a:bodyPr wrap="square" lIns="0" tIns="0" rIns="0" bIns="0" rtlCol="0" anchor="ctr"/>
          <a:lstStyle/>
          <a:p>
            <a:pPr marL="0" indent="0" algn="ctr">
              <a:buNone/>
            </a:pPr>
            <a:r>
              <a:rPr lang="en-US" sz="1500" b="1" dirty="0">
                <a:solidFill>
                  <a:srgbClr val="23282F"/>
                </a:solidFill>
                <a:latin typeface="Cambria" pitchFamily="34" charset="0"/>
                <a:ea typeface="Cambria" pitchFamily="34" charset="-122"/>
                <a:cs typeface="Cambria" pitchFamily="34" charset="-120"/>
              </a:rPr>
              <a:t>2.0</a:t>
            </a:r>
            <a:endParaRPr lang="en-US" sz="1500" dirty="0"/>
          </a:p>
        </p:txBody>
      </p:sp>
      <p:sp>
        <p:nvSpPr>
          <p:cNvPr id="58" name="Text 56"/>
          <p:cNvSpPr/>
          <p:nvPr/>
        </p:nvSpPr>
        <p:spPr>
          <a:xfrm>
            <a:off x="4983480" y="3593592"/>
            <a:ext cx="1316736" cy="274320"/>
          </a:xfrm>
          <a:prstGeom prst="rect">
            <a:avLst/>
          </a:prstGeom>
          <a:noFill/>
          <a:ln/>
        </p:spPr>
        <p:txBody>
          <a:bodyPr wrap="square" lIns="0" tIns="0" rIns="0" bIns="0" rtlCol="0" anchor="ctr"/>
          <a:lstStyle/>
          <a:p>
            <a:pPr marL="0" indent="0" algn="ctr">
              <a:buNone/>
            </a:pPr>
            <a:r>
              <a:rPr lang="en-US" sz="900" dirty="0">
                <a:solidFill>
                  <a:srgbClr val="6E7681"/>
                </a:solidFill>
                <a:latin typeface="Calibri" pitchFamily="34" charset="0"/>
                <a:ea typeface="Calibri" pitchFamily="34" charset="-122"/>
                <a:cs typeface="Calibri" pitchFamily="34" charset="-120"/>
              </a:rPr>
              <a:t>ohne 5.0 · Zuf 2.0</a:t>
            </a:r>
            <a:endParaRPr lang="en-US" sz="900" dirty="0"/>
          </a:p>
        </p:txBody>
      </p:sp>
      <p:sp>
        <p:nvSpPr>
          <p:cNvPr id="59" name="Shape 57"/>
          <p:cNvSpPr/>
          <p:nvPr/>
        </p:nvSpPr>
        <p:spPr>
          <a:xfrm>
            <a:off x="6355080" y="3209544"/>
            <a:ext cx="1316736" cy="658368"/>
          </a:xfrm>
          <a:prstGeom prst="rect">
            <a:avLst/>
          </a:prstGeom>
          <a:solidFill>
            <a:srgbClr val="F2D3CC"/>
          </a:solidFill>
          <a:ln w="19050">
            <a:solidFill>
              <a:srgbClr val="FFFFFF"/>
            </a:solidFill>
            <a:prstDash val="solid"/>
          </a:ln>
        </p:spPr>
        <p:txBody>
          <a:bodyPr/>
          <a:lstStyle/>
          <a:p>
            <a:endParaRPr lang="de-DE"/>
          </a:p>
        </p:txBody>
      </p:sp>
      <p:sp>
        <p:nvSpPr>
          <p:cNvPr id="60" name="Text 58"/>
          <p:cNvSpPr/>
          <p:nvPr/>
        </p:nvSpPr>
        <p:spPr>
          <a:xfrm>
            <a:off x="6355080" y="3264408"/>
            <a:ext cx="1316736" cy="329184"/>
          </a:xfrm>
          <a:prstGeom prst="rect">
            <a:avLst/>
          </a:prstGeom>
          <a:noFill/>
          <a:ln/>
        </p:spPr>
        <p:txBody>
          <a:bodyPr wrap="square" lIns="0" tIns="0" rIns="0" bIns="0" rtlCol="0" anchor="ctr"/>
          <a:lstStyle/>
          <a:p>
            <a:pPr marL="0" indent="0" algn="ctr">
              <a:buNone/>
            </a:pPr>
            <a:r>
              <a:rPr lang="en-US" sz="1500" b="1" dirty="0">
                <a:solidFill>
                  <a:srgbClr val="23282F"/>
                </a:solidFill>
                <a:latin typeface="Cambria" pitchFamily="34" charset="0"/>
                <a:ea typeface="Cambria" pitchFamily="34" charset="-122"/>
                <a:cs typeface="Cambria" pitchFamily="34" charset="-120"/>
              </a:rPr>
              <a:t>7.0</a:t>
            </a:r>
            <a:endParaRPr lang="en-US" sz="1500" dirty="0"/>
          </a:p>
        </p:txBody>
      </p:sp>
      <p:sp>
        <p:nvSpPr>
          <p:cNvPr id="61" name="Text 59"/>
          <p:cNvSpPr/>
          <p:nvPr/>
        </p:nvSpPr>
        <p:spPr>
          <a:xfrm>
            <a:off x="6355080" y="3593592"/>
            <a:ext cx="1316736" cy="274320"/>
          </a:xfrm>
          <a:prstGeom prst="rect">
            <a:avLst/>
          </a:prstGeom>
          <a:noFill/>
          <a:ln/>
        </p:spPr>
        <p:txBody>
          <a:bodyPr wrap="square" lIns="0" tIns="0" rIns="0" bIns="0" rtlCol="0" anchor="ctr"/>
          <a:lstStyle/>
          <a:p>
            <a:pPr marL="0" indent="0" algn="ctr">
              <a:buNone/>
            </a:pPr>
            <a:r>
              <a:rPr lang="en-US" sz="900" dirty="0">
                <a:solidFill>
                  <a:srgbClr val="6E7681"/>
                </a:solidFill>
                <a:latin typeface="Calibri" pitchFamily="34" charset="0"/>
                <a:ea typeface="Calibri" pitchFamily="34" charset="-122"/>
                <a:cs typeface="Calibri" pitchFamily="34" charset="-120"/>
              </a:rPr>
              <a:t>ohne 10.0 · Zuf 9.0</a:t>
            </a:r>
            <a:endParaRPr lang="en-US" sz="900" dirty="0"/>
          </a:p>
        </p:txBody>
      </p:sp>
      <p:sp>
        <p:nvSpPr>
          <p:cNvPr id="62" name="Shape 60"/>
          <p:cNvSpPr/>
          <p:nvPr/>
        </p:nvSpPr>
        <p:spPr>
          <a:xfrm>
            <a:off x="7726680" y="3209544"/>
            <a:ext cx="1316736" cy="658368"/>
          </a:xfrm>
          <a:prstGeom prst="rect">
            <a:avLst/>
          </a:prstGeom>
          <a:solidFill>
            <a:srgbClr val="DCEAF1"/>
          </a:solidFill>
          <a:ln w="19050">
            <a:solidFill>
              <a:srgbClr val="FFFFFF"/>
            </a:solidFill>
            <a:prstDash val="solid"/>
          </a:ln>
        </p:spPr>
        <p:txBody>
          <a:bodyPr/>
          <a:lstStyle/>
          <a:p>
            <a:endParaRPr lang="de-DE"/>
          </a:p>
        </p:txBody>
      </p:sp>
      <p:sp>
        <p:nvSpPr>
          <p:cNvPr id="63" name="Text 61"/>
          <p:cNvSpPr/>
          <p:nvPr/>
        </p:nvSpPr>
        <p:spPr>
          <a:xfrm>
            <a:off x="7726680" y="3264408"/>
            <a:ext cx="1316736" cy="329184"/>
          </a:xfrm>
          <a:prstGeom prst="rect">
            <a:avLst/>
          </a:prstGeom>
          <a:noFill/>
          <a:ln/>
        </p:spPr>
        <p:txBody>
          <a:bodyPr wrap="square" lIns="0" tIns="0" rIns="0" bIns="0" rtlCol="0" anchor="ctr"/>
          <a:lstStyle/>
          <a:p>
            <a:pPr marL="0" indent="0" algn="ctr">
              <a:buNone/>
            </a:pPr>
            <a:r>
              <a:rPr lang="en-US" sz="1500" b="1" dirty="0">
                <a:solidFill>
                  <a:srgbClr val="23282F"/>
                </a:solidFill>
                <a:latin typeface="Cambria" pitchFamily="34" charset="0"/>
                <a:ea typeface="Cambria" pitchFamily="34" charset="-122"/>
                <a:cs typeface="Cambria" pitchFamily="34" charset="-120"/>
              </a:rPr>
              <a:t>1.0</a:t>
            </a:r>
            <a:endParaRPr lang="en-US" sz="1500" dirty="0"/>
          </a:p>
        </p:txBody>
      </p:sp>
      <p:sp>
        <p:nvSpPr>
          <p:cNvPr id="64" name="Text 62"/>
          <p:cNvSpPr/>
          <p:nvPr/>
        </p:nvSpPr>
        <p:spPr>
          <a:xfrm>
            <a:off x="7726680" y="3593592"/>
            <a:ext cx="1316736" cy="274320"/>
          </a:xfrm>
          <a:prstGeom prst="rect">
            <a:avLst/>
          </a:prstGeom>
          <a:noFill/>
          <a:ln/>
        </p:spPr>
        <p:txBody>
          <a:bodyPr wrap="square" lIns="0" tIns="0" rIns="0" bIns="0" rtlCol="0" anchor="ctr"/>
          <a:lstStyle/>
          <a:p>
            <a:pPr marL="0" indent="0" algn="ctr">
              <a:buNone/>
            </a:pPr>
            <a:r>
              <a:rPr lang="en-US" sz="900" dirty="0">
                <a:solidFill>
                  <a:srgbClr val="6E7681"/>
                </a:solidFill>
                <a:latin typeface="Calibri" pitchFamily="34" charset="0"/>
                <a:ea typeface="Calibri" pitchFamily="34" charset="-122"/>
                <a:cs typeface="Calibri" pitchFamily="34" charset="-120"/>
              </a:rPr>
              <a:t>ohne 1.0 · Zuf 1.0</a:t>
            </a:r>
            <a:endParaRPr lang="en-US" sz="900" dirty="0"/>
          </a:p>
        </p:txBody>
      </p:sp>
      <p:sp>
        <p:nvSpPr>
          <p:cNvPr id="65" name="Shape 63"/>
          <p:cNvSpPr/>
          <p:nvPr/>
        </p:nvSpPr>
        <p:spPr>
          <a:xfrm>
            <a:off x="9098280" y="3209544"/>
            <a:ext cx="1316736" cy="658368"/>
          </a:xfrm>
          <a:prstGeom prst="rect">
            <a:avLst/>
          </a:prstGeom>
          <a:solidFill>
            <a:srgbClr val="F4F6F8"/>
          </a:solidFill>
          <a:ln w="19050">
            <a:solidFill>
              <a:srgbClr val="FFFFFF"/>
            </a:solidFill>
            <a:prstDash val="solid"/>
          </a:ln>
        </p:spPr>
        <p:txBody>
          <a:bodyPr/>
          <a:lstStyle/>
          <a:p>
            <a:endParaRPr lang="de-DE"/>
          </a:p>
        </p:txBody>
      </p:sp>
      <p:sp>
        <p:nvSpPr>
          <p:cNvPr id="66" name="Text 64"/>
          <p:cNvSpPr/>
          <p:nvPr/>
        </p:nvSpPr>
        <p:spPr>
          <a:xfrm>
            <a:off x="9098280" y="3264408"/>
            <a:ext cx="1316736" cy="329184"/>
          </a:xfrm>
          <a:prstGeom prst="rect">
            <a:avLst/>
          </a:prstGeom>
          <a:noFill/>
          <a:ln/>
        </p:spPr>
        <p:txBody>
          <a:bodyPr wrap="square" lIns="0" tIns="0" rIns="0" bIns="0" rtlCol="0" anchor="ctr"/>
          <a:lstStyle/>
          <a:p>
            <a:pPr marL="0" indent="0" algn="ctr">
              <a:buNone/>
            </a:pPr>
            <a:r>
              <a:rPr lang="en-US" sz="1500" b="1" dirty="0">
                <a:solidFill>
                  <a:srgbClr val="23282F"/>
                </a:solidFill>
                <a:latin typeface="Cambria" pitchFamily="34" charset="0"/>
                <a:ea typeface="Cambria" pitchFamily="34" charset="-122"/>
                <a:cs typeface="Cambria" pitchFamily="34" charset="-120"/>
              </a:rPr>
              <a:t>3.0</a:t>
            </a:r>
            <a:endParaRPr lang="en-US" sz="1500" dirty="0"/>
          </a:p>
        </p:txBody>
      </p:sp>
      <p:sp>
        <p:nvSpPr>
          <p:cNvPr id="67" name="Text 65"/>
          <p:cNvSpPr/>
          <p:nvPr/>
        </p:nvSpPr>
        <p:spPr>
          <a:xfrm>
            <a:off x="9098280" y="3593592"/>
            <a:ext cx="1316736" cy="274320"/>
          </a:xfrm>
          <a:prstGeom prst="rect">
            <a:avLst/>
          </a:prstGeom>
          <a:noFill/>
          <a:ln/>
        </p:spPr>
        <p:txBody>
          <a:bodyPr wrap="square" lIns="0" tIns="0" rIns="0" bIns="0" rtlCol="0" anchor="ctr"/>
          <a:lstStyle/>
          <a:p>
            <a:pPr marL="0" indent="0" algn="ctr">
              <a:buNone/>
            </a:pPr>
            <a:r>
              <a:rPr lang="en-US" sz="900" dirty="0">
                <a:solidFill>
                  <a:srgbClr val="6E7681"/>
                </a:solidFill>
                <a:latin typeface="Calibri" pitchFamily="34" charset="0"/>
                <a:ea typeface="Calibri" pitchFamily="34" charset="-122"/>
                <a:cs typeface="Calibri" pitchFamily="34" charset="-120"/>
              </a:rPr>
              <a:t>ohne 9.0 · Zuf 4.0</a:t>
            </a:r>
            <a:endParaRPr lang="en-US" sz="900" dirty="0"/>
          </a:p>
        </p:txBody>
      </p:sp>
      <p:sp>
        <p:nvSpPr>
          <p:cNvPr id="68" name="Text 66"/>
          <p:cNvSpPr/>
          <p:nvPr/>
        </p:nvSpPr>
        <p:spPr>
          <a:xfrm>
            <a:off x="640080" y="3922776"/>
            <a:ext cx="1508760" cy="713232"/>
          </a:xfrm>
          <a:prstGeom prst="rect">
            <a:avLst/>
          </a:prstGeom>
          <a:noFill/>
          <a:ln/>
        </p:spPr>
        <p:txBody>
          <a:bodyPr wrap="square" lIns="0" tIns="0" rIns="0" bIns="0" rtlCol="0" anchor="ctr"/>
          <a:lstStyle/>
          <a:p>
            <a:pPr marL="0" indent="0" algn="r">
              <a:buNone/>
            </a:pPr>
            <a:r>
              <a:rPr lang="en-US" sz="1300" b="1" dirty="0">
                <a:solidFill>
                  <a:srgbClr val="23282F"/>
                </a:solidFill>
                <a:latin typeface="Calibri" pitchFamily="34" charset="0"/>
                <a:ea typeface="Calibri" pitchFamily="34" charset="-122"/>
                <a:cs typeface="Calibri" pitchFamily="34" charset="-120"/>
              </a:rPr>
              <a:t>Micro-Seg.</a:t>
            </a:r>
            <a:endParaRPr lang="en-US" sz="1300" dirty="0"/>
          </a:p>
        </p:txBody>
      </p:sp>
      <p:sp>
        <p:nvSpPr>
          <p:cNvPr id="69" name="Shape 67"/>
          <p:cNvSpPr/>
          <p:nvPr/>
        </p:nvSpPr>
        <p:spPr>
          <a:xfrm>
            <a:off x="2240280" y="3922776"/>
            <a:ext cx="1316736" cy="658368"/>
          </a:xfrm>
          <a:prstGeom prst="rect">
            <a:avLst/>
          </a:prstGeom>
          <a:solidFill>
            <a:srgbClr val="DCEAF1"/>
          </a:solidFill>
          <a:ln w="19050">
            <a:solidFill>
              <a:srgbClr val="FFFFFF"/>
            </a:solidFill>
            <a:prstDash val="solid"/>
          </a:ln>
        </p:spPr>
        <p:txBody>
          <a:bodyPr/>
          <a:lstStyle/>
          <a:p>
            <a:endParaRPr lang="de-DE"/>
          </a:p>
        </p:txBody>
      </p:sp>
      <p:sp>
        <p:nvSpPr>
          <p:cNvPr id="70" name="Text 68"/>
          <p:cNvSpPr/>
          <p:nvPr/>
        </p:nvSpPr>
        <p:spPr>
          <a:xfrm>
            <a:off x="2240280" y="3977640"/>
            <a:ext cx="1316736" cy="329184"/>
          </a:xfrm>
          <a:prstGeom prst="rect">
            <a:avLst/>
          </a:prstGeom>
          <a:noFill/>
          <a:ln/>
        </p:spPr>
        <p:txBody>
          <a:bodyPr wrap="square" lIns="0" tIns="0" rIns="0" bIns="0" rtlCol="0" anchor="ctr"/>
          <a:lstStyle/>
          <a:p>
            <a:pPr marL="0" indent="0" algn="ctr">
              <a:buNone/>
            </a:pPr>
            <a:r>
              <a:rPr lang="en-US" sz="1500" b="1" dirty="0">
                <a:solidFill>
                  <a:srgbClr val="23282F"/>
                </a:solidFill>
                <a:latin typeface="Cambria" pitchFamily="34" charset="0"/>
                <a:ea typeface="Cambria" pitchFamily="34" charset="-122"/>
                <a:cs typeface="Cambria" pitchFamily="34" charset="-120"/>
              </a:rPr>
              <a:t>1.0</a:t>
            </a:r>
            <a:endParaRPr lang="en-US" sz="1500" dirty="0"/>
          </a:p>
        </p:txBody>
      </p:sp>
      <p:sp>
        <p:nvSpPr>
          <p:cNvPr id="71" name="Text 69"/>
          <p:cNvSpPr/>
          <p:nvPr/>
        </p:nvSpPr>
        <p:spPr>
          <a:xfrm>
            <a:off x="2240280" y="4306824"/>
            <a:ext cx="1316736" cy="274320"/>
          </a:xfrm>
          <a:prstGeom prst="rect">
            <a:avLst/>
          </a:prstGeom>
          <a:noFill/>
          <a:ln/>
        </p:spPr>
        <p:txBody>
          <a:bodyPr wrap="square" lIns="0" tIns="0" rIns="0" bIns="0" rtlCol="0" anchor="ctr"/>
          <a:lstStyle/>
          <a:p>
            <a:pPr marL="0" indent="0" algn="ctr">
              <a:buNone/>
            </a:pPr>
            <a:r>
              <a:rPr lang="en-US" sz="900" dirty="0">
                <a:solidFill>
                  <a:srgbClr val="6E7681"/>
                </a:solidFill>
                <a:latin typeface="Calibri" pitchFamily="34" charset="0"/>
                <a:ea typeface="Calibri" pitchFamily="34" charset="-122"/>
                <a:cs typeface="Calibri" pitchFamily="34" charset="-120"/>
              </a:rPr>
              <a:t>ohne 1.0 · Zuf 1.0</a:t>
            </a:r>
            <a:endParaRPr lang="en-US" sz="900" dirty="0"/>
          </a:p>
        </p:txBody>
      </p:sp>
      <p:sp>
        <p:nvSpPr>
          <p:cNvPr id="72" name="Shape 70"/>
          <p:cNvSpPr/>
          <p:nvPr/>
        </p:nvSpPr>
        <p:spPr>
          <a:xfrm>
            <a:off x="3611880" y="3922776"/>
            <a:ext cx="1316736" cy="658368"/>
          </a:xfrm>
          <a:prstGeom prst="rect">
            <a:avLst/>
          </a:prstGeom>
          <a:solidFill>
            <a:srgbClr val="F4F6F8"/>
          </a:solidFill>
          <a:ln w="19050">
            <a:solidFill>
              <a:srgbClr val="FFFFFF"/>
            </a:solidFill>
            <a:prstDash val="solid"/>
          </a:ln>
        </p:spPr>
        <p:txBody>
          <a:bodyPr/>
          <a:lstStyle/>
          <a:p>
            <a:endParaRPr lang="de-DE"/>
          </a:p>
        </p:txBody>
      </p:sp>
      <p:sp>
        <p:nvSpPr>
          <p:cNvPr id="73" name="Text 71"/>
          <p:cNvSpPr/>
          <p:nvPr/>
        </p:nvSpPr>
        <p:spPr>
          <a:xfrm>
            <a:off x="3611880" y="3977640"/>
            <a:ext cx="1316736" cy="329184"/>
          </a:xfrm>
          <a:prstGeom prst="rect">
            <a:avLst/>
          </a:prstGeom>
          <a:noFill/>
          <a:ln/>
        </p:spPr>
        <p:txBody>
          <a:bodyPr wrap="square" lIns="0" tIns="0" rIns="0" bIns="0" rtlCol="0" anchor="ctr"/>
          <a:lstStyle/>
          <a:p>
            <a:pPr marL="0" indent="0" algn="ctr">
              <a:buNone/>
            </a:pPr>
            <a:r>
              <a:rPr lang="en-US" sz="1500" b="1" dirty="0">
                <a:solidFill>
                  <a:srgbClr val="23282F"/>
                </a:solidFill>
                <a:latin typeface="Cambria" pitchFamily="34" charset="0"/>
                <a:ea typeface="Cambria" pitchFamily="34" charset="-122"/>
                <a:cs typeface="Cambria" pitchFamily="34" charset="-120"/>
              </a:rPr>
              <a:t>3.0</a:t>
            </a:r>
            <a:endParaRPr lang="en-US" sz="1500" dirty="0"/>
          </a:p>
        </p:txBody>
      </p:sp>
      <p:sp>
        <p:nvSpPr>
          <p:cNvPr id="74" name="Text 72"/>
          <p:cNvSpPr/>
          <p:nvPr/>
        </p:nvSpPr>
        <p:spPr>
          <a:xfrm>
            <a:off x="3611880" y="4306824"/>
            <a:ext cx="1316736" cy="274320"/>
          </a:xfrm>
          <a:prstGeom prst="rect">
            <a:avLst/>
          </a:prstGeom>
          <a:noFill/>
          <a:ln/>
        </p:spPr>
        <p:txBody>
          <a:bodyPr wrap="square" lIns="0" tIns="0" rIns="0" bIns="0" rtlCol="0" anchor="ctr"/>
          <a:lstStyle/>
          <a:p>
            <a:pPr marL="0" indent="0" algn="ctr">
              <a:buNone/>
            </a:pPr>
            <a:r>
              <a:rPr lang="en-US" sz="900" dirty="0">
                <a:solidFill>
                  <a:srgbClr val="6E7681"/>
                </a:solidFill>
                <a:latin typeface="Calibri" pitchFamily="34" charset="0"/>
                <a:ea typeface="Calibri" pitchFamily="34" charset="-122"/>
                <a:cs typeface="Calibri" pitchFamily="34" charset="-120"/>
              </a:rPr>
              <a:t>ohne 3.0 · Zuf 3.0</a:t>
            </a:r>
            <a:endParaRPr lang="en-US" sz="900" dirty="0"/>
          </a:p>
        </p:txBody>
      </p:sp>
      <p:sp>
        <p:nvSpPr>
          <p:cNvPr id="75" name="Shape 73"/>
          <p:cNvSpPr/>
          <p:nvPr/>
        </p:nvSpPr>
        <p:spPr>
          <a:xfrm>
            <a:off x="4983480" y="3922776"/>
            <a:ext cx="1316736" cy="658368"/>
          </a:xfrm>
          <a:prstGeom prst="rect">
            <a:avLst/>
          </a:prstGeom>
          <a:solidFill>
            <a:srgbClr val="E9F1F5"/>
          </a:solidFill>
          <a:ln w="19050">
            <a:solidFill>
              <a:srgbClr val="FFFFFF"/>
            </a:solidFill>
            <a:prstDash val="solid"/>
          </a:ln>
        </p:spPr>
        <p:txBody>
          <a:bodyPr/>
          <a:lstStyle/>
          <a:p>
            <a:endParaRPr lang="de-DE"/>
          </a:p>
        </p:txBody>
      </p:sp>
      <p:sp>
        <p:nvSpPr>
          <p:cNvPr id="76" name="Text 74"/>
          <p:cNvSpPr/>
          <p:nvPr/>
        </p:nvSpPr>
        <p:spPr>
          <a:xfrm>
            <a:off x="4983480" y="3977640"/>
            <a:ext cx="1316736" cy="329184"/>
          </a:xfrm>
          <a:prstGeom prst="rect">
            <a:avLst/>
          </a:prstGeom>
          <a:noFill/>
          <a:ln/>
        </p:spPr>
        <p:txBody>
          <a:bodyPr wrap="square" lIns="0" tIns="0" rIns="0" bIns="0" rtlCol="0" anchor="ctr"/>
          <a:lstStyle/>
          <a:p>
            <a:pPr marL="0" indent="0" algn="ctr">
              <a:buNone/>
            </a:pPr>
            <a:r>
              <a:rPr lang="en-US" sz="1500" b="1" dirty="0">
                <a:solidFill>
                  <a:srgbClr val="23282F"/>
                </a:solidFill>
                <a:latin typeface="Cambria" pitchFamily="34" charset="0"/>
                <a:ea typeface="Cambria" pitchFamily="34" charset="-122"/>
                <a:cs typeface="Cambria" pitchFamily="34" charset="-120"/>
              </a:rPr>
              <a:t>2.0</a:t>
            </a:r>
            <a:endParaRPr lang="en-US" sz="1500" dirty="0"/>
          </a:p>
        </p:txBody>
      </p:sp>
      <p:sp>
        <p:nvSpPr>
          <p:cNvPr id="77" name="Text 75"/>
          <p:cNvSpPr/>
          <p:nvPr/>
        </p:nvSpPr>
        <p:spPr>
          <a:xfrm>
            <a:off x="4983480" y="4306824"/>
            <a:ext cx="1316736" cy="274320"/>
          </a:xfrm>
          <a:prstGeom prst="rect">
            <a:avLst/>
          </a:prstGeom>
          <a:noFill/>
          <a:ln/>
        </p:spPr>
        <p:txBody>
          <a:bodyPr wrap="square" lIns="0" tIns="0" rIns="0" bIns="0" rtlCol="0" anchor="ctr"/>
          <a:lstStyle/>
          <a:p>
            <a:pPr marL="0" indent="0" algn="ctr">
              <a:buNone/>
            </a:pPr>
            <a:r>
              <a:rPr lang="en-US" sz="900" dirty="0">
                <a:solidFill>
                  <a:srgbClr val="6E7681"/>
                </a:solidFill>
                <a:latin typeface="Calibri" pitchFamily="34" charset="0"/>
                <a:ea typeface="Calibri" pitchFamily="34" charset="-122"/>
                <a:cs typeface="Calibri" pitchFamily="34" charset="-120"/>
              </a:rPr>
              <a:t>ohne 3.0 · Zuf 2.0</a:t>
            </a:r>
            <a:endParaRPr lang="en-US" sz="900" dirty="0"/>
          </a:p>
        </p:txBody>
      </p:sp>
      <p:sp>
        <p:nvSpPr>
          <p:cNvPr id="78" name="Shape 76"/>
          <p:cNvSpPr/>
          <p:nvPr/>
        </p:nvSpPr>
        <p:spPr>
          <a:xfrm>
            <a:off x="6355080" y="3922776"/>
            <a:ext cx="1316736" cy="658368"/>
          </a:xfrm>
          <a:prstGeom prst="rect">
            <a:avLst/>
          </a:prstGeom>
          <a:solidFill>
            <a:srgbClr val="E9F1F5"/>
          </a:solidFill>
          <a:ln w="19050">
            <a:solidFill>
              <a:srgbClr val="FFFFFF"/>
            </a:solidFill>
            <a:prstDash val="solid"/>
          </a:ln>
        </p:spPr>
        <p:txBody>
          <a:bodyPr/>
          <a:lstStyle/>
          <a:p>
            <a:endParaRPr lang="de-DE"/>
          </a:p>
        </p:txBody>
      </p:sp>
      <p:sp>
        <p:nvSpPr>
          <p:cNvPr id="79" name="Text 77"/>
          <p:cNvSpPr/>
          <p:nvPr/>
        </p:nvSpPr>
        <p:spPr>
          <a:xfrm>
            <a:off x="6355080" y="3977640"/>
            <a:ext cx="1316736" cy="329184"/>
          </a:xfrm>
          <a:prstGeom prst="rect">
            <a:avLst/>
          </a:prstGeom>
          <a:noFill/>
          <a:ln/>
        </p:spPr>
        <p:txBody>
          <a:bodyPr wrap="square" lIns="0" tIns="0" rIns="0" bIns="0" rtlCol="0" anchor="ctr"/>
          <a:lstStyle/>
          <a:p>
            <a:pPr marL="0" indent="0" algn="ctr">
              <a:buNone/>
            </a:pPr>
            <a:r>
              <a:rPr lang="en-US" sz="1500" b="1" dirty="0">
                <a:solidFill>
                  <a:srgbClr val="23282F"/>
                </a:solidFill>
                <a:latin typeface="Cambria" pitchFamily="34" charset="0"/>
                <a:ea typeface="Cambria" pitchFamily="34" charset="-122"/>
                <a:cs typeface="Cambria" pitchFamily="34" charset="-120"/>
              </a:rPr>
              <a:t>2.0</a:t>
            </a:r>
            <a:endParaRPr lang="en-US" sz="1500" dirty="0"/>
          </a:p>
        </p:txBody>
      </p:sp>
      <p:sp>
        <p:nvSpPr>
          <p:cNvPr id="80" name="Text 78"/>
          <p:cNvSpPr/>
          <p:nvPr/>
        </p:nvSpPr>
        <p:spPr>
          <a:xfrm>
            <a:off x="6355080" y="4306824"/>
            <a:ext cx="1316736" cy="274320"/>
          </a:xfrm>
          <a:prstGeom prst="rect">
            <a:avLst/>
          </a:prstGeom>
          <a:noFill/>
          <a:ln/>
        </p:spPr>
        <p:txBody>
          <a:bodyPr wrap="square" lIns="0" tIns="0" rIns="0" bIns="0" rtlCol="0" anchor="ctr"/>
          <a:lstStyle/>
          <a:p>
            <a:pPr marL="0" indent="0" algn="ctr">
              <a:buNone/>
            </a:pPr>
            <a:r>
              <a:rPr lang="en-US" sz="900" dirty="0">
                <a:solidFill>
                  <a:srgbClr val="6E7681"/>
                </a:solidFill>
                <a:latin typeface="Calibri" pitchFamily="34" charset="0"/>
                <a:ea typeface="Calibri" pitchFamily="34" charset="-122"/>
                <a:cs typeface="Calibri" pitchFamily="34" charset="-120"/>
              </a:rPr>
              <a:t>ohne 3.0 · Zuf 2.0</a:t>
            </a:r>
            <a:endParaRPr lang="en-US" sz="900" dirty="0"/>
          </a:p>
        </p:txBody>
      </p:sp>
      <p:sp>
        <p:nvSpPr>
          <p:cNvPr id="81" name="Shape 79"/>
          <p:cNvSpPr/>
          <p:nvPr/>
        </p:nvSpPr>
        <p:spPr>
          <a:xfrm>
            <a:off x="7726680" y="3922776"/>
            <a:ext cx="1316736" cy="658368"/>
          </a:xfrm>
          <a:prstGeom prst="rect">
            <a:avLst/>
          </a:prstGeom>
          <a:solidFill>
            <a:srgbClr val="FBEDEA"/>
          </a:solidFill>
          <a:ln w="19050">
            <a:solidFill>
              <a:srgbClr val="FFFFFF"/>
            </a:solidFill>
            <a:prstDash val="solid"/>
          </a:ln>
        </p:spPr>
        <p:txBody>
          <a:bodyPr/>
          <a:lstStyle/>
          <a:p>
            <a:endParaRPr lang="de-DE"/>
          </a:p>
        </p:txBody>
      </p:sp>
      <p:sp>
        <p:nvSpPr>
          <p:cNvPr id="82" name="Text 80"/>
          <p:cNvSpPr/>
          <p:nvPr/>
        </p:nvSpPr>
        <p:spPr>
          <a:xfrm>
            <a:off x="7726680" y="3977640"/>
            <a:ext cx="1316736" cy="329184"/>
          </a:xfrm>
          <a:prstGeom prst="rect">
            <a:avLst/>
          </a:prstGeom>
          <a:noFill/>
          <a:ln/>
        </p:spPr>
        <p:txBody>
          <a:bodyPr wrap="square" lIns="0" tIns="0" rIns="0" bIns="0" rtlCol="0" anchor="ctr"/>
          <a:lstStyle/>
          <a:p>
            <a:pPr marL="0" indent="0" algn="ctr">
              <a:buNone/>
            </a:pPr>
            <a:r>
              <a:rPr lang="en-US" sz="1500" b="1" dirty="0">
                <a:solidFill>
                  <a:srgbClr val="23282F"/>
                </a:solidFill>
                <a:latin typeface="Cambria" pitchFamily="34" charset="0"/>
                <a:ea typeface="Cambria" pitchFamily="34" charset="-122"/>
                <a:cs typeface="Cambria" pitchFamily="34" charset="-120"/>
              </a:rPr>
              <a:t>4.0</a:t>
            </a:r>
            <a:endParaRPr lang="en-US" sz="1500" dirty="0"/>
          </a:p>
        </p:txBody>
      </p:sp>
      <p:sp>
        <p:nvSpPr>
          <p:cNvPr id="83" name="Text 81"/>
          <p:cNvSpPr/>
          <p:nvPr/>
        </p:nvSpPr>
        <p:spPr>
          <a:xfrm>
            <a:off x="7726680" y="4306824"/>
            <a:ext cx="1316736" cy="274320"/>
          </a:xfrm>
          <a:prstGeom prst="rect">
            <a:avLst/>
          </a:prstGeom>
          <a:noFill/>
          <a:ln/>
        </p:spPr>
        <p:txBody>
          <a:bodyPr wrap="square" lIns="0" tIns="0" rIns="0" bIns="0" rtlCol="0" anchor="ctr"/>
          <a:lstStyle/>
          <a:p>
            <a:pPr marL="0" indent="0" algn="ctr">
              <a:buNone/>
            </a:pPr>
            <a:r>
              <a:rPr lang="en-US" sz="900" dirty="0">
                <a:solidFill>
                  <a:srgbClr val="6E7681"/>
                </a:solidFill>
                <a:latin typeface="Calibri" pitchFamily="34" charset="0"/>
                <a:ea typeface="Calibri" pitchFamily="34" charset="-122"/>
                <a:cs typeface="Calibri" pitchFamily="34" charset="-120"/>
              </a:rPr>
              <a:t>ohne 4.0 · Zuf 4.0</a:t>
            </a:r>
            <a:endParaRPr lang="en-US" sz="900" dirty="0"/>
          </a:p>
        </p:txBody>
      </p:sp>
      <p:sp>
        <p:nvSpPr>
          <p:cNvPr id="84" name="Shape 82"/>
          <p:cNvSpPr/>
          <p:nvPr/>
        </p:nvSpPr>
        <p:spPr>
          <a:xfrm>
            <a:off x="9098280" y="3922776"/>
            <a:ext cx="1316736" cy="658368"/>
          </a:xfrm>
          <a:prstGeom prst="rect">
            <a:avLst/>
          </a:prstGeom>
          <a:solidFill>
            <a:srgbClr val="F4F6F8"/>
          </a:solidFill>
          <a:ln w="19050">
            <a:solidFill>
              <a:srgbClr val="FFFFFF"/>
            </a:solidFill>
            <a:prstDash val="solid"/>
          </a:ln>
        </p:spPr>
        <p:txBody>
          <a:bodyPr/>
          <a:lstStyle/>
          <a:p>
            <a:endParaRPr lang="de-DE"/>
          </a:p>
        </p:txBody>
      </p:sp>
      <p:sp>
        <p:nvSpPr>
          <p:cNvPr id="85" name="Text 83"/>
          <p:cNvSpPr/>
          <p:nvPr/>
        </p:nvSpPr>
        <p:spPr>
          <a:xfrm>
            <a:off x="9098280" y="3977640"/>
            <a:ext cx="1316736" cy="329184"/>
          </a:xfrm>
          <a:prstGeom prst="rect">
            <a:avLst/>
          </a:prstGeom>
          <a:noFill/>
          <a:ln/>
        </p:spPr>
        <p:txBody>
          <a:bodyPr wrap="square" lIns="0" tIns="0" rIns="0" bIns="0" rtlCol="0" anchor="ctr"/>
          <a:lstStyle/>
          <a:p>
            <a:pPr marL="0" indent="0" algn="ctr">
              <a:buNone/>
            </a:pPr>
            <a:r>
              <a:rPr lang="en-US" sz="1500" b="1" dirty="0">
                <a:solidFill>
                  <a:srgbClr val="23282F"/>
                </a:solidFill>
                <a:latin typeface="Cambria" pitchFamily="34" charset="0"/>
                <a:ea typeface="Cambria" pitchFamily="34" charset="-122"/>
                <a:cs typeface="Cambria" pitchFamily="34" charset="-120"/>
              </a:rPr>
              <a:t>3.0</a:t>
            </a:r>
            <a:endParaRPr lang="en-US" sz="1500" dirty="0"/>
          </a:p>
        </p:txBody>
      </p:sp>
      <p:sp>
        <p:nvSpPr>
          <p:cNvPr id="86" name="Text 84"/>
          <p:cNvSpPr/>
          <p:nvPr/>
        </p:nvSpPr>
        <p:spPr>
          <a:xfrm>
            <a:off x="9098280" y="4306824"/>
            <a:ext cx="1316736" cy="274320"/>
          </a:xfrm>
          <a:prstGeom prst="rect">
            <a:avLst/>
          </a:prstGeom>
          <a:noFill/>
          <a:ln/>
        </p:spPr>
        <p:txBody>
          <a:bodyPr wrap="square" lIns="0" tIns="0" rIns="0" bIns="0" rtlCol="0" anchor="ctr"/>
          <a:lstStyle/>
          <a:p>
            <a:pPr marL="0" indent="0" algn="ctr">
              <a:buNone/>
            </a:pPr>
            <a:r>
              <a:rPr lang="en-US" sz="900" dirty="0">
                <a:solidFill>
                  <a:srgbClr val="6E7681"/>
                </a:solidFill>
                <a:latin typeface="Calibri" pitchFamily="34" charset="0"/>
                <a:ea typeface="Calibri" pitchFamily="34" charset="-122"/>
                <a:cs typeface="Calibri" pitchFamily="34" charset="-120"/>
              </a:rPr>
              <a:t>ohne 3.0 · Zuf 3.0</a:t>
            </a:r>
            <a:endParaRPr lang="en-US" sz="900" dirty="0"/>
          </a:p>
        </p:txBody>
      </p:sp>
      <p:sp>
        <p:nvSpPr>
          <p:cNvPr id="87" name="Text 85"/>
          <p:cNvSpPr/>
          <p:nvPr/>
        </p:nvSpPr>
        <p:spPr>
          <a:xfrm>
            <a:off x="640080" y="4846320"/>
            <a:ext cx="10881360" cy="457200"/>
          </a:xfrm>
          <a:prstGeom prst="rect">
            <a:avLst/>
          </a:prstGeom>
          <a:noFill/>
          <a:ln/>
        </p:spPr>
        <p:txBody>
          <a:bodyPr wrap="square" lIns="0" tIns="0" rIns="0" bIns="0" rtlCol="0" anchor="ctr"/>
          <a:lstStyle/>
          <a:p>
            <a:pPr marL="0" indent="0">
              <a:buNone/>
            </a:pPr>
            <a:r>
              <a:rPr lang="en-US" sz="1400" b="1" dirty="0">
                <a:solidFill>
                  <a:srgbClr val="1C6E8C"/>
                </a:solidFill>
                <a:latin typeface="Calibri" pitchFamily="34" charset="0"/>
                <a:ea typeface="Calibri" pitchFamily="34" charset="-122"/>
                <a:cs typeface="Calibri" pitchFamily="34" charset="-120"/>
              </a:rPr>
              <a:t>In Hub &amp; Spoke und DMZ hält der Angreifer gegen das trainierte Modell weniger Knoten als gegen den Zufallsagenten. In Flat und Micro-Segmentation macht das Training keinen Unterschied.</a:t>
            </a:r>
            <a:endParaRPr lang="en-US" sz="1400" dirty="0"/>
          </a:p>
        </p:txBody>
      </p:sp>
      <p:sp>
        <p:nvSpPr>
          <p:cNvPr id="88" name="Text 86"/>
          <p:cNvSpPr/>
          <p:nvPr/>
        </p:nvSpPr>
        <p:spPr>
          <a:xfrm>
            <a:off x="640080" y="6291072"/>
            <a:ext cx="10881360" cy="274320"/>
          </a:xfrm>
          <a:prstGeom prst="rect">
            <a:avLst/>
          </a:prstGeom>
          <a:noFill/>
          <a:ln/>
        </p:spPr>
        <p:txBody>
          <a:bodyPr wrap="square" lIns="0" tIns="0" rIns="0" bIns="0" rtlCol="0" anchor="ctr"/>
          <a:lstStyle/>
          <a:p>
            <a:pPr marL="0" indent="0">
              <a:buNone/>
            </a:pPr>
            <a:r>
              <a:rPr lang="en-US" sz="1000" i="1" dirty="0">
                <a:solidFill>
                  <a:srgbClr val="6E7681"/>
                </a:solidFill>
                <a:latin typeface="Calibri" pitchFamily="34" charset="0"/>
                <a:ea typeface="Calibri" pitchFamily="34" charset="-122"/>
                <a:cs typeface="Calibri" pitchFamily="34" charset="-120"/>
              </a:rPr>
              <a:t>Median über 25 Episoden je Zelle und über alle fünf Seeds. Der Einstiegsknoten WebServer ist von Beginn an übernommen und zählt mit.</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640080" y="384048"/>
            <a:ext cx="10881360" cy="566928"/>
          </a:xfrm>
          <a:prstGeom prst="rect">
            <a:avLst/>
          </a:prstGeom>
          <a:noFill/>
          <a:ln/>
        </p:spPr>
        <p:txBody>
          <a:bodyPr wrap="square" lIns="0" tIns="0" rIns="0" bIns="0" rtlCol="0" anchor="ctr"/>
          <a:lstStyle/>
          <a:p>
            <a:pPr marL="0" indent="0">
              <a:buNone/>
            </a:pPr>
            <a:r>
              <a:rPr lang="en-US" sz="3400" b="1" dirty="0">
                <a:solidFill>
                  <a:srgbClr val="23282F"/>
                </a:solidFill>
                <a:latin typeface="Cambria" pitchFamily="34" charset="0"/>
                <a:ea typeface="Cambria" pitchFamily="34" charset="-122"/>
                <a:cs typeface="Cambria" pitchFamily="34" charset="-120"/>
              </a:rPr>
              <a:t>Bringt der Verteidiger etwas? Crown Jewel</a:t>
            </a:r>
            <a:endParaRPr lang="en-US" sz="3400" dirty="0"/>
          </a:p>
        </p:txBody>
      </p:sp>
      <p:sp>
        <p:nvSpPr>
          <p:cNvPr id="3" name="Text 1"/>
          <p:cNvSpPr/>
          <p:nvPr/>
        </p:nvSpPr>
        <p:spPr>
          <a:xfrm>
            <a:off x="640080" y="969264"/>
            <a:ext cx="10881360" cy="493776"/>
          </a:xfrm>
          <a:prstGeom prst="rect">
            <a:avLst/>
          </a:prstGeom>
          <a:noFill/>
          <a:ln/>
        </p:spPr>
        <p:txBody>
          <a:bodyPr wrap="square" lIns="0" tIns="0" rIns="0" bIns="0" rtlCol="0" anchor="ctr"/>
          <a:lstStyle/>
          <a:p>
            <a:pPr marL="0" indent="0">
              <a:buNone/>
            </a:pPr>
            <a:r>
              <a:rPr lang="en-US" sz="1400" dirty="0">
                <a:solidFill>
                  <a:srgbClr val="6E7681"/>
                </a:solidFill>
                <a:latin typeface="Calibri" pitchFamily="34" charset="0"/>
                <a:ea typeface="Calibri" pitchFamily="34" charset="-122"/>
                <a:cs typeface="Calibri" pitchFamily="34" charset="-120"/>
              </a:rPr>
              <a:t>Anteil der Episoden mit erreichtem Datenbankserver — große Zahl = trainiertes Modell</a:t>
            </a:r>
            <a:endParaRPr lang="en-US" sz="1400" dirty="0"/>
          </a:p>
        </p:txBody>
      </p:sp>
      <p:sp>
        <p:nvSpPr>
          <p:cNvPr id="4" name="Text 2"/>
          <p:cNvSpPr/>
          <p:nvPr/>
        </p:nvSpPr>
        <p:spPr>
          <a:xfrm>
            <a:off x="2240280" y="1399032"/>
            <a:ext cx="1371600" cy="329184"/>
          </a:xfrm>
          <a:prstGeom prst="rect">
            <a:avLst/>
          </a:prstGeom>
          <a:noFill/>
          <a:ln/>
        </p:spPr>
        <p:txBody>
          <a:bodyPr wrap="square" lIns="0" tIns="0" rIns="0" bIns="0" rtlCol="0" anchor="ctr"/>
          <a:lstStyle/>
          <a:p>
            <a:pPr marL="0" indent="0" algn="ctr">
              <a:buNone/>
            </a:pPr>
            <a:r>
              <a:rPr lang="en-US" sz="1200" b="1" dirty="0">
                <a:solidFill>
                  <a:srgbClr val="6E7681"/>
                </a:solidFill>
                <a:latin typeface="Calibri" pitchFamily="34" charset="0"/>
                <a:ea typeface="Calibri" pitchFamily="34" charset="-122"/>
                <a:cs typeface="Calibri" pitchFamily="34" charset="-120"/>
              </a:rPr>
              <a:t>Chain</a:t>
            </a:r>
            <a:endParaRPr lang="en-US" sz="1200" dirty="0"/>
          </a:p>
        </p:txBody>
      </p:sp>
      <p:sp>
        <p:nvSpPr>
          <p:cNvPr id="5" name="Text 3"/>
          <p:cNvSpPr/>
          <p:nvPr/>
        </p:nvSpPr>
        <p:spPr>
          <a:xfrm>
            <a:off x="3611880" y="1399032"/>
            <a:ext cx="1371600" cy="329184"/>
          </a:xfrm>
          <a:prstGeom prst="rect">
            <a:avLst/>
          </a:prstGeom>
          <a:noFill/>
          <a:ln/>
        </p:spPr>
        <p:txBody>
          <a:bodyPr wrap="square" lIns="0" tIns="0" rIns="0" bIns="0" rtlCol="0" anchor="ctr"/>
          <a:lstStyle/>
          <a:p>
            <a:pPr marL="0" indent="0" algn="ctr">
              <a:buNone/>
            </a:pPr>
            <a:r>
              <a:rPr lang="en-US" sz="1200" b="1" dirty="0">
                <a:solidFill>
                  <a:srgbClr val="6E7681"/>
                </a:solidFill>
                <a:latin typeface="Calibri" pitchFamily="34" charset="0"/>
                <a:ea typeface="Calibri" pitchFamily="34" charset="-122"/>
                <a:cs typeface="Calibri" pitchFamily="34" charset="-120"/>
              </a:rPr>
              <a:t>Flat</a:t>
            </a:r>
            <a:endParaRPr lang="en-US" sz="1200" dirty="0"/>
          </a:p>
        </p:txBody>
      </p:sp>
      <p:sp>
        <p:nvSpPr>
          <p:cNvPr id="6" name="Text 4"/>
          <p:cNvSpPr/>
          <p:nvPr/>
        </p:nvSpPr>
        <p:spPr>
          <a:xfrm>
            <a:off x="4983480" y="1399032"/>
            <a:ext cx="1371600" cy="329184"/>
          </a:xfrm>
          <a:prstGeom prst="rect">
            <a:avLst/>
          </a:prstGeom>
          <a:noFill/>
          <a:ln/>
        </p:spPr>
        <p:txBody>
          <a:bodyPr wrap="square" lIns="0" tIns="0" rIns="0" bIns="0" rtlCol="0" anchor="ctr"/>
          <a:lstStyle/>
          <a:p>
            <a:pPr marL="0" indent="0" algn="ctr">
              <a:buNone/>
            </a:pPr>
            <a:r>
              <a:rPr lang="en-US" sz="1200" b="1" dirty="0">
                <a:solidFill>
                  <a:srgbClr val="6E7681"/>
                </a:solidFill>
                <a:latin typeface="Calibri" pitchFamily="34" charset="0"/>
                <a:ea typeface="Calibri" pitchFamily="34" charset="-122"/>
                <a:cs typeface="Calibri" pitchFamily="34" charset="-120"/>
              </a:rPr>
              <a:t>Hub &amp; Spoke</a:t>
            </a:r>
            <a:endParaRPr lang="en-US" sz="1200" dirty="0"/>
          </a:p>
        </p:txBody>
      </p:sp>
      <p:sp>
        <p:nvSpPr>
          <p:cNvPr id="7" name="Text 5"/>
          <p:cNvSpPr/>
          <p:nvPr/>
        </p:nvSpPr>
        <p:spPr>
          <a:xfrm>
            <a:off x="6355080" y="1399032"/>
            <a:ext cx="1371600" cy="329184"/>
          </a:xfrm>
          <a:prstGeom prst="rect">
            <a:avLst/>
          </a:prstGeom>
          <a:noFill/>
          <a:ln/>
        </p:spPr>
        <p:txBody>
          <a:bodyPr wrap="square" lIns="0" tIns="0" rIns="0" bIns="0" rtlCol="0" anchor="ctr"/>
          <a:lstStyle/>
          <a:p>
            <a:pPr marL="0" indent="0" algn="ctr">
              <a:buNone/>
            </a:pPr>
            <a:r>
              <a:rPr lang="en-US" sz="1200" b="1" dirty="0">
                <a:solidFill>
                  <a:srgbClr val="6E7681"/>
                </a:solidFill>
                <a:latin typeface="Calibri" pitchFamily="34" charset="0"/>
                <a:ea typeface="Calibri" pitchFamily="34" charset="-122"/>
                <a:cs typeface="Calibri" pitchFamily="34" charset="-120"/>
              </a:rPr>
              <a:t>DMZ</a:t>
            </a:r>
            <a:endParaRPr lang="en-US" sz="1200" dirty="0"/>
          </a:p>
        </p:txBody>
      </p:sp>
      <p:sp>
        <p:nvSpPr>
          <p:cNvPr id="8" name="Text 6"/>
          <p:cNvSpPr/>
          <p:nvPr/>
        </p:nvSpPr>
        <p:spPr>
          <a:xfrm>
            <a:off x="7726680" y="1399032"/>
            <a:ext cx="1371600" cy="329184"/>
          </a:xfrm>
          <a:prstGeom prst="rect">
            <a:avLst/>
          </a:prstGeom>
          <a:noFill/>
          <a:ln/>
        </p:spPr>
        <p:txBody>
          <a:bodyPr wrap="square" lIns="0" tIns="0" rIns="0" bIns="0" rtlCol="0" anchor="ctr"/>
          <a:lstStyle/>
          <a:p>
            <a:pPr marL="0" indent="0" algn="ctr">
              <a:buNone/>
            </a:pPr>
            <a:r>
              <a:rPr lang="en-US" sz="1200" b="1" dirty="0">
                <a:solidFill>
                  <a:srgbClr val="6E7681"/>
                </a:solidFill>
                <a:latin typeface="Calibri" pitchFamily="34" charset="0"/>
                <a:ea typeface="Calibri" pitchFamily="34" charset="-122"/>
                <a:cs typeface="Calibri" pitchFamily="34" charset="-120"/>
              </a:rPr>
              <a:t>Micro-Seg.</a:t>
            </a:r>
            <a:endParaRPr lang="en-US" sz="1200" dirty="0"/>
          </a:p>
        </p:txBody>
      </p:sp>
      <p:sp>
        <p:nvSpPr>
          <p:cNvPr id="9" name="Text 7"/>
          <p:cNvSpPr/>
          <p:nvPr/>
        </p:nvSpPr>
        <p:spPr>
          <a:xfrm>
            <a:off x="9098280" y="1399032"/>
            <a:ext cx="1371600" cy="329184"/>
          </a:xfrm>
          <a:prstGeom prst="rect">
            <a:avLst/>
          </a:prstGeom>
          <a:noFill/>
          <a:ln/>
        </p:spPr>
        <p:txBody>
          <a:bodyPr wrap="square" lIns="0" tIns="0" rIns="0" bIns="0" rtlCol="0" anchor="ctr"/>
          <a:lstStyle/>
          <a:p>
            <a:pPr marL="0" indent="0" algn="ctr">
              <a:buNone/>
            </a:pPr>
            <a:r>
              <a:rPr lang="en-US" sz="1200" b="1" dirty="0">
                <a:solidFill>
                  <a:srgbClr val="6E7681"/>
                </a:solidFill>
                <a:latin typeface="Calibri" pitchFamily="34" charset="0"/>
                <a:ea typeface="Calibri" pitchFamily="34" charset="-122"/>
                <a:cs typeface="Calibri" pitchFamily="34" charset="-120"/>
              </a:rPr>
              <a:t>Super</a:t>
            </a:r>
            <a:endParaRPr lang="en-US" sz="1200" dirty="0"/>
          </a:p>
        </p:txBody>
      </p:sp>
      <p:sp>
        <p:nvSpPr>
          <p:cNvPr id="11" name="Text 9"/>
          <p:cNvSpPr/>
          <p:nvPr/>
        </p:nvSpPr>
        <p:spPr>
          <a:xfrm>
            <a:off x="640080" y="1783080"/>
            <a:ext cx="1508760" cy="713232"/>
          </a:xfrm>
          <a:prstGeom prst="rect">
            <a:avLst/>
          </a:prstGeom>
          <a:noFill/>
          <a:ln/>
        </p:spPr>
        <p:txBody>
          <a:bodyPr wrap="square" lIns="0" tIns="0" rIns="0" bIns="0" rtlCol="0" anchor="ctr"/>
          <a:lstStyle/>
          <a:p>
            <a:pPr marL="0" indent="0" algn="r">
              <a:buNone/>
            </a:pPr>
            <a:r>
              <a:rPr lang="en-US" sz="1300" b="1" dirty="0">
                <a:solidFill>
                  <a:srgbClr val="23282F"/>
                </a:solidFill>
                <a:latin typeface="Calibri" pitchFamily="34" charset="0"/>
                <a:ea typeface="Calibri" pitchFamily="34" charset="-122"/>
                <a:cs typeface="Calibri" pitchFamily="34" charset="-120"/>
              </a:rPr>
              <a:t>Flat</a:t>
            </a:r>
            <a:endParaRPr lang="en-US" sz="1300" dirty="0"/>
          </a:p>
        </p:txBody>
      </p:sp>
      <p:sp>
        <p:nvSpPr>
          <p:cNvPr id="12" name="Shape 10"/>
          <p:cNvSpPr/>
          <p:nvPr/>
        </p:nvSpPr>
        <p:spPr>
          <a:xfrm>
            <a:off x="2240280" y="1783080"/>
            <a:ext cx="1316736" cy="658368"/>
          </a:xfrm>
          <a:prstGeom prst="rect">
            <a:avLst/>
          </a:prstGeom>
          <a:solidFill>
            <a:srgbClr val="E9F1F5"/>
          </a:solidFill>
          <a:ln w="19050">
            <a:solidFill>
              <a:srgbClr val="FFFFFF"/>
            </a:solidFill>
            <a:prstDash val="solid"/>
          </a:ln>
        </p:spPr>
        <p:txBody>
          <a:bodyPr/>
          <a:lstStyle/>
          <a:p>
            <a:endParaRPr lang="de-DE"/>
          </a:p>
        </p:txBody>
      </p:sp>
      <p:sp>
        <p:nvSpPr>
          <p:cNvPr id="13" name="Text 11"/>
          <p:cNvSpPr/>
          <p:nvPr/>
        </p:nvSpPr>
        <p:spPr>
          <a:xfrm>
            <a:off x="2240280" y="1837944"/>
            <a:ext cx="1316736" cy="329184"/>
          </a:xfrm>
          <a:prstGeom prst="rect">
            <a:avLst/>
          </a:prstGeom>
          <a:noFill/>
          <a:ln/>
        </p:spPr>
        <p:txBody>
          <a:bodyPr wrap="square" lIns="0" tIns="0" rIns="0" bIns="0" rtlCol="0" anchor="ctr"/>
          <a:lstStyle/>
          <a:p>
            <a:pPr marL="0" indent="0" algn="ctr">
              <a:buNone/>
            </a:pPr>
            <a:r>
              <a:rPr lang="en-US" sz="1500" b="1" dirty="0">
                <a:solidFill>
                  <a:srgbClr val="23282F"/>
                </a:solidFill>
                <a:latin typeface="Cambria" pitchFamily="34" charset="0"/>
                <a:ea typeface="Cambria" pitchFamily="34" charset="-122"/>
                <a:cs typeface="Cambria" pitchFamily="34" charset="-120"/>
              </a:rPr>
              <a:t>10 %</a:t>
            </a:r>
            <a:endParaRPr lang="en-US" sz="1500" dirty="0"/>
          </a:p>
        </p:txBody>
      </p:sp>
      <p:sp>
        <p:nvSpPr>
          <p:cNvPr id="14" name="Text 12"/>
          <p:cNvSpPr/>
          <p:nvPr/>
        </p:nvSpPr>
        <p:spPr>
          <a:xfrm>
            <a:off x="2240280" y="2167128"/>
            <a:ext cx="1316736" cy="274320"/>
          </a:xfrm>
          <a:prstGeom prst="rect">
            <a:avLst/>
          </a:prstGeom>
          <a:noFill/>
          <a:ln/>
        </p:spPr>
        <p:txBody>
          <a:bodyPr wrap="square" lIns="0" tIns="0" rIns="0" bIns="0" rtlCol="0" anchor="ctr"/>
          <a:lstStyle/>
          <a:p>
            <a:pPr marL="0" indent="0" algn="ctr">
              <a:buNone/>
            </a:pPr>
            <a:r>
              <a:rPr lang="en-US" sz="900" dirty="0">
                <a:solidFill>
                  <a:srgbClr val="6E7681"/>
                </a:solidFill>
                <a:latin typeface="Calibri" pitchFamily="34" charset="0"/>
                <a:ea typeface="Calibri" pitchFamily="34" charset="-122"/>
                <a:cs typeface="Calibri" pitchFamily="34" charset="-120"/>
              </a:rPr>
              <a:t>ohne 1 · Zuf 14</a:t>
            </a:r>
            <a:endParaRPr lang="en-US" sz="900" dirty="0"/>
          </a:p>
        </p:txBody>
      </p:sp>
      <p:sp>
        <p:nvSpPr>
          <p:cNvPr id="15" name="Shape 13"/>
          <p:cNvSpPr/>
          <p:nvPr/>
        </p:nvSpPr>
        <p:spPr>
          <a:xfrm>
            <a:off x="3611880" y="1783080"/>
            <a:ext cx="1316736" cy="658368"/>
          </a:xfrm>
          <a:prstGeom prst="rect">
            <a:avLst/>
          </a:prstGeom>
          <a:solidFill>
            <a:srgbClr val="E0A092"/>
          </a:solidFill>
          <a:ln w="19050">
            <a:solidFill>
              <a:srgbClr val="FFFFFF"/>
            </a:solidFill>
            <a:prstDash val="solid"/>
          </a:ln>
        </p:spPr>
        <p:txBody>
          <a:bodyPr/>
          <a:lstStyle/>
          <a:p>
            <a:endParaRPr lang="de-DE"/>
          </a:p>
        </p:txBody>
      </p:sp>
      <p:sp>
        <p:nvSpPr>
          <p:cNvPr id="16" name="Text 14"/>
          <p:cNvSpPr/>
          <p:nvPr/>
        </p:nvSpPr>
        <p:spPr>
          <a:xfrm>
            <a:off x="3611880" y="1837944"/>
            <a:ext cx="1316736" cy="329184"/>
          </a:xfrm>
          <a:prstGeom prst="rect">
            <a:avLst/>
          </a:prstGeom>
          <a:noFill/>
          <a:ln/>
        </p:spPr>
        <p:txBody>
          <a:bodyPr wrap="square" lIns="0" tIns="0" rIns="0" bIns="0" rtlCol="0" anchor="ctr"/>
          <a:lstStyle/>
          <a:p>
            <a:pPr marL="0" indent="0" algn="ctr">
              <a:buNone/>
            </a:pPr>
            <a:r>
              <a:rPr lang="en-US" sz="1500" b="1" dirty="0">
                <a:solidFill>
                  <a:srgbClr val="23282F"/>
                </a:solidFill>
                <a:latin typeface="Cambria" pitchFamily="34" charset="0"/>
                <a:ea typeface="Cambria" pitchFamily="34" charset="-122"/>
                <a:cs typeface="Cambria" pitchFamily="34" charset="-120"/>
              </a:rPr>
              <a:t>86 %</a:t>
            </a:r>
            <a:endParaRPr lang="en-US" sz="1500" dirty="0"/>
          </a:p>
        </p:txBody>
      </p:sp>
      <p:sp>
        <p:nvSpPr>
          <p:cNvPr id="17" name="Text 15"/>
          <p:cNvSpPr/>
          <p:nvPr/>
        </p:nvSpPr>
        <p:spPr>
          <a:xfrm>
            <a:off x="3611880" y="2167128"/>
            <a:ext cx="1316736" cy="274320"/>
          </a:xfrm>
          <a:prstGeom prst="rect">
            <a:avLst/>
          </a:prstGeom>
          <a:noFill/>
          <a:ln/>
        </p:spPr>
        <p:txBody>
          <a:bodyPr wrap="square" lIns="0" tIns="0" rIns="0" bIns="0" rtlCol="0" anchor="ctr"/>
          <a:lstStyle/>
          <a:p>
            <a:pPr marL="0" indent="0" algn="ctr">
              <a:buNone/>
            </a:pPr>
            <a:r>
              <a:rPr lang="en-US" sz="900" dirty="0">
                <a:solidFill>
                  <a:srgbClr val="6E7681"/>
                </a:solidFill>
                <a:latin typeface="Calibri" pitchFamily="34" charset="0"/>
                <a:ea typeface="Calibri" pitchFamily="34" charset="-122"/>
                <a:cs typeface="Calibri" pitchFamily="34" charset="-120"/>
              </a:rPr>
              <a:t>ohne 100 · Zuf 86</a:t>
            </a:r>
            <a:endParaRPr lang="en-US" sz="900" dirty="0"/>
          </a:p>
        </p:txBody>
      </p:sp>
      <p:sp>
        <p:nvSpPr>
          <p:cNvPr id="18" name="Shape 16"/>
          <p:cNvSpPr/>
          <p:nvPr/>
        </p:nvSpPr>
        <p:spPr>
          <a:xfrm>
            <a:off x="4983480" y="1783080"/>
            <a:ext cx="1316736" cy="658368"/>
          </a:xfrm>
          <a:prstGeom prst="rect">
            <a:avLst/>
          </a:prstGeom>
          <a:solidFill>
            <a:srgbClr val="E0A092"/>
          </a:solidFill>
          <a:ln w="19050">
            <a:solidFill>
              <a:srgbClr val="FFFFFF"/>
            </a:solidFill>
            <a:prstDash val="solid"/>
          </a:ln>
        </p:spPr>
        <p:txBody>
          <a:bodyPr/>
          <a:lstStyle/>
          <a:p>
            <a:endParaRPr lang="de-DE"/>
          </a:p>
        </p:txBody>
      </p:sp>
      <p:sp>
        <p:nvSpPr>
          <p:cNvPr id="19" name="Text 17"/>
          <p:cNvSpPr/>
          <p:nvPr/>
        </p:nvSpPr>
        <p:spPr>
          <a:xfrm>
            <a:off x="4983480" y="1837944"/>
            <a:ext cx="1316736" cy="329184"/>
          </a:xfrm>
          <a:prstGeom prst="rect">
            <a:avLst/>
          </a:prstGeom>
          <a:noFill/>
          <a:ln/>
        </p:spPr>
        <p:txBody>
          <a:bodyPr wrap="square" lIns="0" tIns="0" rIns="0" bIns="0" rtlCol="0" anchor="ctr"/>
          <a:lstStyle/>
          <a:p>
            <a:pPr marL="0" indent="0" algn="ctr">
              <a:buNone/>
            </a:pPr>
            <a:r>
              <a:rPr lang="en-US" sz="1500" b="1" dirty="0">
                <a:solidFill>
                  <a:srgbClr val="23282F"/>
                </a:solidFill>
                <a:latin typeface="Cambria" pitchFamily="34" charset="0"/>
                <a:ea typeface="Cambria" pitchFamily="34" charset="-122"/>
                <a:cs typeface="Cambria" pitchFamily="34" charset="-120"/>
              </a:rPr>
              <a:t>94 %</a:t>
            </a:r>
            <a:endParaRPr lang="en-US" sz="1500" dirty="0"/>
          </a:p>
        </p:txBody>
      </p:sp>
      <p:sp>
        <p:nvSpPr>
          <p:cNvPr id="20" name="Text 18"/>
          <p:cNvSpPr/>
          <p:nvPr/>
        </p:nvSpPr>
        <p:spPr>
          <a:xfrm>
            <a:off x="4983480" y="2167128"/>
            <a:ext cx="1316736" cy="274320"/>
          </a:xfrm>
          <a:prstGeom prst="rect">
            <a:avLst/>
          </a:prstGeom>
          <a:noFill/>
          <a:ln/>
        </p:spPr>
        <p:txBody>
          <a:bodyPr wrap="square" lIns="0" tIns="0" rIns="0" bIns="0" rtlCol="0" anchor="ctr"/>
          <a:lstStyle/>
          <a:p>
            <a:pPr marL="0" indent="0" algn="ctr">
              <a:buNone/>
            </a:pPr>
            <a:r>
              <a:rPr lang="en-US" sz="900" dirty="0">
                <a:solidFill>
                  <a:srgbClr val="6E7681"/>
                </a:solidFill>
                <a:latin typeface="Calibri" pitchFamily="34" charset="0"/>
                <a:ea typeface="Calibri" pitchFamily="34" charset="-122"/>
                <a:cs typeface="Calibri" pitchFamily="34" charset="-120"/>
              </a:rPr>
              <a:t>ohne 99 · Zuf 98</a:t>
            </a:r>
            <a:endParaRPr lang="en-US" sz="900" dirty="0"/>
          </a:p>
        </p:txBody>
      </p:sp>
      <p:sp>
        <p:nvSpPr>
          <p:cNvPr id="21" name="Shape 19"/>
          <p:cNvSpPr/>
          <p:nvPr/>
        </p:nvSpPr>
        <p:spPr>
          <a:xfrm>
            <a:off x="6355080" y="1783080"/>
            <a:ext cx="1316736" cy="658368"/>
          </a:xfrm>
          <a:prstGeom prst="rect">
            <a:avLst/>
          </a:prstGeom>
          <a:solidFill>
            <a:srgbClr val="F4F6F8"/>
          </a:solidFill>
          <a:ln w="19050">
            <a:solidFill>
              <a:srgbClr val="FFFFFF"/>
            </a:solidFill>
            <a:prstDash val="solid"/>
          </a:ln>
        </p:spPr>
        <p:txBody>
          <a:bodyPr/>
          <a:lstStyle/>
          <a:p>
            <a:endParaRPr lang="de-DE"/>
          </a:p>
        </p:txBody>
      </p:sp>
      <p:sp>
        <p:nvSpPr>
          <p:cNvPr id="22" name="Text 20"/>
          <p:cNvSpPr/>
          <p:nvPr/>
        </p:nvSpPr>
        <p:spPr>
          <a:xfrm>
            <a:off x="6355080" y="1837944"/>
            <a:ext cx="1316736" cy="329184"/>
          </a:xfrm>
          <a:prstGeom prst="rect">
            <a:avLst/>
          </a:prstGeom>
          <a:noFill/>
          <a:ln/>
        </p:spPr>
        <p:txBody>
          <a:bodyPr wrap="square" lIns="0" tIns="0" rIns="0" bIns="0" rtlCol="0" anchor="ctr"/>
          <a:lstStyle/>
          <a:p>
            <a:pPr marL="0" indent="0" algn="ctr">
              <a:buNone/>
            </a:pPr>
            <a:r>
              <a:rPr lang="en-US" sz="1500" b="1" dirty="0">
                <a:solidFill>
                  <a:srgbClr val="23282F"/>
                </a:solidFill>
                <a:latin typeface="Cambria" pitchFamily="34" charset="0"/>
                <a:ea typeface="Cambria" pitchFamily="34" charset="-122"/>
                <a:cs typeface="Cambria" pitchFamily="34" charset="-120"/>
              </a:rPr>
              <a:t>26 %</a:t>
            </a:r>
            <a:endParaRPr lang="en-US" sz="1500" dirty="0"/>
          </a:p>
        </p:txBody>
      </p:sp>
      <p:sp>
        <p:nvSpPr>
          <p:cNvPr id="23" name="Text 21"/>
          <p:cNvSpPr/>
          <p:nvPr/>
        </p:nvSpPr>
        <p:spPr>
          <a:xfrm>
            <a:off x="6355080" y="2167128"/>
            <a:ext cx="1316736" cy="274320"/>
          </a:xfrm>
          <a:prstGeom prst="rect">
            <a:avLst/>
          </a:prstGeom>
          <a:noFill/>
          <a:ln/>
        </p:spPr>
        <p:txBody>
          <a:bodyPr wrap="square" lIns="0" tIns="0" rIns="0" bIns="0" rtlCol="0" anchor="ctr"/>
          <a:lstStyle/>
          <a:p>
            <a:pPr marL="0" indent="0" algn="ctr">
              <a:buNone/>
            </a:pPr>
            <a:r>
              <a:rPr lang="en-US" sz="900" dirty="0">
                <a:solidFill>
                  <a:srgbClr val="6E7681"/>
                </a:solidFill>
                <a:latin typeface="Calibri" pitchFamily="34" charset="0"/>
                <a:ea typeface="Calibri" pitchFamily="34" charset="-122"/>
                <a:cs typeface="Calibri" pitchFamily="34" charset="-120"/>
              </a:rPr>
              <a:t>ohne 62 · Zuf 28</a:t>
            </a:r>
            <a:endParaRPr lang="en-US" sz="900" dirty="0"/>
          </a:p>
        </p:txBody>
      </p:sp>
      <p:sp>
        <p:nvSpPr>
          <p:cNvPr id="24" name="Shape 22"/>
          <p:cNvSpPr/>
          <p:nvPr/>
        </p:nvSpPr>
        <p:spPr>
          <a:xfrm>
            <a:off x="7726680" y="1783080"/>
            <a:ext cx="1316736" cy="658368"/>
          </a:xfrm>
          <a:prstGeom prst="rect">
            <a:avLst/>
          </a:prstGeom>
          <a:solidFill>
            <a:srgbClr val="F4F6F8"/>
          </a:solidFill>
          <a:ln w="19050">
            <a:solidFill>
              <a:srgbClr val="FFFFFF"/>
            </a:solidFill>
            <a:prstDash val="solid"/>
          </a:ln>
        </p:spPr>
        <p:txBody>
          <a:bodyPr/>
          <a:lstStyle/>
          <a:p>
            <a:endParaRPr lang="de-DE"/>
          </a:p>
        </p:txBody>
      </p:sp>
      <p:sp>
        <p:nvSpPr>
          <p:cNvPr id="25" name="Text 23"/>
          <p:cNvSpPr/>
          <p:nvPr/>
        </p:nvSpPr>
        <p:spPr>
          <a:xfrm>
            <a:off x="7726680" y="1837944"/>
            <a:ext cx="1316736" cy="329184"/>
          </a:xfrm>
          <a:prstGeom prst="rect">
            <a:avLst/>
          </a:prstGeom>
          <a:noFill/>
          <a:ln/>
        </p:spPr>
        <p:txBody>
          <a:bodyPr wrap="square" lIns="0" tIns="0" rIns="0" bIns="0" rtlCol="0" anchor="ctr"/>
          <a:lstStyle/>
          <a:p>
            <a:pPr marL="0" indent="0" algn="ctr">
              <a:buNone/>
            </a:pPr>
            <a:r>
              <a:rPr lang="en-US" sz="1500" b="1" dirty="0">
                <a:solidFill>
                  <a:srgbClr val="23282F"/>
                </a:solidFill>
                <a:latin typeface="Cambria" pitchFamily="34" charset="0"/>
                <a:ea typeface="Cambria" pitchFamily="34" charset="-122"/>
                <a:cs typeface="Cambria" pitchFamily="34" charset="-120"/>
              </a:rPr>
              <a:t>21 %</a:t>
            </a:r>
            <a:endParaRPr lang="en-US" sz="1500" dirty="0"/>
          </a:p>
        </p:txBody>
      </p:sp>
      <p:sp>
        <p:nvSpPr>
          <p:cNvPr id="26" name="Text 24"/>
          <p:cNvSpPr/>
          <p:nvPr/>
        </p:nvSpPr>
        <p:spPr>
          <a:xfrm>
            <a:off x="7726680" y="2167128"/>
            <a:ext cx="1316736" cy="274320"/>
          </a:xfrm>
          <a:prstGeom prst="rect">
            <a:avLst/>
          </a:prstGeom>
          <a:noFill/>
          <a:ln/>
        </p:spPr>
        <p:txBody>
          <a:bodyPr wrap="square" lIns="0" tIns="0" rIns="0" bIns="0" rtlCol="0" anchor="ctr"/>
          <a:lstStyle/>
          <a:p>
            <a:pPr marL="0" indent="0" algn="ctr">
              <a:buNone/>
            </a:pPr>
            <a:r>
              <a:rPr lang="en-US" sz="900" dirty="0">
                <a:solidFill>
                  <a:srgbClr val="6E7681"/>
                </a:solidFill>
                <a:latin typeface="Calibri" pitchFamily="34" charset="0"/>
                <a:ea typeface="Calibri" pitchFamily="34" charset="-122"/>
                <a:cs typeface="Calibri" pitchFamily="34" charset="-120"/>
              </a:rPr>
              <a:t>ohne 58 · Zuf 26</a:t>
            </a:r>
            <a:endParaRPr lang="en-US" sz="900" dirty="0"/>
          </a:p>
        </p:txBody>
      </p:sp>
      <p:sp>
        <p:nvSpPr>
          <p:cNvPr id="27" name="Shape 25"/>
          <p:cNvSpPr/>
          <p:nvPr/>
        </p:nvSpPr>
        <p:spPr>
          <a:xfrm>
            <a:off x="9098280" y="1783080"/>
            <a:ext cx="1316736" cy="658368"/>
          </a:xfrm>
          <a:prstGeom prst="rect">
            <a:avLst/>
          </a:prstGeom>
          <a:solidFill>
            <a:srgbClr val="DCEAF1"/>
          </a:solidFill>
          <a:ln w="19050">
            <a:solidFill>
              <a:srgbClr val="FFFFFF"/>
            </a:solidFill>
            <a:prstDash val="solid"/>
          </a:ln>
        </p:spPr>
        <p:txBody>
          <a:bodyPr/>
          <a:lstStyle/>
          <a:p>
            <a:endParaRPr lang="de-DE"/>
          </a:p>
        </p:txBody>
      </p:sp>
      <p:sp>
        <p:nvSpPr>
          <p:cNvPr id="28" name="Text 26"/>
          <p:cNvSpPr/>
          <p:nvPr/>
        </p:nvSpPr>
        <p:spPr>
          <a:xfrm>
            <a:off x="9098280" y="1837944"/>
            <a:ext cx="1316736" cy="329184"/>
          </a:xfrm>
          <a:prstGeom prst="rect">
            <a:avLst/>
          </a:prstGeom>
          <a:noFill/>
          <a:ln/>
        </p:spPr>
        <p:txBody>
          <a:bodyPr wrap="square" lIns="0" tIns="0" rIns="0" bIns="0" rtlCol="0" anchor="ctr"/>
          <a:lstStyle/>
          <a:p>
            <a:pPr marL="0" indent="0" algn="ctr">
              <a:buNone/>
            </a:pPr>
            <a:r>
              <a:rPr lang="en-US" sz="1500" b="1" dirty="0">
                <a:solidFill>
                  <a:srgbClr val="23282F"/>
                </a:solidFill>
                <a:latin typeface="Cambria" pitchFamily="34" charset="0"/>
                <a:ea typeface="Cambria" pitchFamily="34" charset="-122"/>
                <a:cs typeface="Cambria" pitchFamily="34" charset="-120"/>
              </a:rPr>
              <a:t>3 %</a:t>
            </a:r>
            <a:endParaRPr lang="en-US" sz="1500" dirty="0"/>
          </a:p>
        </p:txBody>
      </p:sp>
      <p:sp>
        <p:nvSpPr>
          <p:cNvPr id="29" name="Text 27"/>
          <p:cNvSpPr/>
          <p:nvPr/>
        </p:nvSpPr>
        <p:spPr>
          <a:xfrm>
            <a:off x="9098280" y="2167128"/>
            <a:ext cx="1316736" cy="274320"/>
          </a:xfrm>
          <a:prstGeom prst="rect">
            <a:avLst/>
          </a:prstGeom>
          <a:noFill/>
          <a:ln/>
        </p:spPr>
        <p:txBody>
          <a:bodyPr wrap="square" lIns="0" tIns="0" rIns="0" bIns="0" rtlCol="0" anchor="ctr"/>
          <a:lstStyle/>
          <a:p>
            <a:pPr marL="0" indent="0" algn="ctr">
              <a:buNone/>
            </a:pPr>
            <a:r>
              <a:rPr lang="en-US" sz="900" dirty="0">
                <a:solidFill>
                  <a:srgbClr val="6E7681"/>
                </a:solidFill>
                <a:latin typeface="Calibri" pitchFamily="34" charset="0"/>
                <a:ea typeface="Calibri" pitchFamily="34" charset="-122"/>
                <a:cs typeface="Calibri" pitchFamily="34" charset="-120"/>
              </a:rPr>
              <a:t>ohne 3 · Zuf 2</a:t>
            </a:r>
            <a:endParaRPr lang="en-US" sz="900" dirty="0"/>
          </a:p>
        </p:txBody>
      </p:sp>
      <p:sp>
        <p:nvSpPr>
          <p:cNvPr id="30" name="Text 28"/>
          <p:cNvSpPr/>
          <p:nvPr/>
        </p:nvSpPr>
        <p:spPr>
          <a:xfrm>
            <a:off x="640080" y="2496312"/>
            <a:ext cx="1508760" cy="713232"/>
          </a:xfrm>
          <a:prstGeom prst="rect">
            <a:avLst/>
          </a:prstGeom>
          <a:noFill/>
          <a:ln/>
        </p:spPr>
        <p:txBody>
          <a:bodyPr wrap="square" lIns="0" tIns="0" rIns="0" bIns="0" rtlCol="0" anchor="ctr"/>
          <a:lstStyle/>
          <a:p>
            <a:pPr marL="0" indent="0" algn="r">
              <a:buNone/>
            </a:pPr>
            <a:r>
              <a:rPr lang="en-US" sz="1300" b="1" dirty="0">
                <a:solidFill>
                  <a:srgbClr val="23282F"/>
                </a:solidFill>
                <a:latin typeface="Calibri" pitchFamily="34" charset="0"/>
                <a:ea typeface="Calibri" pitchFamily="34" charset="-122"/>
                <a:cs typeface="Calibri" pitchFamily="34" charset="-120"/>
              </a:rPr>
              <a:t>Hub &amp; Spoke</a:t>
            </a:r>
            <a:endParaRPr lang="en-US" sz="1300" dirty="0"/>
          </a:p>
        </p:txBody>
      </p:sp>
      <p:sp>
        <p:nvSpPr>
          <p:cNvPr id="31" name="Shape 29"/>
          <p:cNvSpPr/>
          <p:nvPr/>
        </p:nvSpPr>
        <p:spPr>
          <a:xfrm>
            <a:off x="2240280" y="2496312"/>
            <a:ext cx="1316736" cy="658368"/>
          </a:xfrm>
          <a:prstGeom prst="rect">
            <a:avLst/>
          </a:prstGeom>
          <a:solidFill>
            <a:srgbClr val="DCEAF1"/>
          </a:solidFill>
          <a:ln w="19050">
            <a:solidFill>
              <a:srgbClr val="FFFFFF"/>
            </a:solidFill>
            <a:prstDash val="solid"/>
          </a:ln>
        </p:spPr>
        <p:txBody>
          <a:bodyPr/>
          <a:lstStyle/>
          <a:p>
            <a:endParaRPr lang="de-DE"/>
          </a:p>
        </p:txBody>
      </p:sp>
      <p:sp>
        <p:nvSpPr>
          <p:cNvPr id="32" name="Text 30"/>
          <p:cNvSpPr/>
          <p:nvPr/>
        </p:nvSpPr>
        <p:spPr>
          <a:xfrm>
            <a:off x="2240280" y="2551176"/>
            <a:ext cx="1316736" cy="329184"/>
          </a:xfrm>
          <a:prstGeom prst="rect">
            <a:avLst/>
          </a:prstGeom>
          <a:noFill/>
          <a:ln/>
        </p:spPr>
        <p:txBody>
          <a:bodyPr wrap="square" lIns="0" tIns="0" rIns="0" bIns="0" rtlCol="0" anchor="ctr"/>
          <a:lstStyle/>
          <a:p>
            <a:pPr marL="0" indent="0" algn="ctr">
              <a:buNone/>
            </a:pPr>
            <a:r>
              <a:rPr lang="en-US" sz="1500" b="1" dirty="0">
                <a:solidFill>
                  <a:srgbClr val="23282F"/>
                </a:solidFill>
                <a:latin typeface="Cambria" pitchFamily="34" charset="0"/>
                <a:ea typeface="Cambria" pitchFamily="34" charset="-122"/>
                <a:cs typeface="Cambria" pitchFamily="34" charset="-120"/>
              </a:rPr>
              <a:t>0 %</a:t>
            </a:r>
            <a:endParaRPr lang="en-US" sz="1500" dirty="0"/>
          </a:p>
        </p:txBody>
      </p:sp>
      <p:sp>
        <p:nvSpPr>
          <p:cNvPr id="33" name="Text 31"/>
          <p:cNvSpPr/>
          <p:nvPr/>
        </p:nvSpPr>
        <p:spPr>
          <a:xfrm>
            <a:off x="2240280" y="2880360"/>
            <a:ext cx="1316736" cy="274320"/>
          </a:xfrm>
          <a:prstGeom prst="rect">
            <a:avLst/>
          </a:prstGeom>
          <a:noFill/>
          <a:ln/>
        </p:spPr>
        <p:txBody>
          <a:bodyPr wrap="square" lIns="0" tIns="0" rIns="0" bIns="0" rtlCol="0" anchor="ctr"/>
          <a:lstStyle/>
          <a:p>
            <a:pPr marL="0" indent="0" algn="ctr">
              <a:buNone/>
            </a:pPr>
            <a:r>
              <a:rPr lang="en-US" sz="900" dirty="0">
                <a:solidFill>
                  <a:srgbClr val="6E7681"/>
                </a:solidFill>
                <a:latin typeface="Calibri" pitchFamily="34" charset="0"/>
                <a:ea typeface="Calibri" pitchFamily="34" charset="-122"/>
                <a:cs typeface="Calibri" pitchFamily="34" charset="-120"/>
              </a:rPr>
              <a:t>ohne 0 · Zuf 0</a:t>
            </a:r>
            <a:endParaRPr lang="en-US" sz="900" dirty="0"/>
          </a:p>
        </p:txBody>
      </p:sp>
      <p:sp>
        <p:nvSpPr>
          <p:cNvPr id="34" name="Shape 32"/>
          <p:cNvSpPr/>
          <p:nvPr/>
        </p:nvSpPr>
        <p:spPr>
          <a:xfrm>
            <a:off x="3611880" y="2496312"/>
            <a:ext cx="1316736" cy="658368"/>
          </a:xfrm>
          <a:prstGeom prst="rect">
            <a:avLst/>
          </a:prstGeom>
          <a:solidFill>
            <a:srgbClr val="DCEAF1"/>
          </a:solidFill>
          <a:ln w="19050">
            <a:solidFill>
              <a:srgbClr val="FFFFFF"/>
            </a:solidFill>
            <a:prstDash val="solid"/>
          </a:ln>
        </p:spPr>
        <p:txBody>
          <a:bodyPr/>
          <a:lstStyle/>
          <a:p>
            <a:endParaRPr lang="de-DE"/>
          </a:p>
        </p:txBody>
      </p:sp>
      <p:sp>
        <p:nvSpPr>
          <p:cNvPr id="35" name="Text 33"/>
          <p:cNvSpPr/>
          <p:nvPr/>
        </p:nvSpPr>
        <p:spPr>
          <a:xfrm>
            <a:off x="3611880" y="2551176"/>
            <a:ext cx="1316736" cy="329184"/>
          </a:xfrm>
          <a:prstGeom prst="rect">
            <a:avLst/>
          </a:prstGeom>
          <a:noFill/>
          <a:ln/>
        </p:spPr>
        <p:txBody>
          <a:bodyPr wrap="square" lIns="0" tIns="0" rIns="0" bIns="0" rtlCol="0" anchor="ctr"/>
          <a:lstStyle/>
          <a:p>
            <a:pPr marL="0" indent="0" algn="ctr">
              <a:buNone/>
            </a:pPr>
            <a:r>
              <a:rPr lang="en-US" sz="1500" b="1" dirty="0">
                <a:solidFill>
                  <a:srgbClr val="23282F"/>
                </a:solidFill>
                <a:latin typeface="Cambria" pitchFamily="34" charset="0"/>
                <a:ea typeface="Cambria" pitchFamily="34" charset="-122"/>
                <a:cs typeface="Cambria" pitchFamily="34" charset="-120"/>
              </a:rPr>
              <a:t>2 %</a:t>
            </a:r>
            <a:endParaRPr lang="en-US" sz="1500" dirty="0"/>
          </a:p>
        </p:txBody>
      </p:sp>
      <p:sp>
        <p:nvSpPr>
          <p:cNvPr id="36" name="Text 34"/>
          <p:cNvSpPr/>
          <p:nvPr/>
        </p:nvSpPr>
        <p:spPr>
          <a:xfrm>
            <a:off x="3611880" y="2880360"/>
            <a:ext cx="1316736" cy="274320"/>
          </a:xfrm>
          <a:prstGeom prst="rect">
            <a:avLst/>
          </a:prstGeom>
          <a:noFill/>
          <a:ln/>
        </p:spPr>
        <p:txBody>
          <a:bodyPr wrap="square" lIns="0" tIns="0" rIns="0" bIns="0" rtlCol="0" anchor="ctr"/>
          <a:lstStyle/>
          <a:p>
            <a:pPr marL="0" indent="0" algn="ctr">
              <a:buNone/>
            </a:pPr>
            <a:r>
              <a:rPr lang="en-US" sz="900" dirty="0">
                <a:solidFill>
                  <a:srgbClr val="6E7681"/>
                </a:solidFill>
                <a:latin typeface="Calibri" pitchFamily="34" charset="0"/>
                <a:ea typeface="Calibri" pitchFamily="34" charset="-122"/>
                <a:cs typeface="Calibri" pitchFamily="34" charset="-120"/>
              </a:rPr>
              <a:t>ohne 3 · Zuf 0</a:t>
            </a:r>
            <a:endParaRPr lang="en-US" sz="900" dirty="0"/>
          </a:p>
        </p:txBody>
      </p:sp>
      <p:sp>
        <p:nvSpPr>
          <p:cNvPr id="37" name="Shape 35"/>
          <p:cNvSpPr/>
          <p:nvPr/>
        </p:nvSpPr>
        <p:spPr>
          <a:xfrm>
            <a:off x="4983480" y="2496312"/>
            <a:ext cx="1316736" cy="658368"/>
          </a:xfrm>
          <a:prstGeom prst="rect">
            <a:avLst/>
          </a:prstGeom>
          <a:solidFill>
            <a:srgbClr val="F2D3CC"/>
          </a:solidFill>
          <a:ln w="19050">
            <a:solidFill>
              <a:srgbClr val="FFFFFF"/>
            </a:solidFill>
            <a:prstDash val="solid"/>
          </a:ln>
        </p:spPr>
        <p:txBody>
          <a:bodyPr/>
          <a:lstStyle/>
          <a:p>
            <a:endParaRPr lang="de-DE"/>
          </a:p>
        </p:txBody>
      </p:sp>
      <p:sp>
        <p:nvSpPr>
          <p:cNvPr id="38" name="Text 36"/>
          <p:cNvSpPr/>
          <p:nvPr/>
        </p:nvSpPr>
        <p:spPr>
          <a:xfrm>
            <a:off x="4983480" y="2551176"/>
            <a:ext cx="1316736" cy="329184"/>
          </a:xfrm>
          <a:prstGeom prst="rect">
            <a:avLst/>
          </a:prstGeom>
          <a:noFill/>
          <a:ln/>
        </p:spPr>
        <p:txBody>
          <a:bodyPr wrap="square" lIns="0" tIns="0" rIns="0" bIns="0" rtlCol="0" anchor="ctr"/>
          <a:lstStyle/>
          <a:p>
            <a:pPr marL="0" indent="0" algn="ctr">
              <a:buNone/>
            </a:pPr>
            <a:r>
              <a:rPr lang="en-US" sz="1500" b="1" dirty="0">
                <a:solidFill>
                  <a:srgbClr val="23282F"/>
                </a:solidFill>
                <a:latin typeface="Cambria" pitchFamily="34" charset="0"/>
                <a:ea typeface="Cambria" pitchFamily="34" charset="-122"/>
                <a:cs typeface="Cambria" pitchFamily="34" charset="-120"/>
              </a:rPr>
              <a:t>83 %</a:t>
            </a:r>
            <a:endParaRPr lang="en-US" sz="1500" dirty="0"/>
          </a:p>
        </p:txBody>
      </p:sp>
      <p:sp>
        <p:nvSpPr>
          <p:cNvPr id="39" name="Text 37"/>
          <p:cNvSpPr/>
          <p:nvPr/>
        </p:nvSpPr>
        <p:spPr>
          <a:xfrm>
            <a:off x="4983480" y="2880360"/>
            <a:ext cx="1316736" cy="274320"/>
          </a:xfrm>
          <a:prstGeom prst="rect">
            <a:avLst/>
          </a:prstGeom>
          <a:noFill/>
          <a:ln/>
        </p:spPr>
        <p:txBody>
          <a:bodyPr wrap="square" lIns="0" tIns="0" rIns="0" bIns="0" rtlCol="0" anchor="ctr"/>
          <a:lstStyle/>
          <a:p>
            <a:pPr marL="0" indent="0" algn="ctr">
              <a:buNone/>
            </a:pPr>
            <a:r>
              <a:rPr lang="en-US" sz="900" dirty="0">
                <a:solidFill>
                  <a:srgbClr val="6E7681"/>
                </a:solidFill>
                <a:latin typeface="Calibri" pitchFamily="34" charset="0"/>
                <a:ea typeface="Calibri" pitchFamily="34" charset="-122"/>
                <a:cs typeface="Calibri" pitchFamily="34" charset="-120"/>
              </a:rPr>
              <a:t>ohne 98 · Zuf 99</a:t>
            </a:r>
            <a:endParaRPr lang="en-US" sz="900" dirty="0"/>
          </a:p>
        </p:txBody>
      </p:sp>
      <p:sp>
        <p:nvSpPr>
          <p:cNvPr id="40" name="Shape 38"/>
          <p:cNvSpPr/>
          <p:nvPr/>
        </p:nvSpPr>
        <p:spPr>
          <a:xfrm>
            <a:off x="6355080" y="2496312"/>
            <a:ext cx="1316736" cy="658368"/>
          </a:xfrm>
          <a:prstGeom prst="rect">
            <a:avLst/>
          </a:prstGeom>
          <a:solidFill>
            <a:srgbClr val="DCEAF1"/>
          </a:solidFill>
          <a:ln w="19050">
            <a:solidFill>
              <a:srgbClr val="FFFFFF"/>
            </a:solidFill>
            <a:prstDash val="solid"/>
          </a:ln>
        </p:spPr>
        <p:txBody>
          <a:bodyPr/>
          <a:lstStyle/>
          <a:p>
            <a:endParaRPr lang="de-DE"/>
          </a:p>
        </p:txBody>
      </p:sp>
      <p:sp>
        <p:nvSpPr>
          <p:cNvPr id="41" name="Text 39"/>
          <p:cNvSpPr/>
          <p:nvPr/>
        </p:nvSpPr>
        <p:spPr>
          <a:xfrm>
            <a:off x="6355080" y="2551176"/>
            <a:ext cx="1316736" cy="329184"/>
          </a:xfrm>
          <a:prstGeom prst="rect">
            <a:avLst/>
          </a:prstGeom>
          <a:noFill/>
          <a:ln/>
        </p:spPr>
        <p:txBody>
          <a:bodyPr wrap="square" lIns="0" tIns="0" rIns="0" bIns="0" rtlCol="0" anchor="ctr"/>
          <a:lstStyle/>
          <a:p>
            <a:pPr marL="0" indent="0" algn="ctr">
              <a:buNone/>
            </a:pPr>
            <a:r>
              <a:rPr lang="en-US" sz="1500" b="1" dirty="0">
                <a:solidFill>
                  <a:srgbClr val="23282F"/>
                </a:solidFill>
                <a:latin typeface="Cambria" pitchFamily="34" charset="0"/>
                <a:ea typeface="Cambria" pitchFamily="34" charset="-122"/>
                <a:cs typeface="Cambria" pitchFamily="34" charset="-120"/>
              </a:rPr>
              <a:t>2 %</a:t>
            </a:r>
            <a:endParaRPr lang="en-US" sz="1500" dirty="0"/>
          </a:p>
        </p:txBody>
      </p:sp>
      <p:sp>
        <p:nvSpPr>
          <p:cNvPr id="42" name="Text 40"/>
          <p:cNvSpPr/>
          <p:nvPr/>
        </p:nvSpPr>
        <p:spPr>
          <a:xfrm>
            <a:off x="6355080" y="2880360"/>
            <a:ext cx="1316736" cy="274320"/>
          </a:xfrm>
          <a:prstGeom prst="rect">
            <a:avLst/>
          </a:prstGeom>
          <a:noFill/>
          <a:ln/>
        </p:spPr>
        <p:txBody>
          <a:bodyPr wrap="square" lIns="0" tIns="0" rIns="0" bIns="0" rtlCol="0" anchor="ctr"/>
          <a:lstStyle/>
          <a:p>
            <a:pPr marL="0" indent="0" algn="ctr">
              <a:buNone/>
            </a:pPr>
            <a:r>
              <a:rPr lang="en-US" sz="900" dirty="0">
                <a:solidFill>
                  <a:srgbClr val="6E7681"/>
                </a:solidFill>
                <a:latin typeface="Calibri" pitchFamily="34" charset="0"/>
                <a:ea typeface="Calibri" pitchFamily="34" charset="-122"/>
                <a:cs typeface="Calibri" pitchFamily="34" charset="-120"/>
              </a:rPr>
              <a:t>ohne 26 · Zuf 2</a:t>
            </a:r>
            <a:endParaRPr lang="en-US" sz="900" dirty="0"/>
          </a:p>
        </p:txBody>
      </p:sp>
      <p:sp>
        <p:nvSpPr>
          <p:cNvPr id="43" name="Shape 41"/>
          <p:cNvSpPr/>
          <p:nvPr/>
        </p:nvSpPr>
        <p:spPr>
          <a:xfrm>
            <a:off x="7726680" y="2496312"/>
            <a:ext cx="1316736" cy="658368"/>
          </a:xfrm>
          <a:prstGeom prst="rect">
            <a:avLst/>
          </a:prstGeom>
          <a:solidFill>
            <a:srgbClr val="E9F1F5"/>
          </a:solidFill>
          <a:ln w="19050">
            <a:solidFill>
              <a:srgbClr val="FFFFFF"/>
            </a:solidFill>
            <a:prstDash val="solid"/>
          </a:ln>
        </p:spPr>
        <p:txBody>
          <a:bodyPr/>
          <a:lstStyle/>
          <a:p>
            <a:endParaRPr lang="de-DE"/>
          </a:p>
        </p:txBody>
      </p:sp>
      <p:sp>
        <p:nvSpPr>
          <p:cNvPr id="44" name="Text 42"/>
          <p:cNvSpPr/>
          <p:nvPr/>
        </p:nvSpPr>
        <p:spPr>
          <a:xfrm>
            <a:off x="7726680" y="2551176"/>
            <a:ext cx="1316736" cy="329184"/>
          </a:xfrm>
          <a:prstGeom prst="rect">
            <a:avLst/>
          </a:prstGeom>
          <a:noFill/>
          <a:ln/>
        </p:spPr>
        <p:txBody>
          <a:bodyPr wrap="square" lIns="0" tIns="0" rIns="0" bIns="0" rtlCol="0" anchor="ctr"/>
          <a:lstStyle/>
          <a:p>
            <a:pPr marL="0" indent="0" algn="ctr">
              <a:buNone/>
            </a:pPr>
            <a:r>
              <a:rPr lang="en-US" sz="1500" b="1" dirty="0">
                <a:solidFill>
                  <a:srgbClr val="23282F"/>
                </a:solidFill>
                <a:latin typeface="Cambria" pitchFamily="34" charset="0"/>
                <a:ea typeface="Cambria" pitchFamily="34" charset="-122"/>
                <a:cs typeface="Cambria" pitchFamily="34" charset="-120"/>
              </a:rPr>
              <a:t>10 %</a:t>
            </a:r>
            <a:endParaRPr lang="en-US" sz="1500" dirty="0"/>
          </a:p>
        </p:txBody>
      </p:sp>
      <p:sp>
        <p:nvSpPr>
          <p:cNvPr id="45" name="Text 43"/>
          <p:cNvSpPr/>
          <p:nvPr/>
        </p:nvSpPr>
        <p:spPr>
          <a:xfrm>
            <a:off x="7726680" y="2880360"/>
            <a:ext cx="1316736" cy="274320"/>
          </a:xfrm>
          <a:prstGeom prst="rect">
            <a:avLst/>
          </a:prstGeom>
          <a:noFill/>
          <a:ln/>
        </p:spPr>
        <p:txBody>
          <a:bodyPr wrap="square" lIns="0" tIns="0" rIns="0" bIns="0" rtlCol="0" anchor="ctr"/>
          <a:lstStyle/>
          <a:p>
            <a:pPr marL="0" indent="0" algn="ctr">
              <a:buNone/>
            </a:pPr>
            <a:r>
              <a:rPr lang="en-US" sz="900" dirty="0">
                <a:solidFill>
                  <a:srgbClr val="6E7681"/>
                </a:solidFill>
                <a:latin typeface="Calibri" pitchFamily="34" charset="0"/>
                <a:ea typeface="Calibri" pitchFamily="34" charset="-122"/>
                <a:cs typeface="Calibri" pitchFamily="34" charset="-120"/>
              </a:rPr>
              <a:t>ohne 33 · Zuf 18</a:t>
            </a:r>
            <a:endParaRPr lang="en-US" sz="900" dirty="0"/>
          </a:p>
        </p:txBody>
      </p:sp>
      <p:sp>
        <p:nvSpPr>
          <p:cNvPr id="46" name="Shape 44"/>
          <p:cNvSpPr/>
          <p:nvPr/>
        </p:nvSpPr>
        <p:spPr>
          <a:xfrm>
            <a:off x="9098280" y="2496312"/>
            <a:ext cx="1316736" cy="658368"/>
          </a:xfrm>
          <a:prstGeom prst="rect">
            <a:avLst/>
          </a:prstGeom>
          <a:solidFill>
            <a:srgbClr val="E9F1F5"/>
          </a:solidFill>
          <a:ln w="19050">
            <a:solidFill>
              <a:srgbClr val="FFFFFF"/>
            </a:solidFill>
            <a:prstDash val="solid"/>
          </a:ln>
        </p:spPr>
        <p:txBody>
          <a:bodyPr/>
          <a:lstStyle/>
          <a:p>
            <a:endParaRPr lang="de-DE"/>
          </a:p>
        </p:txBody>
      </p:sp>
      <p:sp>
        <p:nvSpPr>
          <p:cNvPr id="47" name="Text 45"/>
          <p:cNvSpPr/>
          <p:nvPr/>
        </p:nvSpPr>
        <p:spPr>
          <a:xfrm>
            <a:off x="9098280" y="2551176"/>
            <a:ext cx="1316736" cy="329184"/>
          </a:xfrm>
          <a:prstGeom prst="rect">
            <a:avLst/>
          </a:prstGeom>
          <a:noFill/>
          <a:ln/>
        </p:spPr>
        <p:txBody>
          <a:bodyPr wrap="square" lIns="0" tIns="0" rIns="0" bIns="0" rtlCol="0" anchor="ctr"/>
          <a:lstStyle/>
          <a:p>
            <a:pPr marL="0" indent="0" algn="ctr">
              <a:buNone/>
            </a:pPr>
            <a:r>
              <a:rPr lang="en-US" sz="1500" b="1" dirty="0">
                <a:solidFill>
                  <a:srgbClr val="23282F"/>
                </a:solidFill>
                <a:latin typeface="Cambria" pitchFamily="34" charset="0"/>
                <a:ea typeface="Cambria" pitchFamily="34" charset="-122"/>
                <a:cs typeface="Cambria" pitchFamily="34" charset="-120"/>
              </a:rPr>
              <a:t>13 %</a:t>
            </a:r>
            <a:endParaRPr lang="en-US" sz="1500" dirty="0"/>
          </a:p>
        </p:txBody>
      </p:sp>
      <p:sp>
        <p:nvSpPr>
          <p:cNvPr id="48" name="Text 46"/>
          <p:cNvSpPr/>
          <p:nvPr/>
        </p:nvSpPr>
        <p:spPr>
          <a:xfrm>
            <a:off x="9098280" y="2880360"/>
            <a:ext cx="1316736" cy="274320"/>
          </a:xfrm>
          <a:prstGeom prst="rect">
            <a:avLst/>
          </a:prstGeom>
          <a:noFill/>
          <a:ln/>
        </p:spPr>
        <p:txBody>
          <a:bodyPr wrap="square" lIns="0" tIns="0" rIns="0" bIns="0" rtlCol="0" anchor="ctr"/>
          <a:lstStyle/>
          <a:p>
            <a:pPr marL="0" indent="0" algn="ctr">
              <a:buNone/>
            </a:pPr>
            <a:r>
              <a:rPr lang="en-US" sz="900" dirty="0">
                <a:solidFill>
                  <a:srgbClr val="6E7681"/>
                </a:solidFill>
                <a:latin typeface="Calibri" pitchFamily="34" charset="0"/>
                <a:ea typeface="Calibri" pitchFamily="34" charset="-122"/>
                <a:cs typeface="Calibri" pitchFamily="34" charset="-120"/>
              </a:rPr>
              <a:t>ohne 74 · Zuf 11</a:t>
            </a:r>
            <a:endParaRPr lang="en-US" sz="900" dirty="0"/>
          </a:p>
        </p:txBody>
      </p:sp>
      <p:sp>
        <p:nvSpPr>
          <p:cNvPr id="49" name="Text 47"/>
          <p:cNvSpPr/>
          <p:nvPr/>
        </p:nvSpPr>
        <p:spPr>
          <a:xfrm>
            <a:off x="640080" y="3209544"/>
            <a:ext cx="1508760" cy="713232"/>
          </a:xfrm>
          <a:prstGeom prst="rect">
            <a:avLst/>
          </a:prstGeom>
          <a:noFill/>
          <a:ln/>
        </p:spPr>
        <p:txBody>
          <a:bodyPr wrap="square" lIns="0" tIns="0" rIns="0" bIns="0" rtlCol="0" anchor="ctr"/>
          <a:lstStyle/>
          <a:p>
            <a:pPr marL="0" indent="0" algn="r">
              <a:buNone/>
            </a:pPr>
            <a:r>
              <a:rPr lang="en-US" sz="1300" b="1" dirty="0">
                <a:solidFill>
                  <a:srgbClr val="23282F"/>
                </a:solidFill>
                <a:latin typeface="Calibri" pitchFamily="34" charset="0"/>
                <a:ea typeface="Calibri" pitchFamily="34" charset="-122"/>
                <a:cs typeface="Calibri" pitchFamily="34" charset="-120"/>
              </a:rPr>
              <a:t>DMZ</a:t>
            </a:r>
            <a:endParaRPr lang="en-US" sz="1300" dirty="0"/>
          </a:p>
        </p:txBody>
      </p:sp>
      <p:sp>
        <p:nvSpPr>
          <p:cNvPr id="50" name="Shape 48"/>
          <p:cNvSpPr/>
          <p:nvPr/>
        </p:nvSpPr>
        <p:spPr>
          <a:xfrm>
            <a:off x="2240280" y="3209544"/>
            <a:ext cx="1316736" cy="658368"/>
          </a:xfrm>
          <a:prstGeom prst="rect">
            <a:avLst/>
          </a:prstGeom>
          <a:solidFill>
            <a:srgbClr val="DCEAF1"/>
          </a:solidFill>
          <a:ln w="19050">
            <a:solidFill>
              <a:srgbClr val="FFFFFF"/>
            </a:solidFill>
            <a:prstDash val="solid"/>
          </a:ln>
        </p:spPr>
        <p:txBody>
          <a:bodyPr/>
          <a:lstStyle/>
          <a:p>
            <a:endParaRPr lang="de-DE"/>
          </a:p>
        </p:txBody>
      </p:sp>
      <p:sp>
        <p:nvSpPr>
          <p:cNvPr id="51" name="Text 49"/>
          <p:cNvSpPr/>
          <p:nvPr/>
        </p:nvSpPr>
        <p:spPr>
          <a:xfrm>
            <a:off x="2240280" y="3264408"/>
            <a:ext cx="1316736" cy="329184"/>
          </a:xfrm>
          <a:prstGeom prst="rect">
            <a:avLst/>
          </a:prstGeom>
          <a:noFill/>
          <a:ln/>
        </p:spPr>
        <p:txBody>
          <a:bodyPr wrap="square" lIns="0" tIns="0" rIns="0" bIns="0" rtlCol="0" anchor="ctr"/>
          <a:lstStyle/>
          <a:p>
            <a:pPr marL="0" indent="0" algn="ctr">
              <a:buNone/>
            </a:pPr>
            <a:r>
              <a:rPr lang="en-US" sz="1500" b="1" dirty="0">
                <a:solidFill>
                  <a:srgbClr val="23282F"/>
                </a:solidFill>
                <a:latin typeface="Cambria" pitchFamily="34" charset="0"/>
                <a:ea typeface="Cambria" pitchFamily="34" charset="-122"/>
                <a:cs typeface="Cambria" pitchFamily="34" charset="-120"/>
              </a:rPr>
              <a:t>0 %</a:t>
            </a:r>
            <a:endParaRPr lang="en-US" sz="1500" dirty="0"/>
          </a:p>
        </p:txBody>
      </p:sp>
      <p:sp>
        <p:nvSpPr>
          <p:cNvPr id="52" name="Text 50"/>
          <p:cNvSpPr/>
          <p:nvPr/>
        </p:nvSpPr>
        <p:spPr>
          <a:xfrm>
            <a:off x="2240280" y="3593592"/>
            <a:ext cx="1316736" cy="274320"/>
          </a:xfrm>
          <a:prstGeom prst="rect">
            <a:avLst/>
          </a:prstGeom>
          <a:noFill/>
          <a:ln/>
        </p:spPr>
        <p:txBody>
          <a:bodyPr wrap="square" lIns="0" tIns="0" rIns="0" bIns="0" rtlCol="0" anchor="ctr"/>
          <a:lstStyle/>
          <a:p>
            <a:pPr marL="0" indent="0" algn="ctr">
              <a:buNone/>
            </a:pPr>
            <a:r>
              <a:rPr lang="en-US" sz="900" dirty="0">
                <a:solidFill>
                  <a:srgbClr val="6E7681"/>
                </a:solidFill>
                <a:latin typeface="Calibri" pitchFamily="34" charset="0"/>
                <a:ea typeface="Calibri" pitchFamily="34" charset="-122"/>
                <a:cs typeface="Calibri" pitchFamily="34" charset="-120"/>
              </a:rPr>
              <a:t>ohne 8 · Zuf 1</a:t>
            </a:r>
            <a:endParaRPr lang="en-US" sz="900" dirty="0"/>
          </a:p>
        </p:txBody>
      </p:sp>
      <p:sp>
        <p:nvSpPr>
          <p:cNvPr id="53" name="Shape 51"/>
          <p:cNvSpPr/>
          <p:nvPr/>
        </p:nvSpPr>
        <p:spPr>
          <a:xfrm>
            <a:off x="3611880" y="3209544"/>
            <a:ext cx="1316736" cy="658368"/>
          </a:xfrm>
          <a:prstGeom prst="rect">
            <a:avLst/>
          </a:prstGeom>
          <a:solidFill>
            <a:srgbClr val="F4F6F8"/>
          </a:solidFill>
          <a:ln w="19050">
            <a:solidFill>
              <a:srgbClr val="FFFFFF"/>
            </a:solidFill>
            <a:prstDash val="solid"/>
          </a:ln>
        </p:spPr>
        <p:txBody>
          <a:bodyPr/>
          <a:lstStyle/>
          <a:p>
            <a:endParaRPr lang="de-DE"/>
          </a:p>
        </p:txBody>
      </p:sp>
      <p:sp>
        <p:nvSpPr>
          <p:cNvPr id="54" name="Text 52"/>
          <p:cNvSpPr/>
          <p:nvPr/>
        </p:nvSpPr>
        <p:spPr>
          <a:xfrm>
            <a:off x="3611880" y="3264408"/>
            <a:ext cx="1316736" cy="329184"/>
          </a:xfrm>
          <a:prstGeom prst="rect">
            <a:avLst/>
          </a:prstGeom>
          <a:noFill/>
          <a:ln/>
        </p:spPr>
        <p:txBody>
          <a:bodyPr wrap="square" lIns="0" tIns="0" rIns="0" bIns="0" rtlCol="0" anchor="ctr"/>
          <a:lstStyle/>
          <a:p>
            <a:pPr marL="0" indent="0" algn="ctr">
              <a:buNone/>
            </a:pPr>
            <a:r>
              <a:rPr lang="en-US" sz="1500" b="1" dirty="0">
                <a:solidFill>
                  <a:srgbClr val="23282F"/>
                </a:solidFill>
                <a:latin typeface="Cambria" pitchFamily="34" charset="0"/>
                <a:ea typeface="Cambria" pitchFamily="34" charset="-122"/>
                <a:cs typeface="Cambria" pitchFamily="34" charset="-120"/>
              </a:rPr>
              <a:t>24 %</a:t>
            </a:r>
            <a:endParaRPr lang="en-US" sz="1500" dirty="0"/>
          </a:p>
        </p:txBody>
      </p:sp>
      <p:sp>
        <p:nvSpPr>
          <p:cNvPr id="55" name="Text 53"/>
          <p:cNvSpPr/>
          <p:nvPr/>
        </p:nvSpPr>
        <p:spPr>
          <a:xfrm>
            <a:off x="3611880" y="3593592"/>
            <a:ext cx="1316736" cy="274320"/>
          </a:xfrm>
          <a:prstGeom prst="rect">
            <a:avLst/>
          </a:prstGeom>
          <a:noFill/>
          <a:ln/>
        </p:spPr>
        <p:txBody>
          <a:bodyPr wrap="square" lIns="0" tIns="0" rIns="0" bIns="0" rtlCol="0" anchor="ctr"/>
          <a:lstStyle/>
          <a:p>
            <a:pPr marL="0" indent="0" algn="ctr">
              <a:buNone/>
            </a:pPr>
            <a:r>
              <a:rPr lang="en-US" sz="900" dirty="0">
                <a:solidFill>
                  <a:srgbClr val="6E7681"/>
                </a:solidFill>
                <a:latin typeface="Calibri" pitchFamily="34" charset="0"/>
                <a:ea typeface="Calibri" pitchFamily="34" charset="-122"/>
                <a:cs typeface="Calibri" pitchFamily="34" charset="-120"/>
              </a:rPr>
              <a:t>ohne 80 · Zuf 41</a:t>
            </a:r>
            <a:endParaRPr lang="en-US" sz="900" dirty="0"/>
          </a:p>
        </p:txBody>
      </p:sp>
      <p:sp>
        <p:nvSpPr>
          <p:cNvPr id="56" name="Shape 54"/>
          <p:cNvSpPr/>
          <p:nvPr/>
        </p:nvSpPr>
        <p:spPr>
          <a:xfrm>
            <a:off x="4983480" y="3209544"/>
            <a:ext cx="1316736" cy="658368"/>
          </a:xfrm>
          <a:prstGeom prst="rect">
            <a:avLst/>
          </a:prstGeom>
          <a:solidFill>
            <a:srgbClr val="DCEAF1"/>
          </a:solidFill>
          <a:ln w="19050">
            <a:solidFill>
              <a:srgbClr val="FFFFFF"/>
            </a:solidFill>
            <a:prstDash val="solid"/>
          </a:ln>
        </p:spPr>
        <p:txBody>
          <a:bodyPr/>
          <a:lstStyle/>
          <a:p>
            <a:endParaRPr lang="de-DE"/>
          </a:p>
        </p:txBody>
      </p:sp>
      <p:sp>
        <p:nvSpPr>
          <p:cNvPr id="57" name="Text 55"/>
          <p:cNvSpPr/>
          <p:nvPr/>
        </p:nvSpPr>
        <p:spPr>
          <a:xfrm>
            <a:off x="4983480" y="3264408"/>
            <a:ext cx="1316736" cy="329184"/>
          </a:xfrm>
          <a:prstGeom prst="rect">
            <a:avLst/>
          </a:prstGeom>
          <a:noFill/>
          <a:ln/>
        </p:spPr>
        <p:txBody>
          <a:bodyPr wrap="square" lIns="0" tIns="0" rIns="0" bIns="0" rtlCol="0" anchor="ctr"/>
          <a:lstStyle/>
          <a:p>
            <a:pPr marL="0" indent="0" algn="ctr">
              <a:buNone/>
            </a:pPr>
            <a:r>
              <a:rPr lang="en-US" sz="1500" b="1" dirty="0">
                <a:solidFill>
                  <a:srgbClr val="23282F"/>
                </a:solidFill>
                <a:latin typeface="Cambria" pitchFamily="34" charset="0"/>
                <a:ea typeface="Cambria" pitchFamily="34" charset="-122"/>
                <a:cs typeface="Cambria" pitchFamily="34" charset="-120"/>
              </a:rPr>
              <a:t>5 %</a:t>
            </a:r>
            <a:endParaRPr lang="en-US" sz="1500" dirty="0"/>
          </a:p>
        </p:txBody>
      </p:sp>
      <p:sp>
        <p:nvSpPr>
          <p:cNvPr id="58" name="Text 56"/>
          <p:cNvSpPr/>
          <p:nvPr/>
        </p:nvSpPr>
        <p:spPr>
          <a:xfrm>
            <a:off x="4983480" y="3593592"/>
            <a:ext cx="1316736" cy="274320"/>
          </a:xfrm>
          <a:prstGeom prst="rect">
            <a:avLst/>
          </a:prstGeom>
          <a:noFill/>
          <a:ln/>
        </p:spPr>
        <p:txBody>
          <a:bodyPr wrap="square" lIns="0" tIns="0" rIns="0" bIns="0" rtlCol="0" anchor="ctr"/>
          <a:lstStyle/>
          <a:p>
            <a:pPr marL="0" indent="0" algn="ctr">
              <a:buNone/>
            </a:pPr>
            <a:r>
              <a:rPr lang="en-US" sz="900" dirty="0">
                <a:solidFill>
                  <a:srgbClr val="6E7681"/>
                </a:solidFill>
                <a:latin typeface="Calibri" pitchFamily="34" charset="0"/>
                <a:ea typeface="Calibri" pitchFamily="34" charset="-122"/>
                <a:cs typeface="Calibri" pitchFamily="34" charset="-120"/>
              </a:rPr>
              <a:t>ohne 76 · Zuf 10</a:t>
            </a:r>
            <a:endParaRPr lang="en-US" sz="900" dirty="0"/>
          </a:p>
        </p:txBody>
      </p:sp>
      <p:sp>
        <p:nvSpPr>
          <p:cNvPr id="59" name="Shape 57"/>
          <p:cNvSpPr/>
          <p:nvPr/>
        </p:nvSpPr>
        <p:spPr>
          <a:xfrm>
            <a:off x="6355080" y="3209544"/>
            <a:ext cx="1316736" cy="658368"/>
          </a:xfrm>
          <a:prstGeom prst="rect">
            <a:avLst/>
          </a:prstGeom>
          <a:solidFill>
            <a:srgbClr val="F2D3CC"/>
          </a:solidFill>
          <a:ln w="19050">
            <a:solidFill>
              <a:srgbClr val="FFFFFF"/>
            </a:solidFill>
            <a:prstDash val="solid"/>
          </a:ln>
        </p:spPr>
        <p:txBody>
          <a:bodyPr/>
          <a:lstStyle/>
          <a:p>
            <a:endParaRPr lang="de-DE"/>
          </a:p>
        </p:txBody>
      </p:sp>
      <p:sp>
        <p:nvSpPr>
          <p:cNvPr id="60" name="Text 58"/>
          <p:cNvSpPr/>
          <p:nvPr/>
        </p:nvSpPr>
        <p:spPr>
          <a:xfrm>
            <a:off x="6355080" y="3264408"/>
            <a:ext cx="1316736" cy="329184"/>
          </a:xfrm>
          <a:prstGeom prst="rect">
            <a:avLst/>
          </a:prstGeom>
          <a:noFill/>
          <a:ln/>
        </p:spPr>
        <p:txBody>
          <a:bodyPr wrap="square" lIns="0" tIns="0" rIns="0" bIns="0" rtlCol="0" anchor="ctr"/>
          <a:lstStyle/>
          <a:p>
            <a:pPr marL="0" indent="0" algn="ctr">
              <a:buNone/>
            </a:pPr>
            <a:r>
              <a:rPr lang="en-US" sz="1500" b="1" dirty="0">
                <a:solidFill>
                  <a:srgbClr val="23282F"/>
                </a:solidFill>
                <a:latin typeface="Cambria" pitchFamily="34" charset="0"/>
                <a:ea typeface="Cambria" pitchFamily="34" charset="-122"/>
                <a:cs typeface="Cambria" pitchFamily="34" charset="-120"/>
              </a:rPr>
              <a:t>77 %</a:t>
            </a:r>
            <a:endParaRPr lang="en-US" sz="1500" dirty="0"/>
          </a:p>
        </p:txBody>
      </p:sp>
      <p:sp>
        <p:nvSpPr>
          <p:cNvPr id="61" name="Text 59"/>
          <p:cNvSpPr/>
          <p:nvPr/>
        </p:nvSpPr>
        <p:spPr>
          <a:xfrm>
            <a:off x="6355080" y="3593592"/>
            <a:ext cx="1316736" cy="274320"/>
          </a:xfrm>
          <a:prstGeom prst="rect">
            <a:avLst/>
          </a:prstGeom>
          <a:noFill/>
          <a:ln/>
        </p:spPr>
        <p:txBody>
          <a:bodyPr wrap="square" lIns="0" tIns="0" rIns="0" bIns="0" rtlCol="0" anchor="ctr"/>
          <a:lstStyle/>
          <a:p>
            <a:pPr marL="0" indent="0" algn="ctr">
              <a:buNone/>
            </a:pPr>
            <a:r>
              <a:rPr lang="en-US" sz="900" dirty="0">
                <a:solidFill>
                  <a:srgbClr val="6E7681"/>
                </a:solidFill>
                <a:latin typeface="Calibri" pitchFamily="34" charset="0"/>
                <a:ea typeface="Calibri" pitchFamily="34" charset="-122"/>
                <a:cs typeface="Calibri" pitchFamily="34" charset="-120"/>
              </a:rPr>
              <a:t>ohne 100 · Zuf 97</a:t>
            </a:r>
            <a:endParaRPr lang="en-US" sz="900" dirty="0"/>
          </a:p>
        </p:txBody>
      </p:sp>
      <p:sp>
        <p:nvSpPr>
          <p:cNvPr id="62" name="Shape 60"/>
          <p:cNvSpPr/>
          <p:nvPr/>
        </p:nvSpPr>
        <p:spPr>
          <a:xfrm>
            <a:off x="7726680" y="3209544"/>
            <a:ext cx="1316736" cy="658368"/>
          </a:xfrm>
          <a:prstGeom prst="rect">
            <a:avLst/>
          </a:prstGeom>
          <a:solidFill>
            <a:srgbClr val="DCEAF1"/>
          </a:solidFill>
          <a:ln w="19050">
            <a:solidFill>
              <a:srgbClr val="FFFFFF"/>
            </a:solidFill>
            <a:prstDash val="solid"/>
          </a:ln>
        </p:spPr>
        <p:txBody>
          <a:bodyPr/>
          <a:lstStyle/>
          <a:p>
            <a:endParaRPr lang="de-DE"/>
          </a:p>
        </p:txBody>
      </p:sp>
      <p:sp>
        <p:nvSpPr>
          <p:cNvPr id="63" name="Text 61"/>
          <p:cNvSpPr/>
          <p:nvPr/>
        </p:nvSpPr>
        <p:spPr>
          <a:xfrm>
            <a:off x="7726680" y="3264408"/>
            <a:ext cx="1316736" cy="329184"/>
          </a:xfrm>
          <a:prstGeom prst="rect">
            <a:avLst/>
          </a:prstGeom>
          <a:noFill/>
          <a:ln/>
        </p:spPr>
        <p:txBody>
          <a:bodyPr wrap="square" lIns="0" tIns="0" rIns="0" bIns="0" rtlCol="0" anchor="ctr"/>
          <a:lstStyle/>
          <a:p>
            <a:pPr marL="0" indent="0" algn="ctr">
              <a:buNone/>
            </a:pPr>
            <a:r>
              <a:rPr lang="en-US" sz="1500" b="1" dirty="0">
                <a:solidFill>
                  <a:srgbClr val="23282F"/>
                </a:solidFill>
                <a:latin typeface="Cambria" pitchFamily="34" charset="0"/>
                <a:ea typeface="Cambria" pitchFamily="34" charset="-122"/>
                <a:cs typeface="Cambria" pitchFamily="34" charset="-120"/>
              </a:rPr>
              <a:t>1 %</a:t>
            </a:r>
            <a:endParaRPr lang="en-US" sz="1500" dirty="0"/>
          </a:p>
        </p:txBody>
      </p:sp>
      <p:sp>
        <p:nvSpPr>
          <p:cNvPr id="64" name="Text 62"/>
          <p:cNvSpPr/>
          <p:nvPr/>
        </p:nvSpPr>
        <p:spPr>
          <a:xfrm>
            <a:off x="7726680" y="3593592"/>
            <a:ext cx="1316736" cy="274320"/>
          </a:xfrm>
          <a:prstGeom prst="rect">
            <a:avLst/>
          </a:prstGeom>
          <a:noFill/>
          <a:ln/>
        </p:spPr>
        <p:txBody>
          <a:bodyPr wrap="square" lIns="0" tIns="0" rIns="0" bIns="0" rtlCol="0" anchor="ctr"/>
          <a:lstStyle/>
          <a:p>
            <a:pPr marL="0" indent="0" algn="ctr">
              <a:buNone/>
            </a:pPr>
            <a:r>
              <a:rPr lang="en-US" sz="900" dirty="0">
                <a:solidFill>
                  <a:srgbClr val="6E7681"/>
                </a:solidFill>
                <a:latin typeface="Calibri" pitchFamily="34" charset="0"/>
                <a:ea typeface="Calibri" pitchFamily="34" charset="-122"/>
                <a:cs typeface="Calibri" pitchFamily="34" charset="-120"/>
              </a:rPr>
              <a:t>ohne 4 · Zuf 0</a:t>
            </a:r>
            <a:endParaRPr lang="en-US" sz="900" dirty="0"/>
          </a:p>
        </p:txBody>
      </p:sp>
      <p:sp>
        <p:nvSpPr>
          <p:cNvPr id="65" name="Shape 63"/>
          <p:cNvSpPr/>
          <p:nvPr/>
        </p:nvSpPr>
        <p:spPr>
          <a:xfrm>
            <a:off x="9098280" y="3209544"/>
            <a:ext cx="1316736" cy="658368"/>
          </a:xfrm>
          <a:prstGeom prst="rect">
            <a:avLst/>
          </a:prstGeom>
          <a:solidFill>
            <a:srgbClr val="FBEDEA"/>
          </a:solidFill>
          <a:ln w="19050">
            <a:solidFill>
              <a:srgbClr val="FFFFFF"/>
            </a:solidFill>
            <a:prstDash val="solid"/>
          </a:ln>
        </p:spPr>
        <p:txBody>
          <a:bodyPr/>
          <a:lstStyle/>
          <a:p>
            <a:endParaRPr lang="de-DE"/>
          </a:p>
        </p:txBody>
      </p:sp>
      <p:sp>
        <p:nvSpPr>
          <p:cNvPr id="66" name="Text 64"/>
          <p:cNvSpPr/>
          <p:nvPr/>
        </p:nvSpPr>
        <p:spPr>
          <a:xfrm>
            <a:off x="9098280" y="3264408"/>
            <a:ext cx="1316736" cy="329184"/>
          </a:xfrm>
          <a:prstGeom prst="rect">
            <a:avLst/>
          </a:prstGeom>
          <a:noFill/>
          <a:ln/>
        </p:spPr>
        <p:txBody>
          <a:bodyPr wrap="square" lIns="0" tIns="0" rIns="0" bIns="0" rtlCol="0" anchor="ctr"/>
          <a:lstStyle/>
          <a:p>
            <a:pPr marL="0" indent="0" algn="ctr">
              <a:buNone/>
            </a:pPr>
            <a:r>
              <a:rPr lang="en-US" sz="1500" b="1" dirty="0">
                <a:solidFill>
                  <a:srgbClr val="23282F"/>
                </a:solidFill>
                <a:latin typeface="Cambria" pitchFamily="34" charset="0"/>
                <a:ea typeface="Cambria" pitchFamily="34" charset="-122"/>
                <a:cs typeface="Cambria" pitchFamily="34" charset="-120"/>
              </a:rPr>
              <a:t>46 %</a:t>
            </a:r>
            <a:endParaRPr lang="en-US" sz="1500" dirty="0"/>
          </a:p>
        </p:txBody>
      </p:sp>
      <p:sp>
        <p:nvSpPr>
          <p:cNvPr id="67" name="Text 65"/>
          <p:cNvSpPr/>
          <p:nvPr/>
        </p:nvSpPr>
        <p:spPr>
          <a:xfrm>
            <a:off x="9098280" y="3593592"/>
            <a:ext cx="1316736" cy="274320"/>
          </a:xfrm>
          <a:prstGeom prst="rect">
            <a:avLst/>
          </a:prstGeom>
          <a:noFill/>
          <a:ln/>
        </p:spPr>
        <p:txBody>
          <a:bodyPr wrap="square" lIns="0" tIns="0" rIns="0" bIns="0" rtlCol="0" anchor="ctr"/>
          <a:lstStyle/>
          <a:p>
            <a:pPr marL="0" indent="0" algn="ctr">
              <a:buNone/>
            </a:pPr>
            <a:r>
              <a:rPr lang="en-US" sz="900" dirty="0">
                <a:solidFill>
                  <a:srgbClr val="6E7681"/>
                </a:solidFill>
                <a:latin typeface="Calibri" pitchFamily="34" charset="0"/>
                <a:ea typeface="Calibri" pitchFamily="34" charset="-122"/>
                <a:cs typeface="Calibri" pitchFamily="34" charset="-120"/>
              </a:rPr>
              <a:t>ohne 96 · Zuf 64</a:t>
            </a:r>
            <a:endParaRPr lang="en-US" sz="900" dirty="0"/>
          </a:p>
        </p:txBody>
      </p:sp>
      <p:sp>
        <p:nvSpPr>
          <p:cNvPr id="68" name="Text 66"/>
          <p:cNvSpPr/>
          <p:nvPr/>
        </p:nvSpPr>
        <p:spPr>
          <a:xfrm>
            <a:off x="640080" y="3922776"/>
            <a:ext cx="1508760" cy="713232"/>
          </a:xfrm>
          <a:prstGeom prst="rect">
            <a:avLst/>
          </a:prstGeom>
          <a:noFill/>
          <a:ln/>
        </p:spPr>
        <p:txBody>
          <a:bodyPr wrap="square" lIns="0" tIns="0" rIns="0" bIns="0" rtlCol="0" anchor="ctr"/>
          <a:lstStyle/>
          <a:p>
            <a:pPr marL="0" indent="0" algn="r">
              <a:buNone/>
            </a:pPr>
            <a:r>
              <a:rPr lang="en-US" sz="1300" b="1" dirty="0">
                <a:solidFill>
                  <a:srgbClr val="23282F"/>
                </a:solidFill>
                <a:latin typeface="Calibri" pitchFamily="34" charset="0"/>
                <a:ea typeface="Calibri" pitchFamily="34" charset="-122"/>
                <a:cs typeface="Calibri" pitchFamily="34" charset="-120"/>
              </a:rPr>
              <a:t>Micro-Seg.</a:t>
            </a:r>
            <a:endParaRPr lang="en-US" sz="1300" dirty="0"/>
          </a:p>
        </p:txBody>
      </p:sp>
      <p:sp>
        <p:nvSpPr>
          <p:cNvPr id="69" name="Shape 67"/>
          <p:cNvSpPr/>
          <p:nvPr/>
        </p:nvSpPr>
        <p:spPr>
          <a:xfrm>
            <a:off x="2240280" y="3922776"/>
            <a:ext cx="1316736" cy="658368"/>
          </a:xfrm>
          <a:prstGeom prst="rect">
            <a:avLst/>
          </a:prstGeom>
          <a:solidFill>
            <a:srgbClr val="DCEAF1"/>
          </a:solidFill>
          <a:ln w="19050">
            <a:solidFill>
              <a:srgbClr val="FFFFFF"/>
            </a:solidFill>
            <a:prstDash val="solid"/>
          </a:ln>
        </p:spPr>
        <p:txBody>
          <a:bodyPr/>
          <a:lstStyle/>
          <a:p>
            <a:endParaRPr lang="de-DE"/>
          </a:p>
        </p:txBody>
      </p:sp>
      <p:sp>
        <p:nvSpPr>
          <p:cNvPr id="70" name="Text 68"/>
          <p:cNvSpPr/>
          <p:nvPr/>
        </p:nvSpPr>
        <p:spPr>
          <a:xfrm>
            <a:off x="2240280" y="3977640"/>
            <a:ext cx="1316736" cy="329184"/>
          </a:xfrm>
          <a:prstGeom prst="rect">
            <a:avLst/>
          </a:prstGeom>
          <a:noFill/>
          <a:ln/>
        </p:spPr>
        <p:txBody>
          <a:bodyPr wrap="square" lIns="0" tIns="0" rIns="0" bIns="0" rtlCol="0" anchor="ctr"/>
          <a:lstStyle/>
          <a:p>
            <a:pPr marL="0" indent="0" algn="ctr">
              <a:buNone/>
            </a:pPr>
            <a:r>
              <a:rPr lang="en-US" sz="1500" b="1" dirty="0">
                <a:solidFill>
                  <a:srgbClr val="23282F"/>
                </a:solidFill>
                <a:latin typeface="Cambria" pitchFamily="34" charset="0"/>
                <a:ea typeface="Cambria" pitchFamily="34" charset="-122"/>
                <a:cs typeface="Cambria" pitchFamily="34" charset="-120"/>
              </a:rPr>
              <a:t>0 %</a:t>
            </a:r>
            <a:endParaRPr lang="en-US" sz="1500" dirty="0"/>
          </a:p>
        </p:txBody>
      </p:sp>
      <p:sp>
        <p:nvSpPr>
          <p:cNvPr id="71" name="Text 69"/>
          <p:cNvSpPr/>
          <p:nvPr/>
        </p:nvSpPr>
        <p:spPr>
          <a:xfrm>
            <a:off x="2240280" y="4306824"/>
            <a:ext cx="1316736" cy="274320"/>
          </a:xfrm>
          <a:prstGeom prst="rect">
            <a:avLst/>
          </a:prstGeom>
          <a:noFill/>
          <a:ln/>
        </p:spPr>
        <p:txBody>
          <a:bodyPr wrap="square" lIns="0" tIns="0" rIns="0" bIns="0" rtlCol="0" anchor="ctr"/>
          <a:lstStyle/>
          <a:p>
            <a:pPr marL="0" indent="0" algn="ctr">
              <a:buNone/>
            </a:pPr>
            <a:r>
              <a:rPr lang="en-US" sz="900" dirty="0">
                <a:solidFill>
                  <a:srgbClr val="6E7681"/>
                </a:solidFill>
                <a:latin typeface="Calibri" pitchFamily="34" charset="0"/>
                <a:ea typeface="Calibri" pitchFamily="34" charset="-122"/>
                <a:cs typeface="Calibri" pitchFamily="34" charset="-120"/>
              </a:rPr>
              <a:t>ohne 0 · Zuf 0</a:t>
            </a:r>
            <a:endParaRPr lang="en-US" sz="900" dirty="0"/>
          </a:p>
        </p:txBody>
      </p:sp>
      <p:sp>
        <p:nvSpPr>
          <p:cNvPr id="72" name="Shape 70"/>
          <p:cNvSpPr/>
          <p:nvPr/>
        </p:nvSpPr>
        <p:spPr>
          <a:xfrm>
            <a:off x="3611880" y="3922776"/>
            <a:ext cx="1316736" cy="658368"/>
          </a:xfrm>
          <a:prstGeom prst="rect">
            <a:avLst/>
          </a:prstGeom>
          <a:solidFill>
            <a:srgbClr val="DCEAF1"/>
          </a:solidFill>
          <a:ln w="19050">
            <a:solidFill>
              <a:srgbClr val="FFFFFF"/>
            </a:solidFill>
            <a:prstDash val="solid"/>
          </a:ln>
        </p:spPr>
        <p:txBody>
          <a:bodyPr/>
          <a:lstStyle/>
          <a:p>
            <a:endParaRPr lang="de-DE"/>
          </a:p>
        </p:txBody>
      </p:sp>
      <p:sp>
        <p:nvSpPr>
          <p:cNvPr id="73" name="Text 71"/>
          <p:cNvSpPr/>
          <p:nvPr/>
        </p:nvSpPr>
        <p:spPr>
          <a:xfrm>
            <a:off x="3611880" y="3977640"/>
            <a:ext cx="1316736" cy="329184"/>
          </a:xfrm>
          <a:prstGeom prst="rect">
            <a:avLst/>
          </a:prstGeom>
          <a:noFill/>
          <a:ln/>
        </p:spPr>
        <p:txBody>
          <a:bodyPr wrap="square" lIns="0" tIns="0" rIns="0" bIns="0" rtlCol="0" anchor="ctr"/>
          <a:lstStyle/>
          <a:p>
            <a:pPr marL="0" indent="0" algn="ctr">
              <a:buNone/>
            </a:pPr>
            <a:r>
              <a:rPr lang="en-US" sz="1500" b="1" dirty="0">
                <a:solidFill>
                  <a:srgbClr val="23282F"/>
                </a:solidFill>
                <a:latin typeface="Cambria" pitchFamily="34" charset="0"/>
                <a:ea typeface="Cambria" pitchFamily="34" charset="-122"/>
                <a:cs typeface="Cambria" pitchFamily="34" charset="-120"/>
              </a:rPr>
              <a:t>0 %</a:t>
            </a:r>
            <a:endParaRPr lang="en-US" sz="1500" dirty="0"/>
          </a:p>
        </p:txBody>
      </p:sp>
      <p:sp>
        <p:nvSpPr>
          <p:cNvPr id="74" name="Text 72"/>
          <p:cNvSpPr/>
          <p:nvPr/>
        </p:nvSpPr>
        <p:spPr>
          <a:xfrm>
            <a:off x="3611880" y="4306824"/>
            <a:ext cx="1316736" cy="274320"/>
          </a:xfrm>
          <a:prstGeom prst="rect">
            <a:avLst/>
          </a:prstGeom>
          <a:noFill/>
          <a:ln/>
        </p:spPr>
        <p:txBody>
          <a:bodyPr wrap="square" lIns="0" tIns="0" rIns="0" bIns="0" rtlCol="0" anchor="ctr"/>
          <a:lstStyle/>
          <a:p>
            <a:pPr marL="0" indent="0" algn="ctr">
              <a:buNone/>
            </a:pPr>
            <a:r>
              <a:rPr lang="en-US" sz="900" dirty="0">
                <a:solidFill>
                  <a:srgbClr val="6E7681"/>
                </a:solidFill>
                <a:latin typeface="Calibri" pitchFamily="34" charset="0"/>
                <a:ea typeface="Calibri" pitchFamily="34" charset="-122"/>
                <a:cs typeface="Calibri" pitchFamily="34" charset="-120"/>
              </a:rPr>
              <a:t>ohne 6 · Zuf 1</a:t>
            </a:r>
            <a:endParaRPr lang="en-US" sz="900" dirty="0"/>
          </a:p>
        </p:txBody>
      </p:sp>
      <p:sp>
        <p:nvSpPr>
          <p:cNvPr id="75" name="Shape 73"/>
          <p:cNvSpPr/>
          <p:nvPr/>
        </p:nvSpPr>
        <p:spPr>
          <a:xfrm>
            <a:off x="4983480" y="3922776"/>
            <a:ext cx="1316736" cy="658368"/>
          </a:xfrm>
          <a:prstGeom prst="rect">
            <a:avLst/>
          </a:prstGeom>
          <a:solidFill>
            <a:srgbClr val="DCEAF1"/>
          </a:solidFill>
          <a:ln w="19050">
            <a:solidFill>
              <a:srgbClr val="FFFFFF"/>
            </a:solidFill>
            <a:prstDash val="solid"/>
          </a:ln>
        </p:spPr>
        <p:txBody>
          <a:bodyPr/>
          <a:lstStyle/>
          <a:p>
            <a:endParaRPr lang="de-DE"/>
          </a:p>
        </p:txBody>
      </p:sp>
      <p:sp>
        <p:nvSpPr>
          <p:cNvPr id="76" name="Text 74"/>
          <p:cNvSpPr/>
          <p:nvPr/>
        </p:nvSpPr>
        <p:spPr>
          <a:xfrm>
            <a:off x="4983480" y="3977640"/>
            <a:ext cx="1316736" cy="329184"/>
          </a:xfrm>
          <a:prstGeom prst="rect">
            <a:avLst/>
          </a:prstGeom>
          <a:noFill/>
          <a:ln/>
        </p:spPr>
        <p:txBody>
          <a:bodyPr wrap="square" lIns="0" tIns="0" rIns="0" bIns="0" rtlCol="0" anchor="ctr"/>
          <a:lstStyle/>
          <a:p>
            <a:pPr marL="0" indent="0" algn="ctr">
              <a:buNone/>
            </a:pPr>
            <a:r>
              <a:rPr lang="en-US" sz="1500" b="1" dirty="0">
                <a:solidFill>
                  <a:srgbClr val="23282F"/>
                </a:solidFill>
                <a:latin typeface="Cambria" pitchFamily="34" charset="0"/>
                <a:ea typeface="Cambria" pitchFamily="34" charset="-122"/>
                <a:cs typeface="Cambria" pitchFamily="34" charset="-120"/>
              </a:rPr>
              <a:t>0 %</a:t>
            </a:r>
            <a:endParaRPr lang="en-US" sz="1500" dirty="0"/>
          </a:p>
        </p:txBody>
      </p:sp>
      <p:sp>
        <p:nvSpPr>
          <p:cNvPr id="77" name="Text 75"/>
          <p:cNvSpPr/>
          <p:nvPr/>
        </p:nvSpPr>
        <p:spPr>
          <a:xfrm>
            <a:off x="4983480" y="4306824"/>
            <a:ext cx="1316736" cy="274320"/>
          </a:xfrm>
          <a:prstGeom prst="rect">
            <a:avLst/>
          </a:prstGeom>
          <a:noFill/>
          <a:ln/>
        </p:spPr>
        <p:txBody>
          <a:bodyPr wrap="square" lIns="0" tIns="0" rIns="0" bIns="0" rtlCol="0" anchor="ctr"/>
          <a:lstStyle/>
          <a:p>
            <a:pPr marL="0" indent="0" algn="ctr">
              <a:buNone/>
            </a:pPr>
            <a:r>
              <a:rPr lang="en-US" sz="900" dirty="0">
                <a:solidFill>
                  <a:srgbClr val="6E7681"/>
                </a:solidFill>
                <a:latin typeface="Calibri" pitchFamily="34" charset="0"/>
                <a:ea typeface="Calibri" pitchFamily="34" charset="-122"/>
                <a:cs typeface="Calibri" pitchFamily="34" charset="-120"/>
              </a:rPr>
              <a:t>ohne 11 · Zuf 2</a:t>
            </a:r>
            <a:endParaRPr lang="en-US" sz="900" dirty="0"/>
          </a:p>
        </p:txBody>
      </p:sp>
      <p:sp>
        <p:nvSpPr>
          <p:cNvPr id="78" name="Shape 76"/>
          <p:cNvSpPr/>
          <p:nvPr/>
        </p:nvSpPr>
        <p:spPr>
          <a:xfrm>
            <a:off x="6355080" y="3922776"/>
            <a:ext cx="1316736" cy="658368"/>
          </a:xfrm>
          <a:prstGeom prst="rect">
            <a:avLst/>
          </a:prstGeom>
          <a:solidFill>
            <a:srgbClr val="DCEAF1"/>
          </a:solidFill>
          <a:ln w="19050">
            <a:solidFill>
              <a:srgbClr val="FFFFFF"/>
            </a:solidFill>
            <a:prstDash val="solid"/>
          </a:ln>
        </p:spPr>
        <p:txBody>
          <a:bodyPr/>
          <a:lstStyle/>
          <a:p>
            <a:endParaRPr lang="de-DE"/>
          </a:p>
        </p:txBody>
      </p:sp>
      <p:sp>
        <p:nvSpPr>
          <p:cNvPr id="79" name="Text 77"/>
          <p:cNvSpPr/>
          <p:nvPr/>
        </p:nvSpPr>
        <p:spPr>
          <a:xfrm>
            <a:off x="6355080" y="3977640"/>
            <a:ext cx="1316736" cy="329184"/>
          </a:xfrm>
          <a:prstGeom prst="rect">
            <a:avLst/>
          </a:prstGeom>
          <a:noFill/>
          <a:ln/>
        </p:spPr>
        <p:txBody>
          <a:bodyPr wrap="square" lIns="0" tIns="0" rIns="0" bIns="0" rtlCol="0" anchor="ctr"/>
          <a:lstStyle/>
          <a:p>
            <a:pPr marL="0" indent="0" algn="ctr">
              <a:buNone/>
            </a:pPr>
            <a:r>
              <a:rPr lang="en-US" sz="1500" b="1" dirty="0">
                <a:solidFill>
                  <a:srgbClr val="23282F"/>
                </a:solidFill>
                <a:latin typeface="Cambria" pitchFamily="34" charset="0"/>
                <a:ea typeface="Cambria" pitchFamily="34" charset="-122"/>
                <a:cs typeface="Cambria" pitchFamily="34" charset="-120"/>
              </a:rPr>
              <a:t>0 %</a:t>
            </a:r>
            <a:endParaRPr lang="en-US" sz="1500" dirty="0"/>
          </a:p>
        </p:txBody>
      </p:sp>
      <p:sp>
        <p:nvSpPr>
          <p:cNvPr id="80" name="Text 78"/>
          <p:cNvSpPr/>
          <p:nvPr/>
        </p:nvSpPr>
        <p:spPr>
          <a:xfrm>
            <a:off x="6355080" y="4306824"/>
            <a:ext cx="1316736" cy="274320"/>
          </a:xfrm>
          <a:prstGeom prst="rect">
            <a:avLst/>
          </a:prstGeom>
          <a:noFill/>
          <a:ln/>
        </p:spPr>
        <p:txBody>
          <a:bodyPr wrap="square" lIns="0" tIns="0" rIns="0" bIns="0" rtlCol="0" anchor="ctr"/>
          <a:lstStyle/>
          <a:p>
            <a:pPr marL="0" indent="0" algn="ctr">
              <a:buNone/>
            </a:pPr>
            <a:r>
              <a:rPr lang="en-US" sz="900" dirty="0">
                <a:solidFill>
                  <a:srgbClr val="6E7681"/>
                </a:solidFill>
                <a:latin typeface="Calibri" pitchFamily="34" charset="0"/>
                <a:ea typeface="Calibri" pitchFamily="34" charset="-122"/>
                <a:cs typeface="Calibri" pitchFamily="34" charset="-120"/>
              </a:rPr>
              <a:t>ohne 19 · Zuf 0</a:t>
            </a:r>
            <a:endParaRPr lang="en-US" sz="900" dirty="0"/>
          </a:p>
        </p:txBody>
      </p:sp>
      <p:sp>
        <p:nvSpPr>
          <p:cNvPr id="81" name="Shape 79"/>
          <p:cNvSpPr/>
          <p:nvPr/>
        </p:nvSpPr>
        <p:spPr>
          <a:xfrm>
            <a:off x="7726680" y="3922776"/>
            <a:ext cx="1316736" cy="658368"/>
          </a:xfrm>
          <a:prstGeom prst="rect">
            <a:avLst/>
          </a:prstGeom>
          <a:solidFill>
            <a:srgbClr val="E0A092"/>
          </a:solidFill>
          <a:ln w="19050">
            <a:solidFill>
              <a:srgbClr val="FFFFFF"/>
            </a:solidFill>
            <a:prstDash val="solid"/>
          </a:ln>
        </p:spPr>
        <p:txBody>
          <a:bodyPr/>
          <a:lstStyle/>
          <a:p>
            <a:endParaRPr lang="de-DE"/>
          </a:p>
        </p:txBody>
      </p:sp>
      <p:sp>
        <p:nvSpPr>
          <p:cNvPr id="82" name="Text 80"/>
          <p:cNvSpPr/>
          <p:nvPr/>
        </p:nvSpPr>
        <p:spPr>
          <a:xfrm>
            <a:off x="7726680" y="3977640"/>
            <a:ext cx="1316736" cy="329184"/>
          </a:xfrm>
          <a:prstGeom prst="rect">
            <a:avLst/>
          </a:prstGeom>
          <a:noFill/>
          <a:ln/>
        </p:spPr>
        <p:txBody>
          <a:bodyPr wrap="square" lIns="0" tIns="0" rIns="0" bIns="0" rtlCol="0" anchor="ctr"/>
          <a:lstStyle/>
          <a:p>
            <a:pPr marL="0" indent="0" algn="ctr">
              <a:buNone/>
            </a:pPr>
            <a:r>
              <a:rPr lang="en-US" sz="1500" b="1" dirty="0">
                <a:solidFill>
                  <a:srgbClr val="23282F"/>
                </a:solidFill>
                <a:latin typeface="Cambria" pitchFamily="34" charset="0"/>
                <a:ea typeface="Cambria" pitchFamily="34" charset="-122"/>
                <a:cs typeface="Cambria" pitchFamily="34" charset="-120"/>
              </a:rPr>
              <a:t>98 %</a:t>
            </a:r>
            <a:endParaRPr lang="en-US" sz="1500" dirty="0"/>
          </a:p>
        </p:txBody>
      </p:sp>
      <p:sp>
        <p:nvSpPr>
          <p:cNvPr id="83" name="Text 81"/>
          <p:cNvSpPr/>
          <p:nvPr/>
        </p:nvSpPr>
        <p:spPr>
          <a:xfrm>
            <a:off x="7726680" y="4306824"/>
            <a:ext cx="1316736" cy="274320"/>
          </a:xfrm>
          <a:prstGeom prst="rect">
            <a:avLst/>
          </a:prstGeom>
          <a:noFill/>
          <a:ln/>
        </p:spPr>
        <p:txBody>
          <a:bodyPr wrap="square" lIns="0" tIns="0" rIns="0" bIns="0" rtlCol="0" anchor="ctr"/>
          <a:lstStyle/>
          <a:p>
            <a:pPr marL="0" indent="0" algn="ctr">
              <a:buNone/>
            </a:pPr>
            <a:r>
              <a:rPr lang="en-US" sz="900" dirty="0">
                <a:solidFill>
                  <a:srgbClr val="6E7681"/>
                </a:solidFill>
                <a:latin typeface="Calibri" pitchFamily="34" charset="0"/>
                <a:ea typeface="Calibri" pitchFamily="34" charset="-122"/>
                <a:cs typeface="Calibri" pitchFamily="34" charset="-120"/>
              </a:rPr>
              <a:t>ohne 99 · Zuf 91</a:t>
            </a:r>
            <a:endParaRPr lang="en-US" sz="900" dirty="0"/>
          </a:p>
        </p:txBody>
      </p:sp>
      <p:sp>
        <p:nvSpPr>
          <p:cNvPr id="84" name="Shape 82"/>
          <p:cNvSpPr/>
          <p:nvPr/>
        </p:nvSpPr>
        <p:spPr>
          <a:xfrm>
            <a:off x="9098280" y="3922776"/>
            <a:ext cx="1316736" cy="658368"/>
          </a:xfrm>
          <a:prstGeom prst="rect">
            <a:avLst/>
          </a:prstGeom>
          <a:solidFill>
            <a:srgbClr val="DCEAF1"/>
          </a:solidFill>
          <a:ln w="19050">
            <a:solidFill>
              <a:srgbClr val="FFFFFF"/>
            </a:solidFill>
            <a:prstDash val="solid"/>
          </a:ln>
        </p:spPr>
        <p:txBody>
          <a:bodyPr/>
          <a:lstStyle/>
          <a:p>
            <a:endParaRPr lang="de-DE"/>
          </a:p>
        </p:txBody>
      </p:sp>
      <p:sp>
        <p:nvSpPr>
          <p:cNvPr id="85" name="Text 83"/>
          <p:cNvSpPr/>
          <p:nvPr/>
        </p:nvSpPr>
        <p:spPr>
          <a:xfrm>
            <a:off x="9098280" y="3977640"/>
            <a:ext cx="1316736" cy="329184"/>
          </a:xfrm>
          <a:prstGeom prst="rect">
            <a:avLst/>
          </a:prstGeom>
          <a:noFill/>
          <a:ln/>
        </p:spPr>
        <p:txBody>
          <a:bodyPr wrap="square" lIns="0" tIns="0" rIns="0" bIns="0" rtlCol="0" anchor="ctr"/>
          <a:lstStyle/>
          <a:p>
            <a:pPr marL="0" indent="0" algn="ctr">
              <a:buNone/>
            </a:pPr>
            <a:r>
              <a:rPr lang="en-US" sz="1500" b="1" dirty="0">
                <a:solidFill>
                  <a:srgbClr val="23282F"/>
                </a:solidFill>
                <a:latin typeface="Cambria" pitchFamily="34" charset="0"/>
                <a:ea typeface="Cambria" pitchFamily="34" charset="-122"/>
                <a:cs typeface="Cambria" pitchFamily="34" charset="-120"/>
              </a:rPr>
              <a:t>0 %</a:t>
            </a:r>
            <a:endParaRPr lang="en-US" sz="1500" dirty="0"/>
          </a:p>
        </p:txBody>
      </p:sp>
      <p:sp>
        <p:nvSpPr>
          <p:cNvPr id="86" name="Text 84"/>
          <p:cNvSpPr/>
          <p:nvPr/>
        </p:nvSpPr>
        <p:spPr>
          <a:xfrm>
            <a:off x="9098280" y="4306824"/>
            <a:ext cx="1316736" cy="274320"/>
          </a:xfrm>
          <a:prstGeom prst="rect">
            <a:avLst/>
          </a:prstGeom>
          <a:noFill/>
          <a:ln/>
        </p:spPr>
        <p:txBody>
          <a:bodyPr wrap="square" lIns="0" tIns="0" rIns="0" bIns="0" rtlCol="0" anchor="ctr"/>
          <a:lstStyle/>
          <a:p>
            <a:pPr marL="0" indent="0" algn="ctr">
              <a:buNone/>
            </a:pPr>
            <a:r>
              <a:rPr lang="en-US" sz="900" dirty="0">
                <a:solidFill>
                  <a:srgbClr val="6E7681"/>
                </a:solidFill>
                <a:latin typeface="Calibri" pitchFamily="34" charset="0"/>
                <a:ea typeface="Calibri" pitchFamily="34" charset="-122"/>
                <a:cs typeface="Calibri" pitchFamily="34" charset="-120"/>
              </a:rPr>
              <a:t>ohne 1 · Zuf 0</a:t>
            </a:r>
            <a:endParaRPr lang="en-US" sz="900" dirty="0"/>
          </a:p>
        </p:txBody>
      </p:sp>
      <p:sp>
        <p:nvSpPr>
          <p:cNvPr id="87" name="Text 85"/>
          <p:cNvSpPr/>
          <p:nvPr/>
        </p:nvSpPr>
        <p:spPr>
          <a:xfrm>
            <a:off x="640080" y="4846320"/>
            <a:ext cx="10881360" cy="457200"/>
          </a:xfrm>
          <a:prstGeom prst="rect">
            <a:avLst/>
          </a:prstGeom>
          <a:noFill/>
          <a:ln/>
        </p:spPr>
        <p:txBody>
          <a:bodyPr wrap="square" lIns="0" tIns="0" rIns="0" bIns="0" rtlCol="0" anchor="ctr"/>
          <a:lstStyle/>
          <a:p>
            <a:pPr marL="0" indent="0">
              <a:buNone/>
            </a:pPr>
            <a:r>
              <a:rPr lang="en-US" sz="1400" b="1" dirty="0">
                <a:solidFill>
                  <a:srgbClr val="1C6E8C"/>
                </a:solidFill>
                <a:latin typeface="Calibri" pitchFamily="34" charset="0"/>
                <a:ea typeface="Calibri" pitchFamily="34" charset="-122"/>
                <a:cs typeface="Calibri" pitchFamily="34" charset="-120"/>
              </a:rPr>
              <a:t>Der deutlichste Nutzen des Trainings: In der DMZ sinkt die Crown-Jewel-Quote gegenüber dem Zufallsagenten spürbar, in Hub &amp; Spoke gegen den eigenen Angreifer in allen fünf Seeds.</a:t>
            </a:r>
            <a:endParaRPr lang="en-US" sz="1400" dirty="0"/>
          </a:p>
        </p:txBody>
      </p:sp>
      <p:sp>
        <p:nvSpPr>
          <p:cNvPr id="88" name="Text 86"/>
          <p:cNvSpPr/>
          <p:nvPr/>
        </p:nvSpPr>
        <p:spPr>
          <a:xfrm>
            <a:off x="640080" y="6291072"/>
            <a:ext cx="10881360" cy="274320"/>
          </a:xfrm>
          <a:prstGeom prst="rect">
            <a:avLst/>
          </a:prstGeom>
          <a:noFill/>
          <a:ln/>
        </p:spPr>
        <p:txBody>
          <a:bodyPr wrap="square" lIns="0" tIns="0" rIns="0" bIns="0" rtlCol="0" anchor="ctr"/>
          <a:lstStyle/>
          <a:p>
            <a:pPr marL="0" indent="0">
              <a:buNone/>
            </a:pPr>
            <a:r>
              <a:rPr lang="en-US" sz="1000" i="1" dirty="0">
                <a:solidFill>
                  <a:srgbClr val="6E7681"/>
                </a:solidFill>
                <a:latin typeface="Calibri" pitchFamily="34" charset="0"/>
                <a:ea typeface="Calibri" pitchFamily="34" charset="-122"/>
                <a:cs typeface="Calibri" pitchFamily="34" charset="-120"/>
              </a:rPr>
              <a:t>Der Crown Jewel beendet die Episode nicht. Anteil über 25 Episoden je Zelle und alle fünf Seeds.</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640080" y="384048"/>
            <a:ext cx="10881360" cy="566928"/>
          </a:xfrm>
          <a:prstGeom prst="rect">
            <a:avLst/>
          </a:prstGeom>
          <a:noFill/>
          <a:ln/>
        </p:spPr>
        <p:txBody>
          <a:bodyPr wrap="square" lIns="0" tIns="0" rIns="0" bIns="0" rtlCol="0" anchor="ctr"/>
          <a:lstStyle/>
          <a:p>
            <a:pPr marL="0" indent="0">
              <a:buNone/>
            </a:pPr>
            <a:r>
              <a:rPr lang="en-US" sz="3400" b="1" dirty="0">
                <a:solidFill>
                  <a:srgbClr val="23282F"/>
                </a:solidFill>
                <a:latin typeface="Cambria" pitchFamily="34" charset="0"/>
                <a:ea typeface="Cambria" pitchFamily="34" charset="-122"/>
                <a:cs typeface="Cambria" pitchFamily="34" charset="-120"/>
              </a:rPr>
              <a:t>Was die Verteidigung kostet</a:t>
            </a:r>
            <a:endParaRPr lang="en-US" sz="3400" dirty="0"/>
          </a:p>
        </p:txBody>
      </p:sp>
      <p:sp>
        <p:nvSpPr>
          <p:cNvPr id="3" name="Text 1"/>
          <p:cNvSpPr/>
          <p:nvPr/>
        </p:nvSpPr>
        <p:spPr>
          <a:xfrm>
            <a:off x="640080" y="969264"/>
            <a:ext cx="10881360" cy="493776"/>
          </a:xfrm>
          <a:prstGeom prst="rect">
            <a:avLst/>
          </a:prstGeom>
          <a:noFill/>
          <a:ln/>
        </p:spPr>
        <p:txBody>
          <a:bodyPr wrap="square" lIns="0" tIns="0" rIns="0" bIns="0" rtlCol="0" anchor="ctr"/>
          <a:lstStyle/>
          <a:p>
            <a:pPr marL="0" indent="0">
              <a:buNone/>
            </a:pPr>
            <a:r>
              <a:rPr lang="en-US" sz="1400" dirty="0">
                <a:solidFill>
                  <a:srgbClr val="6E7681"/>
                </a:solidFill>
                <a:latin typeface="Calibri" pitchFamily="34" charset="0"/>
                <a:ea typeface="Calibri" pitchFamily="34" charset="-122"/>
                <a:cs typeface="Calibri" pitchFamily="34" charset="-120"/>
              </a:rPr>
              <a:t>Dieselben Episoden von der anderen Seite: große Zahl = trainiertes Modell, kleine = Zufallsagent</a:t>
            </a:r>
            <a:endParaRPr lang="en-US" sz="1400" dirty="0"/>
          </a:p>
        </p:txBody>
      </p:sp>
      <p:sp>
        <p:nvSpPr>
          <p:cNvPr id="4" name="Text 2"/>
          <p:cNvSpPr/>
          <p:nvPr/>
        </p:nvSpPr>
        <p:spPr>
          <a:xfrm>
            <a:off x="2240280" y="1307592"/>
            <a:ext cx="1618488" cy="512064"/>
          </a:xfrm>
          <a:prstGeom prst="rect">
            <a:avLst/>
          </a:prstGeom>
          <a:noFill/>
          <a:ln/>
        </p:spPr>
        <p:txBody>
          <a:bodyPr wrap="square" lIns="0" tIns="0" rIns="0" bIns="0" rtlCol="0" anchor="b"/>
          <a:lstStyle/>
          <a:p>
            <a:pPr marL="0" indent="0" algn="ctr">
              <a:buNone/>
            </a:pPr>
            <a:r>
              <a:rPr lang="en-US" sz="1100" b="1" dirty="0">
                <a:solidFill>
                  <a:srgbClr val="6E7681"/>
                </a:solidFill>
                <a:latin typeface="Calibri" pitchFamily="34" charset="0"/>
                <a:ea typeface="Calibri" pitchFamily="34" charset="-122"/>
                <a:cs typeface="Calibri" pitchFamily="34" charset="-120"/>
              </a:rPr>
              <a:t>Reimages</a:t>
            </a:r>
            <a:endParaRPr lang="en-US" sz="1100" dirty="0"/>
          </a:p>
        </p:txBody>
      </p:sp>
      <p:sp>
        <p:nvSpPr>
          <p:cNvPr id="5" name="Text 3"/>
          <p:cNvSpPr/>
          <p:nvPr/>
        </p:nvSpPr>
        <p:spPr>
          <a:xfrm>
            <a:off x="3913632" y="1307592"/>
            <a:ext cx="1618488" cy="512064"/>
          </a:xfrm>
          <a:prstGeom prst="rect">
            <a:avLst/>
          </a:prstGeom>
          <a:noFill/>
          <a:ln/>
        </p:spPr>
        <p:txBody>
          <a:bodyPr wrap="square" lIns="0" tIns="0" rIns="0" bIns="0" rtlCol="0" anchor="b"/>
          <a:lstStyle/>
          <a:p>
            <a:pPr marL="0" indent="0" algn="ctr">
              <a:buNone/>
            </a:pPr>
            <a:r>
              <a:rPr lang="en-US" sz="1100" b="1" dirty="0">
                <a:solidFill>
                  <a:srgbClr val="6E7681"/>
                </a:solidFill>
                <a:latin typeface="Calibri" pitchFamily="34" charset="0"/>
                <a:ea typeface="Calibri" pitchFamily="34" charset="-122"/>
                <a:cs typeface="Calibri" pitchFamily="34" charset="-120"/>
              </a:rPr>
              <a:t>Dienststopps</a:t>
            </a:r>
            <a:endParaRPr lang="en-US" sz="1100" dirty="0"/>
          </a:p>
        </p:txBody>
      </p:sp>
      <p:sp>
        <p:nvSpPr>
          <p:cNvPr id="6" name="Text 4"/>
          <p:cNvSpPr/>
          <p:nvPr/>
        </p:nvSpPr>
        <p:spPr>
          <a:xfrm>
            <a:off x="5586984" y="1307592"/>
            <a:ext cx="1618488" cy="512064"/>
          </a:xfrm>
          <a:prstGeom prst="rect">
            <a:avLst/>
          </a:prstGeom>
          <a:noFill/>
          <a:ln/>
        </p:spPr>
        <p:txBody>
          <a:bodyPr wrap="square" lIns="0" tIns="0" rIns="0" bIns="0" rtlCol="0" anchor="b"/>
          <a:lstStyle/>
          <a:p>
            <a:pPr marL="0" indent="0" algn="ctr">
              <a:buNone/>
            </a:pPr>
            <a:r>
              <a:rPr lang="en-US" sz="1100" b="1" dirty="0">
                <a:solidFill>
                  <a:srgbClr val="6E7681"/>
                </a:solidFill>
                <a:latin typeface="Calibri" pitchFamily="34" charset="0"/>
                <a:ea typeface="Calibri" pitchFamily="34" charset="-122"/>
                <a:cs typeface="Calibri" pitchFamily="34" charset="-120"/>
              </a:rPr>
              <a:t>davon auf sauberem Knoten</a:t>
            </a:r>
            <a:endParaRPr lang="en-US" sz="1100" dirty="0"/>
          </a:p>
        </p:txBody>
      </p:sp>
      <p:sp>
        <p:nvSpPr>
          <p:cNvPr id="7" name="Text 5"/>
          <p:cNvSpPr/>
          <p:nvPr/>
        </p:nvSpPr>
        <p:spPr>
          <a:xfrm>
            <a:off x="7260336" y="1307592"/>
            <a:ext cx="1618488" cy="512064"/>
          </a:xfrm>
          <a:prstGeom prst="rect">
            <a:avLst/>
          </a:prstGeom>
          <a:noFill/>
          <a:ln/>
        </p:spPr>
        <p:txBody>
          <a:bodyPr wrap="square" lIns="0" tIns="0" rIns="0" bIns="0" rtlCol="0" anchor="b"/>
          <a:lstStyle/>
          <a:p>
            <a:pPr marL="0" indent="0" algn="ctr">
              <a:buNone/>
            </a:pPr>
            <a:r>
              <a:rPr lang="en-US" sz="1100" b="1" dirty="0">
                <a:solidFill>
                  <a:srgbClr val="6E7681"/>
                </a:solidFill>
                <a:latin typeface="Calibri" pitchFamily="34" charset="0"/>
                <a:ea typeface="Calibri" pitchFamily="34" charset="-122"/>
                <a:cs typeface="Calibri" pitchFamily="34" charset="-120"/>
              </a:rPr>
              <a:t>Episoden mit SLA-Bruch</a:t>
            </a:r>
            <a:endParaRPr lang="en-US" sz="1100" dirty="0"/>
          </a:p>
        </p:txBody>
      </p:sp>
      <p:sp>
        <p:nvSpPr>
          <p:cNvPr id="8" name="Text 6"/>
          <p:cNvSpPr/>
          <p:nvPr/>
        </p:nvSpPr>
        <p:spPr>
          <a:xfrm>
            <a:off x="8933688" y="1307592"/>
            <a:ext cx="1618488" cy="512064"/>
          </a:xfrm>
          <a:prstGeom prst="rect">
            <a:avLst/>
          </a:prstGeom>
          <a:noFill/>
          <a:ln/>
        </p:spPr>
        <p:txBody>
          <a:bodyPr wrap="square" lIns="0" tIns="0" rIns="0" bIns="0" rtlCol="0" anchor="b"/>
          <a:lstStyle/>
          <a:p>
            <a:pPr marL="0" indent="0" algn="ctr">
              <a:buNone/>
            </a:pPr>
            <a:r>
              <a:rPr lang="en-US" sz="1100" b="1" dirty="0">
                <a:solidFill>
                  <a:srgbClr val="6E7681"/>
                </a:solidFill>
                <a:latin typeface="Calibri" pitchFamily="34" charset="0"/>
                <a:ea typeface="Calibri" pitchFamily="34" charset="-122"/>
                <a:cs typeface="Calibri" pitchFamily="34" charset="-120"/>
              </a:rPr>
              <a:t>Verteidiger-Reward</a:t>
            </a:r>
            <a:endParaRPr lang="en-US" sz="1100" dirty="0"/>
          </a:p>
        </p:txBody>
      </p:sp>
      <p:sp>
        <p:nvSpPr>
          <p:cNvPr id="9" name="Text 7"/>
          <p:cNvSpPr/>
          <p:nvPr/>
        </p:nvSpPr>
        <p:spPr>
          <a:xfrm>
            <a:off x="640080" y="1874520"/>
            <a:ext cx="1508760" cy="713232"/>
          </a:xfrm>
          <a:prstGeom prst="rect">
            <a:avLst/>
          </a:prstGeom>
          <a:noFill/>
          <a:ln/>
        </p:spPr>
        <p:txBody>
          <a:bodyPr wrap="square" lIns="0" tIns="0" rIns="0" bIns="0" rtlCol="0" anchor="ctr"/>
          <a:lstStyle/>
          <a:p>
            <a:pPr marL="0" indent="0" algn="r">
              <a:buNone/>
            </a:pPr>
            <a:r>
              <a:rPr lang="en-US" sz="1300" b="1" dirty="0">
                <a:solidFill>
                  <a:srgbClr val="23282F"/>
                </a:solidFill>
                <a:latin typeface="Calibri" pitchFamily="34" charset="0"/>
                <a:ea typeface="Calibri" pitchFamily="34" charset="-122"/>
                <a:cs typeface="Calibri" pitchFamily="34" charset="-120"/>
              </a:rPr>
              <a:t>Flat</a:t>
            </a:r>
            <a:endParaRPr lang="en-US" sz="1300" dirty="0"/>
          </a:p>
        </p:txBody>
      </p:sp>
      <p:sp>
        <p:nvSpPr>
          <p:cNvPr id="10" name="Shape 8"/>
          <p:cNvSpPr/>
          <p:nvPr/>
        </p:nvSpPr>
        <p:spPr>
          <a:xfrm>
            <a:off x="2240280" y="1874520"/>
            <a:ext cx="1618488" cy="658368"/>
          </a:xfrm>
          <a:prstGeom prst="rect">
            <a:avLst/>
          </a:prstGeom>
          <a:solidFill>
            <a:srgbClr val="F4F6F8"/>
          </a:solidFill>
          <a:ln w="19050">
            <a:solidFill>
              <a:srgbClr val="FFFFFF"/>
            </a:solidFill>
            <a:prstDash val="solid"/>
          </a:ln>
        </p:spPr>
        <p:txBody>
          <a:bodyPr/>
          <a:lstStyle/>
          <a:p>
            <a:endParaRPr lang="de-DE"/>
          </a:p>
        </p:txBody>
      </p:sp>
      <p:sp>
        <p:nvSpPr>
          <p:cNvPr id="11" name="Text 9"/>
          <p:cNvSpPr/>
          <p:nvPr/>
        </p:nvSpPr>
        <p:spPr>
          <a:xfrm>
            <a:off x="2240280" y="1929384"/>
            <a:ext cx="1618488" cy="347472"/>
          </a:xfrm>
          <a:prstGeom prst="rect">
            <a:avLst/>
          </a:prstGeom>
          <a:noFill/>
          <a:ln/>
        </p:spPr>
        <p:txBody>
          <a:bodyPr wrap="square" lIns="0" tIns="0" rIns="0" bIns="0" rtlCol="0" anchor="ctr"/>
          <a:lstStyle/>
          <a:p>
            <a:pPr marL="0" indent="0" algn="ctr">
              <a:buNone/>
            </a:pPr>
            <a:r>
              <a:rPr lang="en-US" sz="1600" b="1" dirty="0">
                <a:solidFill>
                  <a:srgbClr val="23282F"/>
                </a:solidFill>
                <a:latin typeface="Cambria" pitchFamily="34" charset="0"/>
                <a:ea typeface="Cambria" pitchFamily="34" charset="-122"/>
                <a:cs typeface="Cambria" pitchFamily="34" charset="-120"/>
              </a:rPr>
              <a:t>4.0</a:t>
            </a:r>
            <a:endParaRPr lang="en-US" sz="1600" dirty="0"/>
          </a:p>
        </p:txBody>
      </p:sp>
      <p:sp>
        <p:nvSpPr>
          <p:cNvPr id="12" name="Text 10"/>
          <p:cNvSpPr/>
          <p:nvPr/>
        </p:nvSpPr>
        <p:spPr>
          <a:xfrm>
            <a:off x="2240280" y="2276856"/>
            <a:ext cx="1618488" cy="237744"/>
          </a:xfrm>
          <a:prstGeom prst="rect">
            <a:avLst/>
          </a:prstGeom>
          <a:noFill/>
          <a:ln/>
        </p:spPr>
        <p:txBody>
          <a:bodyPr wrap="square" lIns="0" tIns="0" rIns="0" bIns="0" rtlCol="0" anchor="ctr"/>
          <a:lstStyle/>
          <a:p>
            <a:pPr marL="0" indent="0" algn="ctr">
              <a:buNone/>
            </a:pPr>
            <a:r>
              <a:rPr lang="en-US" sz="1000" dirty="0">
                <a:solidFill>
                  <a:srgbClr val="6E7681"/>
                </a:solidFill>
                <a:latin typeface="Calibri" pitchFamily="34" charset="0"/>
                <a:ea typeface="Calibri" pitchFamily="34" charset="-122"/>
                <a:cs typeface="Calibri" pitchFamily="34" charset="-120"/>
              </a:rPr>
              <a:t>Zufall 4.0</a:t>
            </a:r>
            <a:endParaRPr lang="en-US" sz="1000" dirty="0"/>
          </a:p>
        </p:txBody>
      </p:sp>
      <p:sp>
        <p:nvSpPr>
          <p:cNvPr id="13" name="Shape 11"/>
          <p:cNvSpPr/>
          <p:nvPr/>
        </p:nvSpPr>
        <p:spPr>
          <a:xfrm>
            <a:off x="3913632" y="1874520"/>
            <a:ext cx="1618488" cy="658368"/>
          </a:xfrm>
          <a:prstGeom prst="rect">
            <a:avLst/>
          </a:prstGeom>
          <a:solidFill>
            <a:srgbClr val="E8F1F6"/>
          </a:solidFill>
          <a:ln w="19050">
            <a:solidFill>
              <a:srgbClr val="FFFFFF"/>
            </a:solidFill>
            <a:prstDash val="solid"/>
          </a:ln>
        </p:spPr>
        <p:txBody>
          <a:bodyPr/>
          <a:lstStyle/>
          <a:p>
            <a:endParaRPr lang="de-DE"/>
          </a:p>
        </p:txBody>
      </p:sp>
      <p:sp>
        <p:nvSpPr>
          <p:cNvPr id="14" name="Text 12"/>
          <p:cNvSpPr/>
          <p:nvPr/>
        </p:nvSpPr>
        <p:spPr>
          <a:xfrm>
            <a:off x="3913632" y="1929384"/>
            <a:ext cx="1618488" cy="347472"/>
          </a:xfrm>
          <a:prstGeom prst="rect">
            <a:avLst/>
          </a:prstGeom>
          <a:noFill/>
          <a:ln/>
        </p:spPr>
        <p:txBody>
          <a:bodyPr wrap="square" lIns="0" tIns="0" rIns="0" bIns="0" rtlCol="0" anchor="ctr"/>
          <a:lstStyle/>
          <a:p>
            <a:pPr marL="0" indent="0" algn="ctr">
              <a:buNone/>
            </a:pPr>
            <a:r>
              <a:rPr lang="en-US" sz="1600" b="1" dirty="0">
                <a:solidFill>
                  <a:srgbClr val="23282F"/>
                </a:solidFill>
                <a:latin typeface="Cambria" pitchFamily="34" charset="0"/>
                <a:ea typeface="Cambria" pitchFamily="34" charset="-122"/>
                <a:cs typeface="Cambria" pitchFamily="34" charset="-120"/>
              </a:rPr>
              <a:t>3</a:t>
            </a:r>
            <a:endParaRPr lang="en-US" sz="1600" dirty="0"/>
          </a:p>
        </p:txBody>
      </p:sp>
      <p:sp>
        <p:nvSpPr>
          <p:cNvPr id="15" name="Text 13"/>
          <p:cNvSpPr/>
          <p:nvPr/>
        </p:nvSpPr>
        <p:spPr>
          <a:xfrm>
            <a:off x="3913632" y="2276856"/>
            <a:ext cx="1618488" cy="237744"/>
          </a:xfrm>
          <a:prstGeom prst="rect">
            <a:avLst/>
          </a:prstGeom>
          <a:noFill/>
          <a:ln/>
        </p:spPr>
        <p:txBody>
          <a:bodyPr wrap="square" lIns="0" tIns="0" rIns="0" bIns="0" rtlCol="0" anchor="ctr"/>
          <a:lstStyle/>
          <a:p>
            <a:pPr marL="0" indent="0" algn="ctr">
              <a:buNone/>
            </a:pPr>
            <a:r>
              <a:rPr lang="en-US" sz="1000" dirty="0">
                <a:solidFill>
                  <a:srgbClr val="6E7681"/>
                </a:solidFill>
                <a:latin typeface="Calibri" pitchFamily="34" charset="0"/>
                <a:ea typeface="Calibri" pitchFamily="34" charset="-122"/>
                <a:cs typeface="Calibri" pitchFamily="34" charset="-120"/>
              </a:rPr>
              <a:t>Zufall 146</a:t>
            </a:r>
            <a:endParaRPr lang="en-US" sz="1000" dirty="0"/>
          </a:p>
        </p:txBody>
      </p:sp>
      <p:sp>
        <p:nvSpPr>
          <p:cNvPr id="16" name="Shape 14"/>
          <p:cNvSpPr/>
          <p:nvPr/>
        </p:nvSpPr>
        <p:spPr>
          <a:xfrm>
            <a:off x="5586984" y="1874520"/>
            <a:ext cx="1618488" cy="658368"/>
          </a:xfrm>
          <a:prstGeom prst="rect">
            <a:avLst/>
          </a:prstGeom>
          <a:solidFill>
            <a:srgbClr val="E8F1F6"/>
          </a:solidFill>
          <a:ln w="19050">
            <a:solidFill>
              <a:srgbClr val="FFFFFF"/>
            </a:solidFill>
            <a:prstDash val="solid"/>
          </a:ln>
        </p:spPr>
        <p:txBody>
          <a:bodyPr/>
          <a:lstStyle/>
          <a:p>
            <a:endParaRPr lang="de-DE"/>
          </a:p>
        </p:txBody>
      </p:sp>
      <p:sp>
        <p:nvSpPr>
          <p:cNvPr id="17" name="Text 15"/>
          <p:cNvSpPr/>
          <p:nvPr/>
        </p:nvSpPr>
        <p:spPr>
          <a:xfrm>
            <a:off x="5586984" y="1929384"/>
            <a:ext cx="1618488" cy="347472"/>
          </a:xfrm>
          <a:prstGeom prst="rect">
            <a:avLst/>
          </a:prstGeom>
          <a:noFill/>
          <a:ln/>
        </p:spPr>
        <p:txBody>
          <a:bodyPr wrap="square" lIns="0" tIns="0" rIns="0" bIns="0" rtlCol="0" anchor="ctr"/>
          <a:lstStyle/>
          <a:p>
            <a:pPr marL="0" indent="0" algn="ctr">
              <a:buNone/>
            </a:pPr>
            <a:r>
              <a:rPr lang="en-US" sz="1600" b="1" dirty="0">
                <a:solidFill>
                  <a:srgbClr val="23282F"/>
                </a:solidFill>
                <a:latin typeface="Cambria" pitchFamily="34" charset="0"/>
                <a:ea typeface="Cambria" pitchFamily="34" charset="-122"/>
                <a:cs typeface="Cambria" pitchFamily="34" charset="-120"/>
              </a:rPr>
              <a:t>2</a:t>
            </a:r>
            <a:endParaRPr lang="en-US" sz="1600" dirty="0"/>
          </a:p>
        </p:txBody>
      </p:sp>
      <p:sp>
        <p:nvSpPr>
          <p:cNvPr id="18" name="Text 16"/>
          <p:cNvSpPr/>
          <p:nvPr/>
        </p:nvSpPr>
        <p:spPr>
          <a:xfrm>
            <a:off x="5586984" y="2276856"/>
            <a:ext cx="1618488" cy="237744"/>
          </a:xfrm>
          <a:prstGeom prst="rect">
            <a:avLst/>
          </a:prstGeom>
          <a:noFill/>
          <a:ln/>
        </p:spPr>
        <p:txBody>
          <a:bodyPr wrap="square" lIns="0" tIns="0" rIns="0" bIns="0" rtlCol="0" anchor="ctr"/>
          <a:lstStyle/>
          <a:p>
            <a:pPr marL="0" indent="0" algn="ctr">
              <a:buNone/>
            </a:pPr>
            <a:r>
              <a:rPr lang="en-US" sz="1000" dirty="0">
                <a:solidFill>
                  <a:srgbClr val="6E7681"/>
                </a:solidFill>
                <a:latin typeface="Calibri" pitchFamily="34" charset="0"/>
                <a:ea typeface="Calibri" pitchFamily="34" charset="-122"/>
                <a:cs typeface="Calibri" pitchFamily="34" charset="-120"/>
              </a:rPr>
              <a:t>Zufall 116</a:t>
            </a:r>
            <a:endParaRPr lang="en-US" sz="1000" dirty="0"/>
          </a:p>
        </p:txBody>
      </p:sp>
      <p:sp>
        <p:nvSpPr>
          <p:cNvPr id="19" name="Shape 17"/>
          <p:cNvSpPr/>
          <p:nvPr/>
        </p:nvSpPr>
        <p:spPr>
          <a:xfrm>
            <a:off x="7260336" y="1874520"/>
            <a:ext cx="1618488" cy="658368"/>
          </a:xfrm>
          <a:prstGeom prst="rect">
            <a:avLst/>
          </a:prstGeom>
          <a:solidFill>
            <a:srgbClr val="F4F6F8"/>
          </a:solidFill>
          <a:ln w="19050">
            <a:solidFill>
              <a:srgbClr val="FFFFFF"/>
            </a:solidFill>
            <a:prstDash val="solid"/>
          </a:ln>
        </p:spPr>
        <p:txBody>
          <a:bodyPr/>
          <a:lstStyle/>
          <a:p>
            <a:endParaRPr lang="de-DE"/>
          </a:p>
        </p:txBody>
      </p:sp>
      <p:sp>
        <p:nvSpPr>
          <p:cNvPr id="20" name="Text 18"/>
          <p:cNvSpPr/>
          <p:nvPr/>
        </p:nvSpPr>
        <p:spPr>
          <a:xfrm>
            <a:off x="7260336" y="1929384"/>
            <a:ext cx="1618488" cy="347472"/>
          </a:xfrm>
          <a:prstGeom prst="rect">
            <a:avLst/>
          </a:prstGeom>
          <a:noFill/>
          <a:ln/>
        </p:spPr>
        <p:txBody>
          <a:bodyPr wrap="square" lIns="0" tIns="0" rIns="0" bIns="0" rtlCol="0" anchor="ctr"/>
          <a:lstStyle/>
          <a:p>
            <a:pPr marL="0" indent="0" algn="ctr">
              <a:buNone/>
            </a:pPr>
            <a:r>
              <a:rPr lang="en-US" sz="1600" b="1" dirty="0">
                <a:solidFill>
                  <a:srgbClr val="23282F"/>
                </a:solidFill>
                <a:latin typeface="Cambria" pitchFamily="34" charset="0"/>
                <a:ea typeface="Cambria" pitchFamily="34" charset="-122"/>
                <a:cs typeface="Cambria" pitchFamily="34" charset="-120"/>
              </a:rPr>
              <a:t>0.1 %</a:t>
            </a:r>
            <a:endParaRPr lang="en-US" sz="1600" dirty="0"/>
          </a:p>
        </p:txBody>
      </p:sp>
      <p:sp>
        <p:nvSpPr>
          <p:cNvPr id="21" name="Text 19"/>
          <p:cNvSpPr/>
          <p:nvPr/>
        </p:nvSpPr>
        <p:spPr>
          <a:xfrm>
            <a:off x="7260336" y="2276856"/>
            <a:ext cx="1618488" cy="237744"/>
          </a:xfrm>
          <a:prstGeom prst="rect">
            <a:avLst/>
          </a:prstGeom>
          <a:noFill/>
          <a:ln/>
        </p:spPr>
        <p:txBody>
          <a:bodyPr wrap="square" lIns="0" tIns="0" rIns="0" bIns="0" rtlCol="0" anchor="ctr"/>
          <a:lstStyle/>
          <a:p>
            <a:pPr marL="0" indent="0" algn="ctr">
              <a:buNone/>
            </a:pPr>
            <a:r>
              <a:rPr lang="en-US" sz="1000" dirty="0">
                <a:solidFill>
                  <a:srgbClr val="6E7681"/>
                </a:solidFill>
                <a:latin typeface="Calibri" pitchFamily="34" charset="0"/>
                <a:ea typeface="Calibri" pitchFamily="34" charset="-122"/>
                <a:cs typeface="Calibri" pitchFamily="34" charset="-120"/>
              </a:rPr>
              <a:t>Zufall 0.0 %</a:t>
            </a:r>
            <a:endParaRPr lang="en-US" sz="1000" dirty="0"/>
          </a:p>
        </p:txBody>
      </p:sp>
      <p:sp>
        <p:nvSpPr>
          <p:cNvPr id="22" name="Shape 20"/>
          <p:cNvSpPr/>
          <p:nvPr/>
        </p:nvSpPr>
        <p:spPr>
          <a:xfrm>
            <a:off x="8933688" y="1874520"/>
            <a:ext cx="1618488" cy="658368"/>
          </a:xfrm>
          <a:prstGeom prst="rect">
            <a:avLst/>
          </a:prstGeom>
          <a:solidFill>
            <a:srgbClr val="E8F1F6"/>
          </a:solidFill>
          <a:ln w="19050">
            <a:solidFill>
              <a:srgbClr val="FFFFFF"/>
            </a:solidFill>
            <a:prstDash val="solid"/>
          </a:ln>
        </p:spPr>
        <p:txBody>
          <a:bodyPr/>
          <a:lstStyle/>
          <a:p>
            <a:endParaRPr lang="de-DE"/>
          </a:p>
        </p:txBody>
      </p:sp>
      <p:sp>
        <p:nvSpPr>
          <p:cNvPr id="23" name="Text 21"/>
          <p:cNvSpPr/>
          <p:nvPr/>
        </p:nvSpPr>
        <p:spPr>
          <a:xfrm>
            <a:off x="8933688" y="1929384"/>
            <a:ext cx="1618488" cy="347472"/>
          </a:xfrm>
          <a:prstGeom prst="rect">
            <a:avLst/>
          </a:prstGeom>
          <a:noFill/>
          <a:ln/>
        </p:spPr>
        <p:txBody>
          <a:bodyPr wrap="square" lIns="0" tIns="0" rIns="0" bIns="0" rtlCol="0" anchor="ctr"/>
          <a:lstStyle/>
          <a:p>
            <a:pPr marL="0" indent="0" algn="ctr">
              <a:buNone/>
            </a:pPr>
            <a:r>
              <a:rPr lang="en-US" sz="1600" b="1" dirty="0">
                <a:solidFill>
                  <a:srgbClr val="23282F"/>
                </a:solidFill>
                <a:latin typeface="Cambria" pitchFamily="34" charset="0"/>
                <a:ea typeface="Cambria" pitchFamily="34" charset="-122"/>
                <a:cs typeface="Cambria" pitchFamily="34" charset="-120"/>
              </a:rPr>
              <a:t>-168</a:t>
            </a:r>
            <a:endParaRPr lang="en-US" sz="1600" dirty="0"/>
          </a:p>
        </p:txBody>
      </p:sp>
      <p:sp>
        <p:nvSpPr>
          <p:cNvPr id="24" name="Text 22"/>
          <p:cNvSpPr/>
          <p:nvPr/>
        </p:nvSpPr>
        <p:spPr>
          <a:xfrm>
            <a:off x="8933688" y="2276856"/>
            <a:ext cx="1618488" cy="237744"/>
          </a:xfrm>
          <a:prstGeom prst="rect">
            <a:avLst/>
          </a:prstGeom>
          <a:noFill/>
          <a:ln/>
        </p:spPr>
        <p:txBody>
          <a:bodyPr wrap="square" lIns="0" tIns="0" rIns="0" bIns="0" rtlCol="0" anchor="ctr"/>
          <a:lstStyle/>
          <a:p>
            <a:pPr marL="0" indent="0" algn="ctr">
              <a:buNone/>
            </a:pPr>
            <a:r>
              <a:rPr lang="en-US" sz="1000" dirty="0">
                <a:solidFill>
                  <a:srgbClr val="6E7681"/>
                </a:solidFill>
                <a:latin typeface="Calibri" pitchFamily="34" charset="0"/>
                <a:ea typeface="Calibri" pitchFamily="34" charset="-122"/>
                <a:cs typeface="Calibri" pitchFamily="34" charset="-120"/>
              </a:rPr>
              <a:t>Zufall -1320</a:t>
            </a:r>
            <a:endParaRPr lang="en-US" sz="1000" dirty="0"/>
          </a:p>
        </p:txBody>
      </p:sp>
      <p:sp>
        <p:nvSpPr>
          <p:cNvPr id="25" name="Text 23"/>
          <p:cNvSpPr/>
          <p:nvPr/>
        </p:nvSpPr>
        <p:spPr>
          <a:xfrm>
            <a:off x="640080" y="2587752"/>
            <a:ext cx="1508760" cy="713232"/>
          </a:xfrm>
          <a:prstGeom prst="rect">
            <a:avLst/>
          </a:prstGeom>
          <a:noFill/>
          <a:ln/>
        </p:spPr>
        <p:txBody>
          <a:bodyPr wrap="square" lIns="0" tIns="0" rIns="0" bIns="0" rtlCol="0" anchor="ctr"/>
          <a:lstStyle/>
          <a:p>
            <a:pPr marL="0" indent="0" algn="r">
              <a:buNone/>
            </a:pPr>
            <a:r>
              <a:rPr lang="en-US" sz="1300" b="1" dirty="0">
                <a:solidFill>
                  <a:srgbClr val="23282F"/>
                </a:solidFill>
                <a:latin typeface="Calibri" pitchFamily="34" charset="0"/>
                <a:ea typeface="Calibri" pitchFamily="34" charset="-122"/>
                <a:cs typeface="Calibri" pitchFamily="34" charset="-120"/>
              </a:rPr>
              <a:t>Hub &amp; Spoke</a:t>
            </a:r>
            <a:endParaRPr lang="en-US" sz="1300" dirty="0"/>
          </a:p>
        </p:txBody>
      </p:sp>
      <p:sp>
        <p:nvSpPr>
          <p:cNvPr id="26" name="Shape 24"/>
          <p:cNvSpPr/>
          <p:nvPr/>
        </p:nvSpPr>
        <p:spPr>
          <a:xfrm>
            <a:off x="2240280" y="2587752"/>
            <a:ext cx="1618488" cy="658368"/>
          </a:xfrm>
          <a:prstGeom prst="rect">
            <a:avLst/>
          </a:prstGeom>
          <a:solidFill>
            <a:srgbClr val="F4F6F8"/>
          </a:solidFill>
          <a:ln w="19050">
            <a:solidFill>
              <a:srgbClr val="FFFFFF"/>
            </a:solidFill>
            <a:prstDash val="solid"/>
          </a:ln>
        </p:spPr>
        <p:txBody>
          <a:bodyPr/>
          <a:lstStyle/>
          <a:p>
            <a:endParaRPr lang="de-DE"/>
          </a:p>
        </p:txBody>
      </p:sp>
      <p:sp>
        <p:nvSpPr>
          <p:cNvPr id="27" name="Text 25"/>
          <p:cNvSpPr/>
          <p:nvPr/>
        </p:nvSpPr>
        <p:spPr>
          <a:xfrm>
            <a:off x="2240280" y="2642616"/>
            <a:ext cx="1618488" cy="347472"/>
          </a:xfrm>
          <a:prstGeom prst="rect">
            <a:avLst/>
          </a:prstGeom>
          <a:noFill/>
          <a:ln/>
        </p:spPr>
        <p:txBody>
          <a:bodyPr wrap="square" lIns="0" tIns="0" rIns="0" bIns="0" rtlCol="0" anchor="ctr"/>
          <a:lstStyle/>
          <a:p>
            <a:pPr marL="0" indent="0" algn="ctr">
              <a:buNone/>
            </a:pPr>
            <a:r>
              <a:rPr lang="en-US" sz="1600" b="1" dirty="0">
                <a:solidFill>
                  <a:srgbClr val="23282F"/>
                </a:solidFill>
                <a:latin typeface="Cambria" pitchFamily="34" charset="0"/>
                <a:ea typeface="Cambria" pitchFamily="34" charset="-122"/>
                <a:cs typeface="Cambria" pitchFamily="34" charset="-120"/>
              </a:rPr>
              <a:t>2.0</a:t>
            </a:r>
            <a:endParaRPr lang="en-US" sz="1600" dirty="0"/>
          </a:p>
        </p:txBody>
      </p:sp>
      <p:sp>
        <p:nvSpPr>
          <p:cNvPr id="28" name="Text 26"/>
          <p:cNvSpPr/>
          <p:nvPr/>
        </p:nvSpPr>
        <p:spPr>
          <a:xfrm>
            <a:off x="2240280" y="2990088"/>
            <a:ext cx="1618488" cy="237744"/>
          </a:xfrm>
          <a:prstGeom prst="rect">
            <a:avLst/>
          </a:prstGeom>
          <a:noFill/>
          <a:ln/>
        </p:spPr>
        <p:txBody>
          <a:bodyPr wrap="square" lIns="0" tIns="0" rIns="0" bIns="0" rtlCol="0" anchor="ctr"/>
          <a:lstStyle/>
          <a:p>
            <a:pPr marL="0" indent="0" algn="ctr">
              <a:buNone/>
            </a:pPr>
            <a:r>
              <a:rPr lang="en-US" sz="1000" dirty="0">
                <a:solidFill>
                  <a:srgbClr val="6E7681"/>
                </a:solidFill>
                <a:latin typeface="Calibri" pitchFamily="34" charset="0"/>
                <a:ea typeface="Calibri" pitchFamily="34" charset="-122"/>
                <a:cs typeface="Calibri" pitchFamily="34" charset="-120"/>
              </a:rPr>
              <a:t>Zufall 2.0</a:t>
            </a:r>
            <a:endParaRPr lang="en-US" sz="1000" dirty="0"/>
          </a:p>
        </p:txBody>
      </p:sp>
      <p:sp>
        <p:nvSpPr>
          <p:cNvPr id="29" name="Shape 27"/>
          <p:cNvSpPr/>
          <p:nvPr/>
        </p:nvSpPr>
        <p:spPr>
          <a:xfrm>
            <a:off x="3913632" y="2587752"/>
            <a:ext cx="1618488" cy="658368"/>
          </a:xfrm>
          <a:prstGeom prst="rect">
            <a:avLst/>
          </a:prstGeom>
          <a:solidFill>
            <a:srgbClr val="E8F1F6"/>
          </a:solidFill>
          <a:ln w="19050">
            <a:solidFill>
              <a:srgbClr val="FFFFFF"/>
            </a:solidFill>
            <a:prstDash val="solid"/>
          </a:ln>
        </p:spPr>
        <p:txBody>
          <a:bodyPr/>
          <a:lstStyle/>
          <a:p>
            <a:endParaRPr lang="de-DE"/>
          </a:p>
        </p:txBody>
      </p:sp>
      <p:sp>
        <p:nvSpPr>
          <p:cNvPr id="30" name="Text 28"/>
          <p:cNvSpPr/>
          <p:nvPr/>
        </p:nvSpPr>
        <p:spPr>
          <a:xfrm>
            <a:off x="3913632" y="2642616"/>
            <a:ext cx="1618488" cy="347472"/>
          </a:xfrm>
          <a:prstGeom prst="rect">
            <a:avLst/>
          </a:prstGeom>
          <a:noFill/>
          <a:ln/>
        </p:spPr>
        <p:txBody>
          <a:bodyPr wrap="square" lIns="0" tIns="0" rIns="0" bIns="0" rtlCol="0" anchor="ctr"/>
          <a:lstStyle/>
          <a:p>
            <a:pPr marL="0" indent="0" algn="ctr">
              <a:buNone/>
            </a:pPr>
            <a:r>
              <a:rPr lang="en-US" sz="1600" b="1" dirty="0">
                <a:solidFill>
                  <a:srgbClr val="23282F"/>
                </a:solidFill>
                <a:latin typeface="Cambria" pitchFamily="34" charset="0"/>
                <a:ea typeface="Cambria" pitchFamily="34" charset="-122"/>
                <a:cs typeface="Cambria" pitchFamily="34" charset="-120"/>
              </a:rPr>
              <a:t>2</a:t>
            </a:r>
            <a:endParaRPr lang="en-US" sz="1600" dirty="0"/>
          </a:p>
        </p:txBody>
      </p:sp>
      <p:sp>
        <p:nvSpPr>
          <p:cNvPr id="31" name="Text 29"/>
          <p:cNvSpPr/>
          <p:nvPr/>
        </p:nvSpPr>
        <p:spPr>
          <a:xfrm>
            <a:off x="3913632" y="2990088"/>
            <a:ext cx="1618488" cy="237744"/>
          </a:xfrm>
          <a:prstGeom prst="rect">
            <a:avLst/>
          </a:prstGeom>
          <a:noFill/>
          <a:ln/>
        </p:spPr>
        <p:txBody>
          <a:bodyPr wrap="square" lIns="0" tIns="0" rIns="0" bIns="0" rtlCol="0" anchor="ctr"/>
          <a:lstStyle/>
          <a:p>
            <a:pPr marL="0" indent="0" algn="ctr">
              <a:buNone/>
            </a:pPr>
            <a:r>
              <a:rPr lang="en-US" sz="1000" dirty="0">
                <a:solidFill>
                  <a:srgbClr val="6E7681"/>
                </a:solidFill>
                <a:latin typeface="Calibri" pitchFamily="34" charset="0"/>
                <a:ea typeface="Calibri" pitchFamily="34" charset="-122"/>
                <a:cs typeface="Calibri" pitchFamily="34" charset="-120"/>
              </a:rPr>
              <a:t>Zufall 145</a:t>
            </a:r>
            <a:endParaRPr lang="en-US" sz="1000" dirty="0"/>
          </a:p>
        </p:txBody>
      </p:sp>
      <p:sp>
        <p:nvSpPr>
          <p:cNvPr id="32" name="Shape 30"/>
          <p:cNvSpPr/>
          <p:nvPr/>
        </p:nvSpPr>
        <p:spPr>
          <a:xfrm>
            <a:off x="5586984" y="2587752"/>
            <a:ext cx="1618488" cy="658368"/>
          </a:xfrm>
          <a:prstGeom prst="rect">
            <a:avLst/>
          </a:prstGeom>
          <a:solidFill>
            <a:srgbClr val="E8F1F6"/>
          </a:solidFill>
          <a:ln w="19050">
            <a:solidFill>
              <a:srgbClr val="FFFFFF"/>
            </a:solidFill>
            <a:prstDash val="solid"/>
          </a:ln>
        </p:spPr>
        <p:txBody>
          <a:bodyPr/>
          <a:lstStyle/>
          <a:p>
            <a:endParaRPr lang="de-DE"/>
          </a:p>
        </p:txBody>
      </p:sp>
      <p:sp>
        <p:nvSpPr>
          <p:cNvPr id="33" name="Text 31"/>
          <p:cNvSpPr/>
          <p:nvPr/>
        </p:nvSpPr>
        <p:spPr>
          <a:xfrm>
            <a:off x="5586984" y="2642616"/>
            <a:ext cx="1618488" cy="347472"/>
          </a:xfrm>
          <a:prstGeom prst="rect">
            <a:avLst/>
          </a:prstGeom>
          <a:noFill/>
          <a:ln/>
        </p:spPr>
        <p:txBody>
          <a:bodyPr wrap="square" lIns="0" tIns="0" rIns="0" bIns="0" rtlCol="0" anchor="ctr"/>
          <a:lstStyle/>
          <a:p>
            <a:pPr marL="0" indent="0" algn="ctr">
              <a:buNone/>
            </a:pPr>
            <a:r>
              <a:rPr lang="en-US" sz="1600" b="1" dirty="0">
                <a:solidFill>
                  <a:srgbClr val="23282F"/>
                </a:solidFill>
                <a:latin typeface="Cambria" pitchFamily="34" charset="0"/>
                <a:ea typeface="Cambria" pitchFamily="34" charset="-122"/>
                <a:cs typeface="Cambria" pitchFamily="34" charset="-120"/>
              </a:rPr>
              <a:t>1</a:t>
            </a:r>
            <a:endParaRPr lang="en-US" sz="1600" dirty="0"/>
          </a:p>
        </p:txBody>
      </p:sp>
      <p:sp>
        <p:nvSpPr>
          <p:cNvPr id="34" name="Text 32"/>
          <p:cNvSpPr/>
          <p:nvPr/>
        </p:nvSpPr>
        <p:spPr>
          <a:xfrm>
            <a:off x="5586984" y="2990088"/>
            <a:ext cx="1618488" cy="237744"/>
          </a:xfrm>
          <a:prstGeom prst="rect">
            <a:avLst/>
          </a:prstGeom>
          <a:noFill/>
          <a:ln/>
        </p:spPr>
        <p:txBody>
          <a:bodyPr wrap="square" lIns="0" tIns="0" rIns="0" bIns="0" rtlCol="0" anchor="ctr"/>
          <a:lstStyle/>
          <a:p>
            <a:pPr marL="0" indent="0" algn="ctr">
              <a:buNone/>
            </a:pPr>
            <a:r>
              <a:rPr lang="en-US" sz="1000" dirty="0">
                <a:solidFill>
                  <a:srgbClr val="6E7681"/>
                </a:solidFill>
                <a:latin typeface="Calibri" pitchFamily="34" charset="0"/>
                <a:ea typeface="Calibri" pitchFamily="34" charset="-122"/>
                <a:cs typeface="Calibri" pitchFamily="34" charset="-120"/>
              </a:rPr>
              <a:t>Zufall 117</a:t>
            </a:r>
            <a:endParaRPr lang="en-US" sz="1000" dirty="0"/>
          </a:p>
        </p:txBody>
      </p:sp>
      <p:sp>
        <p:nvSpPr>
          <p:cNvPr id="35" name="Shape 33"/>
          <p:cNvSpPr/>
          <p:nvPr/>
        </p:nvSpPr>
        <p:spPr>
          <a:xfrm>
            <a:off x="7260336" y="2587752"/>
            <a:ext cx="1618488" cy="658368"/>
          </a:xfrm>
          <a:prstGeom prst="rect">
            <a:avLst/>
          </a:prstGeom>
          <a:solidFill>
            <a:srgbClr val="F4F6F8"/>
          </a:solidFill>
          <a:ln w="19050">
            <a:solidFill>
              <a:srgbClr val="FFFFFF"/>
            </a:solidFill>
            <a:prstDash val="solid"/>
          </a:ln>
        </p:spPr>
        <p:txBody>
          <a:bodyPr/>
          <a:lstStyle/>
          <a:p>
            <a:endParaRPr lang="de-DE"/>
          </a:p>
        </p:txBody>
      </p:sp>
      <p:sp>
        <p:nvSpPr>
          <p:cNvPr id="36" name="Text 34"/>
          <p:cNvSpPr/>
          <p:nvPr/>
        </p:nvSpPr>
        <p:spPr>
          <a:xfrm>
            <a:off x="7260336" y="2642616"/>
            <a:ext cx="1618488" cy="347472"/>
          </a:xfrm>
          <a:prstGeom prst="rect">
            <a:avLst/>
          </a:prstGeom>
          <a:noFill/>
          <a:ln/>
        </p:spPr>
        <p:txBody>
          <a:bodyPr wrap="square" lIns="0" tIns="0" rIns="0" bIns="0" rtlCol="0" anchor="ctr"/>
          <a:lstStyle/>
          <a:p>
            <a:pPr marL="0" indent="0" algn="ctr">
              <a:buNone/>
            </a:pPr>
            <a:r>
              <a:rPr lang="en-US" sz="1600" b="1" dirty="0">
                <a:solidFill>
                  <a:srgbClr val="23282F"/>
                </a:solidFill>
                <a:latin typeface="Cambria" pitchFamily="34" charset="0"/>
                <a:ea typeface="Cambria" pitchFamily="34" charset="-122"/>
                <a:cs typeface="Cambria" pitchFamily="34" charset="-120"/>
              </a:rPr>
              <a:t>2.5 %</a:t>
            </a:r>
            <a:endParaRPr lang="en-US" sz="1600" dirty="0"/>
          </a:p>
        </p:txBody>
      </p:sp>
      <p:sp>
        <p:nvSpPr>
          <p:cNvPr id="37" name="Text 35"/>
          <p:cNvSpPr/>
          <p:nvPr/>
        </p:nvSpPr>
        <p:spPr>
          <a:xfrm>
            <a:off x="7260336" y="2990088"/>
            <a:ext cx="1618488" cy="237744"/>
          </a:xfrm>
          <a:prstGeom prst="rect">
            <a:avLst/>
          </a:prstGeom>
          <a:noFill/>
          <a:ln/>
        </p:spPr>
        <p:txBody>
          <a:bodyPr wrap="square" lIns="0" tIns="0" rIns="0" bIns="0" rtlCol="0" anchor="ctr"/>
          <a:lstStyle/>
          <a:p>
            <a:pPr marL="0" indent="0" algn="ctr">
              <a:buNone/>
            </a:pPr>
            <a:r>
              <a:rPr lang="en-US" sz="1000" dirty="0">
                <a:solidFill>
                  <a:srgbClr val="6E7681"/>
                </a:solidFill>
                <a:latin typeface="Calibri" pitchFamily="34" charset="0"/>
                <a:ea typeface="Calibri" pitchFamily="34" charset="-122"/>
                <a:cs typeface="Calibri" pitchFamily="34" charset="-120"/>
              </a:rPr>
              <a:t>Zufall 2.5 %</a:t>
            </a:r>
            <a:endParaRPr lang="en-US" sz="1000" dirty="0"/>
          </a:p>
        </p:txBody>
      </p:sp>
      <p:sp>
        <p:nvSpPr>
          <p:cNvPr id="38" name="Shape 36"/>
          <p:cNvSpPr/>
          <p:nvPr/>
        </p:nvSpPr>
        <p:spPr>
          <a:xfrm>
            <a:off x="8933688" y="2587752"/>
            <a:ext cx="1618488" cy="658368"/>
          </a:xfrm>
          <a:prstGeom prst="rect">
            <a:avLst/>
          </a:prstGeom>
          <a:solidFill>
            <a:srgbClr val="E8F1F6"/>
          </a:solidFill>
          <a:ln w="19050">
            <a:solidFill>
              <a:srgbClr val="FFFFFF"/>
            </a:solidFill>
            <a:prstDash val="solid"/>
          </a:ln>
        </p:spPr>
        <p:txBody>
          <a:bodyPr/>
          <a:lstStyle/>
          <a:p>
            <a:endParaRPr lang="de-DE"/>
          </a:p>
        </p:txBody>
      </p:sp>
      <p:sp>
        <p:nvSpPr>
          <p:cNvPr id="39" name="Text 37"/>
          <p:cNvSpPr/>
          <p:nvPr/>
        </p:nvSpPr>
        <p:spPr>
          <a:xfrm>
            <a:off x="8933688" y="2642616"/>
            <a:ext cx="1618488" cy="347472"/>
          </a:xfrm>
          <a:prstGeom prst="rect">
            <a:avLst/>
          </a:prstGeom>
          <a:noFill/>
          <a:ln/>
        </p:spPr>
        <p:txBody>
          <a:bodyPr wrap="square" lIns="0" tIns="0" rIns="0" bIns="0" rtlCol="0" anchor="ctr"/>
          <a:lstStyle/>
          <a:p>
            <a:pPr marL="0" indent="0" algn="ctr">
              <a:buNone/>
            </a:pPr>
            <a:r>
              <a:rPr lang="en-US" sz="1600" b="1" dirty="0">
                <a:solidFill>
                  <a:srgbClr val="23282F"/>
                </a:solidFill>
                <a:latin typeface="Cambria" pitchFamily="34" charset="0"/>
                <a:ea typeface="Cambria" pitchFamily="34" charset="-122"/>
                <a:cs typeface="Cambria" pitchFamily="34" charset="-120"/>
              </a:rPr>
              <a:t>-149</a:t>
            </a:r>
            <a:endParaRPr lang="en-US" sz="1600" dirty="0"/>
          </a:p>
        </p:txBody>
      </p:sp>
      <p:sp>
        <p:nvSpPr>
          <p:cNvPr id="40" name="Text 38"/>
          <p:cNvSpPr/>
          <p:nvPr/>
        </p:nvSpPr>
        <p:spPr>
          <a:xfrm>
            <a:off x="8933688" y="2990088"/>
            <a:ext cx="1618488" cy="237744"/>
          </a:xfrm>
          <a:prstGeom prst="rect">
            <a:avLst/>
          </a:prstGeom>
          <a:noFill/>
          <a:ln/>
        </p:spPr>
        <p:txBody>
          <a:bodyPr wrap="square" lIns="0" tIns="0" rIns="0" bIns="0" rtlCol="0" anchor="ctr"/>
          <a:lstStyle/>
          <a:p>
            <a:pPr marL="0" indent="0" algn="ctr">
              <a:buNone/>
            </a:pPr>
            <a:r>
              <a:rPr lang="en-US" sz="1000" dirty="0">
                <a:solidFill>
                  <a:srgbClr val="6E7681"/>
                </a:solidFill>
                <a:latin typeface="Calibri" pitchFamily="34" charset="0"/>
                <a:ea typeface="Calibri" pitchFamily="34" charset="-122"/>
                <a:cs typeface="Calibri" pitchFamily="34" charset="-120"/>
              </a:rPr>
              <a:t>Zufall -1289</a:t>
            </a:r>
            <a:endParaRPr lang="en-US" sz="1000" dirty="0"/>
          </a:p>
        </p:txBody>
      </p:sp>
      <p:sp>
        <p:nvSpPr>
          <p:cNvPr id="41" name="Text 39"/>
          <p:cNvSpPr/>
          <p:nvPr/>
        </p:nvSpPr>
        <p:spPr>
          <a:xfrm>
            <a:off x="640080" y="3300984"/>
            <a:ext cx="1508760" cy="713232"/>
          </a:xfrm>
          <a:prstGeom prst="rect">
            <a:avLst/>
          </a:prstGeom>
          <a:noFill/>
          <a:ln/>
        </p:spPr>
        <p:txBody>
          <a:bodyPr wrap="square" lIns="0" tIns="0" rIns="0" bIns="0" rtlCol="0" anchor="ctr"/>
          <a:lstStyle/>
          <a:p>
            <a:pPr marL="0" indent="0" algn="r">
              <a:buNone/>
            </a:pPr>
            <a:r>
              <a:rPr lang="en-US" sz="1300" b="1" dirty="0">
                <a:solidFill>
                  <a:srgbClr val="23282F"/>
                </a:solidFill>
                <a:latin typeface="Calibri" pitchFamily="34" charset="0"/>
                <a:ea typeface="Calibri" pitchFamily="34" charset="-122"/>
                <a:cs typeface="Calibri" pitchFamily="34" charset="-120"/>
              </a:rPr>
              <a:t>DMZ</a:t>
            </a:r>
            <a:endParaRPr lang="en-US" sz="1300" dirty="0"/>
          </a:p>
        </p:txBody>
      </p:sp>
      <p:sp>
        <p:nvSpPr>
          <p:cNvPr id="42" name="Shape 40"/>
          <p:cNvSpPr/>
          <p:nvPr/>
        </p:nvSpPr>
        <p:spPr>
          <a:xfrm>
            <a:off x="2240280" y="3300984"/>
            <a:ext cx="1618488" cy="658368"/>
          </a:xfrm>
          <a:prstGeom prst="rect">
            <a:avLst/>
          </a:prstGeom>
          <a:solidFill>
            <a:srgbClr val="F4F6F8"/>
          </a:solidFill>
          <a:ln w="19050">
            <a:solidFill>
              <a:srgbClr val="FFFFFF"/>
            </a:solidFill>
            <a:prstDash val="solid"/>
          </a:ln>
        </p:spPr>
        <p:txBody>
          <a:bodyPr/>
          <a:lstStyle/>
          <a:p>
            <a:endParaRPr lang="de-DE"/>
          </a:p>
        </p:txBody>
      </p:sp>
      <p:sp>
        <p:nvSpPr>
          <p:cNvPr id="43" name="Text 41"/>
          <p:cNvSpPr/>
          <p:nvPr/>
        </p:nvSpPr>
        <p:spPr>
          <a:xfrm>
            <a:off x="2240280" y="3355848"/>
            <a:ext cx="1618488" cy="347472"/>
          </a:xfrm>
          <a:prstGeom prst="rect">
            <a:avLst/>
          </a:prstGeom>
          <a:noFill/>
          <a:ln/>
        </p:spPr>
        <p:txBody>
          <a:bodyPr wrap="square" lIns="0" tIns="0" rIns="0" bIns="0" rtlCol="0" anchor="ctr"/>
          <a:lstStyle/>
          <a:p>
            <a:pPr marL="0" indent="0" algn="ctr">
              <a:buNone/>
            </a:pPr>
            <a:r>
              <a:rPr lang="en-US" sz="1600" b="1" dirty="0">
                <a:solidFill>
                  <a:srgbClr val="23282F"/>
                </a:solidFill>
                <a:latin typeface="Cambria" pitchFamily="34" charset="0"/>
                <a:ea typeface="Cambria" pitchFamily="34" charset="-122"/>
                <a:cs typeface="Cambria" pitchFamily="34" charset="-120"/>
              </a:rPr>
              <a:t>2.0</a:t>
            </a:r>
            <a:endParaRPr lang="en-US" sz="1600" dirty="0"/>
          </a:p>
        </p:txBody>
      </p:sp>
      <p:sp>
        <p:nvSpPr>
          <p:cNvPr id="44" name="Text 42"/>
          <p:cNvSpPr/>
          <p:nvPr/>
        </p:nvSpPr>
        <p:spPr>
          <a:xfrm>
            <a:off x="2240280" y="3703320"/>
            <a:ext cx="1618488" cy="237744"/>
          </a:xfrm>
          <a:prstGeom prst="rect">
            <a:avLst/>
          </a:prstGeom>
          <a:noFill/>
          <a:ln/>
        </p:spPr>
        <p:txBody>
          <a:bodyPr wrap="square" lIns="0" tIns="0" rIns="0" bIns="0" rtlCol="0" anchor="ctr"/>
          <a:lstStyle/>
          <a:p>
            <a:pPr marL="0" indent="0" algn="ctr">
              <a:buNone/>
            </a:pPr>
            <a:r>
              <a:rPr lang="en-US" sz="1000" dirty="0">
                <a:solidFill>
                  <a:srgbClr val="6E7681"/>
                </a:solidFill>
                <a:latin typeface="Calibri" pitchFamily="34" charset="0"/>
                <a:ea typeface="Calibri" pitchFamily="34" charset="-122"/>
                <a:cs typeface="Calibri" pitchFamily="34" charset="-120"/>
              </a:rPr>
              <a:t>Zufall 2.0</a:t>
            </a:r>
            <a:endParaRPr lang="en-US" sz="1000" dirty="0"/>
          </a:p>
        </p:txBody>
      </p:sp>
      <p:sp>
        <p:nvSpPr>
          <p:cNvPr id="45" name="Shape 43"/>
          <p:cNvSpPr/>
          <p:nvPr/>
        </p:nvSpPr>
        <p:spPr>
          <a:xfrm>
            <a:off x="3913632" y="3300984"/>
            <a:ext cx="1618488" cy="658368"/>
          </a:xfrm>
          <a:prstGeom prst="rect">
            <a:avLst/>
          </a:prstGeom>
          <a:solidFill>
            <a:srgbClr val="E8F1F6"/>
          </a:solidFill>
          <a:ln w="19050">
            <a:solidFill>
              <a:srgbClr val="FFFFFF"/>
            </a:solidFill>
            <a:prstDash val="solid"/>
          </a:ln>
        </p:spPr>
        <p:txBody>
          <a:bodyPr/>
          <a:lstStyle/>
          <a:p>
            <a:endParaRPr lang="de-DE"/>
          </a:p>
        </p:txBody>
      </p:sp>
      <p:sp>
        <p:nvSpPr>
          <p:cNvPr id="46" name="Text 44"/>
          <p:cNvSpPr/>
          <p:nvPr/>
        </p:nvSpPr>
        <p:spPr>
          <a:xfrm>
            <a:off x="3913632" y="3355848"/>
            <a:ext cx="1618488" cy="347472"/>
          </a:xfrm>
          <a:prstGeom prst="rect">
            <a:avLst/>
          </a:prstGeom>
          <a:noFill/>
          <a:ln/>
        </p:spPr>
        <p:txBody>
          <a:bodyPr wrap="square" lIns="0" tIns="0" rIns="0" bIns="0" rtlCol="0" anchor="ctr"/>
          <a:lstStyle/>
          <a:p>
            <a:pPr marL="0" indent="0" algn="ctr">
              <a:buNone/>
            </a:pPr>
            <a:r>
              <a:rPr lang="en-US" sz="1600" b="1" dirty="0">
                <a:solidFill>
                  <a:srgbClr val="23282F"/>
                </a:solidFill>
                <a:latin typeface="Cambria" pitchFamily="34" charset="0"/>
                <a:ea typeface="Cambria" pitchFamily="34" charset="-122"/>
                <a:cs typeface="Cambria" pitchFamily="34" charset="-120"/>
              </a:rPr>
              <a:t>2</a:t>
            </a:r>
            <a:endParaRPr lang="en-US" sz="1600" dirty="0"/>
          </a:p>
        </p:txBody>
      </p:sp>
      <p:sp>
        <p:nvSpPr>
          <p:cNvPr id="47" name="Text 45"/>
          <p:cNvSpPr/>
          <p:nvPr/>
        </p:nvSpPr>
        <p:spPr>
          <a:xfrm>
            <a:off x="3913632" y="3703320"/>
            <a:ext cx="1618488" cy="237744"/>
          </a:xfrm>
          <a:prstGeom prst="rect">
            <a:avLst/>
          </a:prstGeom>
          <a:noFill/>
          <a:ln/>
        </p:spPr>
        <p:txBody>
          <a:bodyPr wrap="square" lIns="0" tIns="0" rIns="0" bIns="0" rtlCol="0" anchor="ctr"/>
          <a:lstStyle/>
          <a:p>
            <a:pPr marL="0" indent="0" algn="ctr">
              <a:buNone/>
            </a:pPr>
            <a:r>
              <a:rPr lang="en-US" sz="1000" dirty="0">
                <a:solidFill>
                  <a:srgbClr val="6E7681"/>
                </a:solidFill>
                <a:latin typeface="Calibri" pitchFamily="34" charset="0"/>
                <a:ea typeface="Calibri" pitchFamily="34" charset="-122"/>
                <a:cs typeface="Calibri" pitchFamily="34" charset="-120"/>
              </a:rPr>
              <a:t>Zufall 145</a:t>
            </a:r>
            <a:endParaRPr lang="en-US" sz="1000" dirty="0"/>
          </a:p>
        </p:txBody>
      </p:sp>
      <p:sp>
        <p:nvSpPr>
          <p:cNvPr id="48" name="Shape 46"/>
          <p:cNvSpPr/>
          <p:nvPr/>
        </p:nvSpPr>
        <p:spPr>
          <a:xfrm>
            <a:off x="5586984" y="3300984"/>
            <a:ext cx="1618488" cy="658368"/>
          </a:xfrm>
          <a:prstGeom prst="rect">
            <a:avLst/>
          </a:prstGeom>
          <a:solidFill>
            <a:srgbClr val="E8F1F6"/>
          </a:solidFill>
          <a:ln w="19050">
            <a:solidFill>
              <a:srgbClr val="FFFFFF"/>
            </a:solidFill>
            <a:prstDash val="solid"/>
          </a:ln>
        </p:spPr>
        <p:txBody>
          <a:bodyPr/>
          <a:lstStyle/>
          <a:p>
            <a:endParaRPr lang="de-DE"/>
          </a:p>
        </p:txBody>
      </p:sp>
      <p:sp>
        <p:nvSpPr>
          <p:cNvPr id="49" name="Text 47"/>
          <p:cNvSpPr/>
          <p:nvPr/>
        </p:nvSpPr>
        <p:spPr>
          <a:xfrm>
            <a:off x="5586984" y="3355848"/>
            <a:ext cx="1618488" cy="347472"/>
          </a:xfrm>
          <a:prstGeom prst="rect">
            <a:avLst/>
          </a:prstGeom>
          <a:noFill/>
          <a:ln/>
        </p:spPr>
        <p:txBody>
          <a:bodyPr wrap="square" lIns="0" tIns="0" rIns="0" bIns="0" rtlCol="0" anchor="ctr"/>
          <a:lstStyle/>
          <a:p>
            <a:pPr marL="0" indent="0" algn="ctr">
              <a:buNone/>
            </a:pPr>
            <a:r>
              <a:rPr lang="en-US" sz="1600" b="1" dirty="0">
                <a:solidFill>
                  <a:srgbClr val="23282F"/>
                </a:solidFill>
                <a:latin typeface="Cambria" pitchFamily="34" charset="0"/>
                <a:ea typeface="Cambria" pitchFamily="34" charset="-122"/>
                <a:cs typeface="Cambria" pitchFamily="34" charset="-120"/>
              </a:rPr>
              <a:t>1</a:t>
            </a:r>
            <a:endParaRPr lang="en-US" sz="1600" dirty="0"/>
          </a:p>
        </p:txBody>
      </p:sp>
      <p:sp>
        <p:nvSpPr>
          <p:cNvPr id="50" name="Text 48"/>
          <p:cNvSpPr/>
          <p:nvPr/>
        </p:nvSpPr>
        <p:spPr>
          <a:xfrm>
            <a:off x="5586984" y="3703320"/>
            <a:ext cx="1618488" cy="237744"/>
          </a:xfrm>
          <a:prstGeom prst="rect">
            <a:avLst/>
          </a:prstGeom>
          <a:noFill/>
          <a:ln/>
        </p:spPr>
        <p:txBody>
          <a:bodyPr wrap="square" lIns="0" tIns="0" rIns="0" bIns="0" rtlCol="0" anchor="ctr"/>
          <a:lstStyle/>
          <a:p>
            <a:pPr marL="0" indent="0" algn="ctr">
              <a:buNone/>
            </a:pPr>
            <a:r>
              <a:rPr lang="en-US" sz="1000" dirty="0">
                <a:solidFill>
                  <a:srgbClr val="6E7681"/>
                </a:solidFill>
                <a:latin typeface="Calibri" pitchFamily="34" charset="0"/>
                <a:ea typeface="Calibri" pitchFamily="34" charset="-122"/>
                <a:cs typeface="Calibri" pitchFamily="34" charset="-120"/>
              </a:rPr>
              <a:t>Zufall 117</a:t>
            </a:r>
            <a:endParaRPr lang="en-US" sz="1000" dirty="0"/>
          </a:p>
        </p:txBody>
      </p:sp>
      <p:sp>
        <p:nvSpPr>
          <p:cNvPr id="51" name="Shape 49"/>
          <p:cNvSpPr/>
          <p:nvPr/>
        </p:nvSpPr>
        <p:spPr>
          <a:xfrm>
            <a:off x="7260336" y="3300984"/>
            <a:ext cx="1618488" cy="658368"/>
          </a:xfrm>
          <a:prstGeom prst="rect">
            <a:avLst/>
          </a:prstGeom>
          <a:solidFill>
            <a:srgbClr val="F4F6F8"/>
          </a:solidFill>
          <a:ln w="19050">
            <a:solidFill>
              <a:srgbClr val="FFFFFF"/>
            </a:solidFill>
            <a:prstDash val="solid"/>
          </a:ln>
        </p:spPr>
        <p:txBody>
          <a:bodyPr/>
          <a:lstStyle/>
          <a:p>
            <a:endParaRPr lang="de-DE"/>
          </a:p>
        </p:txBody>
      </p:sp>
      <p:sp>
        <p:nvSpPr>
          <p:cNvPr id="52" name="Text 50"/>
          <p:cNvSpPr/>
          <p:nvPr/>
        </p:nvSpPr>
        <p:spPr>
          <a:xfrm>
            <a:off x="7260336" y="3355848"/>
            <a:ext cx="1618488" cy="347472"/>
          </a:xfrm>
          <a:prstGeom prst="rect">
            <a:avLst/>
          </a:prstGeom>
          <a:noFill/>
          <a:ln/>
        </p:spPr>
        <p:txBody>
          <a:bodyPr wrap="square" lIns="0" tIns="0" rIns="0" bIns="0" rtlCol="0" anchor="ctr"/>
          <a:lstStyle/>
          <a:p>
            <a:pPr marL="0" indent="0" algn="ctr">
              <a:buNone/>
            </a:pPr>
            <a:r>
              <a:rPr lang="en-US" sz="1600" b="1" dirty="0">
                <a:solidFill>
                  <a:srgbClr val="23282F"/>
                </a:solidFill>
                <a:latin typeface="Cambria" pitchFamily="34" charset="0"/>
                <a:ea typeface="Cambria" pitchFamily="34" charset="-122"/>
                <a:cs typeface="Cambria" pitchFamily="34" charset="-120"/>
              </a:rPr>
              <a:t>1.5 %</a:t>
            </a:r>
            <a:endParaRPr lang="en-US" sz="1600" dirty="0"/>
          </a:p>
        </p:txBody>
      </p:sp>
      <p:sp>
        <p:nvSpPr>
          <p:cNvPr id="53" name="Text 51"/>
          <p:cNvSpPr/>
          <p:nvPr/>
        </p:nvSpPr>
        <p:spPr>
          <a:xfrm>
            <a:off x="7260336" y="3703320"/>
            <a:ext cx="1618488" cy="237744"/>
          </a:xfrm>
          <a:prstGeom prst="rect">
            <a:avLst/>
          </a:prstGeom>
          <a:noFill/>
          <a:ln/>
        </p:spPr>
        <p:txBody>
          <a:bodyPr wrap="square" lIns="0" tIns="0" rIns="0" bIns="0" rtlCol="0" anchor="ctr"/>
          <a:lstStyle/>
          <a:p>
            <a:pPr marL="0" indent="0" algn="ctr">
              <a:buNone/>
            </a:pPr>
            <a:r>
              <a:rPr lang="en-US" sz="1000" dirty="0">
                <a:solidFill>
                  <a:srgbClr val="6E7681"/>
                </a:solidFill>
                <a:latin typeface="Calibri" pitchFamily="34" charset="0"/>
                <a:ea typeface="Calibri" pitchFamily="34" charset="-122"/>
                <a:cs typeface="Calibri" pitchFamily="34" charset="-120"/>
              </a:rPr>
              <a:t>Zufall 1.2 %</a:t>
            </a:r>
            <a:endParaRPr lang="en-US" sz="1000" dirty="0"/>
          </a:p>
        </p:txBody>
      </p:sp>
      <p:sp>
        <p:nvSpPr>
          <p:cNvPr id="54" name="Shape 52"/>
          <p:cNvSpPr/>
          <p:nvPr/>
        </p:nvSpPr>
        <p:spPr>
          <a:xfrm>
            <a:off x="8933688" y="3300984"/>
            <a:ext cx="1618488" cy="658368"/>
          </a:xfrm>
          <a:prstGeom prst="rect">
            <a:avLst/>
          </a:prstGeom>
          <a:solidFill>
            <a:srgbClr val="E8F1F6"/>
          </a:solidFill>
          <a:ln w="19050">
            <a:solidFill>
              <a:srgbClr val="FFFFFF"/>
            </a:solidFill>
            <a:prstDash val="solid"/>
          </a:ln>
        </p:spPr>
        <p:txBody>
          <a:bodyPr/>
          <a:lstStyle/>
          <a:p>
            <a:endParaRPr lang="de-DE"/>
          </a:p>
        </p:txBody>
      </p:sp>
      <p:sp>
        <p:nvSpPr>
          <p:cNvPr id="55" name="Text 53"/>
          <p:cNvSpPr/>
          <p:nvPr/>
        </p:nvSpPr>
        <p:spPr>
          <a:xfrm>
            <a:off x="8933688" y="3355848"/>
            <a:ext cx="1618488" cy="347472"/>
          </a:xfrm>
          <a:prstGeom prst="rect">
            <a:avLst/>
          </a:prstGeom>
          <a:noFill/>
          <a:ln/>
        </p:spPr>
        <p:txBody>
          <a:bodyPr wrap="square" lIns="0" tIns="0" rIns="0" bIns="0" rtlCol="0" anchor="ctr"/>
          <a:lstStyle/>
          <a:p>
            <a:pPr marL="0" indent="0" algn="ctr">
              <a:buNone/>
            </a:pPr>
            <a:r>
              <a:rPr lang="en-US" sz="1600" b="1" dirty="0">
                <a:solidFill>
                  <a:srgbClr val="23282F"/>
                </a:solidFill>
                <a:latin typeface="Cambria" pitchFamily="34" charset="0"/>
                <a:ea typeface="Cambria" pitchFamily="34" charset="-122"/>
                <a:cs typeface="Cambria" pitchFamily="34" charset="-120"/>
              </a:rPr>
              <a:t>-101</a:t>
            </a:r>
            <a:endParaRPr lang="en-US" sz="1600" dirty="0"/>
          </a:p>
        </p:txBody>
      </p:sp>
      <p:sp>
        <p:nvSpPr>
          <p:cNvPr id="56" name="Text 54"/>
          <p:cNvSpPr/>
          <p:nvPr/>
        </p:nvSpPr>
        <p:spPr>
          <a:xfrm>
            <a:off x="8933688" y="3703320"/>
            <a:ext cx="1618488" cy="237744"/>
          </a:xfrm>
          <a:prstGeom prst="rect">
            <a:avLst/>
          </a:prstGeom>
          <a:noFill/>
          <a:ln/>
        </p:spPr>
        <p:txBody>
          <a:bodyPr wrap="square" lIns="0" tIns="0" rIns="0" bIns="0" rtlCol="0" anchor="ctr"/>
          <a:lstStyle/>
          <a:p>
            <a:pPr marL="0" indent="0" algn="ctr">
              <a:buNone/>
            </a:pPr>
            <a:r>
              <a:rPr lang="en-US" sz="1000" dirty="0">
                <a:solidFill>
                  <a:srgbClr val="6E7681"/>
                </a:solidFill>
                <a:latin typeface="Calibri" pitchFamily="34" charset="0"/>
                <a:ea typeface="Calibri" pitchFamily="34" charset="-122"/>
                <a:cs typeface="Calibri" pitchFamily="34" charset="-120"/>
              </a:rPr>
              <a:t>Zufall -1274</a:t>
            </a:r>
            <a:endParaRPr lang="en-US" sz="1000" dirty="0"/>
          </a:p>
        </p:txBody>
      </p:sp>
      <p:sp>
        <p:nvSpPr>
          <p:cNvPr id="57" name="Text 55"/>
          <p:cNvSpPr/>
          <p:nvPr/>
        </p:nvSpPr>
        <p:spPr>
          <a:xfrm>
            <a:off x="640080" y="4014216"/>
            <a:ext cx="1508760" cy="713232"/>
          </a:xfrm>
          <a:prstGeom prst="rect">
            <a:avLst/>
          </a:prstGeom>
          <a:noFill/>
          <a:ln/>
        </p:spPr>
        <p:txBody>
          <a:bodyPr wrap="square" lIns="0" tIns="0" rIns="0" bIns="0" rtlCol="0" anchor="ctr"/>
          <a:lstStyle/>
          <a:p>
            <a:pPr marL="0" indent="0" algn="r">
              <a:buNone/>
            </a:pPr>
            <a:r>
              <a:rPr lang="en-US" sz="1300" b="1" dirty="0">
                <a:solidFill>
                  <a:srgbClr val="23282F"/>
                </a:solidFill>
                <a:latin typeface="Calibri" pitchFamily="34" charset="0"/>
                <a:ea typeface="Calibri" pitchFamily="34" charset="-122"/>
                <a:cs typeface="Calibri" pitchFamily="34" charset="-120"/>
              </a:rPr>
              <a:t>Micro-Seg.</a:t>
            </a:r>
            <a:endParaRPr lang="en-US" sz="1300" dirty="0"/>
          </a:p>
        </p:txBody>
      </p:sp>
      <p:sp>
        <p:nvSpPr>
          <p:cNvPr id="58" name="Shape 56"/>
          <p:cNvSpPr/>
          <p:nvPr/>
        </p:nvSpPr>
        <p:spPr>
          <a:xfrm>
            <a:off x="2240280" y="4014216"/>
            <a:ext cx="1618488" cy="658368"/>
          </a:xfrm>
          <a:prstGeom prst="rect">
            <a:avLst/>
          </a:prstGeom>
          <a:solidFill>
            <a:srgbClr val="F4F6F8"/>
          </a:solidFill>
          <a:ln w="19050">
            <a:solidFill>
              <a:srgbClr val="FFFFFF"/>
            </a:solidFill>
            <a:prstDash val="solid"/>
          </a:ln>
        </p:spPr>
        <p:txBody>
          <a:bodyPr/>
          <a:lstStyle/>
          <a:p>
            <a:endParaRPr lang="de-DE"/>
          </a:p>
        </p:txBody>
      </p:sp>
      <p:sp>
        <p:nvSpPr>
          <p:cNvPr id="59" name="Text 57"/>
          <p:cNvSpPr/>
          <p:nvPr/>
        </p:nvSpPr>
        <p:spPr>
          <a:xfrm>
            <a:off x="2240280" y="4069080"/>
            <a:ext cx="1618488" cy="347472"/>
          </a:xfrm>
          <a:prstGeom prst="rect">
            <a:avLst/>
          </a:prstGeom>
          <a:noFill/>
          <a:ln/>
        </p:spPr>
        <p:txBody>
          <a:bodyPr wrap="square" lIns="0" tIns="0" rIns="0" bIns="0" rtlCol="0" anchor="ctr"/>
          <a:lstStyle/>
          <a:p>
            <a:pPr marL="0" indent="0" algn="ctr">
              <a:buNone/>
            </a:pPr>
            <a:r>
              <a:rPr lang="en-US" sz="1600" b="1" dirty="0">
                <a:solidFill>
                  <a:srgbClr val="23282F"/>
                </a:solidFill>
                <a:latin typeface="Cambria" pitchFamily="34" charset="0"/>
                <a:ea typeface="Cambria" pitchFamily="34" charset="-122"/>
                <a:cs typeface="Cambria" pitchFamily="34" charset="-120"/>
              </a:rPr>
              <a:t>3.0</a:t>
            </a:r>
            <a:endParaRPr lang="en-US" sz="1600" dirty="0"/>
          </a:p>
        </p:txBody>
      </p:sp>
      <p:sp>
        <p:nvSpPr>
          <p:cNvPr id="60" name="Text 58"/>
          <p:cNvSpPr/>
          <p:nvPr/>
        </p:nvSpPr>
        <p:spPr>
          <a:xfrm>
            <a:off x="2240280" y="4416552"/>
            <a:ext cx="1618488" cy="237744"/>
          </a:xfrm>
          <a:prstGeom prst="rect">
            <a:avLst/>
          </a:prstGeom>
          <a:noFill/>
          <a:ln/>
        </p:spPr>
        <p:txBody>
          <a:bodyPr wrap="square" lIns="0" tIns="0" rIns="0" bIns="0" rtlCol="0" anchor="ctr"/>
          <a:lstStyle/>
          <a:p>
            <a:pPr marL="0" indent="0" algn="ctr">
              <a:buNone/>
            </a:pPr>
            <a:r>
              <a:rPr lang="en-US" sz="1000" dirty="0">
                <a:solidFill>
                  <a:srgbClr val="6E7681"/>
                </a:solidFill>
                <a:latin typeface="Calibri" pitchFamily="34" charset="0"/>
                <a:ea typeface="Calibri" pitchFamily="34" charset="-122"/>
                <a:cs typeface="Calibri" pitchFamily="34" charset="-120"/>
              </a:rPr>
              <a:t>Zufall 2.0</a:t>
            </a:r>
            <a:endParaRPr lang="en-US" sz="1000" dirty="0"/>
          </a:p>
        </p:txBody>
      </p:sp>
      <p:sp>
        <p:nvSpPr>
          <p:cNvPr id="61" name="Shape 59"/>
          <p:cNvSpPr/>
          <p:nvPr/>
        </p:nvSpPr>
        <p:spPr>
          <a:xfrm>
            <a:off x="3913632" y="4014216"/>
            <a:ext cx="1618488" cy="658368"/>
          </a:xfrm>
          <a:prstGeom prst="rect">
            <a:avLst/>
          </a:prstGeom>
          <a:solidFill>
            <a:srgbClr val="E8F1F6"/>
          </a:solidFill>
          <a:ln w="19050">
            <a:solidFill>
              <a:srgbClr val="FFFFFF"/>
            </a:solidFill>
            <a:prstDash val="solid"/>
          </a:ln>
        </p:spPr>
        <p:txBody>
          <a:bodyPr/>
          <a:lstStyle/>
          <a:p>
            <a:endParaRPr lang="de-DE"/>
          </a:p>
        </p:txBody>
      </p:sp>
      <p:sp>
        <p:nvSpPr>
          <p:cNvPr id="62" name="Text 60"/>
          <p:cNvSpPr/>
          <p:nvPr/>
        </p:nvSpPr>
        <p:spPr>
          <a:xfrm>
            <a:off x="3913632" y="4069080"/>
            <a:ext cx="1618488" cy="347472"/>
          </a:xfrm>
          <a:prstGeom prst="rect">
            <a:avLst/>
          </a:prstGeom>
          <a:noFill/>
          <a:ln/>
        </p:spPr>
        <p:txBody>
          <a:bodyPr wrap="square" lIns="0" tIns="0" rIns="0" bIns="0" rtlCol="0" anchor="ctr"/>
          <a:lstStyle/>
          <a:p>
            <a:pPr marL="0" indent="0" algn="ctr">
              <a:buNone/>
            </a:pPr>
            <a:r>
              <a:rPr lang="en-US" sz="1600" b="1" dirty="0">
                <a:solidFill>
                  <a:srgbClr val="23282F"/>
                </a:solidFill>
                <a:latin typeface="Cambria" pitchFamily="34" charset="0"/>
                <a:ea typeface="Cambria" pitchFamily="34" charset="-122"/>
                <a:cs typeface="Cambria" pitchFamily="34" charset="-120"/>
              </a:rPr>
              <a:t>3</a:t>
            </a:r>
            <a:endParaRPr lang="en-US" sz="1600" dirty="0"/>
          </a:p>
        </p:txBody>
      </p:sp>
      <p:sp>
        <p:nvSpPr>
          <p:cNvPr id="63" name="Text 61"/>
          <p:cNvSpPr/>
          <p:nvPr/>
        </p:nvSpPr>
        <p:spPr>
          <a:xfrm>
            <a:off x="3913632" y="4416552"/>
            <a:ext cx="1618488" cy="237744"/>
          </a:xfrm>
          <a:prstGeom prst="rect">
            <a:avLst/>
          </a:prstGeom>
          <a:noFill/>
          <a:ln/>
        </p:spPr>
        <p:txBody>
          <a:bodyPr wrap="square" lIns="0" tIns="0" rIns="0" bIns="0" rtlCol="0" anchor="ctr"/>
          <a:lstStyle/>
          <a:p>
            <a:pPr marL="0" indent="0" algn="ctr">
              <a:buNone/>
            </a:pPr>
            <a:r>
              <a:rPr lang="en-US" sz="1000" dirty="0">
                <a:solidFill>
                  <a:srgbClr val="6E7681"/>
                </a:solidFill>
                <a:latin typeface="Calibri" pitchFamily="34" charset="0"/>
                <a:ea typeface="Calibri" pitchFamily="34" charset="-122"/>
                <a:cs typeface="Calibri" pitchFamily="34" charset="-120"/>
              </a:rPr>
              <a:t>Zufall 146</a:t>
            </a:r>
            <a:endParaRPr lang="en-US" sz="1000" dirty="0"/>
          </a:p>
        </p:txBody>
      </p:sp>
      <p:sp>
        <p:nvSpPr>
          <p:cNvPr id="64" name="Shape 62"/>
          <p:cNvSpPr/>
          <p:nvPr/>
        </p:nvSpPr>
        <p:spPr>
          <a:xfrm>
            <a:off x="5586984" y="4014216"/>
            <a:ext cx="1618488" cy="658368"/>
          </a:xfrm>
          <a:prstGeom prst="rect">
            <a:avLst/>
          </a:prstGeom>
          <a:solidFill>
            <a:srgbClr val="E8F1F6"/>
          </a:solidFill>
          <a:ln w="19050">
            <a:solidFill>
              <a:srgbClr val="FFFFFF"/>
            </a:solidFill>
            <a:prstDash val="solid"/>
          </a:ln>
        </p:spPr>
        <p:txBody>
          <a:bodyPr/>
          <a:lstStyle/>
          <a:p>
            <a:endParaRPr lang="de-DE"/>
          </a:p>
        </p:txBody>
      </p:sp>
      <p:sp>
        <p:nvSpPr>
          <p:cNvPr id="65" name="Text 63"/>
          <p:cNvSpPr/>
          <p:nvPr/>
        </p:nvSpPr>
        <p:spPr>
          <a:xfrm>
            <a:off x="5586984" y="4069080"/>
            <a:ext cx="1618488" cy="347472"/>
          </a:xfrm>
          <a:prstGeom prst="rect">
            <a:avLst/>
          </a:prstGeom>
          <a:noFill/>
          <a:ln/>
        </p:spPr>
        <p:txBody>
          <a:bodyPr wrap="square" lIns="0" tIns="0" rIns="0" bIns="0" rtlCol="0" anchor="ctr"/>
          <a:lstStyle/>
          <a:p>
            <a:pPr marL="0" indent="0" algn="ctr">
              <a:buNone/>
            </a:pPr>
            <a:r>
              <a:rPr lang="en-US" sz="1600" b="1" dirty="0">
                <a:solidFill>
                  <a:srgbClr val="23282F"/>
                </a:solidFill>
                <a:latin typeface="Cambria" pitchFamily="34" charset="0"/>
                <a:ea typeface="Cambria" pitchFamily="34" charset="-122"/>
                <a:cs typeface="Cambria" pitchFamily="34" charset="-120"/>
              </a:rPr>
              <a:t>2</a:t>
            </a:r>
            <a:endParaRPr lang="en-US" sz="1600" dirty="0"/>
          </a:p>
        </p:txBody>
      </p:sp>
      <p:sp>
        <p:nvSpPr>
          <p:cNvPr id="66" name="Text 64"/>
          <p:cNvSpPr/>
          <p:nvPr/>
        </p:nvSpPr>
        <p:spPr>
          <a:xfrm>
            <a:off x="5586984" y="4416552"/>
            <a:ext cx="1618488" cy="237744"/>
          </a:xfrm>
          <a:prstGeom prst="rect">
            <a:avLst/>
          </a:prstGeom>
          <a:noFill/>
          <a:ln/>
        </p:spPr>
        <p:txBody>
          <a:bodyPr wrap="square" lIns="0" tIns="0" rIns="0" bIns="0" rtlCol="0" anchor="ctr"/>
          <a:lstStyle/>
          <a:p>
            <a:pPr marL="0" indent="0" algn="ctr">
              <a:buNone/>
            </a:pPr>
            <a:r>
              <a:rPr lang="en-US" sz="1000" dirty="0">
                <a:solidFill>
                  <a:srgbClr val="6E7681"/>
                </a:solidFill>
                <a:latin typeface="Calibri" pitchFamily="34" charset="0"/>
                <a:ea typeface="Calibri" pitchFamily="34" charset="-122"/>
                <a:cs typeface="Calibri" pitchFamily="34" charset="-120"/>
              </a:rPr>
              <a:t>Zufall 118</a:t>
            </a:r>
            <a:endParaRPr lang="en-US" sz="1000" dirty="0"/>
          </a:p>
        </p:txBody>
      </p:sp>
      <p:sp>
        <p:nvSpPr>
          <p:cNvPr id="67" name="Shape 65"/>
          <p:cNvSpPr/>
          <p:nvPr/>
        </p:nvSpPr>
        <p:spPr>
          <a:xfrm>
            <a:off x="7260336" y="4014216"/>
            <a:ext cx="1618488" cy="658368"/>
          </a:xfrm>
          <a:prstGeom prst="rect">
            <a:avLst/>
          </a:prstGeom>
          <a:solidFill>
            <a:srgbClr val="F4F6F8"/>
          </a:solidFill>
          <a:ln w="19050">
            <a:solidFill>
              <a:srgbClr val="FFFFFF"/>
            </a:solidFill>
            <a:prstDash val="solid"/>
          </a:ln>
        </p:spPr>
        <p:txBody>
          <a:bodyPr/>
          <a:lstStyle/>
          <a:p>
            <a:endParaRPr lang="de-DE"/>
          </a:p>
        </p:txBody>
      </p:sp>
      <p:sp>
        <p:nvSpPr>
          <p:cNvPr id="68" name="Text 66"/>
          <p:cNvSpPr/>
          <p:nvPr/>
        </p:nvSpPr>
        <p:spPr>
          <a:xfrm>
            <a:off x="7260336" y="4069080"/>
            <a:ext cx="1618488" cy="347472"/>
          </a:xfrm>
          <a:prstGeom prst="rect">
            <a:avLst/>
          </a:prstGeom>
          <a:noFill/>
          <a:ln/>
        </p:spPr>
        <p:txBody>
          <a:bodyPr wrap="square" lIns="0" tIns="0" rIns="0" bIns="0" rtlCol="0" anchor="ctr"/>
          <a:lstStyle/>
          <a:p>
            <a:pPr marL="0" indent="0" algn="ctr">
              <a:buNone/>
            </a:pPr>
            <a:r>
              <a:rPr lang="en-US" sz="1600" b="1" dirty="0">
                <a:solidFill>
                  <a:srgbClr val="23282F"/>
                </a:solidFill>
                <a:latin typeface="Cambria" pitchFamily="34" charset="0"/>
                <a:ea typeface="Cambria" pitchFamily="34" charset="-122"/>
                <a:cs typeface="Cambria" pitchFamily="34" charset="-120"/>
              </a:rPr>
              <a:t>0.0 %</a:t>
            </a:r>
            <a:endParaRPr lang="en-US" sz="1600" dirty="0"/>
          </a:p>
        </p:txBody>
      </p:sp>
      <p:sp>
        <p:nvSpPr>
          <p:cNvPr id="69" name="Text 67"/>
          <p:cNvSpPr/>
          <p:nvPr/>
        </p:nvSpPr>
        <p:spPr>
          <a:xfrm>
            <a:off x="7260336" y="4416552"/>
            <a:ext cx="1618488" cy="237744"/>
          </a:xfrm>
          <a:prstGeom prst="rect">
            <a:avLst/>
          </a:prstGeom>
          <a:noFill/>
          <a:ln/>
        </p:spPr>
        <p:txBody>
          <a:bodyPr wrap="square" lIns="0" tIns="0" rIns="0" bIns="0" rtlCol="0" anchor="ctr"/>
          <a:lstStyle/>
          <a:p>
            <a:pPr marL="0" indent="0" algn="ctr">
              <a:buNone/>
            </a:pPr>
            <a:r>
              <a:rPr lang="en-US" sz="1000" dirty="0">
                <a:solidFill>
                  <a:srgbClr val="6E7681"/>
                </a:solidFill>
                <a:latin typeface="Calibri" pitchFamily="34" charset="0"/>
                <a:ea typeface="Calibri" pitchFamily="34" charset="-122"/>
                <a:cs typeface="Calibri" pitchFamily="34" charset="-120"/>
              </a:rPr>
              <a:t>Zufall 0.0 %</a:t>
            </a:r>
            <a:endParaRPr lang="en-US" sz="1000" dirty="0"/>
          </a:p>
        </p:txBody>
      </p:sp>
      <p:sp>
        <p:nvSpPr>
          <p:cNvPr id="70" name="Shape 68"/>
          <p:cNvSpPr/>
          <p:nvPr/>
        </p:nvSpPr>
        <p:spPr>
          <a:xfrm>
            <a:off x="8933688" y="4014216"/>
            <a:ext cx="1618488" cy="658368"/>
          </a:xfrm>
          <a:prstGeom prst="rect">
            <a:avLst/>
          </a:prstGeom>
          <a:solidFill>
            <a:srgbClr val="E8F1F6"/>
          </a:solidFill>
          <a:ln w="19050">
            <a:solidFill>
              <a:srgbClr val="FFFFFF"/>
            </a:solidFill>
            <a:prstDash val="solid"/>
          </a:ln>
        </p:spPr>
        <p:txBody>
          <a:bodyPr/>
          <a:lstStyle/>
          <a:p>
            <a:endParaRPr lang="de-DE"/>
          </a:p>
        </p:txBody>
      </p:sp>
      <p:sp>
        <p:nvSpPr>
          <p:cNvPr id="71" name="Text 69"/>
          <p:cNvSpPr/>
          <p:nvPr/>
        </p:nvSpPr>
        <p:spPr>
          <a:xfrm>
            <a:off x="8933688" y="4069080"/>
            <a:ext cx="1618488" cy="347472"/>
          </a:xfrm>
          <a:prstGeom prst="rect">
            <a:avLst/>
          </a:prstGeom>
          <a:noFill/>
          <a:ln/>
        </p:spPr>
        <p:txBody>
          <a:bodyPr wrap="square" lIns="0" tIns="0" rIns="0" bIns="0" rtlCol="0" anchor="ctr"/>
          <a:lstStyle/>
          <a:p>
            <a:pPr marL="0" indent="0" algn="ctr">
              <a:buNone/>
            </a:pPr>
            <a:r>
              <a:rPr lang="en-US" sz="1600" b="1" dirty="0">
                <a:solidFill>
                  <a:srgbClr val="23282F"/>
                </a:solidFill>
                <a:latin typeface="Cambria" pitchFamily="34" charset="0"/>
                <a:ea typeface="Cambria" pitchFamily="34" charset="-122"/>
                <a:cs typeface="Cambria" pitchFamily="34" charset="-120"/>
              </a:rPr>
              <a:t>-121</a:t>
            </a:r>
            <a:endParaRPr lang="en-US" sz="1600" dirty="0"/>
          </a:p>
        </p:txBody>
      </p:sp>
      <p:sp>
        <p:nvSpPr>
          <p:cNvPr id="72" name="Text 70"/>
          <p:cNvSpPr/>
          <p:nvPr/>
        </p:nvSpPr>
        <p:spPr>
          <a:xfrm>
            <a:off x="8933688" y="4416552"/>
            <a:ext cx="1618488" cy="237744"/>
          </a:xfrm>
          <a:prstGeom prst="rect">
            <a:avLst/>
          </a:prstGeom>
          <a:noFill/>
          <a:ln/>
        </p:spPr>
        <p:txBody>
          <a:bodyPr wrap="square" lIns="0" tIns="0" rIns="0" bIns="0" rtlCol="0" anchor="ctr"/>
          <a:lstStyle/>
          <a:p>
            <a:pPr marL="0" indent="0" algn="ctr">
              <a:buNone/>
            </a:pPr>
            <a:r>
              <a:rPr lang="en-US" sz="1000" dirty="0">
                <a:solidFill>
                  <a:srgbClr val="6E7681"/>
                </a:solidFill>
                <a:latin typeface="Calibri" pitchFamily="34" charset="0"/>
                <a:ea typeface="Calibri" pitchFamily="34" charset="-122"/>
                <a:cs typeface="Calibri" pitchFamily="34" charset="-120"/>
              </a:rPr>
              <a:t>Zufall -1297</a:t>
            </a:r>
            <a:endParaRPr lang="en-US" sz="1000" dirty="0"/>
          </a:p>
        </p:txBody>
      </p:sp>
      <p:sp>
        <p:nvSpPr>
          <p:cNvPr id="73" name="Text 71"/>
          <p:cNvSpPr/>
          <p:nvPr/>
        </p:nvSpPr>
        <p:spPr>
          <a:xfrm>
            <a:off x="640080" y="4892040"/>
            <a:ext cx="10881360" cy="502920"/>
          </a:xfrm>
          <a:prstGeom prst="rect">
            <a:avLst/>
          </a:prstGeom>
          <a:noFill/>
          <a:ln/>
        </p:spPr>
        <p:txBody>
          <a:bodyPr wrap="square" lIns="0" tIns="0" rIns="0" bIns="0" rtlCol="0" anchor="ctr"/>
          <a:lstStyle/>
          <a:p>
            <a:pPr marL="0" indent="0">
              <a:buNone/>
            </a:pPr>
            <a:r>
              <a:rPr lang="en-US" sz="1450" b="1" dirty="0">
                <a:solidFill>
                  <a:srgbClr val="1C6E8C"/>
                </a:solidFill>
                <a:latin typeface="Calibri" pitchFamily="34" charset="0"/>
                <a:ea typeface="Calibri" pitchFamily="34" charset="-122"/>
                <a:cs typeface="Calibri" pitchFamily="34" charset="-120"/>
              </a:rPr>
              <a:t>Beide setzen gleich oft Knoten neu auf. Daher stammt die Wirkung, und daher ist sie bei beiden gleich. Gelernt hat der Verteidiger etwas anderes: keine Dienste mehr grundlos zu stoppen. Das senkt seine eigenen Kosten um rund den Faktor zehn.</a:t>
            </a:r>
            <a:endParaRPr lang="en-US" sz="1450" dirty="0"/>
          </a:p>
        </p:txBody>
      </p:sp>
      <p:sp>
        <p:nvSpPr>
          <p:cNvPr id="74" name="Text 72"/>
          <p:cNvSpPr/>
          <p:nvPr/>
        </p:nvSpPr>
        <p:spPr>
          <a:xfrm>
            <a:off x="640080" y="5394960"/>
            <a:ext cx="10881360" cy="365760"/>
          </a:xfrm>
          <a:prstGeom prst="rect">
            <a:avLst/>
          </a:prstGeom>
          <a:noFill/>
          <a:ln/>
        </p:spPr>
        <p:txBody>
          <a:bodyPr wrap="square" lIns="0" tIns="0" rIns="0" bIns="0" rtlCol="0" anchor="ctr"/>
          <a:lstStyle/>
          <a:p>
            <a:pPr marL="0" indent="0">
              <a:buNone/>
            </a:pPr>
            <a:r>
              <a:rPr lang="en-US" sz="1200" dirty="0">
                <a:solidFill>
                  <a:srgbClr val="6E7681"/>
                </a:solidFill>
                <a:latin typeface="Calibri" pitchFamily="34" charset="0"/>
                <a:ea typeface="Calibri" pitchFamily="34" charset="-122"/>
                <a:cs typeface="Calibri" pitchFamily="34" charset="-120"/>
              </a:rPr>
              <a:t>Die SLA-Bruchrate ist dagegen in beiden Stufen nahezu identisch. Diese Brüche zu vermeiden hat der Verteidiger nicht gelernt.</a:t>
            </a:r>
            <a:endParaRPr lang="en-US" sz="1200" dirty="0"/>
          </a:p>
        </p:txBody>
      </p:sp>
      <p:sp>
        <p:nvSpPr>
          <p:cNvPr id="75" name="Text 73"/>
          <p:cNvSpPr/>
          <p:nvPr/>
        </p:nvSpPr>
        <p:spPr>
          <a:xfrm>
            <a:off x="640080" y="6291072"/>
            <a:ext cx="10881360" cy="274320"/>
          </a:xfrm>
          <a:prstGeom prst="rect">
            <a:avLst/>
          </a:prstGeom>
          <a:noFill/>
          <a:ln/>
        </p:spPr>
        <p:txBody>
          <a:bodyPr wrap="square" lIns="0" tIns="0" rIns="0" bIns="0" rtlCol="0" anchor="ctr"/>
          <a:lstStyle/>
          <a:p>
            <a:pPr marL="0" indent="0">
              <a:buNone/>
            </a:pPr>
            <a:r>
              <a:rPr lang="en-US" sz="1000" i="1" dirty="0">
                <a:solidFill>
                  <a:srgbClr val="6E7681"/>
                </a:solidFill>
                <a:latin typeface="Calibri" pitchFamily="34" charset="0"/>
                <a:ea typeface="Calibri" pitchFamily="34" charset="-122"/>
                <a:cs typeface="Calibri" pitchFamily="34" charset="-120"/>
              </a:rPr>
              <a:t>Mediane über alle Episoden je Topologie, 25 Episoden je Zelle, alle fünf Seeds. Ein Dienststopp auf einem sauberen Knoten kostet -10.</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B1F26"/>
        </a:solidFill>
        <a:effectLst/>
      </p:bgPr>
    </p:bg>
    <p:spTree>
      <p:nvGrpSpPr>
        <p:cNvPr id="1" name=""/>
        <p:cNvGrpSpPr/>
        <p:nvPr/>
      </p:nvGrpSpPr>
      <p:grpSpPr>
        <a:xfrm>
          <a:off x="0" y="0"/>
          <a:ext cx="0" cy="0"/>
          <a:chOff x="0" y="0"/>
          <a:chExt cx="0" cy="0"/>
        </a:xfrm>
      </p:grpSpPr>
      <p:sp>
        <p:nvSpPr>
          <p:cNvPr id="2" name="Text 0"/>
          <p:cNvSpPr/>
          <p:nvPr/>
        </p:nvSpPr>
        <p:spPr>
          <a:xfrm>
            <a:off x="640080" y="685800"/>
            <a:ext cx="10881360" cy="640080"/>
          </a:xfrm>
          <a:prstGeom prst="rect">
            <a:avLst/>
          </a:prstGeom>
          <a:noFill/>
          <a:ln/>
        </p:spPr>
        <p:txBody>
          <a:bodyPr wrap="square" lIns="0" tIns="0" rIns="0" bIns="0"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Was die Matrix zeigt</a:t>
            </a:r>
            <a:endParaRPr lang="en-US" sz="3400" dirty="0"/>
          </a:p>
        </p:txBody>
      </p:sp>
      <p:sp>
        <p:nvSpPr>
          <p:cNvPr id="3" name="Shape 1"/>
          <p:cNvSpPr/>
          <p:nvPr/>
        </p:nvSpPr>
        <p:spPr>
          <a:xfrm>
            <a:off x="640080" y="1636776"/>
            <a:ext cx="384048" cy="384048"/>
          </a:xfrm>
          <a:prstGeom prst="ellipse">
            <a:avLst/>
          </a:prstGeom>
          <a:solidFill>
            <a:srgbClr val="D99A2B"/>
          </a:solidFill>
          <a:ln w="12700">
            <a:solidFill>
              <a:srgbClr val="D99A2B"/>
            </a:solidFill>
            <a:prstDash val="solid"/>
          </a:ln>
        </p:spPr>
        <p:txBody>
          <a:bodyPr/>
          <a:lstStyle/>
          <a:p>
            <a:endParaRPr lang="de-DE"/>
          </a:p>
        </p:txBody>
      </p:sp>
      <p:sp>
        <p:nvSpPr>
          <p:cNvPr id="4" name="Text 2"/>
          <p:cNvSpPr/>
          <p:nvPr/>
        </p:nvSpPr>
        <p:spPr>
          <a:xfrm>
            <a:off x="640080" y="1636776"/>
            <a:ext cx="384048" cy="384048"/>
          </a:xfrm>
          <a:prstGeom prst="rect">
            <a:avLst/>
          </a:prstGeom>
          <a:noFill/>
          <a:ln/>
        </p:spPr>
        <p:txBody>
          <a:bodyPr wrap="square" lIns="0" tIns="0" rIns="0" bIns="0" rtlCol="0" anchor="ctr"/>
          <a:lstStyle/>
          <a:p>
            <a:pPr marL="0" indent="0" algn="ctr">
              <a:buNone/>
            </a:pPr>
            <a:r>
              <a:rPr lang="en-US" sz="1500" b="1" dirty="0">
                <a:solidFill>
                  <a:srgbClr val="1B1F26"/>
                </a:solidFill>
                <a:latin typeface="Calibri" pitchFamily="34" charset="0"/>
                <a:ea typeface="Calibri" pitchFamily="34" charset="-122"/>
                <a:cs typeface="Calibri" pitchFamily="34" charset="-120"/>
              </a:rPr>
              <a:t>1</a:t>
            </a:r>
            <a:endParaRPr lang="en-US" sz="1500" dirty="0"/>
          </a:p>
        </p:txBody>
      </p:sp>
      <p:sp>
        <p:nvSpPr>
          <p:cNvPr id="5" name="Text 3"/>
          <p:cNvSpPr/>
          <p:nvPr/>
        </p:nvSpPr>
        <p:spPr>
          <a:xfrm>
            <a:off x="1280160" y="1600200"/>
            <a:ext cx="10241280" cy="365760"/>
          </a:xfrm>
          <a:prstGeom prst="rect">
            <a:avLst/>
          </a:prstGeom>
          <a:noFill/>
          <a:ln/>
        </p:spPr>
        <p:txBody>
          <a:bodyPr wrap="square" lIns="0" tIns="0" rIns="0" bIns="0"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Der Reward-Fehler hat die letzten Ergebnisse bestimmt</a:t>
            </a:r>
            <a:endParaRPr lang="en-US" sz="1800" dirty="0"/>
          </a:p>
        </p:txBody>
      </p:sp>
      <p:sp>
        <p:nvSpPr>
          <p:cNvPr id="6" name="Text 4"/>
          <p:cNvSpPr/>
          <p:nvPr/>
        </p:nvSpPr>
        <p:spPr>
          <a:xfrm>
            <a:off x="1280160" y="1984248"/>
            <a:ext cx="10241280" cy="685800"/>
          </a:xfrm>
          <a:prstGeom prst="rect">
            <a:avLst/>
          </a:prstGeom>
          <a:noFill/>
          <a:ln/>
        </p:spPr>
        <p:txBody>
          <a:bodyPr wrap="square" lIns="0" tIns="0" rIns="0" bIns="0" rtlCol="0" anchor="ctr"/>
          <a:lstStyle/>
          <a:p>
            <a:pPr marL="0" indent="0">
              <a:buNone/>
            </a:pPr>
            <a:r>
              <a:rPr lang="en-US" sz="1300" dirty="0">
                <a:solidFill>
                  <a:srgbClr val="B8C0C9"/>
                </a:solidFill>
                <a:latin typeface="Calibri" pitchFamily="34" charset="0"/>
                <a:ea typeface="Calibri" pitchFamily="34" charset="-122"/>
                <a:cs typeface="Calibri" pitchFamily="34" charset="-120"/>
              </a:rPr>
              <a:t>Der Verteidiger konnte Reward farmen, indem er denselben Knoten wiederholt aufsetzte. Nach der Korrektur konvergieren 118 von 120 Läufen statt 65, und die Reward-Skala schrumpft von -31889 auf -216.</a:t>
            </a:r>
            <a:endParaRPr lang="en-US" sz="1300" dirty="0"/>
          </a:p>
        </p:txBody>
      </p:sp>
      <p:sp>
        <p:nvSpPr>
          <p:cNvPr id="7" name="Shape 5"/>
          <p:cNvSpPr/>
          <p:nvPr/>
        </p:nvSpPr>
        <p:spPr>
          <a:xfrm>
            <a:off x="640080" y="2962656"/>
            <a:ext cx="384048" cy="384048"/>
          </a:xfrm>
          <a:prstGeom prst="ellipse">
            <a:avLst/>
          </a:prstGeom>
          <a:solidFill>
            <a:srgbClr val="D99A2B"/>
          </a:solidFill>
          <a:ln w="12700">
            <a:solidFill>
              <a:srgbClr val="D99A2B"/>
            </a:solidFill>
            <a:prstDash val="solid"/>
          </a:ln>
        </p:spPr>
        <p:txBody>
          <a:bodyPr/>
          <a:lstStyle/>
          <a:p>
            <a:endParaRPr lang="de-DE"/>
          </a:p>
        </p:txBody>
      </p:sp>
      <p:sp>
        <p:nvSpPr>
          <p:cNvPr id="8" name="Text 6"/>
          <p:cNvSpPr/>
          <p:nvPr/>
        </p:nvSpPr>
        <p:spPr>
          <a:xfrm>
            <a:off x="640080" y="2962656"/>
            <a:ext cx="384048" cy="384048"/>
          </a:xfrm>
          <a:prstGeom prst="rect">
            <a:avLst/>
          </a:prstGeom>
          <a:noFill/>
          <a:ln/>
        </p:spPr>
        <p:txBody>
          <a:bodyPr wrap="square" lIns="0" tIns="0" rIns="0" bIns="0" rtlCol="0" anchor="ctr"/>
          <a:lstStyle/>
          <a:p>
            <a:pPr marL="0" indent="0" algn="ctr">
              <a:buNone/>
            </a:pPr>
            <a:r>
              <a:rPr lang="en-US" sz="1500" b="1" dirty="0">
                <a:solidFill>
                  <a:srgbClr val="1B1F26"/>
                </a:solidFill>
                <a:latin typeface="Calibri" pitchFamily="34" charset="0"/>
                <a:ea typeface="Calibri" pitchFamily="34" charset="-122"/>
                <a:cs typeface="Calibri" pitchFamily="34" charset="-120"/>
              </a:rPr>
              <a:t>2</a:t>
            </a:r>
            <a:endParaRPr lang="en-US" sz="1500" dirty="0"/>
          </a:p>
        </p:txBody>
      </p:sp>
      <p:sp>
        <p:nvSpPr>
          <p:cNvPr id="9" name="Text 7"/>
          <p:cNvSpPr/>
          <p:nvPr/>
        </p:nvSpPr>
        <p:spPr>
          <a:xfrm>
            <a:off x="1280160" y="2926080"/>
            <a:ext cx="10241280" cy="365760"/>
          </a:xfrm>
          <a:prstGeom prst="rect">
            <a:avLst/>
          </a:prstGeom>
          <a:noFill/>
          <a:ln/>
        </p:spPr>
        <p:txBody>
          <a:bodyPr wrap="square" lIns="0" tIns="0" rIns="0" bIns="0"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Die Konvergenz trennt die Topologien nicht mehr</a:t>
            </a:r>
            <a:endParaRPr lang="en-US" sz="1800" dirty="0"/>
          </a:p>
        </p:txBody>
      </p:sp>
      <p:sp>
        <p:nvSpPr>
          <p:cNvPr id="10" name="Text 8"/>
          <p:cNvSpPr/>
          <p:nvPr/>
        </p:nvSpPr>
        <p:spPr>
          <a:xfrm>
            <a:off x="1280160" y="3310128"/>
            <a:ext cx="10241280" cy="685800"/>
          </a:xfrm>
          <a:prstGeom prst="rect">
            <a:avLst/>
          </a:prstGeom>
          <a:noFill/>
          <a:ln/>
        </p:spPr>
        <p:txBody>
          <a:bodyPr wrap="square" lIns="0" tIns="0" rIns="0" bIns="0" rtlCol="0" anchor="ctr"/>
          <a:lstStyle/>
          <a:p>
            <a:pPr marL="0" indent="0">
              <a:buNone/>
            </a:pPr>
            <a:r>
              <a:rPr lang="en-US" sz="1300" dirty="0">
                <a:solidFill>
                  <a:srgbClr val="B8C0C9"/>
                </a:solidFill>
                <a:latin typeface="Calibri" pitchFamily="34" charset="0"/>
                <a:ea typeface="Calibri" pitchFamily="34" charset="-122"/>
                <a:cs typeface="Calibri" pitchFamily="34" charset="-120"/>
              </a:rPr>
              <a:t>Nahezu jeder Lauf erreicht ein Plateau. Als Maß der Lerneffizienz taugt die Konvergenz damit nicht länger; der Unterschied muss aus dem Reward-Niveau und der Wirksamkeit kommen.</a:t>
            </a:r>
            <a:endParaRPr lang="en-US" sz="1300" dirty="0"/>
          </a:p>
        </p:txBody>
      </p:sp>
      <p:sp>
        <p:nvSpPr>
          <p:cNvPr id="11" name="Shape 9"/>
          <p:cNvSpPr/>
          <p:nvPr/>
        </p:nvSpPr>
        <p:spPr>
          <a:xfrm>
            <a:off x="640080" y="4288536"/>
            <a:ext cx="384048" cy="384048"/>
          </a:xfrm>
          <a:prstGeom prst="ellipse">
            <a:avLst/>
          </a:prstGeom>
          <a:solidFill>
            <a:srgbClr val="D99A2B"/>
          </a:solidFill>
          <a:ln w="12700">
            <a:solidFill>
              <a:srgbClr val="D99A2B"/>
            </a:solidFill>
            <a:prstDash val="solid"/>
          </a:ln>
        </p:spPr>
        <p:txBody>
          <a:bodyPr/>
          <a:lstStyle/>
          <a:p>
            <a:endParaRPr lang="de-DE"/>
          </a:p>
        </p:txBody>
      </p:sp>
      <p:sp>
        <p:nvSpPr>
          <p:cNvPr id="12" name="Text 10"/>
          <p:cNvSpPr/>
          <p:nvPr/>
        </p:nvSpPr>
        <p:spPr>
          <a:xfrm>
            <a:off x="640080" y="4288536"/>
            <a:ext cx="384048" cy="384048"/>
          </a:xfrm>
          <a:prstGeom prst="rect">
            <a:avLst/>
          </a:prstGeom>
          <a:noFill/>
          <a:ln/>
        </p:spPr>
        <p:txBody>
          <a:bodyPr wrap="square" lIns="0" tIns="0" rIns="0" bIns="0" rtlCol="0" anchor="ctr"/>
          <a:lstStyle/>
          <a:p>
            <a:pPr marL="0" indent="0" algn="ctr">
              <a:buNone/>
            </a:pPr>
            <a:r>
              <a:rPr lang="en-US" sz="1500" b="1" dirty="0">
                <a:solidFill>
                  <a:srgbClr val="1B1F26"/>
                </a:solidFill>
                <a:latin typeface="Calibri" pitchFamily="34" charset="0"/>
                <a:ea typeface="Calibri" pitchFamily="34" charset="-122"/>
                <a:cs typeface="Calibri" pitchFamily="34" charset="-120"/>
              </a:rPr>
              <a:t>3</a:t>
            </a:r>
            <a:endParaRPr lang="en-US" sz="1500" dirty="0"/>
          </a:p>
        </p:txBody>
      </p:sp>
      <p:sp>
        <p:nvSpPr>
          <p:cNvPr id="13" name="Text 11"/>
          <p:cNvSpPr/>
          <p:nvPr/>
        </p:nvSpPr>
        <p:spPr>
          <a:xfrm>
            <a:off x="1280160" y="4251960"/>
            <a:ext cx="10241280" cy="365760"/>
          </a:xfrm>
          <a:prstGeom prst="rect">
            <a:avLst/>
          </a:prstGeom>
          <a:noFill/>
          <a:ln/>
        </p:spPr>
        <p:txBody>
          <a:bodyPr wrap="square" lIns="0" tIns="0" rIns="0" bIns="0"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Die Angreiferherkunft zählt ebenso viel wie die Topologie</a:t>
            </a:r>
            <a:endParaRPr lang="en-US" sz="1800" dirty="0"/>
          </a:p>
        </p:txBody>
      </p:sp>
      <p:sp>
        <p:nvSpPr>
          <p:cNvPr id="14" name="Text 12"/>
          <p:cNvSpPr/>
          <p:nvPr/>
        </p:nvSpPr>
        <p:spPr>
          <a:xfrm>
            <a:off x="1280160" y="4636008"/>
            <a:ext cx="10241280" cy="685800"/>
          </a:xfrm>
          <a:prstGeom prst="rect">
            <a:avLst/>
          </a:prstGeom>
          <a:noFill/>
          <a:ln/>
        </p:spPr>
        <p:txBody>
          <a:bodyPr wrap="square" lIns="0" tIns="0" rIns="0" bIns="0" rtlCol="0" anchor="ctr"/>
          <a:lstStyle/>
          <a:p>
            <a:pPr marL="0" indent="0">
              <a:buNone/>
            </a:pPr>
            <a:r>
              <a:rPr lang="en-US" sz="1300" dirty="0">
                <a:solidFill>
                  <a:srgbClr val="B8C0C9"/>
                </a:solidFill>
                <a:latin typeface="Calibri" pitchFamily="34" charset="0"/>
                <a:ea typeface="Calibri" pitchFamily="34" charset="-122"/>
                <a:cs typeface="Calibri" pitchFamily="34" charset="-120"/>
              </a:rPr>
              <a:t>Gegen den auf derselben Topologie trainierten Angreifer fällt der Reward auf -176 bis -216, gegen den neutralen Chain-Angreifer nur auf -44 bis -79.</a:t>
            </a:r>
            <a:endParaRPr lang="en-US" sz="1300" dirty="0"/>
          </a:p>
        </p:txBody>
      </p:sp>
      <p:sp>
        <p:nvSpPr>
          <p:cNvPr id="15" name="Text 13"/>
          <p:cNvSpPr/>
          <p:nvPr/>
        </p:nvSpPr>
        <p:spPr>
          <a:xfrm>
            <a:off x="640080" y="6080760"/>
            <a:ext cx="10881360" cy="365760"/>
          </a:xfrm>
          <a:prstGeom prst="rect">
            <a:avLst/>
          </a:prstGeom>
          <a:noFill/>
          <a:ln/>
        </p:spPr>
        <p:txBody>
          <a:bodyPr wrap="square" lIns="0" tIns="0" rIns="0" bIns="0" rtlCol="0" anchor="ctr"/>
          <a:lstStyle/>
          <a:p>
            <a:pPr marL="0" indent="0">
              <a:buNone/>
            </a:pPr>
            <a:r>
              <a:rPr lang="en-US" sz="1100" i="1" dirty="0">
                <a:solidFill>
                  <a:srgbClr val="6E7681"/>
                </a:solidFill>
                <a:latin typeface="Calibri" pitchFamily="34" charset="0"/>
                <a:ea typeface="Calibri" pitchFamily="34" charset="-122"/>
                <a:cs typeface="Calibri" pitchFamily="34" charset="-120"/>
              </a:rPr>
              <a:t>Offen: Evaluation der Seeds 3 und 4 nachziehen · Wirksamkeit gegen Zufallsverteidiger auswerten · Kapitel 4 und 5 schreiben · Angreifer-Logs erfassen nur die letzten 100 Episoden</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3834</Words>
  <Application>Microsoft Office PowerPoint</Application>
  <PresentationFormat>Breitbild</PresentationFormat>
  <Paragraphs>673</Paragraphs>
  <Slides>27</Slides>
  <Notes>27</Notes>
  <HiddenSlides>0</HiddenSlides>
  <MMClips>0</MMClips>
  <ScaleCrop>false</ScaleCrop>
  <HeadingPairs>
    <vt:vector size="6" baseType="variant">
      <vt:variant>
        <vt:lpstr>Verwendete Schriftarten</vt:lpstr>
      </vt:variant>
      <vt:variant>
        <vt:i4>3</vt:i4>
      </vt:variant>
      <vt:variant>
        <vt:lpstr>Design</vt:lpstr>
      </vt:variant>
      <vt:variant>
        <vt:i4>1</vt:i4>
      </vt:variant>
      <vt:variant>
        <vt:lpstr>Folientitel</vt:lpstr>
      </vt:variant>
      <vt:variant>
        <vt:i4>27</vt:i4>
      </vt:variant>
    </vt:vector>
  </HeadingPairs>
  <TitlesOfParts>
    <vt:vector size="31" baseType="lpstr">
      <vt:lpstr>Arial</vt:lpstr>
      <vt:lpstr>Calibri</vt:lpstr>
      <vt:lpstr>Cambria</vt:lpstr>
      <vt:lpstr>Office Theme</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Verteidiger-Matrix</dc:title>
  <dc:subject>PptxGenJS Presentation</dc:subject>
  <dc:creator>Mika Oelhoff</dc:creator>
  <cp:lastModifiedBy>Mika Oelhoff</cp:lastModifiedBy>
  <cp:revision>5</cp:revision>
  <dcterms:created xsi:type="dcterms:W3CDTF">2026-08-19T06:33:45Z</dcterms:created>
  <dcterms:modified xsi:type="dcterms:W3CDTF">2026-08-19T11:50:40Z</dcterms:modified>
</cp:coreProperties>
</file>